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4EBD81-D5F5-47FC-9CAA-22ABF1C37871}"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5069F0-6019-4011-A97D-1254DC6F0DDE}" type="slidenum">
              <a:rPr lang="en-US" smtClean="0"/>
              <a:t>‹#›</a:t>
            </a:fld>
            <a:endParaRPr lang="en-US"/>
          </a:p>
        </p:txBody>
      </p:sp>
    </p:spTree>
    <p:extLst>
      <p:ext uri="{BB962C8B-B14F-4D97-AF65-F5344CB8AC3E}">
        <p14:creationId xmlns:p14="http://schemas.microsoft.com/office/powerpoint/2010/main" val="4151118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Module 00 - the foundation for everything we'll do in this course. This module establishes the threat hunting mindset, introduces the core Kusto Query Language (KQL) techniques, and walks through the key Sentinel tables and correlation fields you'll use across every module.</a:t>
            </a:r>
          </a:p>
        </p:txBody>
      </p:sp>
      <p:sp>
        <p:nvSpPr>
          <p:cNvPr id="4" name="Slide Number Placeholder 3"/>
          <p:cNvSpPr>
            <a:spLocks noGrp="1"/>
          </p:cNvSpPr>
          <p:nvPr>
            <p:ph type="sldNum" sz="quarter" idx="5"/>
          </p:nvPr>
        </p:nvSpPr>
        <p:spPr/>
        <p:txBody>
          <a:bodyPr/>
          <a:lstStyle/>
          <a:p>
            <a:fld id="{375069F0-6019-4011-A97D-1254DC6F0DDE}" type="slidenum">
              <a:rPr lang="en-US" smtClean="0"/>
              <a:t>1</a:t>
            </a:fld>
            <a:endParaRPr lang="en-US"/>
          </a:p>
        </p:txBody>
      </p:sp>
    </p:spTree>
    <p:extLst>
      <p:ext uri="{BB962C8B-B14F-4D97-AF65-F5344CB8AC3E}">
        <p14:creationId xmlns:p14="http://schemas.microsoft.com/office/powerpoint/2010/main" val="3101240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We'll start with the fundamentals - what hunting is, why it matters, and how it differs from alert-driven response. Then we'll move into hands-on Kusto Query Language (KQL) technique: footprint discovery, per-table drilldowns, and cross-table correlation using three critical fields. By the end of this module you'll have a repeatable hunt pattern you can apply to every module that follows.</a:t>
            </a:r>
          </a:p>
        </p:txBody>
      </p:sp>
      <p:sp>
        <p:nvSpPr>
          <p:cNvPr id="4" name="Slide Number Placeholder 3"/>
          <p:cNvSpPr>
            <a:spLocks noGrp="1"/>
          </p:cNvSpPr>
          <p:nvPr>
            <p:ph type="sldNum" sz="quarter" idx="5"/>
          </p:nvPr>
        </p:nvSpPr>
        <p:spPr/>
        <p:txBody>
          <a:bodyPr/>
          <a:lstStyle/>
          <a:p>
            <a:fld id="{375069F0-6019-4011-A97D-1254DC6F0DDE}" type="slidenum">
              <a:rPr lang="en-US" smtClean="0"/>
              <a:t>2</a:t>
            </a:fld>
            <a:endParaRPr lang="en-US"/>
          </a:p>
        </p:txBody>
      </p:sp>
    </p:spTree>
    <p:extLst>
      <p:ext uri="{BB962C8B-B14F-4D97-AF65-F5344CB8AC3E}">
        <p14:creationId xmlns:p14="http://schemas.microsoft.com/office/powerpoint/2010/main" val="2201946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We'll start with the fundamentals - what hunting is, why it matters, and how it differs from alert-driven response. Then we'll move into hands-on Kusto Query Language (KQL) technique: footprint discovery, per-table drilldowns, and cross-table correlation using three critical fields. By the end of this module you'll have a repeatable hunt pattern you can apply to every module that follows.</a:t>
            </a:r>
          </a:p>
        </p:txBody>
      </p:sp>
      <p:sp>
        <p:nvSpPr>
          <p:cNvPr id="4" name="Slide Number Placeholder 3"/>
          <p:cNvSpPr>
            <a:spLocks noGrp="1"/>
          </p:cNvSpPr>
          <p:nvPr>
            <p:ph type="sldNum" sz="quarter" idx="5"/>
          </p:nvPr>
        </p:nvSpPr>
        <p:spPr/>
        <p:txBody>
          <a:bodyPr/>
          <a:lstStyle/>
          <a:p>
            <a:fld id="{375069F0-6019-4011-A97D-1254DC6F0DDE}" type="slidenum">
              <a:rPr lang="en-US" smtClean="0"/>
              <a:t>3</a:t>
            </a:fld>
            <a:endParaRPr lang="en-US"/>
          </a:p>
        </p:txBody>
      </p:sp>
    </p:spTree>
    <p:extLst>
      <p:ext uri="{BB962C8B-B14F-4D97-AF65-F5344CB8AC3E}">
        <p14:creationId xmlns:p14="http://schemas.microsoft.com/office/powerpoint/2010/main" val="989948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Hunting isn't about replacing your SIEM alerts - it's about finding what they miss. Analytics rules detect known patterns. Hunting finds unknown or novel attack variations. Both are necessary. Every successful hunt should end with either a confirmed finding or a new analytics rule that closes the gap. Even unsuccessful hunts refine your threat model by eliminating hypotheses.</a:t>
            </a:r>
          </a:p>
        </p:txBody>
      </p:sp>
      <p:sp>
        <p:nvSpPr>
          <p:cNvPr id="4" name="Slide Number Placeholder 3"/>
          <p:cNvSpPr>
            <a:spLocks noGrp="1"/>
          </p:cNvSpPr>
          <p:nvPr>
            <p:ph type="sldNum" sz="quarter" idx="5"/>
          </p:nvPr>
        </p:nvSpPr>
        <p:spPr/>
        <p:txBody>
          <a:bodyPr/>
          <a:lstStyle/>
          <a:p>
            <a:fld id="{375069F0-6019-4011-A97D-1254DC6F0DDE}" type="slidenum">
              <a:rPr lang="en-US" smtClean="0"/>
              <a:t>4</a:t>
            </a:fld>
            <a:endParaRPr lang="en-US"/>
          </a:p>
        </p:txBody>
      </p:sp>
    </p:spTree>
    <p:extLst>
      <p:ext uri="{BB962C8B-B14F-4D97-AF65-F5344CB8AC3E}">
        <p14:creationId xmlns:p14="http://schemas.microsoft.com/office/powerpoint/2010/main" val="141491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Hunting isn't about replacing your SIEM alerts - it's about finding what they miss. Analytics rules detect known patterns. Hunting finds unknown or novel attack variations. Both are necessary. Every successful hunt should end with either a confirmed finding or a new analytics rule that closes the gap. Even unsuccessful hunts refine your threat model by eliminating hypotheses.</a:t>
            </a:r>
          </a:p>
        </p:txBody>
      </p:sp>
      <p:sp>
        <p:nvSpPr>
          <p:cNvPr id="4" name="Slide Number Placeholder 3"/>
          <p:cNvSpPr>
            <a:spLocks noGrp="1"/>
          </p:cNvSpPr>
          <p:nvPr>
            <p:ph type="sldNum" sz="quarter" idx="5"/>
          </p:nvPr>
        </p:nvSpPr>
        <p:spPr/>
        <p:txBody>
          <a:bodyPr/>
          <a:lstStyle/>
          <a:p>
            <a:fld id="{375069F0-6019-4011-A97D-1254DC6F0DDE}" type="slidenum">
              <a:rPr lang="en-US" smtClean="0"/>
              <a:t>5</a:t>
            </a:fld>
            <a:endParaRPr lang="en-US"/>
          </a:p>
        </p:txBody>
      </p:sp>
    </p:spTree>
    <p:extLst>
      <p:ext uri="{BB962C8B-B14F-4D97-AF65-F5344CB8AC3E}">
        <p14:creationId xmlns:p14="http://schemas.microsoft.com/office/powerpoint/2010/main" val="3557735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from Microsoft's own guidance: "Waiting on detections isn't enough. Take proactive action by running threat-hunting queries related to the data you're ingesting into your workspace at least once a week." Hunting is what finds the attacker who slipped past your analytics rules. Scheduled hunts on a weekly or bi-weekly cadence are the most sustainable model for Security Operations Center (SOC) teams. Trigger-based hunts happen when new threat intel is relevant to your environment. Ask the class: how many run scheduled hunts today versus only responding to alerts?</a:t>
            </a:r>
          </a:p>
        </p:txBody>
      </p:sp>
      <p:sp>
        <p:nvSpPr>
          <p:cNvPr id="4" name="Slide Number Placeholder 3"/>
          <p:cNvSpPr>
            <a:spLocks noGrp="1"/>
          </p:cNvSpPr>
          <p:nvPr>
            <p:ph type="sldNum" sz="quarter" idx="5"/>
          </p:nvPr>
        </p:nvSpPr>
        <p:spPr/>
        <p:txBody>
          <a:bodyPr/>
          <a:lstStyle/>
          <a:p>
            <a:fld id="{375069F0-6019-4011-A97D-1254DC6F0DDE}" type="slidenum">
              <a:rPr lang="en-US" smtClean="0"/>
              <a:t>6</a:t>
            </a:fld>
            <a:endParaRPr lang="en-US"/>
          </a:p>
        </p:txBody>
      </p:sp>
    </p:spTree>
    <p:extLst>
      <p:ext uri="{BB962C8B-B14F-4D97-AF65-F5344CB8AC3E}">
        <p14:creationId xmlns:p14="http://schemas.microsoft.com/office/powerpoint/2010/main" val="673705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is from Microsoft's own guidance: "Waiting on detections isn't enough. Take proactive action by running threat-hunting queries related to the data you're ingesting into your workspace at least once a week." Hunting is what finds the attacker who slipped past your analytics rules. Scheduled hunts on a weekly or bi-weekly cadence are the most sustainable model for Security Operations Center (SOC) teams. Trigger-based hunts happen when new threat intel is relevant to your environment. Ask the class: how many run scheduled hunts today versus only responding to alerts?</a:t>
            </a:r>
          </a:p>
        </p:txBody>
      </p:sp>
      <p:sp>
        <p:nvSpPr>
          <p:cNvPr id="4" name="Slide Number Placeholder 3"/>
          <p:cNvSpPr>
            <a:spLocks noGrp="1"/>
          </p:cNvSpPr>
          <p:nvPr>
            <p:ph type="sldNum" sz="quarter" idx="5"/>
          </p:nvPr>
        </p:nvSpPr>
        <p:spPr/>
        <p:txBody>
          <a:bodyPr/>
          <a:lstStyle/>
          <a:p>
            <a:fld id="{375069F0-6019-4011-A97D-1254DC6F0DDE}" type="slidenum">
              <a:rPr lang="en-US" smtClean="0"/>
              <a:t>7</a:t>
            </a:fld>
            <a:endParaRPr lang="en-US"/>
          </a:p>
        </p:txBody>
      </p:sp>
    </p:spTree>
    <p:extLst>
      <p:ext uri="{BB962C8B-B14F-4D97-AF65-F5344CB8AC3E}">
        <p14:creationId xmlns:p14="http://schemas.microsoft.com/office/powerpoint/2010/main" val="2509887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five-phase loop is the backbone of everything we do in this course. Every module follows this pattern: we start with a hypothesis about a specific attack technique, identify the tables that contain evidence, investigate with Kusto Query Language (KQL), document findings, and convert them to detection rules. The loop is circular because every hunt's feedback becomes input for the next hypothesis. Even a hunt that finds nothing is valuable - it eliminates a hypothesis and refines your understanding of the data.</a:t>
            </a:r>
          </a:p>
        </p:txBody>
      </p:sp>
      <p:sp>
        <p:nvSpPr>
          <p:cNvPr id="4" name="Slide Number Placeholder 3"/>
          <p:cNvSpPr>
            <a:spLocks noGrp="1"/>
          </p:cNvSpPr>
          <p:nvPr>
            <p:ph type="sldNum" sz="quarter" idx="5"/>
          </p:nvPr>
        </p:nvSpPr>
        <p:spPr/>
        <p:txBody>
          <a:bodyPr/>
          <a:lstStyle/>
          <a:p>
            <a:fld id="{375069F0-6019-4011-A97D-1254DC6F0DDE}" type="slidenum">
              <a:rPr lang="en-US" smtClean="0"/>
              <a:t>8</a:t>
            </a:fld>
            <a:endParaRPr lang="en-US"/>
          </a:p>
        </p:txBody>
      </p:sp>
    </p:spTree>
    <p:extLst>
      <p:ext uri="{BB962C8B-B14F-4D97-AF65-F5344CB8AC3E}">
        <p14:creationId xmlns:p14="http://schemas.microsoft.com/office/powerpoint/2010/main" val="169267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Hypothesis quality determines hunt quality. A vague hypothesis like "check for anomalies" leads to unfocused queries and wasted time. A strong hypothesis names the technique, the asset or user, and the reason you suspect it. The MITRE ATT&amp;CK Cloud Matrix is your best starting point - it maps specific techniques to data sources. Throughout this course, each module starts with specific hypotheses tied to MITRE techniques. Encourage students to practice writing hypotheses before executing queries.</a:t>
            </a:r>
          </a:p>
        </p:txBody>
      </p:sp>
      <p:sp>
        <p:nvSpPr>
          <p:cNvPr id="4" name="Slide Number Placeholder 3"/>
          <p:cNvSpPr>
            <a:spLocks noGrp="1"/>
          </p:cNvSpPr>
          <p:nvPr>
            <p:ph type="sldNum" sz="quarter" idx="5"/>
          </p:nvPr>
        </p:nvSpPr>
        <p:spPr/>
        <p:txBody>
          <a:bodyPr/>
          <a:lstStyle/>
          <a:p>
            <a:fld id="{375069F0-6019-4011-A97D-1254DC6F0DDE}" type="slidenum">
              <a:rPr lang="en-US" smtClean="0"/>
              <a:t>9</a:t>
            </a:fld>
            <a:endParaRPr lang="en-US"/>
          </a:p>
        </p:txBody>
      </p:sp>
    </p:spTree>
    <p:extLst>
      <p:ext uri="{BB962C8B-B14F-4D97-AF65-F5344CB8AC3E}">
        <p14:creationId xmlns:p14="http://schemas.microsoft.com/office/powerpoint/2010/main" val="1936007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Hypothesis quality determines hunt quality. A vague hypothesis like "check for anomalies" leads to unfocused queries and wasted time. A strong hypothesis names the technique, the asset or user, and the reason you suspect it. The MITRE ATT&amp;CK Cloud Matrix is your best starting point - it maps specific techniques to data sources. Throughout this course, each module starts with specific hypotheses tied to MITRE techniques. Encourage students to practice writing hypotheses before executing queries.</a:t>
            </a:r>
          </a:p>
        </p:txBody>
      </p:sp>
      <p:sp>
        <p:nvSpPr>
          <p:cNvPr id="4" name="Slide Number Placeholder 3"/>
          <p:cNvSpPr>
            <a:spLocks noGrp="1"/>
          </p:cNvSpPr>
          <p:nvPr>
            <p:ph type="sldNum" sz="quarter" idx="5"/>
          </p:nvPr>
        </p:nvSpPr>
        <p:spPr/>
        <p:txBody>
          <a:bodyPr/>
          <a:lstStyle/>
          <a:p>
            <a:fld id="{375069F0-6019-4011-A97D-1254DC6F0DDE}" type="slidenum">
              <a:rPr lang="en-US" smtClean="0"/>
              <a:t>10</a:t>
            </a:fld>
            <a:endParaRPr lang="en-US"/>
          </a:p>
        </p:txBody>
      </p:sp>
    </p:spTree>
    <p:extLst>
      <p:ext uri="{BB962C8B-B14F-4D97-AF65-F5344CB8AC3E}">
        <p14:creationId xmlns:p14="http://schemas.microsoft.com/office/powerpoint/2010/main" val="1042077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Hypothesis quality determines hunt quality. A vague hypothesis like "check for anomalies" leads to unfocused queries and wasted time. A strong hypothesis names the technique, the asset or user, and the reason you suspect it. The MITRE ATT&amp;CK Cloud Matrix is your best starting point - it maps specific techniques to data sources. Throughout this course, each module starts with specific hypotheses tied to MITRE techniques. Encourage students to practice writing hypotheses before executing queries.</a:t>
            </a:r>
          </a:p>
        </p:txBody>
      </p:sp>
      <p:sp>
        <p:nvSpPr>
          <p:cNvPr id="4" name="Slide Number Placeholder 3"/>
          <p:cNvSpPr>
            <a:spLocks noGrp="1"/>
          </p:cNvSpPr>
          <p:nvPr>
            <p:ph type="sldNum" sz="quarter" idx="5"/>
          </p:nvPr>
        </p:nvSpPr>
        <p:spPr/>
        <p:txBody>
          <a:bodyPr/>
          <a:lstStyle/>
          <a:p>
            <a:fld id="{375069F0-6019-4011-A97D-1254DC6F0DDE}" type="slidenum">
              <a:rPr lang="en-US" smtClean="0"/>
              <a:t>11</a:t>
            </a:fld>
            <a:endParaRPr lang="en-US"/>
          </a:p>
        </p:txBody>
      </p:sp>
    </p:spTree>
    <p:extLst>
      <p:ext uri="{BB962C8B-B14F-4D97-AF65-F5344CB8AC3E}">
        <p14:creationId xmlns:p14="http://schemas.microsoft.com/office/powerpoint/2010/main" val="3715988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your cheat sheet for the entire course. Every module targets a subset of these tables. SigninLogs captures interactive logins. AADNonInteractiveUserSignInLogs is where you find token refresh events - critical for detecting token theft in Module 02. AADServicePrincipalSignInLogs and AADManagedIdentitySignInLogs are essential for Modules 05 through 08 where we investigate service principal and managed identity abuse. AzureActivity covers the Azure control plane - any resource creation, deletion, or modification. AzureDiagnostics is the catch-all for resource-specific logs like Key Vault and Logic Apps. Encourage students to keep this table handy throughout the training.</a:t>
            </a:r>
          </a:p>
        </p:txBody>
      </p:sp>
      <p:sp>
        <p:nvSpPr>
          <p:cNvPr id="4" name="Slide Number Placeholder 3"/>
          <p:cNvSpPr>
            <a:spLocks noGrp="1"/>
          </p:cNvSpPr>
          <p:nvPr>
            <p:ph type="sldNum" sz="quarter" idx="5"/>
          </p:nvPr>
        </p:nvSpPr>
        <p:spPr/>
        <p:txBody>
          <a:bodyPr/>
          <a:lstStyle/>
          <a:p>
            <a:fld id="{375069F0-6019-4011-A97D-1254DC6F0DDE}" type="slidenum">
              <a:rPr lang="en-US" smtClean="0"/>
              <a:t>12</a:t>
            </a:fld>
            <a:endParaRPr lang="en-US"/>
          </a:p>
        </p:txBody>
      </p:sp>
    </p:spTree>
    <p:extLst>
      <p:ext uri="{BB962C8B-B14F-4D97-AF65-F5344CB8AC3E}">
        <p14:creationId xmlns:p14="http://schemas.microsoft.com/office/powerpoint/2010/main" val="4183973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single most important starting technique in threat hunting. When someone gives you a UPN, an IP, or any indicator, your first query should always be a cross-table search. This tells you where to focus. Don't waste time writing per-table queries for tables that have zero records for your indicator. The search operator returns a special column called $table that tells you which table each result came from. After the initial search, narrow your scope immediately - search is expensive at scale.</a:t>
            </a:r>
          </a:p>
        </p:txBody>
      </p:sp>
      <p:sp>
        <p:nvSpPr>
          <p:cNvPr id="4" name="Slide Number Placeholder 3"/>
          <p:cNvSpPr>
            <a:spLocks noGrp="1"/>
          </p:cNvSpPr>
          <p:nvPr>
            <p:ph type="sldNum" sz="quarter" idx="5"/>
          </p:nvPr>
        </p:nvSpPr>
        <p:spPr/>
        <p:txBody>
          <a:bodyPr/>
          <a:lstStyle/>
          <a:p>
            <a:fld id="{375069F0-6019-4011-A97D-1254DC6F0DDE}" type="slidenum">
              <a:rPr lang="en-US" smtClean="0"/>
              <a:t>13</a:t>
            </a:fld>
            <a:endParaRPr lang="en-US"/>
          </a:p>
        </p:txBody>
      </p:sp>
    </p:spTree>
    <p:extLst>
      <p:ext uri="{BB962C8B-B14F-4D97-AF65-F5344CB8AC3E}">
        <p14:creationId xmlns:p14="http://schemas.microsoft.com/office/powerpoint/2010/main" val="32766018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is the single most important starting technique in threat hunting. When someone gives you a UPN, an IP, or any indicator, your first query should always be a cross-table search. This tells you where to focus. Don't waste time writing per-table queries for tables that have zero records for your indicator. The search operator returns a special column called $table that tells you which table each result came from. After the initial search, narrow your scope immediately - search is expensive at scale.</a:t>
            </a:r>
          </a:p>
        </p:txBody>
      </p:sp>
      <p:sp>
        <p:nvSpPr>
          <p:cNvPr id="4" name="Slide Number Placeholder 3"/>
          <p:cNvSpPr>
            <a:spLocks noGrp="1"/>
          </p:cNvSpPr>
          <p:nvPr>
            <p:ph type="sldNum" sz="quarter" idx="5"/>
          </p:nvPr>
        </p:nvSpPr>
        <p:spPr/>
        <p:txBody>
          <a:bodyPr/>
          <a:lstStyle/>
          <a:p>
            <a:fld id="{375069F0-6019-4011-A97D-1254DC6F0DDE}" type="slidenum">
              <a:rPr lang="en-US" smtClean="0"/>
              <a:t>14</a:t>
            </a:fld>
            <a:endParaRPr lang="en-US"/>
          </a:p>
        </p:txBody>
      </p:sp>
    </p:spTree>
    <p:extLst>
      <p:ext uri="{BB962C8B-B14F-4D97-AF65-F5344CB8AC3E}">
        <p14:creationId xmlns:p14="http://schemas.microsoft.com/office/powerpoint/2010/main" val="2670280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this query live in Sentinel. The $table column is a built-in Kusto Query Language (KQL) column that returns the source table name. This output tells us jsmith has the most activity in SigninLogs (47 entries), followed by AzureActivity (12 control plane operations), and Graph Application Programming Interface (API) calls (9). The AADNonInteractiveUserSignInLogs entries are token refreshes - if we suspect token theft, that's where we'll look next. This footprint scan takes seconds and saves hours of unfocused investigation.</a:t>
            </a:r>
          </a:p>
        </p:txBody>
      </p:sp>
      <p:sp>
        <p:nvSpPr>
          <p:cNvPr id="4" name="Slide Number Placeholder 3"/>
          <p:cNvSpPr>
            <a:spLocks noGrp="1"/>
          </p:cNvSpPr>
          <p:nvPr>
            <p:ph type="sldNum" sz="quarter" idx="5"/>
          </p:nvPr>
        </p:nvSpPr>
        <p:spPr/>
        <p:txBody>
          <a:bodyPr/>
          <a:lstStyle/>
          <a:p>
            <a:fld id="{375069F0-6019-4011-A97D-1254DC6F0DDE}" type="slidenum">
              <a:rPr lang="en-US" smtClean="0"/>
              <a:t>15</a:t>
            </a:fld>
            <a:endParaRPr lang="en-US"/>
          </a:p>
        </p:txBody>
      </p:sp>
    </p:spTree>
    <p:extLst>
      <p:ext uri="{BB962C8B-B14F-4D97-AF65-F5344CB8AC3E}">
        <p14:creationId xmlns:p14="http://schemas.microsoft.com/office/powerpoint/2010/main" val="1134391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this query live in Sentinel. The $table column is a built-in Kusto Query Language (KQL) column that returns the source table name. This output tells us jsmith has the most activity in SigninLogs (47 entries), followed by AzureActivity (12 control plane operations), and Graph Application Programming Interface (API) calls (9). The AADNonInteractiveUserSignInLogs entries are token refreshes - if we suspect token theft, that's where we'll look next. This footprint scan takes seconds and saves hours of unfocused investigation.</a:t>
            </a:r>
          </a:p>
        </p:txBody>
      </p:sp>
      <p:sp>
        <p:nvSpPr>
          <p:cNvPr id="4" name="Slide Number Placeholder 3"/>
          <p:cNvSpPr>
            <a:spLocks noGrp="1"/>
          </p:cNvSpPr>
          <p:nvPr>
            <p:ph type="sldNum" sz="quarter" idx="5"/>
          </p:nvPr>
        </p:nvSpPr>
        <p:spPr/>
        <p:txBody>
          <a:bodyPr/>
          <a:lstStyle/>
          <a:p>
            <a:fld id="{375069F0-6019-4011-A97D-1254DC6F0DDE}" type="slidenum">
              <a:rPr lang="en-US" smtClean="0"/>
              <a:t>16</a:t>
            </a:fld>
            <a:endParaRPr lang="en-US"/>
          </a:p>
        </p:txBody>
      </p:sp>
    </p:spTree>
    <p:extLst>
      <p:ext uri="{BB962C8B-B14F-4D97-AF65-F5344CB8AC3E}">
        <p14:creationId xmlns:p14="http://schemas.microsoft.com/office/powerpoint/2010/main" val="3604889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the initial broad search, always scope down. This query targets only three tables over the last 7 days and bins results by hour. This gives you a timeline view - you can see when activity spiked. If you see a burst of AzureActivity at 2 AM followed by Graph Application Programming Interface (API) calls, that's a pattern worth investigating. This is the transition from footprint discovery to timeline reconstruction.</a:t>
            </a:r>
          </a:p>
        </p:txBody>
      </p:sp>
      <p:sp>
        <p:nvSpPr>
          <p:cNvPr id="4" name="Slide Number Placeholder 3"/>
          <p:cNvSpPr>
            <a:spLocks noGrp="1"/>
          </p:cNvSpPr>
          <p:nvPr>
            <p:ph type="sldNum" sz="quarter" idx="5"/>
          </p:nvPr>
        </p:nvSpPr>
        <p:spPr/>
        <p:txBody>
          <a:bodyPr/>
          <a:lstStyle/>
          <a:p>
            <a:fld id="{375069F0-6019-4011-A97D-1254DC6F0DDE}" type="slidenum">
              <a:rPr lang="en-US" smtClean="0"/>
              <a:t>17</a:t>
            </a:fld>
            <a:endParaRPr lang="en-US"/>
          </a:p>
        </p:txBody>
      </p:sp>
    </p:spTree>
    <p:extLst>
      <p:ext uri="{BB962C8B-B14F-4D97-AF65-F5344CB8AC3E}">
        <p14:creationId xmlns:p14="http://schemas.microsoft.com/office/powerpoint/2010/main" val="3278239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your bread-and-butter sign-in investigation query. Project only the fields you need - it keeps results clean and fast. ResultType is critical: 0 means success, anything else is a failure with a specific error code. Look for patterns like successful sign-ins from unusual IPs, or Multi-Factor Authentication (MFA) satisfied followed by activity from a different IP (which suggests Adversary-in-the-Middle (AiTM) or token theft). The UniqueTokenIdentifier field is how you'll track this token into other tables - we'll cover that in the correlation section.</a:t>
            </a:r>
          </a:p>
        </p:txBody>
      </p:sp>
      <p:sp>
        <p:nvSpPr>
          <p:cNvPr id="4" name="Slide Number Placeholder 3"/>
          <p:cNvSpPr>
            <a:spLocks noGrp="1"/>
          </p:cNvSpPr>
          <p:nvPr>
            <p:ph type="sldNum" sz="quarter" idx="5"/>
          </p:nvPr>
        </p:nvSpPr>
        <p:spPr/>
        <p:txBody>
          <a:bodyPr/>
          <a:lstStyle/>
          <a:p>
            <a:fld id="{375069F0-6019-4011-A97D-1254DC6F0DDE}" type="slidenum">
              <a:rPr lang="en-US" smtClean="0"/>
              <a:t>18</a:t>
            </a:fld>
            <a:endParaRPr lang="en-US"/>
          </a:p>
        </p:txBody>
      </p:sp>
    </p:spTree>
    <p:extLst>
      <p:ext uri="{BB962C8B-B14F-4D97-AF65-F5344CB8AC3E}">
        <p14:creationId xmlns:p14="http://schemas.microsoft.com/office/powerpoint/2010/main" val="1892514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AzureActivity captures every Azure control plane operation - resource creation, deletion, role assignments, key listings. The OperationNameValue field tells you exactly what action was performed. CorrelationId groups all sub-operations of a single ARM request. MicrosoftGraphActivityLogs captures Graph Application Programming Interface (API) calls - reading users, accessing mail, modifying directory objects. The RequestUri shows exactly what endpoint was called. Both tables share correlation fields with SigninLogs, which is how we connect authentication to downstream actions.</a:t>
            </a:r>
          </a:p>
        </p:txBody>
      </p:sp>
      <p:sp>
        <p:nvSpPr>
          <p:cNvPr id="4" name="Slide Number Placeholder 3"/>
          <p:cNvSpPr>
            <a:spLocks noGrp="1"/>
          </p:cNvSpPr>
          <p:nvPr>
            <p:ph type="sldNum" sz="quarter" idx="5"/>
          </p:nvPr>
        </p:nvSpPr>
        <p:spPr/>
        <p:txBody>
          <a:bodyPr/>
          <a:lstStyle/>
          <a:p>
            <a:fld id="{375069F0-6019-4011-A97D-1254DC6F0DDE}" type="slidenum">
              <a:rPr lang="en-US" smtClean="0"/>
              <a:t>19</a:t>
            </a:fld>
            <a:endParaRPr lang="en-US"/>
          </a:p>
        </p:txBody>
      </p:sp>
    </p:spTree>
    <p:extLst>
      <p:ext uri="{BB962C8B-B14F-4D97-AF65-F5344CB8AC3E}">
        <p14:creationId xmlns:p14="http://schemas.microsoft.com/office/powerpoint/2010/main" val="158135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important slide in this module. These three fields are how you connect the dots across tables. CorrelationId is set by the client and groups ARM sub-operations. UniqueTokenIdentifier is server-generated and tracks a specific issued token - this is your primary indicator for token theft. NetworkMessageId is the Office 365 message identifier that ties together email delivery, URL analysis, attachment detonation, and post-delivery actions like ZAP. Master these three fields and you can correlate any cloud attack chain.</a:t>
            </a:r>
          </a:p>
        </p:txBody>
      </p:sp>
      <p:sp>
        <p:nvSpPr>
          <p:cNvPr id="4" name="Slide Number Placeholder 3"/>
          <p:cNvSpPr>
            <a:spLocks noGrp="1"/>
          </p:cNvSpPr>
          <p:nvPr>
            <p:ph type="sldNum" sz="quarter" idx="5"/>
          </p:nvPr>
        </p:nvSpPr>
        <p:spPr/>
        <p:txBody>
          <a:bodyPr/>
          <a:lstStyle/>
          <a:p>
            <a:fld id="{375069F0-6019-4011-A97D-1254DC6F0DDE}" type="slidenum">
              <a:rPr lang="en-US" smtClean="0"/>
              <a:t>20</a:t>
            </a:fld>
            <a:endParaRPr lang="en-US"/>
          </a:p>
        </p:txBody>
      </p:sp>
    </p:spTree>
    <p:extLst>
      <p:ext uri="{BB962C8B-B14F-4D97-AF65-F5344CB8AC3E}">
        <p14:creationId xmlns:p14="http://schemas.microsoft.com/office/powerpoint/2010/main" val="39693474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CorrelationId is your bridge between identity and infrastructure. When an attacker authenticates and then performs Azure operations, the CorrelationId connects those two events. In AzureActivity, it groups sub-operations - for example, creating a resource might involve multiple Application Programming Interface (API) calls that all share one CorrelationId. Note that CorrelationId is client-initiated, so a sophisticated attacker could potentially vary it across sessions. That's why we also use UniqueTokenIdentifier, which is server-generated and harder to manipulate.</a:t>
            </a:r>
          </a:p>
        </p:txBody>
      </p:sp>
      <p:sp>
        <p:nvSpPr>
          <p:cNvPr id="4" name="Slide Number Placeholder 3"/>
          <p:cNvSpPr>
            <a:spLocks noGrp="1"/>
          </p:cNvSpPr>
          <p:nvPr>
            <p:ph type="sldNum" sz="quarter" idx="5"/>
          </p:nvPr>
        </p:nvSpPr>
        <p:spPr/>
        <p:txBody>
          <a:bodyPr/>
          <a:lstStyle/>
          <a:p>
            <a:fld id="{375069F0-6019-4011-A97D-1254DC6F0DDE}" type="slidenum">
              <a:rPr lang="en-US" smtClean="0"/>
              <a:t>21</a:t>
            </a:fld>
            <a:endParaRPr lang="en-US"/>
          </a:p>
        </p:txBody>
      </p:sp>
    </p:spTree>
    <p:extLst>
      <p:ext uri="{BB962C8B-B14F-4D97-AF65-F5344CB8AC3E}">
        <p14:creationId xmlns:p14="http://schemas.microsoft.com/office/powerpoint/2010/main" val="5822814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pattern you'll use repeatedly: take a CorrelationId from a suspicious AzureActivity event and union it with SigninLogs to find the corresponding authentication. The union operator combines results from multiple tables into a single timeline sorted by TimeGenerated. This shows you exactly who authenticated, from where, using which app, and what resource operations they performed - all in one query. Demo this live by picking a CorrelationId from an AzureActivity result and running this pivot.</a:t>
            </a:r>
          </a:p>
        </p:txBody>
      </p:sp>
      <p:sp>
        <p:nvSpPr>
          <p:cNvPr id="4" name="Slide Number Placeholder 3"/>
          <p:cNvSpPr>
            <a:spLocks noGrp="1"/>
          </p:cNvSpPr>
          <p:nvPr>
            <p:ph type="sldNum" sz="quarter" idx="5"/>
          </p:nvPr>
        </p:nvSpPr>
        <p:spPr/>
        <p:txBody>
          <a:bodyPr/>
          <a:lstStyle/>
          <a:p>
            <a:fld id="{375069F0-6019-4011-A97D-1254DC6F0DDE}" type="slidenum">
              <a:rPr lang="en-US" smtClean="0"/>
              <a:t>22</a:t>
            </a:fld>
            <a:endParaRPr lang="en-US"/>
          </a:p>
        </p:txBody>
      </p:sp>
    </p:spTree>
    <p:extLst>
      <p:ext uri="{BB962C8B-B14F-4D97-AF65-F5344CB8AC3E}">
        <p14:creationId xmlns:p14="http://schemas.microsoft.com/office/powerpoint/2010/main" val="33752608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UniqueTokenIdentifier is your most powerful tool for detecting token theft. Unlike CorrelationId which is client-set, this field is generated server-side by Azure AD when a token is issued. It follows that token everywhere it's redeemed. If you see the same UniqueTokenIdentifier appearing from the user's normal IP and then from an attacker's IP, you've found a stolen token. This is the foundation of Module 02 (Token Abuse). We'll use this field extensively to track stolen refresh tokens and detect FOCI token farming.</a:t>
            </a:r>
          </a:p>
        </p:txBody>
      </p:sp>
      <p:sp>
        <p:nvSpPr>
          <p:cNvPr id="4" name="Slide Number Placeholder 3"/>
          <p:cNvSpPr>
            <a:spLocks noGrp="1"/>
          </p:cNvSpPr>
          <p:nvPr>
            <p:ph type="sldNum" sz="quarter" idx="5"/>
          </p:nvPr>
        </p:nvSpPr>
        <p:spPr/>
        <p:txBody>
          <a:bodyPr/>
          <a:lstStyle/>
          <a:p>
            <a:fld id="{375069F0-6019-4011-A97D-1254DC6F0DDE}" type="slidenum">
              <a:rPr lang="en-US" smtClean="0"/>
              <a:t>23</a:t>
            </a:fld>
            <a:endParaRPr lang="en-US"/>
          </a:p>
        </p:txBody>
      </p:sp>
    </p:spTree>
    <p:extLst>
      <p:ext uri="{BB962C8B-B14F-4D97-AF65-F5344CB8AC3E}">
        <p14:creationId xmlns:p14="http://schemas.microsoft.com/office/powerpoint/2010/main" val="39834459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three-table union is the definitive token tracking query. It shows every place a specific token was used: interactive sign-ins, silent token refreshes, and Graph Application Programming Interface (API) calls. If the IPAddress column shows two different IPs for the same token, you've confirmed token theft. The MicrosoftGraphActivityLogs results show exactly what the attacker accessed with that stolen token - were they reading emails, enumerating users, or modifying directory objects? This query reconstructs the complete attack timeline from a single token identifier.</a:t>
            </a:r>
          </a:p>
        </p:txBody>
      </p:sp>
      <p:sp>
        <p:nvSpPr>
          <p:cNvPr id="4" name="Slide Number Placeholder 3"/>
          <p:cNvSpPr>
            <a:spLocks noGrp="1"/>
          </p:cNvSpPr>
          <p:nvPr>
            <p:ph type="sldNum" sz="quarter" idx="5"/>
          </p:nvPr>
        </p:nvSpPr>
        <p:spPr/>
        <p:txBody>
          <a:bodyPr/>
          <a:lstStyle/>
          <a:p>
            <a:fld id="{375069F0-6019-4011-A97D-1254DC6F0DDE}" type="slidenum">
              <a:rPr lang="en-US" smtClean="0"/>
              <a:t>24</a:t>
            </a:fld>
            <a:endParaRPr lang="en-US"/>
          </a:p>
        </p:txBody>
      </p:sp>
    </p:spTree>
    <p:extLst>
      <p:ext uri="{BB962C8B-B14F-4D97-AF65-F5344CB8AC3E}">
        <p14:creationId xmlns:p14="http://schemas.microsoft.com/office/powerpoint/2010/main" val="1592890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NetworkMessageId is the email equivalent of UniqueTokenIdentifier - it's the join key that connects everything about a single email message. In Module 01 (Phishing), we'll use this field extensively to reconstruct phishing kill chains: who received the email, what URLs it contained, whether anyone clicked them, what attachments were analyzed, and whether ZAP remediated the message after delivery. This field is what turns individual log entries into a complete phishing narrative.</a:t>
            </a:r>
          </a:p>
        </p:txBody>
      </p:sp>
      <p:sp>
        <p:nvSpPr>
          <p:cNvPr id="4" name="Slide Number Placeholder 3"/>
          <p:cNvSpPr>
            <a:spLocks noGrp="1"/>
          </p:cNvSpPr>
          <p:nvPr>
            <p:ph type="sldNum" sz="quarter" idx="5"/>
          </p:nvPr>
        </p:nvSpPr>
        <p:spPr/>
        <p:txBody>
          <a:bodyPr/>
          <a:lstStyle/>
          <a:p>
            <a:fld id="{375069F0-6019-4011-A97D-1254DC6F0DDE}" type="slidenum">
              <a:rPr lang="en-US" smtClean="0"/>
              <a:t>25</a:t>
            </a:fld>
            <a:endParaRPr lang="en-US"/>
          </a:p>
        </p:txBody>
      </p:sp>
    </p:spTree>
    <p:extLst>
      <p:ext uri="{BB962C8B-B14F-4D97-AF65-F5344CB8AC3E}">
        <p14:creationId xmlns:p14="http://schemas.microsoft.com/office/powerpoint/2010/main" val="571523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this query step by step. The EmailEvents portion shows who sent the email, who received it, and what happened on delivery. DeliveryAction tells you if it was delivered, blocked, or quarantined. The EmailUrlInfo union adds all URLs contained in the message. The EmailPostDeliveryEvents union shows post-delivery actions like ZAP (Zero-hour Auto Purge) removals. Together, this gives you the complete lifecycle of a phishing email in one query. We'll build on this heavily in Module 01.</a:t>
            </a:r>
          </a:p>
        </p:txBody>
      </p:sp>
      <p:sp>
        <p:nvSpPr>
          <p:cNvPr id="4" name="Slide Number Placeholder 3"/>
          <p:cNvSpPr>
            <a:spLocks noGrp="1"/>
          </p:cNvSpPr>
          <p:nvPr>
            <p:ph type="sldNum" sz="quarter" idx="5"/>
          </p:nvPr>
        </p:nvSpPr>
        <p:spPr/>
        <p:txBody>
          <a:bodyPr/>
          <a:lstStyle/>
          <a:p>
            <a:fld id="{375069F0-6019-4011-A97D-1254DC6F0DDE}" type="slidenum">
              <a:rPr lang="en-US" smtClean="0"/>
              <a:t>26</a:t>
            </a:fld>
            <a:endParaRPr lang="en-US"/>
          </a:p>
        </p:txBody>
      </p:sp>
    </p:spTree>
    <p:extLst>
      <p:ext uri="{BB962C8B-B14F-4D97-AF65-F5344CB8AC3E}">
        <p14:creationId xmlns:p14="http://schemas.microsoft.com/office/powerpoint/2010/main" val="1277910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three-step pattern is your hunting workflow for every module in this course. Step 1 is always quick - 30 seconds to find where the data lives. Step 2 is where you spend most of your time - examining individual table records for anomalies. Step 3 is where you connect the dots and prove (or disprove) your hypothesis. If Step 3 confirms your hypothesis, you have a finding. If not, refine your hypothesis and loop back. This pattern works whether you're hunting phishing, token abuse, Key Vault exfiltration, or any other cloud attack technique.</a:t>
            </a:r>
          </a:p>
        </p:txBody>
      </p:sp>
      <p:sp>
        <p:nvSpPr>
          <p:cNvPr id="4" name="Slide Number Placeholder 3"/>
          <p:cNvSpPr>
            <a:spLocks noGrp="1"/>
          </p:cNvSpPr>
          <p:nvPr>
            <p:ph type="sldNum" sz="quarter" idx="5"/>
          </p:nvPr>
        </p:nvSpPr>
        <p:spPr/>
        <p:txBody>
          <a:bodyPr/>
          <a:lstStyle/>
          <a:p>
            <a:fld id="{375069F0-6019-4011-A97D-1254DC6F0DDE}" type="slidenum">
              <a:rPr lang="en-US" smtClean="0"/>
              <a:t>27</a:t>
            </a:fld>
            <a:endParaRPr lang="en-US"/>
          </a:p>
        </p:txBody>
      </p:sp>
    </p:spTree>
    <p:extLst>
      <p:ext uri="{BB962C8B-B14F-4D97-AF65-F5344CB8AC3E}">
        <p14:creationId xmlns:p14="http://schemas.microsoft.com/office/powerpoint/2010/main" val="5318371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three-step pattern is your hunting workflow for every module in this course. Step 1 is always quick - 30 seconds to find where the data lives. Step 2 is where you spend most of your time - examining individual table records for anomalies. Step 3 is where you connect the dots and prove (or disprove) your hypothesis. If Step 3 confirms your hypothesis, you have a finding. If not, refine your hypothesis and loop back. This pattern works whether you're hunting phishing, token abuse, Key Vault exfiltration, or any other cloud attack technique.</a:t>
            </a:r>
          </a:p>
        </p:txBody>
      </p:sp>
      <p:sp>
        <p:nvSpPr>
          <p:cNvPr id="4" name="Slide Number Placeholder 3"/>
          <p:cNvSpPr>
            <a:spLocks noGrp="1"/>
          </p:cNvSpPr>
          <p:nvPr>
            <p:ph type="sldNum" sz="quarter" idx="5"/>
          </p:nvPr>
        </p:nvSpPr>
        <p:spPr/>
        <p:txBody>
          <a:bodyPr/>
          <a:lstStyle/>
          <a:p>
            <a:fld id="{375069F0-6019-4011-A97D-1254DC6F0DDE}" type="slidenum">
              <a:rPr lang="en-US" smtClean="0"/>
              <a:t>28</a:t>
            </a:fld>
            <a:endParaRPr lang="en-US"/>
          </a:p>
        </p:txBody>
      </p:sp>
    </p:spTree>
    <p:extLst>
      <p:ext uri="{BB962C8B-B14F-4D97-AF65-F5344CB8AC3E}">
        <p14:creationId xmlns:p14="http://schemas.microsoft.com/office/powerpoint/2010/main" val="14625941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Summarize the three key skills from this module: footprint discovery with the search operator, per-table drilldowns with targeted Kusto Query Language (KQL), and cross-table correlation with the three key fields. Every module that follows will use this same pattern applied to different attack techniques and Sentinel tables. Encourage students to practice these queries in the lab environment before moving to Module 01. Remind them that the Student Guide has a Kusto Query Language (KQL) Quick Reference and Sentinel Tables Reference they can use throughout the training.</a:t>
            </a:r>
          </a:p>
        </p:txBody>
      </p:sp>
      <p:sp>
        <p:nvSpPr>
          <p:cNvPr id="4" name="Slide Number Placeholder 3"/>
          <p:cNvSpPr>
            <a:spLocks noGrp="1"/>
          </p:cNvSpPr>
          <p:nvPr>
            <p:ph type="sldNum" sz="quarter" idx="5"/>
          </p:nvPr>
        </p:nvSpPr>
        <p:spPr/>
        <p:txBody>
          <a:bodyPr/>
          <a:lstStyle/>
          <a:p>
            <a:fld id="{375069F0-6019-4011-A97D-1254DC6F0DDE}" type="slidenum">
              <a:rPr lang="en-US" smtClean="0"/>
              <a:t>29</a:t>
            </a:fld>
            <a:endParaRPr lang="en-US"/>
          </a:p>
        </p:txBody>
      </p:sp>
    </p:spTree>
    <p:extLst>
      <p:ext uri="{BB962C8B-B14F-4D97-AF65-F5344CB8AC3E}">
        <p14:creationId xmlns:p14="http://schemas.microsoft.com/office/powerpoint/2010/main" val="39519596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Summarize the three key skills from this module: footprint discovery with the search operator, per-table drilldowns with targeted Kusto Query Language (KQL), and cross-table correlation with the three key fields. Every module that follows will use this same pattern applied to different attack techniques and Sentinel tables. Encourage students to practice these queries in the lab environment before moving to Module 01. Remind them that the Student Guide has a Kusto Query Language (KQL) Quick Reference and Sentinel Tables Reference they can use throughout the training.</a:t>
            </a:r>
          </a:p>
        </p:txBody>
      </p:sp>
      <p:sp>
        <p:nvSpPr>
          <p:cNvPr id="4" name="Slide Number Placeholder 3"/>
          <p:cNvSpPr>
            <a:spLocks noGrp="1"/>
          </p:cNvSpPr>
          <p:nvPr>
            <p:ph type="sldNum" sz="quarter" idx="5"/>
          </p:nvPr>
        </p:nvSpPr>
        <p:spPr/>
        <p:txBody>
          <a:bodyPr/>
          <a:lstStyle/>
          <a:p>
            <a:fld id="{375069F0-6019-4011-A97D-1254DC6F0DDE}" type="slidenum">
              <a:rPr lang="en-US" smtClean="0"/>
              <a:t>30</a:t>
            </a:fld>
            <a:endParaRPr lang="en-US"/>
          </a:p>
        </p:txBody>
      </p:sp>
    </p:spTree>
    <p:extLst>
      <p:ext uri="{BB962C8B-B14F-4D97-AF65-F5344CB8AC3E}">
        <p14:creationId xmlns:p14="http://schemas.microsoft.com/office/powerpoint/2010/main" val="29153581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all official Microsoft Learn resources that students can reference after the training. The SC-200 learning path is particularly valuable for anyone pursuing the Microsoft Security Operations Analyst certification. The MITRE ATT&amp;CK Cloud Matrix should be bookmarked - it's the primary source for forming hypotheses throughout the rest of this course.</a:t>
            </a:r>
          </a:p>
        </p:txBody>
      </p:sp>
      <p:sp>
        <p:nvSpPr>
          <p:cNvPr id="4" name="Slide Number Placeholder 3"/>
          <p:cNvSpPr>
            <a:spLocks noGrp="1"/>
          </p:cNvSpPr>
          <p:nvPr>
            <p:ph type="sldNum" sz="quarter" idx="5"/>
          </p:nvPr>
        </p:nvSpPr>
        <p:spPr/>
        <p:txBody>
          <a:bodyPr/>
          <a:lstStyle/>
          <a:p>
            <a:fld id="{375069F0-6019-4011-A97D-1254DC6F0DDE}" type="slidenum">
              <a:rPr lang="en-US" smtClean="0"/>
              <a:t>31</a:t>
            </a:fld>
            <a:endParaRPr lang="en-US"/>
          </a:p>
        </p:txBody>
      </p:sp>
    </p:spTree>
    <p:extLst>
      <p:ext uri="{BB962C8B-B14F-4D97-AF65-F5344CB8AC3E}">
        <p14:creationId xmlns:p14="http://schemas.microsoft.com/office/powerpoint/2010/main" val="34093736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 Title">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9" name="Picture 8" descr="Icon&#10;&#10;Description automatically generated">
            <a:extLst>
              <a:ext uri="{FF2B5EF4-FFF2-40B4-BE49-F238E27FC236}">
                <a16:creationId xmlns:a16="http://schemas.microsoft.com/office/drawing/2014/main" id="{CB6D3FA3-C210-4270-964A-C6A0069D59E2}"/>
              </a:ext>
            </a:extLst>
          </p:cNvPr>
          <p:cNvPicPr>
            <a:picLocks noChangeAspect="1"/>
          </p:cNvPicPr>
          <p:nvPr/>
        </p:nvPicPr>
        <p:blipFill>
          <a:blip r:embed="rId3"/>
          <a:stretch>
            <a:fillRect/>
          </a:stretch>
        </p:blipFill>
        <p:spPr bwMode="invGray">
          <a:xfrm>
            <a:off x="4671100" y="0"/>
            <a:ext cx="7520900" cy="6858000"/>
          </a:xfrm>
          <a:prstGeom prst="rect">
            <a:avLst/>
          </a:prstGeom>
        </p:spPr>
      </p:pic>
    </p:spTree>
    <p:extLst>
      <p:ext uri="{BB962C8B-B14F-4D97-AF65-F5344CB8AC3E}">
        <p14:creationId xmlns:p14="http://schemas.microsoft.com/office/powerpoint/2010/main" val="1429655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rehensiveness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4586D2A5-469B-42D5-B926-C4EE6716E87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25982883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F7A52431-DCFD-473D-980B-E667BAC2F19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0805647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icity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3" name="Graphic 2">
            <a:extLst>
              <a:ext uri="{FF2B5EF4-FFF2-40B4-BE49-F238E27FC236}">
                <a16:creationId xmlns:a16="http://schemas.microsoft.com/office/drawing/2014/main" id="{AAD66E76-E933-412A-9841-907EA78433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6731000" y="0"/>
            <a:ext cx="5461000" cy="6858000"/>
          </a:xfrm>
          <a:prstGeom prst="rect">
            <a:avLst/>
          </a:prstGeom>
        </p:spPr>
      </p:pic>
    </p:spTree>
    <p:extLst>
      <p:ext uri="{BB962C8B-B14F-4D97-AF65-F5344CB8AC3E}">
        <p14:creationId xmlns:p14="http://schemas.microsoft.com/office/powerpoint/2010/main" val="20118305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urity 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2240"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224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0D5D4CBA-07EB-4CCF-BEB7-6F3185DCC67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7048721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9" name="Graphic 18">
            <a:extLst>
              <a:ext uri="{FF2B5EF4-FFF2-40B4-BE49-F238E27FC236}">
                <a16:creationId xmlns:a16="http://schemas.microsoft.com/office/drawing/2014/main" id="{3FBDEDB6-A84F-40BC-B54B-238AED6B0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invGray">
          <a:xfrm>
            <a:off x="4393915" y="0"/>
            <a:ext cx="7798085" cy="6858000"/>
          </a:xfrm>
          <a:prstGeom prst="rect">
            <a:avLst/>
          </a:prstGeom>
        </p:spPr>
      </p:pic>
      <p:sp>
        <p:nvSpPr>
          <p:cNvPr id="25" name="Freeform: Shape 24">
            <a:extLst>
              <a:ext uri="{FF2B5EF4-FFF2-40B4-BE49-F238E27FC236}">
                <a16:creationId xmlns:a16="http://schemas.microsoft.com/office/drawing/2014/main" id="{72B44542-6FEA-4633-9FA4-2E7E2381276D}"/>
              </a:ext>
            </a:extLst>
          </p:cNvPr>
          <p:cNvSpPr/>
          <p:nvPr/>
        </p:nvSpPr>
        <p:spPr bwMode="auto">
          <a:xfrm rot="17674506">
            <a:off x="10794396" y="4611776"/>
            <a:ext cx="635802" cy="2665253"/>
          </a:xfrm>
          <a:custGeom>
            <a:avLst/>
            <a:gdLst>
              <a:gd name="connsiteX0" fmla="*/ 610820 w 635802"/>
              <a:gd name="connsiteY0" fmla="*/ 194160 h 2665253"/>
              <a:gd name="connsiteX1" fmla="*/ 635802 w 635802"/>
              <a:gd name="connsiteY1" fmla="*/ 317901 h 2665253"/>
              <a:gd name="connsiteX2" fmla="*/ 635802 w 635802"/>
              <a:gd name="connsiteY2" fmla="*/ 2374494 h 2665253"/>
              <a:gd name="connsiteX3" fmla="*/ 0 w 635802"/>
              <a:gd name="connsiteY3" fmla="*/ 2665253 h 2665253"/>
              <a:gd name="connsiteX4" fmla="*/ 0 w 635802"/>
              <a:gd name="connsiteY4" fmla="*/ 317901 h 2665253"/>
              <a:gd name="connsiteX5" fmla="*/ 317901 w 635802"/>
              <a:gd name="connsiteY5" fmla="*/ 0 h 2665253"/>
              <a:gd name="connsiteX6" fmla="*/ 610820 w 635802"/>
              <a:gd name="connsiteY6" fmla="*/ 194160 h 266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802" h="2665253">
                <a:moveTo>
                  <a:pt x="610820" y="194160"/>
                </a:moveTo>
                <a:cubicBezTo>
                  <a:pt x="626906" y="232193"/>
                  <a:pt x="635802" y="274008"/>
                  <a:pt x="635802" y="317901"/>
                </a:cubicBezTo>
                <a:lnTo>
                  <a:pt x="635802" y="2374494"/>
                </a:lnTo>
                <a:lnTo>
                  <a:pt x="0" y="2665253"/>
                </a:lnTo>
                <a:lnTo>
                  <a:pt x="0" y="317901"/>
                </a:lnTo>
                <a:cubicBezTo>
                  <a:pt x="-1" y="142329"/>
                  <a:pt x="142328" y="0"/>
                  <a:pt x="317901" y="0"/>
                </a:cubicBezTo>
                <a:cubicBezTo>
                  <a:pt x="449580" y="0"/>
                  <a:pt x="562559" y="80060"/>
                  <a:pt x="610820" y="19416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Freeform: Shape 20">
            <a:extLst>
              <a:ext uri="{FF2B5EF4-FFF2-40B4-BE49-F238E27FC236}">
                <a16:creationId xmlns:a16="http://schemas.microsoft.com/office/drawing/2014/main" id="{F3335884-C023-4224-A943-917B878BC8D4}"/>
              </a:ext>
            </a:extLst>
          </p:cNvPr>
          <p:cNvSpPr/>
          <p:nvPr/>
        </p:nvSpPr>
        <p:spPr bwMode="auto">
          <a:xfrm>
            <a:off x="4410930" y="0"/>
            <a:ext cx="3165243" cy="1270495"/>
          </a:xfrm>
          <a:custGeom>
            <a:avLst/>
            <a:gdLst>
              <a:gd name="connsiteX0" fmla="*/ 0 w 3165243"/>
              <a:gd name="connsiteY0" fmla="*/ 0 h 1270495"/>
              <a:gd name="connsiteX1" fmla="*/ 1528791 w 3165243"/>
              <a:gd name="connsiteY1" fmla="*/ 0 h 1270495"/>
              <a:gd name="connsiteX2" fmla="*/ 2979476 w 3165243"/>
              <a:gd name="connsiteY2" fmla="*/ 663413 h 1270495"/>
              <a:gd name="connsiteX3" fmla="*/ 3136370 w 3165243"/>
              <a:gd name="connsiteY3" fmla="*/ 1084728 h 1270495"/>
              <a:gd name="connsiteX4" fmla="*/ 2715055 w 3165243"/>
              <a:gd name="connsiteY4" fmla="*/ 1241622 h 1270495"/>
              <a:gd name="connsiteX5" fmla="*/ 0 w 3165243"/>
              <a:gd name="connsiteY5" fmla="*/ 0 h 127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5243" h="1270495">
                <a:moveTo>
                  <a:pt x="0" y="0"/>
                </a:moveTo>
                <a:lnTo>
                  <a:pt x="1528791" y="0"/>
                </a:lnTo>
                <a:lnTo>
                  <a:pt x="2979476" y="663413"/>
                </a:lnTo>
                <a:cubicBezTo>
                  <a:pt x="3139144" y="736431"/>
                  <a:pt x="3209388" y="925060"/>
                  <a:pt x="3136370" y="1084728"/>
                </a:cubicBezTo>
                <a:cubicBezTo>
                  <a:pt x="3063352" y="1244396"/>
                  <a:pt x="2874723" y="1314640"/>
                  <a:pt x="2715055" y="1241622"/>
                </a:cubicBez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42763786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dentity and Access Management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E8C58369-026C-4974-B869-BE8D4ADCB870}"/>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75" r="-18"/>
          <a:stretch/>
        </p:blipFill>
        <p:spPr bwMode="invGray">
          <a:xfrm>
            <a:off x="7076792" y="0"/>
            <a:ext cx="5115208" cy="6858000"/>
          </a:xfrm>
          <a:prstGeom prst="rect">
            <a:avLst/>
          </a:prstGeom>
        </p:spPr>
      </p:pic>
    </p:spTree>
    <p:extLst>
      <p:ext uri="{BB962C8B-B14F-4D97-AF65-F5344CB8AC3E}">
        <p14:creationId xmlns:p14="http://schemas.microsoft.com/office/powerpoint/2010/main" val="27567964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Title square photo placehol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861522-4B83-496F-B783-60079A7F201B}"/>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3" name="Picture 12">
            <a:extLst>
              <a:ext uri="{FF2B5EF4-FFF2-40B4-BE49-F238E27FC236}">
                <a16:creationId xmlns:a16="http://schemas.microsoft.com/office/drawing/2014/main" id="{ED2EF16D-D401-4DD1-BD2B-1417889AD2A5}"/>
              </a:ext>
            </a:extLst>
          </p:cNvPr>
          <p:cNvPicPr>
            <a:picLocks noChangeAspect="1"/>
          </p:cNvPicPr>
          <p:nvPr/>
        </p:nvPicPr>
        <p:blipFill>
          <a:blip r:embed="rId2"/>
          <a:stretch>
            <a:fillRect/>
          </a:stretch>
        </p:blipFill>
        <p:spPr>
          <a:xfrm>
            <a:off x="582043" y="585788"/>
            <a:ext cx="2308795" cy="294139"/>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1F9ED9A-FBBB-45FF-A5CF-ED4786662DCE}"/>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334223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quare photo placehold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8" name="Group 7">
            <a:extLst>
              <a:ext uri="{FF2B5EF4-FFF2-40B4-BE49-F238E27FC236}">
                <a16:creationId xmlns:a16="http://schemas.microsoft.com/office/drawing/2014/main" id="{64913CEA-C43B-4E3B-AE2A-5F44288BCBBB}"/>
              </a:ext>
            </a:extLst>
          </p:cNvPr>
          <p:cNvGrpSpPr/>
          <p:nvPr/>
        </p:nvGrpSpPr>
        <p:grpSpPr bwMode="black">
          <a:xfrm>
            <a:off x="582043" y="585788"/>
            <a:ext cx="2308795" cy="294139"/>
            <a:chOff x="582043" y="585788"/>
            <a:chExt cx="2308795" cy="294139"/>
          </a:xfrm>
        </p:grpSpPr>
        <p:pic>
          <p:nvPicPr>
            <p:cNvPr id="9" name="Picture 8">
              <a:extLst>
                <a:ext uri="{FF2B5EF4-FFF2-40B4-BE49-F238E27FC236}">
                  <a16:creationId xmlns:a16="http://schemas.microsoft.com/office/drawing/2014/main" id="{323B6B2C-935A-48E1-9234-20A9CF488160}"/>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10" name="Picture 9">
              <a:extLst>
                <a:ext uri="{FF2B5EF4-FFF2-40B4-BE49-F238E27FC236}">
                  <a16:creationId xmlns:a16="http://schemas.microsoft.com/office/drawing/2014/main" id="{BB5C68CB-B9DE-4230-A702-903A205A042A}"/>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1" name="Rectangle 10">
            <a:extLst>
              <a:ext uri="{FF2B5EF4-FFF2-40B4-BE49-F238E27FC236}">
                <a16:creationId xmlns:a16="http://schemas.microsoft.com/office/drawing/2014/main" id="{7F05E9DA-E8D1-4172-820D-CEE3065C0EFC}"/>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2A3946FB-3CEF-4A23-BE32-5CA90CBB4988}"/>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1177618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quare photo placeholder Yellow">
    <p:bg>
      <p:bgPr>
        <a:solidFill>
          <a:srgbClr val="FFB9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2B7938B8-F298-4772-A6EC-8F59C02C0B8A}"/>
              </a:ext>
            </a:extLst>
          </p:cNvPr>
          <p:cNvPicPr>
            <a:picLocks noChangeAspect="1"/>
          </p:cNvPicPr>
          <p:nvPr/>
        </p:nvPicPr>
        <p:blipFill>
          <a:blip r:embed="rId2"/>
          <a:stretch>
            <a:fillRect/>
          </a:stretch>
        </p:blipFill>
        <p:spPr>
          <a:xfrm>
            <a:off x="581337" y="585788"/>
            <a:ext cx="2308796" cy="294587"/>
          </a:xfrm>
          <a:prstGeom prst="rect">
            <a:avLst/>
          </a:prstGeom>
        </p:spPr>
      </p:pic>
      <p:sp>
        <p:nvSpPr>
          <p:cNvPr id="7" name="Rectangle 6">
            <a:extLst>
              <a:ext uri="{FF2B5EF4-FFF2-40B4-BE49-F238E27FC236}">
                <a16:creationId xmlns:a16="http://schemas.microsoft.com/office/drawing/2014/main" id="{C9B633B0-40F9-4729-84DB-771120F5D70D}"/>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0F96359-EC4C-4CE6-BA65-F486272055DA}"/>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0014576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quare photo placeholder Green">
    <p:bg>
      <p:bgPr>
        <a:solidFill>
          <a:srgbClr val="107C1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9654671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quare Photo placeholder Dk Blu">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9500072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quare photo placeholder Dk Green">
    <p:bg>
      <p:bgPr>
        <a:solidFill>
          <a:srgbClr val="054B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877052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29452191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553998"/>
          </a:xfrm>
        </p:spPr>
        <p:txBody>
          <a:bodyPr/>
          <a:lstStyle>
            <a:lvl1pPr>
              <a:defRPr/>
            </a:lvl1pPr>
          </a:lstStyle>
          <a:p>
            <a:r>
              <a:rPr lang="en-US"/>
              <a:t>Agenda</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614E108-2258-4959-A182-798030A0C286}"/>
              </a:ext>
            </a:extLst>
          </p:cNvPr>
          <p:cNvSpPr/>
          <p:nvPr/>
        </p:nvSpPr>
        <p:spPr bwMode="auto">
          <a:xfrm>
            <a:off x="6395722" y="0"/>
            <a:ext cx="5796278"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2" name="Group 31">
            <a:extLst>
              <a:ext uri="{FF2B5EF4-FFF2-40B4-BE49-F238E27FC236}">
                <a16:creationId xmlns:a16="http://schemas.microsoft.com/office/drawing/2014/main" id="{22E07E8F-16B4-4F77-8278-6A843F1B9F57}"/>
              </a:ext>
            </a:extLst>
          </p:cNvPr>
          <p:cNvGrpSpPr/>
          <p:nvPr/>
        </p:nvGrpSpPr>
        <p:grpSpPr>
          <a:xfrm rot="16200000">
            <a:off x="7643952" y="2603639"/>
            <a:ext cx="5424211" cy="3084509"/>
            <a:chOff x="6395721" y="4420906"/>
            <a:chExt cx="3250001" cy="1848132"/>
          </a:xfrm>
        </p:grpSpPr>
        <p:sp>
          <p:nvSpPr>
            <p:cNvPr id="27" name="Rectangle: Top Corners Rounded 26">
              <a:extLst>
                <a:ext uri="{FF2B5EF4-FFF2-40B4-BE49-F238E27FC236}">
                  <a16:creationId xmlns:a16="http://schemas.microsoft.com/office/drawing/2014/main" id="{B26B5DC7-3928-4E30-95C7-101CC42758F9}"/>
                </a:ext>
              </a:extLst>
            </p:cNvPr>
            <p:cNvSpPr/>
            <p:nvPr userDrawn="1"/>
          </p:nvSpPr>
          <p:spPr bwMode="auto">
            <a:xfrm rot="5400000">
              <a:off x="6879140" y="3937487"/>
              <a:ext cx="501648" cy="1468485"/>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 name="Oval 24">
              <a:extLst>
                <a:ext uri="{FF2B5EF4-FFF2-40B4-BE49-F238E27FC236}">
                  <a16:creationId xmlns:a16="http://schemas.microsoft.com/office/drawing/2014/main" id="{6F2E0A55-6A95-45A9-9988-FD4377975EAD}"/>
                </a:ext>
              </a:extLst>
            </p:cNvPr>
            <p:cNvSpPr/>
            <p:nvPr userDrawn="1"/>
          </p:nvSpPr>
          <p:spPr bwMode="auto">
            <a:xfrm>
              <a:off x="7407431" y="4471065"/>
              <a:ext cx="401326" cy="40132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EA3F14D9-33C3-411A-8D84-8E8E15E9381B}"/>
                </a:ext>
              </a:extLst>
            </p:cNvPr>
            <p:cNvSpPr/>
            <p:nvPr userDrawn="1"/>
          </p:nvSpPr>
          <p:spPr bwMode="auto">
            <a:xfrm rot="5400000">
              <a:off x="7246261" y="4243608"/>
              <a:ext cx="501648" cy="2202728"/>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Oval 28">
              <a:extLst>
                <a:ext uri="{FF2B5EF4-FFF2-40B4-BE49-F238E27FC236}">
                  <a16:creationId xmlns:a16="http://schemas.microsoft.com/office/drawing/2014/main" id="{4A285CB0-5ABD-4C59-98FE-F25F8026D321}"/>
                </a:ext>
              </a:extLst>
            </p:cNvPr>
            <p:cNvSpPr/>
            <p:nvPr userDrawn="1"/>
          </p:nvSpPr>
          <p:spPr bwMode="auto">
            <a:xfrm>
              <a:off x="8141673" y="5144307"/>
              <a:ext cx="401326" cy="401326"/>
            </a:xfrm>
            <a:prstGeom prst="ellipse">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Top Corners Rounded 29">
              <a:extLst>
                <a:ext uri="{FF2B5EF4-FFF2-40B4-BE49-F238E27FC236}">
                  <a16:creationId xmlns:a16="http://schemas.microsoft.com/office/drawing/2014/main" id="{6EC31BC0-C04D-4163-9ECB-371CBCE34ADB}"/>
                </a:ext>
              </a:extLst>
            </p:cNvPr>
            <p:cNvSpPr/>
            <p:nvPr userDrawn="1"/>
          </p:nvSpPr>
          <p:spPr bwMode="auto">
            <a:xfrm rot="5400000">
              <a:off x="7769898" y="4393213"/>
              <a:ext cx="501648" cy="3250001"/>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Oval 30">
              <a:extLst>
                <a:ext uri="{FF2B5EF4-FFF2-40B4-BE49-F238E27FC236}">
                  <a16:creationId xmlns:a16="http://schemas.microsoft.com/office/drawing/2014/main" id="{E691BBA6-17F1-4715-BBD9-9570E0AF6EBF}"/>
                </a:ext>
              </a:extLst>
            </p:cNvPr>
            <p:cNvSpPr/>
            <p:nvPr userDrawn="1"/>
          </p:nvSpPr>
          <p:spPr bwMode="auto">
            <a:xfrm>
              <a:off x="9188946" y="5817549"/>
              <a:ext cx="401326" cy="40132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422131960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p:nvSpPr>
        <p:spPr bwMode="auto">
          <a:xfrm>
            <a:off x="0" y="0"/>
            <a:ext cx="12192000" cy="12089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bg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CCCF4131-8CCF-4171-B985-EAF865CC55EF}"/>
              </a:ext>
            </a:extLst>
          </p:cNvPr>
          <p:cNvGrpSpPr/>
          <p:nvPr/>
        </p:nvGrpSpPr>
        <p:grpSpPr>
          <a:xfrm>
            <a:off x="10798157" y="457199"/>
            <a:ext cx="1100156" cy="564349"/>
            <a:chOff x="9946913" y="171645"/>
            <a:chExt cx="1656824" cy="849904"/>
          </a:xfrm>
        </p:grpSpPr>
        <p:sp>
          <p:nvSpPr>
            <p:cNvPr id="6" name="Graphic 4">
              <a:extLst>
                <a:ext uri="{FF2B5EF4-FFF2-40B4-BE49-F238E27FC236}">
                  <a16:creationId xmlns:a16="http://schemas.microsoft.com/office/drawing/2014/main" id="{494D7464-294F-4164-ACF7-0EDEA0812105}"/>
                </a:ext>
              </a:extLst>
            </p:cNvPr>
            <p:cNvSpPr/>
            <p:nvPr/>
          </p:nvSpPr>
          <p:spPr>
            <a:xfrm>
              <a:off x="994691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8773D37F-9426-48AF-9E30-19EA4A3E4F07}"/>
                </a:ext>
              </a:extLst>
            </p:cNvPr>
            <p:cNvSpPr/>
            <p:nvPr userDrawn="1"/>
          </p:nvSpPr>
          <p:spPr>
            <a:xfrm>
              <a:off x="10689786" y="171645"/>
              <a:ext cx="521445"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26D5F151-C3B9-4DC3-A552-E8B16BA82E44}"/>
                </a:ext>
              </a:extLst>
            </p:cNvPr>
            <p:cNvSpPr/>
            <p:nvPr userDrawn="1"/>
          </p:nvSpPr>
          <p:spPr>
            <a:xfrm>
              <a:off x="1108229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43985243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3317851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17661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23830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942181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7305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18124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678072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319515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28953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49089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52857622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2050447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4533946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8065235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4061029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31801311"/>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18463885"/>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68027594"/>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1446465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8750695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470788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1630501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2554304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2849395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5933536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7199504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375406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2053802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5672022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0909455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110481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7372981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10595939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4510183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0792364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2525811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4892024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67711428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22831617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29285274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28443153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mo slid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730774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mo slid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388545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948738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Demo slide Dk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9597964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Demo slid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505961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Titl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2475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Section Title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53641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Section Title blue">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32985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8796557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itl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7102567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Section Title Dk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544120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Section Titl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080885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itle - Threat det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1B2F99-8E84-6040-8D67-9859BF2580C4}"/>
              </a:ext>
            </a:extLst>
          </p:cNvPr>
          <p:cNvSpPr/>
          <p:nvPr/>
        </p:nvSpPr>
        <p:spPr bwMode="auto">
          <a:xfrm>
            <a:off x="5270500" y="0"/>
            <a:ext cx="6921500"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57AA630A-F1CE-3240-9874-C76F0B95FC3C}"/>
              </a:ext>
            </a:extLst>
          </p:cNvPr>
          <p:cNvPicPr>
            <a:picLocks noChangeAspect="1"/>
          </p:cNvPicPr>
          <p:nvPr/>
        </p:nvPicPr>
        <p:blipFill>
          <a:blip r:embed="rId2"/>
          <a:stretch>
            <a:fillRect/>
          </a:stretch>
        </p:blipFill>
        <p:spPr>
          <a:xfrm>
            <a:off x="6197533" y="1064712"/>
            <a:ext cx="5024048" cy="4379659"/>
          </a:xfrm>
          <a:prstGeom prst="rect">
            <a:avLst/>
          </a:prstGeom>
        </p:spPr>
      </p:pic>
    </p:spTree>
    <p:extLst>
      <p:ext uri="{BB962C8B-B14F-4D97-AF65-F5344CB8AC3E}">
        <p14:creationId xmlns:p14="http://schemas.microsoft.com/office/powerpoint/2010/main" val="37290531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itle - Comprehensive secur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5634B7-7348-3D4C-884C-574DBB5ACD92}"/>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44097A09-7943-5649-B860-0C242F6430E1}"/>
              </a:ext>
            </a:extLst>
          </p:cNvPr>
          <p:cNvPicPr>
            <a:picLocks noChangeAspect="1"/>
          </p:cNvPicPr>
          <p:nvPr/>
        </p:nvPicPr>
        <p:blipFill rotWithShape="1">
          <a:blip r:embed="rId2"/>
          <a:srcRect l="12404" r="9346"/>
          <a:stretch/>
        </p:blipFill>
        <p:spPr>
          <a:xfrm>
            <a:off x="5270501" y="1315232"/>
            <a:ext cx="6921500" cy="4238669"/>
          </a:xfrm>
          <a:prstGeom prst="rect">
            <a:avLst/>
          </a:prstGeom>
        </p:spPr>
      </p:pic>
    </p:spTree>
    <p:extLst>
      <p:ext uri="{BB962C8B-B14F-4D97-AF65-F5344CB8AC3E}">
        <p14:creationId xmlns:p14="http://schemas.microsoft.com/office/powerpoint/2010/main" val="36988748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itle - End-to-end security visibilit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E5BB7F-3132-5D4C-AB53-07BD308F7C71}"/>
              </a:ext>
            </a:extLst>
          </p:cNvPr>
          <p:cNvSpPr/>
          <p:nvPr/>
        </p:nvSpPr>
        <p:spPr bwMode="auto">
          <a:xfrm>
            <a:off x="5270500" y="0"/>
            <a:ext cx="6921500" cy="6858000"/>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8" name="Picture 7">
            <a:extLst>
              <a:ext uri="{FF2B5EF4-FFF2-40B4-BE49-F238E27FC236}">
                <a16:creationId xmlns:a16="http://schemas.microsoft.com/office/drawing/2014/main" id="{1AC60BDD-CABB-8B4F-BFDB-1AAA8A20164C}"/>
              </a:ext>
            </a:extLst>
          </p:cNvPr>
          <p:cNvPicPr>
            <a:picLocks noChangeAspect="1"/>
          </p:cNvPicPr>
          <p:nvPr/>
        </p:nvPicPr>
        <p:blipFill rotWithShape="1">
          <a:blip r:embed="rId2"/>
          <a:srcRect l="8828" r="8209"/>
          <a:stretch/>
        </p:blipFill>
        <p:spPr>
          <a:xfrm>
            <a:off x="5270500" y="2322164"/>
            <a:ext cx="6921500" cy="2294285"/>
          </a:xfrm>
          <a:prstGeom prst="rect">
            <a:avLst/>
          </a:prstGeom>
        </p:spPr>
      </p:pic>
    </p:spTree>
    <p:extLst>
      <p:ext uri="{BB962C8B-B14F-4D97-AF65-F5344CB8AC3E}">
        <p14:creationId xmlns:p14="http://schemas.microsoft.com/office/powerpoint/2010/main" val="35984673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 Risk manag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46BD20-84B7-474B-8759-CD81E4655A25}"/>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10" name="Picture 9">
            <a:extLst>
              <a:ext uri="{FF2B5EF4-FFF2-40B4-BE49-F238E27FC236}">
                <a16:creationId xmlns:a16="http://schemas.microsoft.com/office/drawing/2014/main" id="{B1DAC3B3-181F-5149-B531-D73282A25D15}"/>
              </a:ext>
            </a:extLst>
          </p:cNvPr>
          <p:cNvPicPr>
            <a:picLocks noChangeAspect="1"/>
          </p:cNvPicPr>
          <p:nvPr/>
        </p:nvPicPr>
        <p:blipFill rotWithShape="1">
          <a:blip r:embed="rId2"/>
          <a:srcRect l="7666" t="4539" r="7270" b="6936"/>
          <a:stretch/>
        </p:blipFill>
        <p:spPr>
          <a:xfrm>
            <a:off x="5270499" y="-1"/>
            <a:ext cx="6921501" cy="6858001"/>
          </a:xfrm>
          <a:prstGeom prst="rect">
            <a:avLst/>
          </a:prstGeom>
        </p:spPr>
      </p:pic>
    </p:spTree>
    <p:extLst>
      <p:ext uri="{BB962C8B-B14F-4D97-AF65-F5344CB8AC3E}">
        <p14:creationId xmlns:p14="http://schemas.microsoft.com/office/powerpoint/2010/main" val="144123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 Secure ident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C11EAE-3A22-E84A-8BC8-11A0D824AB2E}"/>
              </a:ext>
            </a:extLst>
          </p:cNvPr>
          <p:cNvSpPr/>
          <p:nvPr/>
        </p:nvSpPr>
        <p:spPr bwMode="auto">
          <a:xfrm>
            <a:off x="5270500" y="0"/>
            <a:ext cx="69215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F1130DED-49F2-7F4A-A1D8-D5BEF2F4F110}"/>
              </a:ext>
            </a:extLst>
          </p:cNvPr>
          <p:cNvPicPr>
            <a:picLocks noChangeAspect="1"/>
          </p:cNvPicPr>
          <p:nvPr/>
        </p:nvPicPr>
        <p:blipFill>
          <a:blip r:embed="rId2"/>
          <a:stretch>
            <a:fillRect/>
          </a:stretch>
        </p:blipFill>
        <p:spPr>
          <a:xfrm>
            <a:off x="5692066" y="901699"/>
            <a:ext cx="6245934" cy="4735013"/>
          </a:xfrm>
          <a:prstGeom prst="rect">
            <a:avLst/>
          </a:prstGeom>
        </p:spPr>
      </p:pic>
    </p:spTree>
    <p:extLst>
      <p:ext uri="{BB962C8B-B14F-4D97-AF65-F5344CB8AC3E}">
        <p14:creationId xmlns:p14="http://schemas.microsoft.com/office/powerpoint/2010/main" val="4706138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 Risk mitiga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0D265D-AA9F-1B4D-9271-7954CC4C5428}"/>
              </a:ext>
            </a:extLst>
          </p:cNvPr>
          <p:cNvSpPr/>
          <p:nvPr/>
        </p:nvSpPr>
        <p:spPr bwMode="auto">
          <a:xfrm>
            <a:off x="5270500" y="0"/>
            <a:ext cx="6921500" cy="6858000"/>
          </a:xfrm>
          <a:prstGeom prst="rect">
            <a:avLst/>
          </a:prstGeom>
          <a:solidFill>
            <a:srgbClr val="054B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7" name="Graphic 6">
            <a:extLst>
              <a:ext uri="{FF2B5EF4-FFF2-40B4-BE49-F238E27FC236}">
                <a16:creationId xmlns:a16="http://schemas.microsoft.com/office/drawing/2014/main" id="{B55BBCEC-22DB-8F44-AC0C-CED390E2A8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0426759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58226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2">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29632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14708727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phot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5808"/>
            <a:ext cx="3948683"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C1D8EF4-A5A1-4D2B-9918-9B027853453F}"/>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7153127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2DB3C5CC-AE72-496D-8E0F-9DEC4A52D5F7}"/>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55326629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94466201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8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9137610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BBAC6-24A1-9791-8223-9C214B173DFE}"/>
              </a:ext>
            </a:extLst>
          </p:cNvPr>
          <p:cNvSpPr>
            <a:spLocks noGrp="1"/>
          </p:cNvSpPr>
          <p:nvPr>
            <p:ph type="title"/>
          </p:nvPr>
        </p:nvSpPr>
        <p:spPr>
          <a:xfrm>
            <a:off x="584200" y="2425780"/>
            <a:ext cx="6492240" cy="1107996"/>
          </a:xfrm>
        </p:spPr>
        <p:txBody>
          <a:bodyPr/>
          <a:lstStyle/>
          <a:p>
            <a:r>
              <a:rPr lang="en-US"/>
              <a:t>Cloud Threat Hunting: Methodology</a:t>
            </a:r>
          </a:p>
        </p:txBody>
      </p:sp>
      <p:sp>
        <p:nvSpPr>
          <p:cNvPr id="3" name="Text Placeholder 2">
            <a:extLst>
              <a:ext uri="{FF2B5EF4-FFF2-40B4-BE49-F238E27FC236}">
                <a16:creationId xmlns:a16="http://schemas.microsoft.com/office/drawing/2014/main" id="{43CE9541-9AF4-3A40-E6EF-B04234440885}"/>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5339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69542-7EAE-5710-924F-D6138C9A39A0}"/>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367A6F87-D79D-7A29-E760-13227119A660}"/>
              </a:ext>
            </a:extLst>
          </p:cNvPr>
          <p:cNvSpPr>
            <a:spLocks noGrp="1"/>
          </p:cNvSpPr>
          <p:nvPr>
            <p:ph type="body" sz="quarter" idx="10"/>
          </p:nvPr>
        </p:nvSpPr>
        <p:spPr/>
        <p:txBody>
          <a:bodyPr>
            <a:noAutofit/>
          </a:bodyPr>
          <a:lstStyle/>
          <a:p>
            <a:pPr>
              <a:lnSpc>
                <a:spcPct val="115000"/>
              </a:lnSpc>
              <a:spcBef>
                <a:spcPts val="600"/>
              </a:spcBef>
            </a:pPr>
            <a:r>
              <a:rPr lang="en-US" sz="2000"/>
              <a:t>What Is Threat Hunting?</a:t>
            </a:r>
          </a:p>
          <a:p>
            <a:pPr>
              <a:lnSpc>
                <a:spcPct val="115000"/>
              </a:lnSpc>
              <a:spcBef>
                <a:spcPts val="600"/>
              </a:spcBef>
            </a:pPr>
            <a:r>
              <a:rPr lang="en-US" sz="2000"/>
              <a:t>Reactive vs. Proactive Security</a:t>
            </a:r>
          </a:p>
          <a:p>
            <a:pPr>
              <a:lnSpc>
                <a:spcPct val="115000"/>
              </a:lnSpc>
              <a:spcBef>
                <a:spcPts val="600"/>
              </a:spcBef>
            </a:pPr>
            <a:r>
              <a:rPr lang="en-US" sz="2000"/>
              <a:t>The Threat Hunt Loop</a:t>
            </a:r>
          </a:p>
          <a:p>
            <a:pPr>
              <a:lnSpc>
                <a:spcPct val="115000"/>
              </a:lnSpc>
              <a:spcBef>
                <a:spcPts val="600"/>
              </a:spcBef>
            </a:pPr>
            <a:r>
              <a:rPr lang="en-US" sz="2000"/>
              <a:t>Forming a Strong Hypothesis</a:t>
            </a:r>
          </a:p>
          <a:p>
            <a:pPr>
              <a:lnSpc>
                <a:spcPct val="115000"/>
              </a:lnSpc>
              <a:spcBef>
                <a:spcPts val="600"/>
              </a:spcBef>
            </a:pPr>
            <a:r>
              <a:rPr lang="en-US" sz="2000"/>
              <a:t>Key Sentinel Tables for Cloud Hunting</a:t>
            </a:r>
          </a:p>
          <a:p>
            <a:pPr>
              <a:lnSpc>
                <a:spcPct val="115000"/>
              </a:lnSpc>
              <a:spcBef>
                <a:spcPts val="600"/>
              </a:spcBef>
            </a:pPr>
            <a:r>
              <a:rPr lang="en-US" sz="2000"/>
              <a:t>Finding a User's Footprint Across Tables</a:t>
            </a:r>
          </a:p>
        </p:txBody>
      </p:sp>
    </p:spTree>
    <p:extLst>
      <p:ext uri="{BB962C8B-B14F-4D97-AF65-F5344CB8AC3E}">
        <p14:creationId xmlns:p14="http://schemas.microsoft.com/office/powerpoint/2010/main" val="266491822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CDEA7-D67F-9B58-7788-92869578BF1A}"/>
              </a:ext>
            </a:extLst>
          </p:cNvPr>
          <p:cNvSpPr>
            <a:spLocks noGrp="1"/>
          </p:cNvSpPr>
          <p:nvPr>
            <p:ph type="title"/>
          </p:nvPr>
        </p:nvSpPr>
        <p:spPr/>
        <p:txBody>
          <a:bodyPr/>
          <a:lstStyle/>
          <a:p>
            <a:r>
              <a:rPr lang="en-US"/>
              <a:t>Agenda (cont. 2)</a:t>
            </a:r>
          </a:p>
        </p:txBody>
      </p:sp>
      <p:sp>
        <p:nvSpPr>
          <p:cNvPr id="3" name="Text Placeholder 2">
            <a:extLst>
              <a:ext uri="{FF2B5EF4-FFF2-40B4-BE49-F238E27FC236}">
                <a16:creationId xmlns:a16="http://schemas.microsoft.com/office/drawing/2014/main" id="{17FEC83D-A1CD-F4F2-5C5D-1F406B1F6B83}"/>
              </a:ext>
            </a:extLst>
          </p:cNvPr>
          <p:cNvSpPr>
            <a:spLocks noGrp="1"/>
          </p:cNvSpPr>
          <p:nvPr>
            <p:ph type="body" sz="quarter" idx="10"/>
          </p:nvPr>
        </p:nvSpPr>
        <p:spPr/>
        <p:txBody>
          <a:bodyPr>
            <a:noAutofit/>
          </a:bodyPr>
          <a:lstStyle/>
          <a:p>
            <a:pPr>
              <a:lnSpc>
                <a:spcPct val="115000"/>
              </a:lnSpc>
              <a:spcBef>
                <a:spcPts val="600"/>
              </a:spcBef>
            </a:pPr>
            <a:r>
              <a:rPr lang="en-US" sz="2000"/>
              <a:t>Drilling Into Tables</a:t>
            </a:r>
          </a:p>
          <a:p>
            <a:pPr>
              <a:lnSpc>
                <a:spcPct val="115000"/>
              </a:lnSpc>
              <a:spcBef>
                <a:spcPts val="600"/>
              </a:spcBef>
            </a:pPr>
            <a:r>
              <a:rPr lang="en-US" sz="2000"/>
              <a:t>Correlating Activity with Key Fields</a:t>
            </a:r>
          </a:p>
          <a:p>
            <a:pPr>
              <a:lnSpc>
                <a:spcPct val="115000"/>
              </a:lnSpc>
              <a:spcBef>
                <a:spcPts val="600"/>
              </a:spcBef>
            </a:pPr>
            <a:r>
              <a:rPr lang="en-US" sz="2000"/>
              <a:t>End-to-End Hunt Pattern</a:t>
            </a:r>
          </a:p>
          <a:p>
            <a:pPr>
              <a:lnSpc>
                <a:spcPct val="115000"/>
              </a:lnSpc>
              <a:spcBef>
                <a:spcPts val="600"/>
              </a:spcBef>
            </a:pPr>
            <a:r>
              <a:rPr lang="en-US" sz="2000"/>
              <a:t>Key Takeaways and Course Preview</a:t>
            </a:r>
          </a:p>
        </p:txBody>
      </p:sp>
    </p:spTree>
    <p:extLst>
      <p:ext uri="{BB962C8B-B14F-4D97-AF65-F5344CB8AC3E}">
        <p14:creationId xmlns:p14="http://schemas.microsoft.com/office/powerpoint/2010/main" val="280921954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8B9C-C6F3-3D14-2C96-CFAF6425E42E}"/>
              </a:ext>
            </a:extLst>
          </p:cNvPr>
          <p:cNvSpPr>
            <a:spLocks noGrp="1"/>
          </p:cNvSpPr>
          <p:nvPr>
            <p:ph type="title"/>
          </p:nvPr>
        </p:nvSpPr>
        <p:spPr/>
        <p:txBody>
          <a:bodyPr/>
          <a:lstStyle/>
          <a:p>
            <a:r>
              <a:rPr lang="en-US"/>
              <a:t>What Is Threat Hunting?</a:t>
            </a:r>
          </a:p>
        </p:txBody>
      </p:sp>
      <p:sp>
        <p:nvSpPr>
          <p:cNvPr id="3" name="Content Placeholder 2">
            <a:extLst>
              <a:ext uri="{FF2B5EF4-FFF2-40B4-BE49-F238E27FC236}">
                <a16:creationId xmlns:a16="http://schemas.microsoft.com/office/drawing/2014/main" id="{B795D8CD-C1DE-0622-D9C5-999BE72C64C3}"/>
              </a:ext>
            </a:extLst>
          </p:cNvPr>
          <p:cNvSpPr>
            <a:spLocks noGrp="1"/>
          </p:cNvSpPr>
          <p:nvPr>
            <p:ph sz="quarter" idx="10"/>
          </p:nvPr>
        </p:nvSpPr>
        <p:spPr/>
        <p:txBody>
          <a:bodyPr>
            <a:noAutofit/>
          </a:bodyPr>
          <a:lstStyle/>
          <a:p>
            <a:pPr>
              <a:lnSpc>
                <a:spcPct val="115000"/>
              </a:lnSpc>
              <a:spcBef>
                <a:spcPts val="600"/>
              </a:spcBef>
            </a:pPr>
            <a:r>
              <a:rPr lang="en-US" sz="2200"/>
              <a:t>Threat hunting is the proactive, human-led process of searching through data to detect adversarial activity that has evaded automated detections.</a:t>
            </a:r>
          </a:p>
          <a:p>
            <a:pPr>
              <a:lnSpc>
                <a:spcPct val="115000"/>
              </a:lnSpc>
              <a:spcBef>
                <a:spcPts val="600"/>
              </a:spcBef>
            </a:pPr>
            <a:r>
              <a:rPr lang="en-US" sz="2200" b="1"/>
              <a:t>What makes an effective hunter:</a:t>
            </a:r>
          </a:p>
          <a:p>
            <a:pPr>
              <a:lnSpc>
                <a:spcPct val="115000"/>
              </a:lnSpc>
              <a:spcBef>
                <a:spcPts val="600"/>
              </a:spcBef>
            </a:pPr>
            <a:r>
              <a:rPr lang="en-US" sz="2200"/>
              <a:t>    Assume compromise and work to find evidence of it</a:t>
            </a:r>
          </a:p>
        </p:txBody>
      </p:sp>
    </p:spTree>
    <p:extLst>
      <p:ext uri="{BB962C8B-B14F-4D97-AF65-F5344CB8AC3E}">
        <p14:creationId xmlns:p14="http://schemas.microsoft.com/office/powerpoint/2010/main" val="123839399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A42C0-943C-9864-1E87-4D262FAF460F}"/>
              </a:ext>
            </a:extLst>
          </p:cNvPr>
          <p:cNvSpPr>
            <a:spLocks noGrp="1"/>
          </p:cNvSpPr>
          <p:nvPr>
            <p:ph type="title"/>
          </p:nvPr>
        </p:nvSpPr>
        <p:spPr/>
        <p:txBody>
          <a:bodyPr/>
          <a:lstStyle/>
          <a:p>
            <a:r>
              <a:rPr lang="en-US"/>
              <a:t>What Is Threat Hunting? (cont. 2)</a:t>
            </a:r>
          </a:p>
        </p:txBody>
      </p:sp>
      <p:sp>
        <p:nvSpPr>
          <p:cNvPr id="3" name="Content Placeholder 2">
            <a:extLst>
              <a:ext uri="{FF2B5EF4-FFF2-40B4-BE49-F238E27FC236}">
                <a16:creationId xmlns:a16="http://schemas.microsoft.com/office/drawing/2014/main" id="{7A068020-D3E8-11EF-5EA8-1B119ACA39AA}"/>
              </a:ext>
            </a:extLst>
          </p:cNvPr>
          <p:cNvSpPr>
            <a:spLocks noGrp="1"/>
          </p:cNvSpPr>
          <p:nvPr>
            <p:ph sz="quarter" idx="10"/>
          </p:nvPr>
        </p:nvSpPr>
        <p:spPr/>
        <p:txBody>
          <a:bodyPr>
            <a:noAutofit/>
          </a:bodyPr>
          <a:lstStyle/>
          <a:p>
            <a:pPr>
              <a:lnSpc>
                <a:spcPct val="115000"/>
              </a:lnSpc>
              <a:spcBef>
                <a:spcPts val="600"/>
              </a:spcBef>
            </a:pPr>
            <a:r>
              <a:rPr lang="en-US" sz="2200"/>
              <a:t>    Follow the data, not just the alerts</a:t>
            </a:r>
          </a:p>
          <a:p>
            <a:pPr>
              <a:lnSpc>
                <a:spcPct val="115000"/>
              </a:lnSpc>
              <a:spcBef>
                <a:spcPts val="600"/>
              </a:spcBef>
            </a:pPr>
            <a:r>
              <a:rPr lang="en-US" sz="2200"/>
              <a:t>    Build institutional knowledge from every hunt - successful or not</a:t>
            </a:r>
          </a:p>
          <a:p>
            <a:pPr>
              <a:lnSpc>
                <a:spcPct val="115000"/>
              </a:lnSpc>
              <a:spcBef>
                <a:spcPts val="600"/>
              </a:spcBef>
            </a:pPr>
            <a:r>
              <a:rPr lang="en-US" sz="2200"/>
              <a:t>    Convert confirmed findings into durable analytics rules</a:t>
            </a:r>
          </a:p>
        </p:txBody>
      </p:sp>
    </p:spTree>
    <p:extLst>
      <p:ext uri="{BB962C8B-B14F-4D97-AF65-F5344CB8AC3E}">
        <p14:creationId xmlns:p14="http://schemas.microsoft.com/office/powerpoint/2010/main" val="5866683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157C7-9625-10E5-00C1-D4F435FB9CAA}"/>
              </a:ext>
            </a:extLst>
          </p:cNvPr>
          <p:cNvSpPr>
            <a:spLocks noGrp="1"/>
          </p:cNvSpPr>
          <p:nvPr>
            <p:ph type="title"/>
          </p:nvPr>
        </p:nvSpPr>
        <p:spPr/>
        <p:txBody>
          <a:bodyPr/>
          <a:lstStyle/>
          <a:p>
            <a:r>
              <a:rPr lang="en-US"/>
              <a:t>Reactive vs. Proactive Security</a:t>
            </a:r>
          </a:p>
        </p:txBody>
      </p:sp>
      <p:sp>
        <p:nvSpPr>
          <p:cNvPr id="3" name="Content Placeholder 2">
            <a:extLst>
              <a:ext uri="{FF2B5EF4-FFF2-40B4-BE49-F238E27FC236}">
                <a16:creationId xmlns:a16="http://schemas.microsoft.com/office/drawing/2014/main" id="{BE4EB5C9-B0DA-254A-AF72-CF5B35C4A2C8}"/>
              </a:ext>
            </a:extLst>
          </p:cNvPr>
          <p:cNvSpPr>
            <a:spLocks noGrp="1"/>
          </p:cNvSpPr>
          <p:nvPr>
            <p:ph sz="quarter" idx="10"/>
          </p:nvPr>
        </p:nvSpPr>
        <p:spPr/>
        <p:txBody>
          <a:bodyPr>
            <a:noAutofit/>
          </a:bodyPr>
          <a:lstStyle/>
          <a:p>
            <a:pPr>
              <a:lnSpc>
                <a:spcPct val="115000"/>
              </a:lnSpc>
              <a:spcBef>
                <a:spcPts val="600"/>
              </a:spcBef>
            </a:pPr>
            <a:r>
              <a:rPr lang="en-US" sz="2000" b="1"/>
              <a:t>Reactive (Alert-Driven):</a:t>
            </a:r>
          </a:p>
          <a:p>
            <a:pPr>
              <a:lnSpc>
                <a:spcPct val="115000"/>
              </a:lnSpc>
              <a:spcBef>
                <a:spcPts val="600"/>
              </a:spcBef>
            </a:pPr>
            <a:r>
              <a:rPr lang="en-US" sz="2000"/>
              <a:t>    Responds to SIEM alerts and incidents after they fire</a:t>
            </a:r>
          </a:p>
          <a:p>
            <a:pPr>
              <a:lnSpc>
                <a:spcPct val="115000"/>
              </a:lnSpc>
              <a:spcBef>
                <a:spcPts val="600"/>
              </a:spcBef>
            </a:pPr>
            <a:r>
              <a:rPr lang="en-US" sz="2000"/>
              <a:t>    Limited to known signatures and detection rules</a:t>
            </a:r>
          </a:p>
          <a:p>
            <a:pPr>
              <a:lnSpc>
                <a:spcPct val="115000"/>
              </a:lnSpc>
              <a:spcBef>
                <a:spcPts val="600"/>
              </a:spcBef>
            </a:pPr>
            <a:r>
              <a:rPr lang="en-US" sz="2000"/>
              <a:t>    Attacker has already achieved their objective before you start investigating</a:t>
            </a:r>
          </a:p>
          <a:p>
            <a:pPr>
              <a:lnSpc>
                <a:spcPct val="115000"/>
              </a:lnSpc>
              <a:spcBef>
                <a:spcPts val="600"/>
              </a:spcBef>
            </a:pPr>
            <a:r>
              <a:rPr lang="en-US" sz="2000" b="1"/>
              <a:t>Proactive (Threat Hunting):</a:t>
            </a:r>
          </a:p>
          <a:p>
            <a:pPr>
              <a:lnSpc>
                <a:spcPct val="115000"/>
              </a:lnSpc>
              <a:spcBef>
                <a:spcPts val="600"/>
              </a:spcBef>
            </a:pPr>
            <a:r>
              <a:rPr lang="en-US" sz="2000"/>
              <a:t>    Starts with a hypothesis before any alert fires</a:t>
            </a:r>
          </a:p>
        </p:txBody>
      </p:sp>
    </p:spTree>
    <p:extLst>
      <p:ext uri="{BB962C8B-B14F-4D97-AF65-F5344CB8AC3E}">
        <p14:creationId xmlns:p14="http://schemas.microsoft.com/office/powerpoint/2010/main" val="222989268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A74D-FCF6-9B73-19E2-8AECD61DDBCC}"/>
              </a:ext>
            </a:extLst>
          </p:cNvPr>
          <p:cNvSpPr>
            <a:spLocks noGrp="1"/>
          </p:cNvSpPr>
          <p:nvPr>
            <p:ph type="title"/>
          </p:nvPr>
        </p:nvSpPr>
        <p:spPr/>
        <p:txBody>
          <a:bodyPr/>
          <a:lstStyle/>
          <a:p>
            <a:r>
              <a:rPr lang="en-US"/>
              <a:t>Reactive vs. Proactive Security (cont. 2)</a:t>
            </a:r>
          </a:p>
        </p:txBody>
      </p:sp>
      <p:sp>
        <p:nvSpPr>
          <p:cNvPr id="3" name="Content Placeholder 2">
            <a:extLst>
              <a:ext uri="{FF2B5EF4-FFF2-40B4-BE49-F238E27FC236}">
                <a16:creationId xmlns:a16="http://schemas.microsoft.com/office/drawing/2014/main" id="{06E6A41D-C8EF-10F4-67A4-12A10B300F5F}"/>
              </a:ext>
            </a:extLst>
          </p:cNvPr>
          <p:cNvSpPr>
            <a:spLocks noGrp="1"/>
          </p:cNvSpPr>
          <p:nvPr>
            <p:ph sz="quarter" idx="10"/>
          </p:nvPr>
        </p:nvSpPr>
        <p:spPr/>
        <p:txBody>
          <a:bodyPr>
            <a:noAutofit/>
          </a:bodyPr>
          <a:lstStyle/>
          <a:p>
            <a:pPr>
              <a:lnSpc>
                <a:spcPct val="115000"/>
              </a:lnSpc>
              <a:spcBef>
                <a:spcPts val="600"/>
              </a:spcBef>
            </a:pPr>
            <a:r>
              <a:rPr lang="en-US" sz="2000"/>
              <a:t>    Searches for behaviors and anomalies, not just signatures</a:t>
            </a:r>
          </a:p>
          <a:p>
            <a:pPr>
              <a:lnSpc>
                <a:spcPct val="115000"/>
              </a:lnSpc>
              <a:spcBef>
                <a:spcPts val="600"/>
              </a:spcBef>
            </a:pPr>
            <a:r>
              <a:rPr lang="en-US" sz="2000"/>
              <a:t>    Finds novel attack variations and zero-day techniques</a:t>
            </a:r>
          </a:p>
          <a:p>
            <a:pPr>
              <a:lnSpc>
                <a:spcPct val="115000"/>
              </a:lnSpc>
              <a:spcBef>
                <a:spcPts val="600"/>
              </a:spcBef>
            </a:pPr>
            <a:r>
              <a:rPr lang="en-US" sz="2000"/>
              <a:t>    Runs on a cadence - weekly or bi-weekly hunts are most sustainable</a:t>
            </a:r>
          </a:p>
          <a:p>
            <a:pPr>
              <a:lnSpc>
                <a:spcPct val="115000"/>
              </a:lnSpc>
              <a:spcBef>
                <a:spcPts val="600"/>
              </a:spcBef>
            </a:pPr>
            <a:r>
              <a:rPr lang="en-US" sz="2000"/>
              <a:t>Key Insight: Waiting on detections is not enough. Proactive hunting provides early insight into events that might confirm a compromise is in process, or reveals weak areas in your environment.</a:t>
            </a:r>
          </a:p>
        </p:txBody>
      </p:sp>
    </p:spTree>
    <p:extLst>
      <p:ext uri="{BB962C8B-B14F-4D97-AF65-F5344CB8AC3E}">
        <p14:creationId xmlns:p14="http://schemas.microsoft.com/office/powerpoint/2010/main" val="394413520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1142C-2A73-CA32-E515-1B924997F853}"/>
              </a:ext>
            </a:extLst>
          </p:cNvPr>
          <p:cNvSpPr>
            <a:spLocks noGrp="1"/>
          </p:cNvSpPr>
          <p:nvPr>
            <p:ph type="title"/>
          </p:nvPr>
        </p:nvSpPr>
        <p:spPr/>
        <p:txBody>
          <a:bodyPr/>
          <a:lstStyle/>
          <a:p>
            <a:r>
              <a:rPr lang="en-US"/>
              <a:t>The Threat Hunt Loop</a:t>
            </a:r>
          </a:p>
        </p:txBody>
      </p:sp>
      <p:graphicFrame>
        <p:nvGraphicFramePr>
          <p:cNvPr id="4" name="Content Placeholder 3">
            <a:extLst>
              <a:ext uri="{FF2B5EF4-FFF2-40B4-BE49-F238E27FC236}">
                <a16:creationId xmlns:a16="http://schemas.microsoft.com/office/drawing/2014/main" id="{6B256A70-6567-C5C5-EF1B-30D12D06113F}"/>
              </a:ext>
            </a:extLst>
          </p:cNvPr>
          <p:cNvGraphicFramePr>
            <a:graphicFrameLocks noGrp="1"/>
          </p:cNvGraphicFramePr>
          <p:nvPr>
            <p:ph sz="quarter" idx="10"/>
            <p:extLst>
              <p:ext uri="{D42A27DB-BD31-4B8C-83A1-F6EECF244321}">
                <p14:modId xmlns:p14="http://schemas.microsoft.com/office/powerpoint/2010/main" val="35188001"/>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345578868"/>
                    </a:ext>
                  </a:extLst>
                </a:gridCol>
                <a:gridCol w="5715000">
                  <a:extLst>
                    <a:ext uri="{9D8B030D-6E8A-4147-A177-3AD203B41FA5}">
                      <a16:colId xmlns:a16="http://schemas.microsoft.com/office/drawing/2014/main" val="2880563755"/>
                    </a:ext>
                  </a:extLst>
                </a:gridCol>
              </a:tblGrid>
              <a:tr h="814917">
                <a:tc>
                  <a:txBody>
                    <a:bodyPr/>
                    <a:lstStyle/>
                    <a:p>
                      <a:r>
                        <a:rPr lang="en-US" sz="1400" b="1"/>
                        <a:t>Phase</a:t>
                      </a:r>
                    </a:p>
                  </a:txBody>
                  <a:tcPr/>
                </a:tc>
                <a:tc>
                  <a:txBody>
                    <a:bodyPr/>
                    <a:lstStyle/>
                    <a:p>
                      <a:r>
                        <a:rPr lang="en-US" sz="1400" b="1"/>
                        <a:t>What You Do</a:t>
                      </a:r>
                    </a:p>
                  </a:txBody>
                  <a:tcPr/>
                </a:tc>
                <a:extLst>
                  <a:ext uri="{0D108BD9-81ED-4DB2-BD59-A6C34878D82A}">
                    <a16:rowId xmlns:a16="http://schemas.microsoft.com/office/drawing/2014/main" val="4134297318"/>
                  </a:ext>
                </a:extLst>
              </a:tr>
              <a:tr h="814917">
                <a:tc>
                  <a:txBody>
                    <a:bodyPr/>
                    <a:lstStyle/>
                    <a:p>
                      <a:r>
                        <a:rPr lang="en-US" sz="1400"/>
                        <a:t>Hypothesis</a:t>
                      </a:r>
                    </a:p>
                  </a:txBody>
                  <a:tcPr/>
                </a:tc>
                <a:tc>
                  <a:txBody>
                    <a:bodyPr/>
                    <a:lstStyle/>
                    <a:p>
                      <a:r>
                        <a:rPr lang="en-US" sz="1400"/>
                        <a:t>Form a testable prediction grounded in threat intel, MITRE ATT&amp;CK, or an environmental anomaly</a:t>
                      </a:r>
                    </a:p>
                  </a:txBody>
                  <a:tcPr/>
                </a:tc>
                <a:extLst>
                  <a:ext uri="{0D108BD9-81ED-4DB2-BD59-A6C34878D82A}">
                    <a16:rowId xmlns:a16="http://schemas.microsoft.com/office/drawing/2014/main" val="1887477395"/>
                  </a:ext>
                </a:extLst>
              </a:tr>
              <a:tr h="814917">
                <a:tc>
                  <a:txBody>
                    <a:bodyPr/>
                    <a:lstStyle/>
                    <a:p>
                      <a:r>
                        <a:rPr lang="en-US" sz="1400"/>
                        <a:t>Data Collection</a:t>
                      </a:r>
                    </a:p>
                  </a:txBody>
                  <a:tcPr/>
                </a:tc>
                <a:tc>
                  <a:txBody>
                    <a:bodyPr/>
                    <a:lstStyle/>
                    <a:p>
                      <a:r>
                        <a:rPr lang="en-US" sz="1400"/>
                        <a:t>Identify which Sentinel tables hold relevant evidence and validate log coverage</a:t>
                      </a:r>
                    </a:p>
                  </a:txBody>
                  <a:tcPr/>
                </a:tc>
                <a:extLst>
                  <a:ext uri="{0D108BD9-81ED-4DB2-BD59-A6C34878D82A}">
                    <a16:rowId xmlns:a16="http://schemas.microsoft.com/office/drawing/2014/main" val="399594941"/>
                  </a:ext>
                </a:extLst>
              </a:tr>
              <a:tr h="814917">
                <a:tc>
                  <a:txBody>
                    <a:bodyPr/>
                    <a:lstStyle/>
                    <a:p>
                      <a:r>
                        <a:rPr lang="en-US" sz="1400"/>
                        <a:t>Investigation</a:t>
                      </a:r>
                    </a:p>
                  </a:txBody>
                  <a:tcPr/>
                </a:tc>
                <a:tc>
                  <a:txBody>
                    <a:bodyPr/>
                    <a:lstStyle/>
                    <a:p>
                      <a:r>
                        <a:rPr lang="en-US" sz="1400"/>
                        <a:t>Write KQL queries, pivot on entities, reconstruct timelines</a:t>
                      </a:r>
                    </a:p>
                  </a:txBody>
                  <a:tcPr/>
                </a:tc>
                <a:extLst>
                  <a:ext uri="{0D108BD9-81ED-4DB2-BD59-A6C34878D82A}">
                    <a16:rowId xmlns:a16="http://schemas.microsoft.com/office/drawing/2014/main" val="1860920271"/>
                  </a:ext>
                </a:extLst>
              </a:tr>
              <a:tr h="814917">
                <a:tc>
                  <a:txBody>
                    <a:bodyPr/>
                    <a:lstStyle/>
                    <a:p>
                      <a:r>
                        <a:rPr lang="en-US" sz="1400"/>
                        <a:t>Finding</a:t>
                      </a:r>
                    </a:p>
                  </a:txBody>
                  <a:tcPr/>
                </a:tc>
                <a:tc>
                  <a:txBody>
                    <a:bodyPr/>
                    <a:lstStyle/>
                    <a:p>
                      <a:r>
                        <a:rPr lang="en-US" sz="1400"/>
                        <a:t>Document confirmed malicious or suspicious activity and escalate if needed</a:t>
                      </a:r>
                    </a:p>
                  </a:txBody>
                  <a:tcPr/>
                </a:tc>
                <a:extLst>
                  <a:ext uri="{0D108BD9-81ED-4DB2-BD59-A6C34878D82A}">
                    <a16:rowId xmlns:a16="http://schemas.microsoft.com/office/drawing/2014/main" val="4276323470"/>
                  </a:ext>
                </a:extLst>
              </a:tr>
              <a:tr h="814917">
                <a:tc>
                  <a:txBody>
                    <a:bodyPr/>
                    <a:lstStyle/>
                    <a:p>
                      <a:r>
                        <a:rPr lang="en-US" sz="1400"/>
                        <a:t>Feedback</a:t>
                      </a:r>
                    </a:p>
                  </a:txBody>
                  <a:tcPr/>
                </a:tc>
                <a:tc>
                  <a:txBody>
                    <a:bodyPr/>
                    <a:lstStyle/>
                    <a:p>
                      <a:r>
                        <a:rPr lang="en-US" sz="1400"/>
                        <a:t>Promote confirmed hunts to analytics rules and update the threat model</a:t>
                      </a:r>
                    </a:p>
                  </a:txBody>
                  <a:tcPr/>
                </a:tc>
                <a:extLst>
                  <a:ext uri="{0D108BD9-81ED-4DB2-BD59-A6C34878D82A}">
                    <a16:rowId xmlns:a16="http://schemas.microsoft.com/office/drawing/2014/main" val="1121801492"/>
                  </a:ext>
                </a:extLst>
              </a:tr>
            </a:tbl>
          </a:graphicData>
        </a:graphic>
      </p:graphicFrame>
    </p:spTree>
    <p:extLst>
      <p:ext uri="{BB962C8B-B14F-4D97-AF65-F5344CB8AC3E}">
        <p14:creationId xmlns:p14="http://schemas.microsoft.com/office/powerpoint/2010/main" val="113941826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3D49A-A9A9-4B36-3534-57F881144A6D}"/>
              </a:ext>
            </a:extLst>
          </p:cNvPr>
          <p:cNvSpPr>
            <a:spLocks noGrp="1"/>
          </p:cNvSpPr>
          <p:nvPr>
            <p:ph type="title"/>
          </p:nvPr>
        </p:nvSpPr>
        <p:spPr/>
        <p:txBody>
          <a:bodyPr/>
          <a:lstStyle/>
          <a:p>
            <a:r>
              <a:rPr lang="en-US"/>
              <a:t>Forming a Strong Hypothesis</a:t>
            </a:r>
          </a:p>
        </p:txBody>
      </p:sp>
      <p:sp>
        <p:nvSpPr>
          <p:cNvPr id="3" name="Content Placeholder 2">
            <a:extLst>
              <a:ext uri="{FF2B5EF4-FFF2-40B4-BE49-F238E27FC236}">
                <a16:creationId xmlns:a16="http://schemas.microsoft.com/office/drawing/2014/main" id="{E957EAB3-72A2-81A9-94D9-F159E1F8DD38}"/>
              </a:ext>
            </a:extLst>
          </p:cNvPr>
          <p:cNvSpPr>
            <a:spLocks noGrp="1"/>
          </p:cNvSpPr>
          <p:nvPr>
            <p:ph sz="quarter" idx="10"/>
          </p:nvPr>
        </p:nvSpPr>
        <p:spPr/>
        <p:txBody>
          <a:bodyPr>
            <a:noAutofit/>
          </a:bodyPr>
          <a:lstStyle/>
          <a:p>
            <a:pPr>
              <a:lnSpc>
                <a:spcPct val="115000"/>
              </a:lnSpc>
              <a:spcBef>
                <a:spcPts val="600"/>
              </a:spcBef>
            </a:pPr>
            <a:r>
              <a:rPr lang="en-US" sz="2000" b="1"/>
              <a:t>A good hypothesis is testable, specific, and grounded:</a:t>
            </a:r>
          </a:p>
          <a:p>
            <a:pPr>
              <a:lnSpc>
                <a:spcPct val="115000"/>
              </a:lnSpc>
              <a:spcBef>
                <a:spcPts val="600"/>
              </a:spcBef>
            </a:pPr>
            <a:r>
              <a:rPr lang="en-US" sz="2000" b="1"/>
              <a:t>Strong hypotheses:</a:t>
            </a:r>
          </a:p>
          <a:p>
            <a:pPr>
              <a:lnSpc>
                <a:spcPct val="115000"/>
              </a:lnSpc>
              <a:spcBef>
                <a:spcPts val="600"/>
              </a:spcBef>
            </a:pPr>
            <a:r>
              <a:rPr lang="en-US" sz="2000"/>
              <a:t>    "An attacker who phished user credentials is using a stolen refresh token to access Graph Application Programming Interface (API) from a foreign IP"</a:t>
            </a:r>
          </a:p>
        </p:txBody>
      </p:sp>
    </p:spTree>
    <p:extLst>
      <p:ext uri="{BB962C8B-B14F-4D97-AF65-F5344CB8AC3E}">
        <p14:creationId xmlns:p14="http://schemas.microsoft.com/office/powerpoint/2010/main" val="391147292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8470-A9A7-7843-4099-602C54D402FF}"/>
              </a:ext>
            </a:extLst>
          </p:cNvPr>
          <p:cNvSpPr>
            <a:spLocks noGrp="1"/>
          </p:cNvSpPr>
          <p:nvPr>
            <p:ph type="title"/>
          </p:nvPr>
        </p:nvSpPr>
        <p:spPr/>
        <p:txBody>
          <a:bodyPr/>
          <a:lstStyle/>
          <a:p>
            <a:r>
              <a:rPr lang="en-US"/>
              <a:t>Forming a Strong Hypothesis (cont. 2)</a:t>
            </a:r>
          </a:p>
        </p:txBody>
      </p:sp>
      <p:sp>
        <p:nvSpPr>
          <p:cNvPr id="3" name="Content Placeholder 2">
            <a:extLst>
              <a:ext uri="{FF2B5EF4-FFF2-40B4-BE49-F238E27FC236}">
                <a16:creationId xmlns:a16="http://schemas.microsoft.com/office/drawing/2014/main" id="{4D36695F-4BD8-DFE9-70CB-0D164218D6EA}"/>
              </a:ext>
            </a:extLst>
          </p:cNvPr>
          <p:cNvSpPr>
            <a:spLocks noGrp="1"/>
          </p:cNvSpPr>
          <p:nvPr>
            <p:ph sz="quarter" idx="10"/>
          </p:nvPr>
        </p:nvSpPr>
        <p:spPr/>
        <p:txBody>
          <a:bodyPr>
            <a:noAutofit/>
          </a:bodyPr>
          <a:lstStyle/>
          <a:p>
            <a:pPr>
              <a:lnSpc>
                <a:spcPct val="115000"/>
              </a:lnSpc>
              <a:spcBef>
                <a:spcPts val="600"/>
              </a:spcBef>
            </a:pPr>
            <a:r>
              <a:rPr lang="en-US" sz="2000"/>
              <a:t>    "A compromised service principal is enumerating Key Vault secrets outside business hours"</a:t>
            </a:r>
          </a:p>
          <a:p>
            <a:pPr>
              <a:lnSpc>
                <a:spcPct val="115000"/>
              </a:lnSpc>
              <a:spcBef>
                <a:spcPts val="600"/>
              </a:spcBef>
            </a:pPr>
            <a:r>
              <a:rPr lang="en-US" sz="2000"/>
              <a:t>    "A Logic App's managed identity was reassigned elevated roles after a new contributor was added"</a:t>
            </a:r>
          </a:p>
          <a:p>
            <a:pPr>
              <a:lnSpc>
                <a:spcPct val="115000"/>
              </a:lnSpc>
              <a:spcBef>
                <a:spcPts val="600"/>
              </a:spcBef>
            </a:pPr>
            <a:r>
              <a:rPr lang="en-US" sz="2000" b="1"/>
              <a:t>Weak hypotheses:</a:t>
            </a:r>
          </a:p>
          <a:p>
            <a:pPr>
              <a:lnSpc>
                <a:spcPct val="115000"/>
              </a:lnSpc>
              <a:spcBef>
                <a:spcPts val="600"/>
              </a:spcBef>
            </a:pPr>
            <a:r>
              <a:rPr lang="en-US" sz="2000"/>
              <a:t>    "Something bad is happening in our environment"</a:t>
            </a:r>
          </a:p>
        </p:txBody>
      </p:sp>
    </p:spTree>
    <p:extLst>
      <p:ext uri="{BB962C8B-B14F-4D97-AF65-F5344CB8AC3E}">
        <p14:creationId xmlns:p14="http://schemas.microsoft.com/office/powerpoint/2010/main" val="386539255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656A0-5019-7FC0-E71F-EF813188B1EA}"/>
              </a:ext>
            </a:extLst>
          </p:cNvPr>
          <p:cNvSpPr>
            <a:spLocks noGrp="1"/>
          </p:cNvSpPr>
          <p:nvPr>
            <p:ph type="title"/>
          </p:nvPr>
        </p:nvSpPr>
        <p:spPr/>
        <p:txBody>
          <a:bodyPr/>
          <a:lstStyle/>
          <a:p>
            <a:r>
              <a:rPr lang="en-US"/>
              <a:t>Forming a Strong Hypothesis (cont. 3)</a:t>
            </a:r>
          </a:p>
        </p:txBody>
      </p:sp>
      <p:sp>
        <p:nvSpPr>
          <p:cNvPr id="3" name="Content Placeholder 2">
            <a:extLst>
              <a:ext uri="{FF2B5EF4-FFF2-40B4-BE49-F238E27FC236}">
                <a16:creationId xmlns:a16="http://schemas.microsoft.com/office/drawing/2014/main" id="{0A669286-33DE-5584-9BE6-41408A1A1B0F}"/>
              </a:ext>
            </a:extLst>
          </p:cNvPr>
          <p:cNvSpPr>
            <a:spLocks noGrp="1"/>
          </p:cNvSpPr>
          <p:nvPr>
            <p:ph sz="quarter" idx="10"/>
          </p:nvPr>
        </p:nvSpPr>
        <p:spPr/>
        <p:txBody>
          <a:bodyPr>
            <a:noAutofit/>
          </a:bodyPr>
          <a:lstStyle/>
          <a:p>
            <a:pPr>
              <a:lnSpc>
                <a:spcPct val="115000"/>
              </a:lnSpc>
              <a:spcBef>
                <a:spcPts val="600"/>
              </a:spcBef>
            </a:pPr>
            <a:r>
              <a:rPr lang="en-US" sz="2000"/>
              <a:t>    "There might be a phishing attack"</a:t>
            </a:r>
          </a:p>
          <a:p>
            <a:pPr>
              <a:lnSpc>
                <a:spcPct val="115000"/>
              </a:lnSpc>
              <a:spcBef>
                <a:spcPts val="600"/>
              </a:spcBef>
            </a:pPr>
            <a:r>
              <a:rPr lang="en-US" sz="2000"/>
              <a:t>    "Check all the logs for anomalies"</a:t>
            </a:r>
          </a:p>
          <a:p>
            <a:pPr>
              <a:lnSpc>
                <a:spcPct val="115000"/>
              </a:lnSpc>
              <a:spcBef>
                <a:spcPts val="600"/>
              </a:spcBef>
            </a:pPr>
            <a:r>
              <a:rPr lang="en-US" sz="2000"/>
              <a:t>Sources for hypotheses: MITRE ATT&amp;CK Cloud Matrix, threat intelligence reports, anomalies in your environment, red team findings, incident post-mortems</a:t>
            </a:r>
          </a:p>
        </p:txBody>
      </p:sp>
    </p:spTree>
    <p:extLst>
      <p:ext uri="{BB962C8B-B14F-4D97-AF65-F5344CB8AC3E}">
        <p14:creationId xmlns:p14="http://schemas.microsoft.com/office/powerpoint/2010/main" val="175816774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35557-9378-0CA6-8219-284ADB96C068}"/>
              </a:ext>
            </a:extLst>
          </p:cNvPr>
          <p:cNvSpPr>
            <a:spLocks noGrp="1"/>
          </p:cNvSpPr>
          <p:nvPr>
            <p:ph type="title"/>
          </p:nvPr>
        </p:nvSpPr>
        <p:spPr/>
        <p:txBody>
          <a:bodyPr/>
          <a:lstStyle/>
          <a:p>
            <a:r>
              <a:rPr lang="en-US"/>
              <a:t>Key Sentinel Tables for Cloud Hunting</a:t>
            </a:r>
          </a:p>
        </p:txBody>
      </p:sp>
      <p:graphicFrame>
        <p:nvGraphicFramePr>
          <p:cNvPr id="4" name="Content Placeholder 3">
            <a:extLst>
              <a:ext uri="{FF2B5EF4-FFF2-40B4-BE49-F238E27FC236}">
                <a16:creationId xmlns:a16="http://schemas.microsoft.com/office/drawing/2014/main" id="{328ED9AD-4928-74AE-EF47-8A9C68E967BB}"/>
              </a:ext>
            </a:extLst>
          </p:cNvPr>
          <p:cNvGraphicFramePr>
            <a:graphicFrameLocks noGrp="1"/>
          </p:cNvGraphicFramePr>
          <p:nvPr>
            <p:ph sz="quarter" idx="10"/>
            <p:extLst>
              <p:ext uri="{D42A27DB-BD31-4B8C-83A1-F6EECF244321}">
                <p14:modId xmlns:p14="http://schemas.microsoft.com/office/powerpoint/2010/main" val="1226422682"/>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193053082"/>
                    </a:ext>
                  </a:extLst>
                </a:gridCol>
                <a:gridCol w="5715000">
                  <a:extLst>
                    <a:ext uri="{9D8B030D-6E8A-4147-A177-3AD203B41FA5}">
                      <a16:colId xmlns:a16="http://schemas.microsoft.com/office/drawing/2014/main" val="979994837"/>
                    </a:ext>
                  </a:extLst>
                </a:gridCol>
              </a:tblGrid>
              <a:tr h="456045">
                <a:tc>
                  <a:txBody>
                    <a:bodyPr/>
                    <a:lstStyle/>
                    <a:p>
                      <a:r>
                        <a:rPr lang="en-US" sz="1200" b="1"/>
                        <a:t>Table</a:t>
                      </a:r>
                    </a:p>
                  </a:txBody>
                  <a:tcPr/>
                </a:tc>
                <a:tc>
                  <a:txBody>
                    <a:bodyPr/>
                    <a:lstStyle/>
                    <a:p>
                      <a:r>
                        <a:rPr lang="en-US" sz="1200" b="1"/>
                        <a:t>What It Contains</a:t>
                      </a:r>
                    </a:p>
                  </a:txBody>
                  <a:tcPr/>
                </a:tc>
                <a:extLst>
                  <a:ext uri="{0D108BD9-81ED-4DB2-BD59-A6C34878D82A}">
                    <a16:rowId xmlns:a16="http://schemas.microsoft.com/office/drawing/2014/main" val="3067986658"/>
                  </a:ext>
                </a:extLst>
              </a:tr>
              <a:tr h="456045">
                <a:tc>
                  <a:txBody>
                    <a:bodyPr/>
                    <a:lstStyle/>
                    <a:p>
                      <a:r>
                        <a:rPr lang="en-US" sz="1200"/>
                        <a:t>SigninLogs</a:t>
                      </a:r>
                    </a:p>
                  </a:txBody>
                  <a:tcPr/>
                </a:tc>
                <a:tc>
                  <a:txBody>
                    <a:bodyPr/>
                    <a:lstStyle/>
                    <a:p>
                      <a:r>
                        <a:rPr lang="en-US" sz="1200"/>
                        <a:t>Interactive sign-in events (user logins, MFA challenges)</a:t>
                      </a:r>
                    </a:p>
                  </a:txBody>
                  <a:tcPr/>
                </a:tc>
                <a:extLst>
                  <a:ext uri="{0D108BD9-81ED-4DB2-BD59-A6C34878D82A}">
                    <a16:rowId xmlns:a16="http://schemas.microsoft.com/office/drawing/2014/main" val="4097915685"/>
                  </a:ext>
                </a:extLst>
              </a:tr>
              <a:tr h="456045">
                <a:tc>
                  <a:txBody>
                    <a:bodyPr/>
                    <a:lstStyle/>
                    <a:p>
                      <a:r>
                        <a:rPr lang="en-US" sz="1200"/>
                        <a:t>AADNonInteractiveUserSignInLogs</a:t>
                      </a:r>
                    </a:p>
                  </a:txBody>
                  <a:tcPr/>
                </a:tc>
                <a:tc>
                  <a:txBody>
                    <a:bodyPr/>
                    <a:lstStyle/>
                    <a:p>
                      <a:r>
                        <a:rPr lang="de-DE" sz="1200"/>
                        <a:t>Token refresh, SSO, silent sign-ins</a:t>
                      </a:r>
                      <a:endParaRPr lang="en-US" sz="1200"/>
                    </a:p>
                  </a:txBody>
                  <a:tcPr/>
                </a:tc>
                <a:extLst>
                  <a:ext uri="{0D108BD9-81ED-4DB2-BD59-A6C34878D82A}">
                    <a16:rowId xmlns:a16="http://schemas.microsoft.com/office/drawing/2014/main" val="1053915773"/>
                  </a:ext>
                </a:extLst>
              </a:tr>
              <a:tr h="456045">
                <a:tc>
                  <a:txBody>
                    <a:bodyPr/>
                    <a:lstStyle/>
                    <a:p>
                      <a:r>
                        <a:rPr lang="en-US" sz="1200"/>
                        <a:t>AADServicePrincipalSignInLogs</a:t>
                      </a:r>
                    </a:p>
                  </a:txBody>
                  <a:tcPr/>
                </a:tc>
                <a:tc>
                  <a:txBody>
                    <a:bodyPr/>
                    <a:lstStyle/>
                    <a:p>
                      <a:r>
                        <a:rPr lang="en-US" sz="1200"/>
                        <a:t>Service principal authentications</a:t>
                      </a:r>
                    </a:p>
                  </a:txBody>
                  <a:tcPr/>
                </a:tc>
                <a:extLst>
                  <a:ext uri="{0D108BD9-81ED-4DB2-BD59-A6C34878D82A}">
                    <a16:rowId xmlns:a16="http://schemas.microsoft.com/office/drawing/2014/main" val="351573580"/>
                  </a:ext>
                </a:extLst>
              </a:tr>
              <a:tr h="456045">
                <a:tc>
                  <a:txBody>
                    <a:bodyPr/>
                    <a:lstStyle/>
                    <a:p>
                      <a:r>
                        <a:rPr lang="en-US" sz="1200"/>
                        <a:t>AADManagedIdentitySignInLogs</a:t>
                      </a:r>
                    </a:p>
                  </a:txBody>
                  <a:tcPr/>
                </a:tc>
                <a:tc>
                  <a:txBody>
                    <a:bodyPr/>
                    <a:lstStyle/>
                    <a:p>
                      <a:r>
                        <a:rPr lang="en-US" sz="1200"/>
                        <a:t>Managed identity authentications</a:t>
                      </a:r>
                    </a:p>
                  </a:txBody>
                  <a:tcPr/>
                </a:tc>
                <a:extLst>
                  <a:ext uri="{0D108BD9-81ED-4DB2-BD59-A6C34878D82A}">
                    <a16:rowId xmlns:a16="http://schemas.microsoft.com/office/drawing/2014/main" val="1928939423"/>
                  </a:ext>
                </a:extLst>
              </a:tr>
              <a:tr h="456045">
                <a:tc>
                  <a:txBody>
                    <a:bodyPr/>
                    <a:lstStyle/>
                    <a:p>
                      <a:r>
                        <a:rPr lang="en-US" sz="1200"/>
                        <a:t>AuditLogs</a:t>
                      </a:r>
                    </a:p>
                  </a:txBody>
                  <a:tcPr/>
                </a:tc>
                <a:tc>
                  <a:txBody>
                    <a:bodyPr/>
                    <a:lstStyle/>
                    <a:p>
                      <a:r>
                        <a:rPr lang="en-US" sz="1200"/>
                        <a:t>Entra ID directory changes (user, app, role modifications)</a:t>
                      </a:r>
                    </a:p>
                  </a:txBody>
                  <a:tcPr/>
                </a:tc>
                <a:extLst>
                  <a:ext uri="{0D108BD9-81ED-4DB2-BD59-A6C34878D82A}">
                    <a16:rowId xmlns:a16="http://schemas.microsoft.com/office/drawing/2014/main" val="786115225"/>
                  </a:ext>
                </a:extLst>
              </a:tr>
              <a:tr h="456045">
                <a:tc>
                  <a:txBody>
                    <a:bodyPr/>
                    <a:lstStyle/>
                    <a:p>
                      <a:r>
                        <a:rPr lang="en-US" sz="1200"/>
                        <a:t>AzureActivity</a:t>
                      </a:r>
                    </a:p>
                  </a:txBody>
                  <a:tcPr/>
                </a:tc>
                <a:tc>
                  <a:txBody>
                    <a:bodyPr/>
                    <a:lstStyle/>
                    <a:p>
                      <a:r>
                        <a:rPr lang="en-US" sz="1200"/>
                        <a:t>Azure resource management operations (control plane)</a:t>
                      </a:r>
                    </a:p>
                  </a:txBody>
                  <a:tcPr/>
                </a:tc>
                <a:extLst>
                  <a:ext uri="{0D108BD9-81ED-4DB2-BD59-A6C34878D82A}">
                    <a16:rowId xmlns:a16="http://schemas.microsoft.com/office/drawing/2014/main" val="3199897018"/>
                  </a:ext>
                </a:extLst>
              </a:tr>
              <a:tr h="456045">
                <a:tc>
                  <a:txBody>
                    <a:bodyPr/>
                    <a:lstStyle/>
                    <a:p>
                      <a:r>
                        <a:rPr lang="en-US" sz="1200"/>
                        <a:t>StorageBlobLogs</a:t>
                      </a:r>
                    </a:p>
                  </a:txBody>
                  <a:tcPr/>
                </a:tc>
                <a:tc>
                  <a:txBody>
                    <a:bodyPr/>
                    <a:lstStyle/>
                    <a:p>
                      <a:r>
                        <a:rPr lang="it-IT" sz="1200"/>
                        <a:t>Blob storage data plane access</a:t>
                      </a:r>
                      <a:endParaRPr lang="en-US" sz="1200"/>
                    </a:p>
                  </a:txBody>
                  <a:tcPr/>
                </a:tc>
                <a:extLst>
                  <a:ext uri="{0D108BD9-81ED-4DB2-BD59-A6C34878D82A}">
                    <a16:rowId xmlns:a16="http://schemas.microsoft.com/office/drawing/2014/main" val="3221857414"/>
                  </a:ext>
                </a:extLst>
              </a:tr>
              <a:tr h="456045">
                <a:tc>
                  <a:txBody>
                    <a:bodyPr/>
                    <a:lstStyle/>
                    <a:p>
                      <a:r>
                        <a:rPr lang="en-US" sz="1200"/>
                        <a:t>AzureDiagnostics</a:t>
                      </a:r>
                    </a:p>
                  </a:txBody>
                  <a:tcPr/>
                </a:tc>
                <a:tc>
                  <a:txBody>
                    <a:bodyPr/>
                    <a:lstStyle/>
                    <a:p>
                      <a:r>
                        <a:rPr lang="en-US" sz="1200"/>
                        <a:t>Key Vault, Logic App, and other resource diagnostic logs</a:t>
                      </a:r>
                    </a:p>
                  </a:txBody>
                  <a:tcPr/>
                </a:tc>
                <a:extLst>
                  <a:ext uri="{0D108BD9-81ED-4DB2-BD59-A6C34878D82A}">
                    <a16:rowId xmlns:a16="http://schemas.microsoft.com/office/drawing/2014/main" val="237785269"/>
                  </a:ext>
                </a:extLst>
              </a:tr>
              <a:tr h="456045">
                <a:tc>
                  <a:txBody>
                    <a:bodyPr/>
                    <a:lstStyle/>
                    <a:p>
                      <a:r>
                        <a:rPr lang="en-US" sz="1200"/>
                        <a:t>MicrosoftGraphActivityLogs</a:t>
                      </a:r>
                    </a:p>
                  </a:txBody>
                  <a:tcPr/>
                </a:tc>
                <a:tc>
                  <a:txBody>
                    <a:bodyPr/>
                    <a:lstStyle/>
                    <a:p>
                      <a:r>
                        <a:rPr lang="en-US" sz="1200"/>
                        <a:t>Microsoft Graph API calls</a:t>
                      </a:r>
                    </a:p>
                  </a:txBody>
                  <a:tcPr/>
                </a:tc>
                <a:extLst>
                  <a:ext uri="{0D108BD9-81ED-4DB2-BD59-A6C34878D82A}">
                    <a16:rowId xmlns:a16="http://schemas.microsoft.com/office/drawing/2014/main" val="4032378053"/>
                  </a:ext>
                </a:extLst>
              </a:tr>
              <a:tr h="456045">
                <a:tc>
                  <a:txBody>
                    <a:bodyPr/>
                    <a:lstStyle/>
                    <a:p>
                      <a:r>
                        <a:rPr lang="en-US" sz="1200"/>
                        <a:t>OfficeActivity</a:t>
                      </a:r>
                    </a:p>
                  </a:txBody>
                  <a:tcPr/>
                </a:tc>
                <a:tc>
                  <a:txBody>
                    <a:bodyPr/>
                    <a:lstStyle/>
                    <a:p>
                      <a:r>
                        <a:rPr lang="en-US" sz="1200"/>
                        <a:t>Microsoft 365 events (SharePoint, Exchange, Teams)</a:t>
                      </a:r>
                    </a:p>
                  </a:txBody>
                  <a:tcPr/>
                </a:tc>
                <a:extLst>
                  <a:ext uri="{0D108BD9-81ED-4DB2-BD59-A6C34878D82A}">
                    <a16:rowId xmlns:a16="http://schemas.microsoft.com/office/drawing/2014/main" val="3207844003"/>
                  </a:ext>
                </a:extLst>
              </a:tr>
            </a:tbl>
          </a:graphicData>
        </a:graphic>
      </p:graphicFrame>
    </p:spTree>
    <p:extLst>
      <p:ext uri="{BB962C8B-B14F-4D97-AF65-F5344CB8AC3E}">
        <p14:creationId xmlns:p14="http://schemas.microsoft.com/office/powerpoint/2010/main" val="339211142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C6EE1-BF22-C83F-C8A8-3068CAE2B942}"/>
              </a:ext>
            </a:extLst>
          </p:cNvPr>
          <p:cNvSpPr>
            <a:spLocks noGrp="1"/>
          </p:cNvSpPr>
          <p:nvPr>
            <p:ph type="title"/>
          </p:nvPr>
        </p:nvSpPr>
        <p:spPr/>
        <p:txBody>
          <a:bodyPr/>
          <a:lstStyle/>
          <a:p>
            <a:r>
              <a:rPr lang="en-US"/>
              <a:t>Starting Point — Find the Footprint</a:t>
            </a:r>
          </a:p>
        </p:txBody>
      </p:sp>
      <p:sp>
        <p:nvSpPr>
          <p:cNvPr id="3" name="Content Placeholder 2">
            <a:extLst>
              <a:ext uri="{FF2B5EF4-FFF2-40B4-BE49-F238E27FC236}">
                <a16:creationId xmlns:a16="http://schemas.microsoft.com/office/drawing/2014/main" id="{3AA0C8A1-04D6-E276-75A6-9C580219691F}"/>
              </a:ext>
            </a:extLst>
          </p:cNvPr>
          <p:cNvSpPr>
            <a:spLocks noGrp="1"/>
          </p:cNvSpPr>
          <p:nvPr>
            <p:ph sz="quarter" idx="10"/>
          </p:nvPr>
        </p:nvSpPr>
        <p:spPr/>
        <p:txBody>
          <a:bodyPr>
            <a:noAutofit/>
          </a:bodyPr>
          <a:lstStyle/>
          <a:p>
            <a:pPr>
              <a:lnSpc>
                <a:spcPct val="115000"/>
              </a:lnSpc>
              <a:spcBef>
                <a:spcPts val="600"/>
              </a:spcBef>
            </a:pPr>
            <a:r>
              <a:rPr lang="en-US" sz="2200"/>
              <a:t>When you receive a lead - a username, an IP, an email address - the first step is to determine which log tables contain activity for that indicator.</a:t>
            </a:r>
          </a:p>
          <a:p>
            <a:pPr>
              <a:lnSpc>
                <a:spcPct val="115000"/>
              </a:lnSpc>
              <a:spcBef>
                <a:spcPts val="600"/>
              </a:spcBef>
            </a:pPr>
            <a:r>
              <a:rPr lang="en-US" sz="2200" b="1"/>
              <a:t>Why this matters:</a:t>
            </a:r>
          </a:p>
          <a:p>
            <a:pPr>
              <a:lnSpc>
                <a:spcPct val="115000"/>
              </a:lnSpc>
              <a:spcBef>
                <a:spcPts val="600"/>
              </a:spcBef>
            </a:pPr>
            <a:r>
              <a:rPr lang="en-US" sz="2200"/>
              <a:t>    Querying each table individually is slow and incomplete</a:t>
            </a:r>
          </a:p>
        </p:txBody>
      </p:sp>
    </p:spTree>
    <p:extLst>
      <p:ext uri="{BB962C8B-B14F-4D97-AF65-F5344CB8AC3E}">
        <p14:creationId xmlns:p14="http://schemas.microsoft.com/office/powerpoint/2010/main" val="344708744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6904A-E833-F0FF-C51B-4E7002DA6BC1}"/>
              </a:ext>
            </a:extLst>
          </p:cNvPr>
          <p:cNvSpPr>
            <a:spLocks noGrp="1"/>
          </p:cNvSpPr>
          <p:nvPr>
            <p:ph type="title"/>
          </p:nvPr>
        </p:nvSpPr>
        <p:spPr/>
        <p:txBody>
          <a:bodyPr/>
          <a:lstStyle/>
          <a:p>
            <a:r>
              <a:rPr lang="en-US"/>
              <a:t>Starting Point — Find the Footprint (cont. 2)</a:t>
            </a:r>
          </a:p>
        </p:txBody>
      </p:sp>
      <p:sp>
        <p:nvSpPr>
          <p:cNvPr id="3" name="Content Placeholder 2">
            <a:extLst>
              <a:ext uri="{FF2B5EF4-FFF2-40B4-BE49-F238E27FC236}">
                <a16:creationId xmlns:a16="http://schemas.microsoft.com/office/drawing/2014/main" id="{922FA648-996B-2F76-0E81-E4647B7862D5}"/>
              </a:ext>
            </a:extLst>
          </p:cNvPr>
          <p:cNvSpPr>
            <a:spLocks noGrp="1"/>
          </p:cNvSpPr>
          <p:nvPr>
            <p:ph sz="quarter" idx="10"/>
          </p:nvPr>
        </p:nvSpPr>
        <p:spPr/>
        <p:txBody>
          <a:bodyPr>
            <a:noAutofit/>
          </a:bodyPr>
          <a:lstStyle/>
          <a:p>
            <a:pPr>
              <a:lnSpc>
                <a:spcPct val="115000"/>
              </a:lnSpc>
              <a:spcBef>
                <a:spcPts val="600"/>
              </a:spcBef>
            </a:pPr>
            <a:r>
              <a:rPr lang="en-US" sz="2200"/>
              <a:t>    The Kusto Query Language (KQL) search operator scans across the entire workspace at once</a:t>
            </a:r>
          </a:p>
          <a:p>
            <a:pPr>
              <a:lnSpc>
                <a:spcPct val="115000"/>
              </a:lnSpc>
              <a:spcBef>
                <a:spcPts val="600"/>
              </a:spcBef>
            </a:pPr>
            <a:r>
              <a:rPr lang="en-US" sz="2200"/>
              <a:t>    Result: a ranked list of every table with log entries mentioning that value</a:t>
            </a:r>
          </a:p>
          <a:p>
            <a:pPr>
              <a:lnSpc>
                <a:spcPct val="115000"/>
              </a:lnSpc>
              <a:spcBef>
                <a:spcPts val="600"/>
              </a:spcBef>
            </a:pPr>
            <a:r>
              <a:rPr lang="en-US" sz="2200"/>
              <a:t>    Use this to scope the rest of your hunt to tables that actually have a footprint</a:t>
            </a:r>
          </a:p>
          <a:p>
            <a:pPr>
              <a:lnSpc>
                <a:spcPct val="115000"/>
              </a:lnSpc>
              <a:spcBef>
                <a:spcPts val="600"/>
              </a:spcBef>
            </a:pPr>
            <a:r>
              <a:rPr lang="en-US" sz="2200"/>
              <a:t>Performance tip: The search operator scans all tables and is expensive on large workspaces. Once you have a footprint list, immediately scope to specific tables.</a:t>
            </a:r>
          </a:p>
        </p:txBody>
      </p:sp>
    </p:spTree>
    <p:extLst>
      <p:ext uri="{BB962C8B-B14F-4D97-AF65-F5344CB8AC3E}">
        <p14:creationId xmlns:p14="http://schemas.microsoft.com/office/powerpoint/2010/main" val="146791880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18B07-2A5D-88FF-C264-4117F1C8979C}"/>
              </a:ext>
            </a:extLst>
          </p:cNvPr>
          <p:cNvSpPr>
            <a:spLocks noGrp="1"/>
          </p:cNvSpPr>
          <p:nvPr>
            <p:ph type="title"/>
          </p:nvPr>
        </p:nvSpPr>
        <p:spPr/>
        <p:txBody>
          <a:bodyPr/>
          <a:lstStyle/>
          <a:p>
            <a:r>
              <a:rPr lang="en-US"/>
              <a:t>KQL — Cross-Table Footprint Discovery</a:t>
            </a:r>
          </a:p>
        </p:txBody>
      </p:sp>
      <p:graphicFrame>
        <p:nvGraphicFramePr>
          <p:cNvPr id="4" name="Content Placeholder 3">
            <a:extLst>
              <a:ext uri="{FF2B5EF4-FFF2-40B4-BE49-F238E27FC236}">
                <a16:creationId xmlns:a16="http://schemas.microsoft.com/office/drawing/2014/main" id="{6F48EE6B-BD27-235E-38EE-199ECD59AAF5}"/>
              </a:ext>
            </a:extLst>
          </p:cNvPr>
          <p:cNvGraphicFramePr>
            <a:graphicFrameLocks noGrp="1"/>
          </p:cNvGraphicFramePr>
          <p:nvPr>
            <p:ph sz="quarter" idx="10"/>
            <p:extLst>
              <p:ext uri="{D42A27DB-BD31-4B8C-83A1-F6EECF244321}">
                <p14:modId xmlns:p14="http://schemas.microsoft.com/office/powerpoint/2010/main" val="1255154914"/>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1897124851"/>
                    </a:ext>
                  </a:extLst>
                </a:gridCol>
                <a:gridCol w="5715000">
                  <a:extLst>
                    <a:ext uri="{9D8B030D-6E8A-4147-A177-3AD203B41FA5}">
                      <a16:colId xmlns:a16="http://schemas.microsoft.com/office/drawing/2014/main" val="2954806486"/>
                    </a:ext>
                  </a:extLst>
                </a:gridCol>
              </a:tblGrid>
              <a:tr h="814917">
                <a:tc>
                  <a:txBody>
                    <a:bodyPr/>
                    <a:lstStyle/>
                    <a:p>
                      <a:r>
                        <a:rPr lang="en-US" sz="1400" b="1"/>
                        <a:t>$table</a:t>
                      </a:r>
                    </a:p>
                  </a:txBody>
                  <a:tcPr/>
                </a:tc>
                <a:tc>
                  <a:txBody>
                    <a:bodyPr/>
                    <a:lstStyle/>
                    <a:p>
                      <a:r>
                        <a:rPr lang="en-US" sz="1400" b="1"/>
                        <a:t>count_</a:t>
                      </a:r>
                    </a:p>
                  </a:txBody>
                  <a:tcPr/>
                </a:tc>
                <a:extLst>
                  <a:ext uri="{0D108BD9-81ED-4DB2-BD59-A6C34878D82A}">
                    <a16:rowId xmlns:a16="http://schemas.microsoft.com/office/drawing/2014/main" val="909277098"/>
                  </a:ext>
                </a:extLst>
              </a:tr>
              <a:tr h="814917">
                <a:tc>
                  <a:txBody>
                    <a:bodyPr/>
                    <a:lstStyle/>
                    <a:p>
                      <a:r>
                        <a:rPr lang="en-US" sz="1400"/>
                        <a:t>SigninLogs</a:t>
                      </a:r>
                    </a:p>
                  </a:txBody>
                  <a:tcPr/>
                </a:tc>
                <a:tc>
                  <a:txBody>
                    <a:bodyPr/>
                    <a:lstStyle/>
                    <a:p>
                      <a:r>
                        <a:rPr lang="en-US" sz="1400"/>
                        <a:t>47</a:t>
                      </a:r>
                    </a:p>
                  </a:txBody>
                  <a:tcPr/>
                </a:tc>
                <a:extLst>
                  <a:ext uri="{0D108BD9-81ED-4DB2-BD59-A6C34878D82A}">
                    <a16:rowId xmlns:a16="http://schemas.microsoft.com/office/drawing/2014/main" val="32634051"/>
                  </a:ext>
                </a:extLst>
              </a:tr>
              <a:tr h="814917">
                <a:tc>
                  <a:txBody>
                    <a:bodyPr/>
                    <a:lstStyle/>
                    <a:p>
                      <a:r>
                        <a:rPr lang="en-US" sz="1400"/>
                        <a:t>AzureActivity</a:t>
                      </a:r>
                    </a:p>
                  </a:txBody>
                  <a:tcPr/>
                </a:tc>
                <a:tc>
                  <a:txBody>
                    <a:bodyPr/>
                    <a:lstStyle/>
                    <a:p>
                      <a:r>
                        <a:rPr lang="en-US" sz="1400"/>
                        <a:t>12</a:t>
                      </a:r>
                    </a:p>
                  </a:txBody>
                  <a:tcPr/>
                </a:tc>
                <a:extLst>
                  <a:ext uri="{0D108BD9-81ED-4DB2-BD59-A6C34878D82A}">
                    <a16:rowId xmlns:a16="http://schemas.microsoft.com/office/drawing/2014/main" val="869208947"/>
                  </a:ext>
                </a:extLst>
              </a:tr>
              <a:tr h="814917">
                <a:tc>
                  <a:txBody>
                    <a:bodyPr/>
                    <a:lstStyle/>
                    <a:p>
                      <a:r>
                        <a:rPr lang="en-US" sz="1400"/>
                        <a:t>MicrosoftGraphActivityLogs</a:t>
                      </a:r>
                    </a:p>
                  </a:txBody>
                  <a:tcPr/>
                </a:tc>
                <a:tc>
                  <a:txBody>
                    <a:bodyPr/>
                    <a:lstStyle/>
                    <a:p>
                      <a:r>
                        <a:rPr lang="en-US" sz="1400"/>
                        <a:t>9</a:t>
                      </a:r>
                    </a:p>
                  </a:txBody>
                  <a:tcPr/>
                </a:tc>
                <a:extLst>
                  <a:ext uri="{0D108BD9-81ED-4DB2-BD59-A6C34878D82A}">
                    <a16:rowId xmlns:a16="http://schemas.microsoft.com/office/drawing/2014/main" val="1268992806"/>
                  </a:ext>
                </a:extLst>
              </a:tr>
              <a:tr h="814917">
                <a:tc>
                  <a:txBody>
                    <a:bodyPr/>
                    <a:lstStyle/>
                    <a:p>
                      <a:r>
                        <a:rPr lang="en-US" sz="1400"/>
                        <a:t>CloudAppEvents</a:t>
                      </a:r>
                    </a:p>
                  </a:txBody>
                  <a:tcPr/>
                </a:tc>
                <a:tc>
                  <a:txBody>
                    <a:bodyPr/>
                    <a:lstStyle/>
                    <a:p>
                      <a:r>
                        <a:rPr lang="en-US" sz="1400"/>
                        <a:t>5</a:t>
                      </a:r>
                    </a:p>
                  </a:txBody>
                  <a:tcPr/>
                </a:tc>
                <a:extLst>
                  <a:ext uri="{0D108BD9-81ED-4DB2-BD59-A6C34878D82A}">
                    <a16:rowId xmlns:a16="http://schemas.microsoft.com/office/drawing/2014/main" val="4053963234"/>
                  </a:ext>
                </a:extLst>
              </a:tr>
              <a:tr h="814917">
                <a:tc>
                  <a:txBody>
                    <a:bodyPr/>
                    <a:lstStyle/>
                    <a:p>
                      <a:r>
                        <a:rPr lang="en-US" sz="1400"/>
                        <a:t>AADNonInteractiveUserSignInLogs</a:t>
                      </a:r>
                    </a:p>
                  </a:txBody>
                  <a:tcPr/>
                </a:tc>
                <a:tc>
                  <a:txBody>
                    <a:bodyPr/>
                    <a:lstStyle/>
                    <a:p>
                      <a:r>
                        <a:rPr lang="en-US" sz="1400"/>
                        <a:t>3</a:t>
                      </a:r>
                    </a:p>
                  </a:txBody>
                  <a:tcPr/>
                </a:tc>
                <a:extLst>
                  <a:ext uri="{0D108BD9-81ED-4DB2-BD59-A6C34878D82A}">
                    <a16:rowId xmlns:a16="http://schemas.microsoft.com/office/drawing/2014/main" val="2402359797"/>
                  </a:ext>
                </a:extLst>
              </a:tr>
            </a:tbl>
          </a:graphicData>
        </a:graphic>
      </p:graphicFrame>
    </p:spTree>
    <p:extLst>
      <p:ext uri="{BB962C8B-B14F-4D97-AF65-F5344CB8AC3E}">
        <p14:creationId xmlns:p14="http://schemas.microsoft.com/office/powerpoint/2010/main" val="50603089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6315-32E8-4DBA-B06A-EFF17229168C}"/>
              </a:ext>
            </a:extLst>
          </p:cNvPr>
          <p:cNvSpPr>
            <a:spLocks noGrp="1"/>
          </p:cNvSpPr>
          <p:nvPr>
            <p:ph type="title"/>
          </p:nvPr>
        </p:nvSpPr>
        <p:spPr/>
        <p:txBody>
          <a:bodyPr/>
          <a:lstStyle/>
          <a:p>
            <a:r>
              <a:rPr lang="en-US"/>
              <a:t>KQL — Cross-Table Footprint Discovery (cont.)</a:t>
            </a:r>
          </a:p>
        </p:txBody>
      </p:sp>
      <p:sp>
        <p:nvSpPr>
          <p:cNvPr id="3" name="Content Placeholder 2">
            <a:extLst>
              <a:ext uri="{FF2B5EF4-FFF2-40B4-BE49-F238E27FC236}">
                <a16:creationId xmlns:a16="http://schemas.microsoft.com/office/drawing/2014/main" id="{81ECBCDE-4315-364E-B3E9-EF5C4A200515}"/>
              </a:ext>
            </a:extLst>
          </p:cNvPr>
          <p:cNvSpPr>
            <a:spLocks noGrp="1"/>
          </p:cNvSpPr>
          <p:nvPr>
            <p:ph sz="quarter" idx="10"/>
          </p:nvPr>
        </p:nvSpPr>
        <p:spPr/>
        <p:txBody>
          <a:bodyPr>
            <a:noAutofit/>
          </a:bodyPr>
          <a:lstStyle/>
          <a:p>
            <a:pPr>
              <a:lnSpc>
                <a:spcPct val="115000"/>
              </a:lnSpc>
              <a:spcBef>
                <a:spcPts val="600"/>
              </a:spcBef>
            </a:pPr>
            <a:r>
              <a:rPr lang="en-US" sz="1600" b="1"/>
              <a:t>Example output:</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180EA968-F974-824B-B5D6-92274E503A45}"/>
              </a:ext>
            </a:extLst>
          </p:cNvPr>
          <p:cNvSpPr txBox="1"/>
          <p:nvPr/>
        </p:nvSpPr>
        <p:spPr>
          <a:xfrm>
            <a:off x="381000" y="3556000"/>
            <a:ext cx="11430000" cy="553998"/>
          </a:xfrm>
          <a:prstGeom prst="rect">
            <a:avLst/>
          </a:prstGeom>
          <a:noFill/>
        </p:spPr>
        <p:txBody>
          <a:bodyPr vert="horz" wrap="square" lIns="0" tIns="0" rIns="0" bIns="0" rtlCol="0">
            <a:spAutoFit/>
          </a:bodyPr>
          <a:lstStyle/>
          <a:p>
            <a:pPr algn="l"/>
            <a:r>
              <a:rPr lang="en-US" sz="1200">
                <a:latin typeface="Consolas" panose="020B0609020204030204" pitchFamily="49" charset="0"/>
              </a:rPr>
              <a:t>search "jsmith@contoso.com"</a:t>
            </a:r>
          </a:p>
          <a:p>
            <a:pPr algn="l"/>
            <a:r>
              <a:rPr lang="en-US" sz="1200">
                <a:latin typeface="Consolas" panose="020B0609020204030204" pitchFamily="49" charset="0"/>
              </a:rPr>
              <a:t>| summarize count() by $table</a:t>
            </a:r>
          </a:p>
          <a:p>
            <a:pPr algn="l"/>
            <a:r>
              <a:rPr lang="en-US" sz="1200">
                <a:latin typeface="Consolas" panose="020B0609020204030204" pitchFamily="49" charset="0"/>
              </a:rPr>
              <a:t>| sort by count_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88110557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9FAF5-3A4E-1124-F815-04121A416FAB}"/>
              </a:ext>
            </a:extLst>
          </p:cNvPr>
          <p:cNvSpPr>
            <a:spLocks noGrp="1"/>
          </p:cNvSpPr>
          <p:nvPr>
            <p:ph type="title"/>
          </p:nvPr>
        </p:nvSpPr>
        <p:spPr/>
        <p:txBody>
          <a:bodyPr/>
          <a:lstStyle/>
          <a:p>
            <a:r>
              <a:rPr lang="en-US"/>
              <a:t>KQL — Scoped Search with Time Window</a:t>
            </a:r>
          </a:p>
        </p:txBody>
      </p:sp>
      <p:sp>
        <p:nvSpPr>
          <p:cNvPr id="3" name="Content Placeholder 2">
            <a:extLst>
              <a:ext uri="{FF2B5EF4-FFF2-40B4-BE49-F238E27FC236}">
                <a16:creationId xmlns:a16="http://schemas.microsoft.com/office/drawing/2014/main" id="{16007058-07DA-4F28-9ABD-3A57E21D1D91}"/>
              </a:ext>
            </a:extLst>
          </p:cNvPr>
          <p:cNvSpPr>
            <a:spLocks noGrp="1"/>
          </p:cNvSpPr>
          <p:nvPr>
            <p:ph sz="quarter" idx="10"/>
          </p:nvPr>
        </p:nvSpPr>
        <p:spPr/>
        <p:txBody>
          <a:bodyPr>
            <a:noAutofit/>
          </a:bodyPr>
          <a:lstStyle/>
          <a:p>
            <a:pPr>
              <a:lnSpc>
                <a:spcPct val="115000"/>
              </a:lnSpc>
              <a:spcBef>
                <a:spcPts val="600"/>
              </a:spcBef>
            </a:pPr>
            <a:r>
              <a:rPr lang="en-US" sz="2400" b="1"/>
              <a:t>Once you have a footprint list, scope your search to specific tables and a time window for better performance:</a:t>
            </a:r>
          </a:p>
          <a:p>
            <a:pPr>
              <a:lnSpc>
                <a:spcPct val="115000"/>
              </a:lnSpc>
              <a:spcBef>
                <a:spcPts val="600"/>
              </a:spcBef>
            </a:pPr>
            <a:r>
              <a:rPr lang="en-US" sz="2400" b="1"/>
              <a:t>Why scope matters:</a:t>
            </a:r>
          </a:p>
          <a:p>
            <a:pPr>
              <a:lnSpc>
                <a:spcPct val="115000"/>
              </a:lnSpc>
              <a:spcBef>
                <a:spcPts val="600"/>
              </a:spcBef>
            </a:pPr>
            <a:r>
              <a:rPr lang="en-US" sz="2400"/>
              <a:t>    Reduces query cost and execution time</a:t>
            </a:r>
          </a:p>
          <a:p>
            <a:pPr>
              <a:lnSpc>
                <a:spcPct val="115000"/>
              </a:lnSpc>
              <a:spcBef>
                <a:spcPts val="600"/>
              </a:spcBef>
            </a:pPr>
            <a:r>
              <a:rPr lang="en-US" sz="2400"/>
              <a:t>    Narrows results to the investigation window</a:t>
            </a:r>
          </a:p>
          <a:p>
            <a:pPr>
              <a:lnSpc>
                <a:spcPct val="115000"/>
              </a:lnSpc>
              <a:spcBef>
                <a:spcPts val="600"/>
              </a:spcBef>
            </a:pPr>
            <a:r>
              <a:rPr lang="en-US" sz="2400"/>
              <a:t>    The bin() function groups results into time buckets for timeline analysis</a:t>
            </a:r>
          </a:p>
        </p:txBody>
      </p:sp>
      <p:sp>
        <p:nvSpPr>
          <p:cNvPr id="4" name="TextBox 3">
            <a:extLst>
              <a:ext uri="{FF2B5EF4-FFF2-40B4-BE49-F238E27FC236}">
                <a16:creationId xmlns:a16="http://schemas.microsoft.com/office/drawing/2014/main" id="{00B7B4AB-64DD-2020-9867-081A06D06CCD}"/>
              </a:ext>
            </a:extLst>
          </p:cNvPr>
          <p:cNvSpPr txBox="1"/>
          <p:nvPr/>
        </p:nvSpPr>
        <p:spPr>
          <a:xfrm>
            <a:off x="381000" y="4064000"/>
            <a:ext cx="11430000" cy="923330"/>
          </a:xfrm>
          <a:prstGeom prst="rect">
            <a:avLst/>
          </a:prstGeom>
          <a:noFill/>
        </p:spPr>
        <p:txBody>
          <a:bodyPr vert="horz" wrap="square" lIns="0" tIns="0" rIns="0" bIns="0" rtlCol="0">
            <a:spAutoFit/>
          </a:bodyPr>
          <a:lstStyle/>
          <a:p>
            <a:pPr algn="l"/>
            <a:r>
              <a:rPr lang="en-US" sz="1200">
                <a:latin typeface="Consolas" panose="020B0609020204030204" pitchFamily="49" charset="0"/>
              </a:rPr>
              <a:t>search in (SigninLogs, AzureActivity, CloudAppEvents)</a:t>
            </a:r>
          </a:p>
          <a:p>
            <a:pPr algn="l"/>
            <a:r>
              <a:rPr lang="en-US" sz="1200">
                <a:latin typeface="Consolas" panose="020B0609020204030204" pitchFamily="49" charset="0"/>
              </a:rPr>
              <a:t>    "jsmith@contoso.com"</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summarize count() by $table, bin(TimeGenerated, 1h)</a:t>
            </a:r>
          </a:p>
          <a:p>
            <a:pPr algn="l"/>
            <a:r>
              <a:rPr lang="en-US" sz="1200">
                <a:latin typeface="Consolas" panose="020B0609020204030204" pitchFamily="49" charset="0"/>
              </a:rPr>
              <a:t>| sort by TimeGenerated asc</a:t>
            </a:r>
            <a:endParaRPr lang="en-US" sz="1200" dirty="0" err="1">
              <a:latin typeface="Consolas" panose="020B0609020204030204" pitchFamily="49" charset="0"/>
            </a:endParaRPr>
          </a:p>
        </p:txBody>
      </p:sp>
    </p:spTree>
    <p:extLst>
      <p:ext uri="{BB962C8B-B14F-4D97-AF65-F5344CB8AC3E}">
        <p14:creationId xmlns:p14="http://schemas.microsoft.com/office/powerpoint/2010/main" val="67620457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C0430-913B-169F-6260-9110CA232195}"/>
              </a:ext>
            </a:extLst>
          </p:cNvPr>
          <p:cNvSpPr>
            <a:spLocks noGrp="1"/>
          </p:cNvSpPr>
          <p:nvPr>
            <p:ph type="title"/>
          </p:nvPr>
        </p:nvSpPr>
        <p:spPr/>
        <p:txBody>
          <a:bodyPr/>
          <a:lstStyle/>
          <a:p>
            <a:r>
              <a:rPr lang="en-US"/>
              <a:t>Drilling Into Tables — Sign-In Events</a:t>
            </a:r>
          </a:p>
        </p:txBody>
      </p:sp>
      <p:sp>
        <p:nvSpPr>
          <p:cNvPr id="3" name="Content Placeholder 2">
            <a:extLst>
              <a:ext uri="{FF2B5EF4-FFF2-40B4-BE49-F238E27FC236}">
                <a16:creationId xmlns:a16="http://schemas.microsoft.com/office/drawing/2014/main" id="{CEACE544-8096-E00B-4661-531B66C70539}"/>
              </a:ext>
            </a:extLst>
          </p:cNvPr>
          <p:cNvSpPr>
            <a:spLocks noGrp="1"/>
          </p:cNvSpPr>
          <p:nvPr>
            <p:ph sz="quarter" idx="10"/>
          </p:nvPr>
        </p:nvSpPr>
        <p:spPr/>
        <p:txBody>
          <a:bodyPr>
            <a:noAutofit/>
          </a:bodyPr>
          <a:lstStyle/>
          <a:p>
            <a:pPr>
              <a:lnSpc>
                <a:spcPct val="115000"/>
              </a:lnSpc>
              <a:spcBef>
                <a:spcPts val="600"/>
              </a:spcBef>
            </a:pPr>
            <a:r>
              <a:rPr lang="en-US" sz="2200"/>
              <a:t>Pull the relevant records from each table and review them for suspicious patterns.</a:t>
            </a:r>
          </a:p>
          <a:p>
            <a:pPr>
              <a:lnSpc>
                <a:spcPct val="115000"/>
              </a:lnSpc>
              <a:spcBef>
                <a:spcPts val="600"/>
              </a:spcBef>
            </a:pPr>
            <a:r>
              <a:rPr lang="en-US" sz="2200" b="1"/>
              <a:t>Key fields to examine:</a:t>
            </a:r>
          </a:p>
          <a:p>
            <a:pPr>
              <a:lnSpc>
                <a:spcPct val="115000"/>
              </a:lnSpc>
              <a:spcBef>
                <a:spcPts val="600"/>
              </a:spcBef>
            </a:pPr>
            <a:r>
              <a:rPr lang="en-US" sz="2200"/>
              <a:t>    IPAddress / Location - Is the user signing in from expected locations?</a:t>
            </a:r>
          </a:p>
          <a:p>
            <a:pPr>
              <a:lnSpc>
                <a:spcPct val="115000"/>
              </a:lnSpc>
              <a:spcBef>
                <a:spcPts val="600"/>
              </a:spcBef>
            </a:pPr>
            <a:r>
              <a:rPr lang="en-US" sz="2200"/>
              <a:t>    ResultType - 0 = success; other values indicate failures</a:t>
            </a:r>
          </a:p>
          <a:p>
            <a:pPr>
              <a:lnSpc>
                <a:spcPct val="115000"/>
              </a:lnSpc>
              <a:spcBef>
                <a:spcPts val="600"/>
              </a:spcBef>
            </a:pPr>
            <a:r>
              <a:rPr lang="en-US" sz="2200"/>
              <a:t>    AuthenticationRequirement - Was Multi-Factor Authentication (MFA) required and satisfied?</a:t>
            </a:r>
          </a:p>
          <a:p>
            <a:pPr>
              <a:lnSpc>
                <a:spcPct val="115000"/>
              </a:lnSpc>
              <a:spcBef>
                <a:spcPts val="600"/>
              </a:spcBef>
            </a:pPr>
            <a:r>
              <a:rPr lang="en-US" sz="2200"/>
              <a:t>    UniqueTokenIdentifier - Links this sign-in to downstream token usage</a:t>
            </a:r>
          </a:p>
        </p:txBody>
      </p:sp>
      <p:sp>
        <p:nvSpPr>
          <p:cNvPr id="4" name="TextBox 3">
            <a:extLst>
              <a:ext uri="{FF2B5EF4-FFF2-40B4-BE49-F238E27FC236}">
                <a16:creationId xmlns:a16="http://schemas.microsoft.com/office/drawing/2014/main" id="{E9A728F5-8C2A-2B2B-8844-888BE44017FF}"/>
              </a:ext>
            </a:extLst>
          </p:cNvPr>
          <p:cNvSpPr txBox="1"/>
          <p:nvPr/>
        </p:nvSpPr>
        <p:spPr>
          <a:xfrm>
            <a:off x="381000" y="4064000"/>
            <a:ext cx="11430000" cy="1292662"/>
          </a:xfrm>
          <a:prstGeom prst="rect">
            <a:avLst/>
          </a:prstGeom>
          <a:noFill/>
        </p:spPr>
        <p:txBody>
          <a:bodyPr vert="horz" wrap="square" lIns="0" tIns="0" rIns="0" bIns="0" rtlCol="0">
            <a:spAutoFit/>
          </a:bodyPr>
          <a:lstStyle/>
          <a:p>
            <a:pPr algn="l"/>
            <a:r>
              <a:rPr lang="en-US" sz="1200">
                <a:latin typeface="Consolas" panose="020B0609020204030204" pitchFamily="49" charset="0"/>
              </a:rPr>
              <a:t>SigninLogs</a:t>
            </a:r>
          </a:p>
          <a:p>
            <a:pPr algn="l"/>
            <a:r>
              <a:rPr lang="en-US" sz="1200">
                <a:latin typeface="Consolas" panose="020B0609020204030204" pitchFamily="49" charset="0"/>
              </a:rPr>
              <a:t>| where UserPrincipalName == "jsmith@contoso.com"</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project TimeGenerated, IPAddress, Location, AppDisplayName,</a:t>
            </a:r>
          </a:p>
          <a:p>
            <a:pPr algn="l"/>
            <a:r>
              <a:rPr lang="en-US" sz="1200">
                <a:latin typeface="Consolas" panose="020B0609020204030204" pitchFamily="49" charset="0"/>
              </a:rPr>
              <a:t>          AuthenticationRequirement, ResultType, ResultDescription,</a:t>
            </a:r>
          </a:p>
          <a:p>
            <a:pPr algn="l"/>
            <a:r>
              <a:rPr lang="en-US" sz="1200">
                <a:latin typeface="Consolas" panose="020B0609020204030204" pitchFamily="49" charset="0"/>
              </a:rPr>
              <a:t>          ConditionalAccessStatus, UniqueTokenIdentifier, CorrelationId</a:t>
            </a:r>
          </a:p>
          <a:p>
            <a:pPr algn="l"/>
            <a:r>
              <a:rPr lang="en-US" sz="1200">
                <a:latin typeface="Consolas" panose="020B0609020204030204" pitchFamily="49" charset="0"/>
              </a:rPr>
              <a:t>| sort by TimeGenerated asc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48566555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2635C-1D18-19F3-D605-B001BBC80373}"/>
              </a:ext>
            </a:extLst>
          </p:cNvPr>
          <p:cNvSpPr>
            <a:spLocks noGrp="1"/>
          </p:cNvSpPr>
          <p:nvPr>
            <p:ph type="title"/>
          </p:nvPr>
        </p:nvSpPr>
        <p:spPr/>
        <p:txBody>
          <a:bodyPr/>
          <a:lstStyle/>
          <a:p>
            <a:r>
              <a:rPr lang="en-US"/>
              <a:t>Drilling Into Tables — Control Plane and Graph API</a:t>
            </a:r>
          </a:p>
        </p:txBody>
      </p:sp>
      <p:sp>
        <p:nvSpPr>
          <p:cNvPr id="3" name="Content Placeholder 2">
            <a:extLst>
              <a:ext uri="{FF2B5EF4-FFF2-40B4-BE49-F238E27FC236}">
                <a16:creationId xmlns:a16="http://schemas.microsoft.com/office/drawing/2014/main" id="{F8FA475F-DC3A-5E45-C40A-3678924FFB31}"/>
              </a:ext>
            </a:extLst>
          </p:cNvPr>
          <p:cNvSpPr>
            <a:spLocks noGrp="1"/>
          </p:cNvSpPr>
          <p:nvPr>
            <p:ph sz="quarter" idx="10"/>
          </p:nvPr>
        </p:nvSpPr>
        <p:spPr/>
        <p:txBody>
          <a:bodyPr/>
          <a:lstStyle/>
          <a:p>
            <a:endParaRPr lang="en-US"/>
          </a:p>
        </p:txBody>
      </p:sp>
      <p:sp>
        <p:nvSpPr>
          <p:cNvPr id="4" name="TextBox 3">
            <a:extLst>
              <a:ext uri="{FF2B5EF4-FFF2-40B4-BE49-F238E27FC236}">
                <a16:creationId xmlns:a16="http://schemas.microsoft.com/office/drawing/2014/main" id="{3C2F8510-6399-10A1-A08D-A71E72D6816B}"/>
              </a:ext>
            </a:extLst>
          </p:cNvPr>
          <p:cNvSpPr txBox="1"/>
          <p:nvPr/>
        </p:nvSpPr>
        <p:spPr>
          <a:xfrm>
            <a:off x="381000" y="2286000"/>
            <a:ext cx="11430000" cy="1200329"/>
          </a:xfrm>
          <a:prstGeom prst="rect">
            <a:avLst/>
          </a:prstGeom>
          <a:noFill/>
        </p:spPr>
        <p:txBody>
          <a:bodyPr vert="horz" wrap="square" lIns="0" tIns="0" rIns="0" bIns="0" rtlCol="0">
            <a:spAutoFit/>
          </a:bodyPr>
          <a:lstStyle/>
          <a:p>
            <a:pPr algn="l"/>
            <a:r>
              <a:rPr lang="en-US" sz="1300">
                <a:latin typeface="Consolas" panose="020B0609020204030204" pitchFamily="49" charset="0"/>
              </a:rPr>
              <a:t>AzureActivity</a:t>
            </a:r>
          </a:p>
          <a:p>
            <a:pPr algn="l"/>
            <a:r>
              <a:rPr lang="en-US" sz="1300">
                <a:latin typeface="Consolas" panose="020B0609020204030204" pitchFamily="49" charset="0"/>
              </a:rPr>
              <a:t>| where Caller == "jsmith@contoso.com"</a:t>
            </a:r>
          </a:p>
          <a:p>
            <a:pPr algn="l"/>
            <a:r>
              <a:rPr lang="en-US" sz="1300">
                <a:latin typeface="Consolas" panose="020B0609020204030204" pitchFamily="49" charset="0"/>
              </a:rPr>
              <a:t>| where TimeGenerated &gt; ago(7d)</a:t>
            </a:r>
          </a:p>
          <a:p>
            <a:pPr algn="l"/>
            <a:r>
              <a:rPr lang="en-US" sz="1300">
                <a:latin typeface="Consolas" panose="020B0609020204030204" pitchFamily="49" charset="0"/>
              </a:rPr>
              <a:t>| project TimeGenerated, OperationNameValue, ResourceGroup,</a:t>
            </a:r>
          </a:p>
          <a:p>
            <a:pPr algn="l"/>
            <a:r>
              <a:rPr lang="en-US" sz="1300">
                <a:latin typeface="Consolas" panose="020B0609020204030204" pitchFamily="49" charset="0"/>
              </a:rPr>
              <a:t>          ResourceId, ActivityStatus, CorrelationId</a:t>
            </a:r>
          </a:p>
          <a:p>
            <a:pPr algn="l"/>
            <a:r>
              <a:rPr lang="en-US" sz="1300">
                <a:latin typeface="Consolas" panose="020B0609020204030204" pitchFamily="49" charset="0"/>
              </a:rPr>
              <a:t>| sort by TimeGenerated asc</a:t>
            </a:r>
            <a:endParaRPr lang="en-US" sz="1300" dirty="0" err="1">
              <a:latin typeface="Consolas" panose="020B0609020204030204" pitchFamily="49" charset="0"/>
            </a:endParaRPr>
          </a:p>
        </p:txBody>
      </p:sp>
    </p:spTree>
    <p:extLst>
      <p:ext uri="{BB962C8B-B14F-4D97-AF65-F5344CB8AC3E}">
        <p14:creationId xmlns:p14="http://schemas.microsoft.com/office/powerpoint/2010/main" val="219756042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6C33-EA35-32F3-9578-24072C8E229C}"/>
              </a:ext>
            </a:extLst>
          </p:cNvPr>
          <p:cNvSpPr>
            <a:spLocks noGrp="1"/>
          </p:cNvSpPr>
          <p:nvPr>
            <p:ph type="title"/>
          </p:nvPr>
        </p:nvSpPr>
        <p:spPr/>
        <p:txBody>
          <a:bodyPr/>
          <a:lstStyle/>
          <a:p>
            <a:r>
              <a:rPr lang="en-US"/>
              <a:t>Correlating Activity — Overview</a:t>
            </a:r>
          </a:p>
        </p:txBody>
      </p:sp>
      <p:graphicFrame>
        <p:nvGraphicFramePr>
          <p:cNvPr id="5" name="Content Placeholder 4">
            <a:extLst>
              <a:ext uri="{FF2B5EF4-FFF2-40B4-BE49-F238E27FC236}">
                <a16:creationId xmlns:a16="http://schemas.microsoft.com/office/drawing/2014/main" id="{A645D34A-5AE2-5B4C-DC9C-0879AB9E5E67}"/>
              </a:ext>
            </a:extLst>
          </p:cNvPr>
          <p:cNvGraphicFramePr>
            <a:graphicFrameLocks noGrp="1"/>
          </p:cNvGraphicFramePr>
          <p:nvPr>
            <p:ph sz="quarter" idx="10"/>
            <p:extLst>
              <p:ext uri="{D42A27DB-BD31-4B8C-83A1-F6EECF244321}">
                <p14:modId xmlns:p14="http://schemas.microsoft.com/office/powerpoint/2010/main" val="3155347348"/>
              </p:ext>
            </p:extLst>
          </p:nvPr>
        </p:nvGraphicFramePr>
        <p:xfrm>
          <a:off x="381000" y="1989097"/>
          <a:ext cx="11430000" cy="4513302"/>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799962572"/>
                    </a:ext>
                  </a:extLst>
                </a:gridCol>
                <a:gridCol w="3810000">
                  <a:extLst>
                    <a:ext uri="{9D8B030D-6E8A-4147-A177-3AD203B41FA5}">
                      <a16:colId xmlns:a16="http://schemas.microsoft.com/office/drawing/2014/main" val="3515417256"/>
                    </a:ext>
                  </a:extLst>
                </a:gridCol>
                <a:gridCol w="3810000">
                  <a:extLst>
                    <a:ext uri="{9D8B030D-6E8A-4147-A177-3AD203B41FA5}">
                      <a16:colId xmlns:a16="http://schemas.microsoft.com/office/drawing/2014/main" val="2619122413"/>
                    </a:ext>
                  </a:extLst>
                </a:gridCol>
              </a:tblGrid>
              <a:tr h="1128326">
                <a:tc>
                  <a:txBody>
                    <a:bodyPr/>
                    <a:lstStyle/>
                    <a:p>
                      <a:r>
                        <a:rPr lang="en-US" sz="1400" b="1"/>
                        <a:t>Correlation Field</a:t>
                      </a:r>
                    </a:p>
                  </a:txBody>
                  <a:tcPr/>
                </a:tc>
                <a:tc>
                  <a:txBody>
                    <a:bodyPr/>
                    <a:lstStyle/>
                    <a:p>
                      <a:r>
                        <a:rPr lang="en-US" sz="1400" b="1"/>
                        <a:t>Tables</a:t>
                      </a:r>
                    </a:p>
                  </a:txBody>
                  <a:tcPr/>
                </a:tc>
                <a:tc>
                  <a:txBody>
                    <a:bodyPr/>
                    <a:lstStyle/>
                    <a:p>
                      <a:r>
                        <a:rPr lang="en-US" sz="1400" b="1"/>
                        <a:t>Use Case</a:t>
                      </a:r>
                    </a:p>
                  </a:txBody>
                  <a:tcPr/>
                </a:tc>
                <a:extLst>
                  <a:ext uri="{0D108BD9-81ED-4DB2-BD59-A6C34878D82A}">
                    <a16:rowId xmlns:a16="http://schemas.microsoft.com/office/drawing/2014/main" val="528109435"/>
                  </a:ext>
                </a:extLst>
              </a:tr>
              <a:tr h="1128326">
                <a:tc>
                  <a:txBody>
                    <a:bodyPr/>
                    <a:lstStyle/>
                    <a:p>
                      <a:r>
                        <a:rPr lang="en-US" sz="1400"/>
                        <a:t>CorrelationId</a:t>
                      </a:r>
                    </a:p>
                  </a:txBody>
                  <a:tcPr/>
                </a:tc>
                <a:tc>
                  <a:txBody>
                    <a:bodyPr/>
                    <a:lstStyle/>
                    <a:p>
                      <a:r>
                        <a:rPr lang="en-US" sz="1400"/>
                        <a:t>SigninLogs, AADNonInteractiveUserSignInLogs, AzureActivity</a:t>
                      </a:r>
                    </a:p>
                  </a:txBody>
                  <a:tcPr/>
                </a:tc>
                <a:tc>
                  <a:txBody>
                    <a:bodyPr/>
                    <a:lstStyle/>
                    <a:p>
                      <a:r>
                        <a:rPr lang="en-US" sz="1400"/>
                        <a:t>Link Azure resource operations back to the sign-in that established the session</a:t>
                      </a:r>
                    </a:p>
                  </a:txBody>
                  <a:tcPr/>
                </a:tc>
                <a:extLst>
                  <a:ext uri="{0D108BD9-81ED-4DB2-BD59-A6C34878D82A}">
                    <a16:rowId xmlns:a16="http://schemas.microsoft.com/office/drawing/2014/main" val="3988509126"/>
                  </a:ext>
                </a:extLst>
              </a:tr>
              <a:tr h="1128326">
                <a:tc>
                  <a:txBody>
                    <a:bodyPr/>
                    <a:lstStyle/>
                    <a:p>
                      <a:r>
                        <a:rPr lang="en-US" sz="1400"/>
                        <a:t>UniqueTokenIdentifier</a:t>
                      </a:r>
                    </a:p>
                  </a:txBody>
                  <a:tcPr/>
                </a:tc>
                <a:tc>
                  <a:txBody>
                    <a:bodyPr/>
                    <a:lstStyle/>
                    <a:p>
                      <a:r>
                        <a:rPr lang="en-US" sz="1400"/>
                        <a:t>SigninLogs, AADNonInteractiveUserSignInLogs, MicrosoftGraphActivityLogs</a:t>
                      </a:r>
                    </a:p>
                  </a:txBody>
                  <a:tcPr/>
                </a:tc>
                <a:tc>
                  <a:txBody>
                    <a:bodyPr/>
                    <a:lstStyle/>
                    <a:p>
                      <a:r>
                        <a:rPr lang="en-US" sz="1400"/>
                        <a:t>Detect token theft and replay - track a specific token across services</a:t>
                      </a:r>
                    </a:p>
                  </a:txBody>
                  <a:tcPr/>
                </a:tc>
                <a:extLst>
                  <a:ext uri="{0D108BD9-81ED-4DB2-BD59-A6C34878D82A}">
                    <a16:rowId xmlns:a16="http://schemas.microsoft.com/office/drawing/2014/main" val="400396990"/>
                  </a:ext>
                </a:extLst>
              </a:tr>
              <a:tr h="1128326">
                <a:tc>
                  <a:txBody>
                    <a:bodyPr/>
                    <a:lstStyle/>
                    <a:p>
                      <a:r>
                        <a:rPr lang="en-US" sz="1400"/>
                        <a:t>NetworkMessageId</a:t>
                      </a:r>
                    </a:p>
                  </a:txBody>
                  <a:tcPr/>
                </a:tc>
                <a:tc>
                  <a:txBody>
                    <a:bodyPr/>
                    <a:lstStyle/>
                    <a:p>
                      <a:r>
                        <a:rPr lang="en-US" sz="1400"/>
                        <a:t>EmailEvents, EmailUrlInfo, EmailAttachmentInfo, EmailPostDeliveryEvents</a:t>
                      </a:r>
                    </a:p>
                  </a:txBody>
                  <a:tcPr/>
                </a:tc>
                <a:tc>
                  <a:txBody>
                    <a:bodyPr/>
                    <a:lstStyle/>
                    <a:p>
                      <a:r>
                        <a:rPr lang="en-US" sz="1400"/>
                        <a:t>Reconstruct the full timeline of a phishing email</a:t>
                      </a:r>
                    </a:p>
                  </a:txBody>
                  <a:tcPr/>
                </a:tc>
                <a:extLst>
                  <a:ext uri="{0D108BD9-81ED-4DB2-BD59-A6C34878D82A}">
                    <a16:rowId xmlns:a16="http://schemas.microsoft.com/office/drawing/2014/main" val="2049420509"/>
                  </a:ext>
                </a:extLst>
              </a:tr>
            </a:tbl>
          </a:graphicData>
        </a:graphic>
      </p:graphicFrame>
      <p:sp>
        <p:nvSpPr>
          <p:cNvPr id="4" name="TextBox 3">
            <a:extLst>
              <a:ext uri="{FF2B5EF4-FFF2-40B4-BE49-F238E27FC236}">
                <a16:creationId xmlns:a16="http://schemas.microsoft.com/office/drawing/2014/main" id="{ABA64066-D49C-F693-B5FE-A9F5CA9582F0}"/>
              </a:ext>
            </a:extLst>
          </p:cNvPr>
          <p:cNvSpPr txBox="1"/>
          <p:nvPr/>
        </p:nvSpPr>
        <p:spPr>
          <a:xfrm>
            <a:off x="381000" y="1265198"/>
            <a:ext cx="11430000" cy="1292662"/>
          </a:xfrm>
          <a:prstGeom prst="rect">
            <a:avLst/>
          </a:prstGeom>
          <a:noFill/>
        </p:spPr>
        <p:txBody>
          <a:bodyPr vert="horz" wrap="square" lIns="0" tIns="0" rIns="0" bIns="0" rtlCol="0">
            <a:spAutoFit/>
          </a:bodyPr>
          <a:lstStyle/>
          <a:p>
            <a:pPr algn="l"/>
            <a:r>
              <a:rPr lang="en-US" sz="2800"/>
              <a:t>The power of multi-table hunting comes from joining events together through shared identifiers. These three fields are the most commonly used correlation anchors.</a:t>
            </a:r>
            <a:endParaRPr lang="en-US" sz="2800" dirty="0" err="1"/>
          </a:p>
        </p:txBody>
      </p:sp>
    </p:spTree>
    <p:extLst>
      <p:ext uri="{BB962C8B-B14F-4D97-AF65-F5344CB8AC3E}">
        <p14:creationId xmlns:p14="http://schemas.microsoft.com/office/powerpoint/2010/main" val="236598422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1DAB6-F3D9-AA62-9B1C-46EB9718E71B}"/>
              </a:ext>
            </a:extLst>
          </p:cNvPr>
          <p:cNvSpPr>
            <a:spLocks noGrp="1"/>
          </p:cNvSpPr>
          <p:nvPr>
            <p:ph type="title"/>
          </p:nvPr>
        </p:nvSpPr>
        <p:spPr/>
        <p:txBody>
          <a:bodyPr/>
          <a:lstStyle/>
          <a:p>
            <a:r>
              <a:rPr lang="en-US"/>
              <a:t>CorrelationId — Linking Sign-Ins to Resource Actions</a:t>
            </a:r>
          </a:p>
        </p:txBody>
      </p:sp>
      <p:sp>
        <p:nvSpPr>
          <p:cNvPr id="3" name="Content Placeholder 2">
            <a:extLst>
              <a:ext uri="{FF2B5EF4-FFF2-40B4-BE49-F238E27FC236}">
                <a16:creationId xmlns:a16="http://schemas.microsoft.com/office/drawing/2014/main" id="{9322A627-F2BC-312C-F9BE-5B4C354683EC}"/>
              </a:ext>
            </a:extLst>
          </p:cNvPr>
          <p:cNvSpPr>
            <a:spLocks noGrp="1"/>
          </p:cNvSpPr>
          <p:nvPr>
            <p:ph sz="quarter" idx="10"/>
          </p:nvPr>
        </p:nvSpPr>
        <p:spPr/>
        <p:txBody>
          <a:bodyPr>
            <a:noAutofit/>
          </a:bodyPr>
          <a:lstStyle/>
          <a:p>
            <a:pPr>
              <a:lnSpc>
                <a:spcPct val="115000"/>
              </a:lnSpc>
              <a:spcBef>
                <a:spcPts val="600"/>
              </a:spcBef>
            </a:pPr>
            <a:r>
              <a:rPr lang="en-US"/>
              <a:t>What it is: A GUID that ties together all internal service calls initiated by a single authentication or ARM operation. Events that share a CorrelationId belong to the same uber action.</a:t>
            </a:r>
          </a:p>
          <a:p>
            <a:pPr>
              <a:lnSpc>
                <a:spcPct val="115000"/>
              </a:lnSpc>
              <a:spcBef>
                <a:spcPts val="600"/>
              </a:spcBef>
            </a:pPr>
            <a:r>
              <a:rPr lang="en-US"/>
              <a:t>Use it when: You want to link an Azure resource operation (e.g., a Key Vault secret read) back to the sign-in that established the session, or to pull all sub-operations of a single ARM action.</a:t>
            </a:r>
          </a:p>
          <a:p>
            <a:pPr>
              <a:lnSpc>
                <a:spcPct val="115000"/>
              </a:lnSpc>
              <a:spcBef>
                <a:spcPts val="600"/>
              </a:spcBef>
            </a:pPr>
            <a:r>
              <a:rPr lang="en-US"/>
              <a:t>Present in: SigninLogs, AADNonInteractiveUserSignInLogs, AzureActivity</a:t>
            </a:r>
          </a:p>
        </p:txBody>
      </p:sp>
    </p:spTree>
    <p:extLst>
      <p:ext uri="{BB962C8B-B14F-4D97-AF65-F5344CB8AC3E}">
        <p14:creationId xmlns:p14="http://schemas.microsoft.com/office/powerpoint/2010/main" val="336525629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C1C9-2935-9116-3831-7F7279048A04}"/>
              </a:ext>
            </a:extLst>
          </p:cNvPr>
          <p:cNvSpPr>
            <a:spLocks noGrp="1"/>
          </p:cNvSpPr>
          <p:nvPr>
            <p:ph type="title"/>
          </p:nvPr>
        </p:nvSpPr>
        <p:spPr/>
        <p:txBody>
          <a:bodyPr/>
          <a:lstStyle/>
          <a:p>
            <a:r>
              <a:rPr lang="en-US"/>
              <a:t>KQL — CorrelationId Pivot</a:t>
            </a:r>
          </a:p>
        </p:txBody>
      </p:sp>
      <p:sp>
        <p:nvSpPr>
          <p:cNvPr id="3" name="Content Placeholder 2">
            <a:extLst>
              <a:ext uri="{FF2B5EF4-FFF2-40B4-BE49-F238E27FC236}">
                <a16:creationId xmlns:a16="http://schemas.microsoft.com/office/drawing/2014/main" id="{85708DD8-8E1D-3F0E-1090-515850E852A2}"/>
              </a:ext>
            </a:extLst>
          </p:cNvPr>
          <p:cNvSpPr>
            <a:spLocks noGrp="1"/>
          </p:cNvSpPr>
          <p:nvPr>
            <p:ph sz="quarter" idx="10"/>
          </p:nvPr>
        </p:nvSpPr>
        <p:spPr/>
        <p:txBody>
          <a:bodyPr/>
          <a:lstStyle/>
          <a:p>
            <a:endParaRPr lang="en-US"/>
          </a:p>
        </p:txBody>
      </p:sp>
      <p:sp>
        <p:nvSpPr>
          <p:cNvPr id="4" name="TextBox 3">
            <a:extLst>
              <a:ext uri="{FF2B5EF4-FFF2-40B4-BE49-F238E27FC236}">
                <a16:creationId xmlns:a16="http://schemas.microsoft.com/office/drawing/2014/main" id="{5E20F00E-6BBD-26ED-EDC2-BFF55F035CD3}"/>
              </a:ext>
            </a:extLst>
          </p:cNvPr>
          <p:cNvSpPr txBox="1"/>
          <p:nvPr/>
        </p:nvSpPr>
        <p:spPr>
          <a:xfrm>
            <a:off x="381000" y="2286000"/>
            <a:ext cx="11430000" cy="3000821"/>
          </a:xfrm>
          <a:prstGeom prst="rect">
            <a:avLst/>
          </a:prstGeom>
          <a:noFill/>
        </p:spPr>
        <p:txBody>
          <a:bodyPr vert="horz" wrap="square" lIns="0" tIns="0" rIns="0" bIns="0" rtlCol="0">
            <a:spAutoFit/>
          </a:bodyPr>
          <a:lstStyle/>
          <a:p>
            <a:pPr algn="l"/>
            <a:r>
              <a:rPr lang="en-US" sz="1300">
                <a:latin typeface="Consolas" panose="020B0609020204030204" pitchFamily="49" charset="0"/>
              </a:rPr>
              <a:t>let suspiciousCorrelationId = "xxxxxxxx-xxxx-xxxx-xxxx-xxxxxxxxxxxx";</a:t>
            </a:r>
          </a:p>
          <a:p>
            <a:pPr algn="l"/>
            <a:endParaRPr lang="en-US" sz="1300">
              <a:latin typeface="Consolas" panose="020B0609020204030204" pitchFamily="49" charset="0"/>
            </a:endParaRPr>
          </a:p>
          <a:p>
            <a:pPr algn="l"/>
            <a:r>
              <a:rPr lang="en-US" sz="1300">
                <a:latin typeface="Consolas" panose="020B0609020204030204" pitchFamily="49" charset="0"/>
              </a:rPr>
              <a:t>AzureActivity</a:t>
            </a:r>
          </a:p>
          <a:p>
            <a:pPr algn="l"/>
            <a:r>
              <a:rPr lang="en-US" sz="1300">
                <a:latin typeface="Consolas" panose="020B0609020204030204" pitchFamily="49" charset="0"/>
              </a:rPr>
              <a:t>| where CorrelationId == suspiciousCorrelationId</a:t>
            </a:r>
          </a:p>
          <a:p>
            <a:pPr algn="l"/>
            <a:r>
              <a:rPr lang="en-US" sz="1300">
                <a:latin typeface="Consolas" panose="020B0609020204030204" pitchFamily="49" charset="0"/>
              </a:rPr>
              <a:t>| project TimeGenerated, OperationNameValue, Caller,</a:t>
            </a:r>
          </a:p>
          <a:p>
            <a:pPr algn="l"/>
            <a:r>
              <a:rPr lang="en-US" sz="1300">
                <a:latin typeface="Consolas" panose="020B0609020204030204" pitchFamily="49" charset="0"/>
              </a:rPr>
              <a:t>          ResourceId, ActivityStatus</a:t>
            </a:r>
          </a:p>
          <a:p>
            <a:pPr algn="l"/>
            <a:endParaRPr lang="en-US" sz="1300">
              <a:latin typeface="Consolas" panose="020B0609020204030204" pitchFamily="49" charset="0"/>
            </a:endParaRPr>
          </a:p>
          <a:p>
            <a:pPr algn="l"/>
            <a:r>
              <a:rPr lang="en-US" sz="1300">
                <a:latin typeface="Consolas" panose="020B0609020204030204" pitchFamily="49" charset="0"/>
              </a:rPr>
              <a:t>| union (</a:t>
            </a:r>
          </a:p>
          <a:p>
            <a:pPr algn="l"/>
            <a:r>
              <a:rPr lang="en-US" sz="1300">
                <a:latin typeface="Consolas" panose="020B0609020204030204" pitchFamily="49" charset="0"/>
              </a:rPr>
              <a:t>    SigninLogs</a:t>
            </a:r>
          </a:p>
          <a:p>
            <a:pPr algn="l"/>
            <a:r>
              <a:rPr lang="en-US" sz="1300">
                <a:latin typeface="Consolas" panose="020B0609020204030204" pitchFamily="49" charset="0"/>
              </a:rPr>
              <a:t>    | where CorrelationId == suspiciousCorrelationId</a:t>
            </a:r>
          </a:p>
          <a:p>
            <a:pPr algn="l"/>
            <a:r>
              <a:rPr lang="en-US" sz="1300">
                <a:latin typeface="Consolas" panose="020B0609020204030204" pitchFamily="49" charset="0"/>
              </a:rPr>
              <a:t>    | project TimeGenerated, UserPrincipalName, IPAddress,</a:t>
            </a:r>
          </a:p>
          <a:p>
            <a:pPr algn="l"/>
            <a:r>
              <a:rPr lang="en-US" sz="1300">
                <a:latin typeface="Consolas" panose="020B0609020204030204" pitchFamily="49" charset="0"/>
              </a:rPr>
              <a:t>              AppDisplayName, ResultType</a:t>
            </a:r>
          </a:p>
          <a:p>
            <a:pPr algn="l"/>
            <a:r>
              <a:rPr lang="en-US" sz="1300">
                <a:latin typeface="Consolas" panose="020B0609020204030204" pitchFamily="49" charset="0"/>
              </a:rPr>
              <a:t>)</a:t>
            </a:r>
          </a:p>
          <a:p>
            <a:pPr algn="l"/>
            <a:endParaRPr lang="en-US" sz="1300">
              <a:latin typeface="Consolas" panose="020B0609020204030204" pitchFamily="49" charset="0"/>
            </a:endParaRPr>
          </a:p>
          <a:p>
            <a:pPr algn="l"/>
            <a:r>
              <a:rPr lang="en-US" sz="1300">
                <a:latin typeface="Consolas" panose="020B0609020204030204" pitchFamily="49" charset="0"/>
              </a:rPr>
              <a:t>| sort by TimeGenerated asc</a:t>
            </a:r>
            <a:endParaRPr lang="en-US" sz="1300" dirty="0" err="1">
              <a:latin typeface="Consolas" panose="020B0609020204030204" pitchFamily="49" charset="0"/>
            </a:endParaRPr>
          </a:p>
        </p:txBody>
      </p:sp>
    </p:spTree>
    <p:extLst>
      <p:ext uri="{BB962C8B-B14F-4D97-AF65-F5344CB8AC3E}">
        <p14:creationId xmlns:p14="http://schemas.microsoft.com/office/powerpoint/2010/main" val="395737681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63BA-7DD3-8E8E-0945-70BDC20EE919}"/>
              </a:ext>
            </a:extLst>
          </p:cNvPr>
          <p:cNvSpPr>
            <a:spLocks noGrp="1"/>
          </p:cNvSpPr>
          <p:nvPr>
            <p:ph type="title"/>
          </p:nvPr>
        </p:nvSpPr>
        <p:spPr/>
        <p:txBody>
          <a:bodyPr/>
          <a:lstStyle/>
          <a:p>
            <a:r>
              <a:rPr lang="en-US"/>
              <a:t>UniqueTokenIdentifier — Detecting Token Theft</a:t>
            </a:r>
          </a:p>
        </p:txBody>
      </p:sp>
      <p:sp>
        <p:nvSpPr>
          <p:cNvPr id="3" name="Content Placeholder 2">
            <a:extLst>
              <a:ext uri="{FF2B5EF4-FFF2-40B4-BE49-F238E27FC236}">
                <a16:creationId xmlns:a16="http://schemas.microsoft.com/office/drawing/2014/main" id="{EE10FF7E-4BA9-4242-2245-4F99285FF3D9}"/>
              </a:ext>
            </a:extLst>
          </p:cNvPr>
          <p:cNvSpPr>
            <a:spLocks noGrp="1"/>
          </p:cNvSpPr>
          <p:nvPr>
            <p:ph sz="quarter" idx="10"/>
          </p:nvPr>
        </p:nvSpPr>
        <p:spPr/>
        <p:txBody>
          <a:bodyPr>
            <a:noAutofit/>
          </a:bodyPr>
          <a:lstStyle/>
          <a:p>
            <a:pPr>
              <a:lnSpc>
                <a:spcPct val="115000"/>
              </a:lnSpc>
              <a:spcBef>
                <a:spcPts val="600"/>
              </a:spcBef>
            </a:pPr>
            <a:r>
              <a:rPr lang="en-US" sz="2400"/>
              <a:t>What it is: A base64-encoded identifier that tracks a specific issued token as it is redeemed at a resource provider.</a:t>
            </a:r>
          </a:p>
          <a:p>
            <a:pPr>
              <a:lnSpc>
                <a:spcPct val="115000"/>
              </a:lnSpc>
              <a:spcBef>
                <a:spcPts val="600"/>
              </a:spcBef>
            </a:pPr>
            <a:r>
              <a:rPr lang="en-US" sz="2400"/>
              <a:t>Why it matters for hunting: If the same token appears authenticating from two different IPs, or in Graph Application Programming Interface (API) activity after an anomalous sign-in, that is a strong indicator of access token theft and replay.</a:t>
            </a:r>
          </a:p>
          <a:p>
            <a:pPr>
              <a:lnSpc>
                <a:spcPct val="115000"/>
              </a:lnSpc>
              <a:spcBef>
                <a:spcPts val="600"/>
              </a:spcBef>
            </a:pPr>
            <a:r>
              <a:rPr lang="en-US" sz="2400"/>
              <a:t>Present in: SigninLogs, AADNonInteractiveUserSignInLogs, MicrosoftGraphActivityLogs</a:t>
            </a:r>
          </a:p>
          <a:p>
            <a:pPr>
              <a:lnSpc>
                <a:spcPct val="115000"/>
              </a:lnSpc>
              <a:spcBef>
                <a:spcPts val="600"/>
              </a:spcBef>
            </a:pPr>
            <a:r>
              <a:rPr lang="en-US" sz="2400"/>
              <a:t>Key detection pattern: Same UniqueTokenIdentifier + different IPAddress = potential token theft</a:t>
            </a:r>
          </a:p>
        </p:txBody>
      </p:sp>
    </p:spTree>
    <p:extLst>
      <p:ext uri="{BB962C8B-B14F-4D97-AF65-F5344CB8AC3E}">
        <p14:creationId xmlns:p14="http://schemas.microsoft.com/office/powerpoint/2010/main" val="396610816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8A0A7-B71C-BB02-3DD2-835AB7348518}"/>
              </a:ext>
            </a:extLst>
          </p:cNvPr>
          <p:cNvSpPr>
            <a:spLocks noGrp="1"/>
          </p:cNvSpPr>
          <p:nvPr>
            <p:ph type="title"/>
          </p:nvPr>
        </p:nvSpPr>
        <p:spPr/>
        <p:txBody>
          <a:bodyPr/>
          <a:lstStyle/>
          <a:p>
            <a:r>
              <a:rPr lang="en-US"/>
              <a:t>KQL — Token Tracking Across Tables</a:t>
            </a:r>
          </a:p>
        </p:txBody>
      </p:sp>
      <p:sp>
        <p:nvSpPr>
          <p:cNvPr id="3" name="Content Placeholder 2">
            <a:extLst>
              <a:ext uri="{FF2B5EF4-FFF2-40B4-BE49-F238E27FC236}">
                <a16:creationId xmlns:a16="http://schemas.microsoft.com/office/drawing/2014/main" id="{E5C57E71-03E6-B52C-07EB-EADD6A4E4A4E}"/>
              </a:ext>
            </a:extLst>
          </p:cNvPr>
          <p:cNvSpPr>
            <a:spLocks noGrp="1"/>
          </p:cNvSpPr>
          <p:nvPr>
            <p:ph sz="quarter" idx="10"/>
          </p:nvPr>
        </p:nvSpPr>
        <p:spPr/>
        <p:txBody>
          <a:bodyPr/>
          <a:lstStyle/>
          <a:p>
            <a:endParaRPr lang="en-US"/>
          </a:p>
        </p:txBody>
      </p:sp>
      <p:sp>
        <p:nvSpPr>
          <p:cNvPr id="4" name="TextBox 3">
            <a:extLst>
              <a:ext uri="{FF2B5EF4-FFF2-40B4-BE49-F238E27FC236}">
                <a16:creationId xmlns:a16="http://schemas.microsoft.com/office/drawing/2014/main" id="{9F36F0C3-0EF6-C6DC-8BD1-7735752A6C8F}"/>
              </a:ext>
            </a:extLst>
          </p:cNvPr>
          <p:cNvSpPr txBox="1"/>
          <p:nvPr/>
        </p:nvSpPr>
        <p:spPr>
          <a:xfrm>
            <a:off x="381000" y="2286000"/>
            <a:ext cx="11430000" cy="4401205"/>
          </a:xfrm>
          <a:prstGeom prst="rect">
            <a:avLst/>
          </a:prstGeom>
          <a:noFill/>
        </p:spPr>
        <p:txBody>
          <a:bodyPr vert="horz" wrap="square" lIns="0" tIns="0" rIns="0" bIns="0" rtlCol="0">
            <a:spAutoFit/>
          </a:bodyPr>
          <a:lstStyle/>
          <a:p>
            <a:pPr algn="l"/>
            <a:r>
              <a:rPr lang="en-US" sz="1300">
                <a:latin typeface="Consolas" panose="020B0609020204030204" pitchFamily="49" charset="0"/>
              </a:rPr>
              <a:t>let tokenId = "BASE64ENCODEDVALUE==";</a:t>
            </a:r>
          </a:p>
          <a:p>
            <a:pPr algn="l"/>
            <a:endParaRPr lang="en-US" sz="1300">
              <a:latin typeface="Consolas" panose="020B0609020204030204" pitchFamily="49" charset="0"/>
            </a:endParaRPr>
          </a:p>
          <a:p>
            <a:pPr algn="l"/>
            <a:r>
              <a:rPr lang="en-US" sz="1300">
                <a:latin typeface="Consolas" panose="020B0609020204030204" pitchFamily="49" charset="0"/>
              </a:rPr>
              <a:t>SigninLogs</a:t>
            </a:r>
          </a:p>
          <a:p>
            <a:pPr algn="l"/>
            <a:r>
              <a:rPr lang="en-US" sz="1300">
                <a:latin typeface="Consolas" panose="020B0609020204030204" pitchFamily="49" charset="0"/>
              </a:rPr>
              <a:t>| where UniqueTokenIdentifier == tokenId</a:t>
            </a:r>
          </a:p>
          <a:p>
            <a:pPr algn="l"/>
            <a:r>
              <a:rPr lang="en-US" sz="1300">
                <a:latin typeface="Consolas" panose="020B0609020204030204" pitchFamily="49" charset="0"/>
              </a:rPr>
              <a:t>| project TimeGenerated, UserPrincipalName, IPAddress,</a:t>
            </a:r>
          </a:p>
          <a:p>
            <a:pPr algn="l"/>
            <a:r>
              <a:rPr lang="en-US" sz="1300">
                <a:latin typeface="Consolas" panose="020B0609020204030204" pitchFamily="49" charset="0"/>
              </a:rPr>
              <a:t>          Location, AppDisplayName</a:t>
            </a:r>
          </a:p>
          <a:p>
            <a:pPr algn="l"/>
            <a:endParaRPr lang="en-US" sz="1300">
              <a:latin typeface="Consolas" panose="020B0609020204030204" pitchFamily="49" charset="0"/>
            </a:endParaRPr>
          </a:p>
          <a:p>
            <a:pPr algn="l"/>
            <a:r>
              <a:rPr lang="en-US" sz="1300">
                <a:latin typeface="Consolas" panose="020B0609020204030204" pitchFamily="49" charset="0"/>
              </a:rPr>
              <a:t>| union (</a:t>
            </a:r>
          </a:p>
          <a:p>
            <a:pPr algn="l"/>
            <a:r>
              <a:rPr lang="en-US" sz="1300">
                <a:latin typeface="Consolas" panose="020B0609020204030204" pitchFamily="49" charset="0"/>
              </a:rPr>
              <a:t>    AADNonInteractiveUserSignInLogs</a:t>
            </a:r>
          </a:p>
          <a:p>
            <a:pPr algn="l"/>
            <a:r>
              <a:rPr lang="en-US" sz="1300">
                <a:latin typeface="Consolas" panose="020B0609020204030204" pitchFamily="49" charset="0"/>
              </a:rPr>
              <a:t>    | where UniqueTokenIdentifier == tokenId</a:t>
            </a:r>
          </a:p>
          <a:p>
            <a:pPr algn="l"/>
            <a:r>
              <a:rPr lang="en-US" sz="1300">
                <a:latin typeface="Consolas" panose="020B0609020204030204" pitchFamily="49" charset="0"/>
              </a:rPr>
              <a:t>    | project TimeGenerated, UserPrincipalName, IPAddress,</a:t>
            </a:r>
          </a:p>
          <a:p>
            <a:pPr algn="l"/>
            <a:r>
              <a:rPr lang="en-US" sz="1300">
                <a:latin typeface="Consolas" panose="020B0609020204030204" pitchFamily="49" charset="0"/>
              </a:rPr>
              <a:t>              Location, AppDisplayName</a:t>
            </a:r>
          </a:p>
          <a:p>
            <a:pPr algn="l"/>
            <a:r>
              <a:rPr lang="en-US" sz="1300">
                <a:latin typeface="Consolas" panose="020B0609020204030204" pitchFamily="49" charset="0"/>
              </a:rPr>
              <a:t>)</a:t>
            </a:r>
          </a:p>
          <a:p>
            <a:pPr algn="l"/>
            <a:endParaRPr lang="en-US" sz="1300">
              <a:latin typeface="Consolas" panose="020B0609020204030204" pitchFamily="49" charset="0"/>
            </a:endParaRPr>
          </a:p>
          <a:p>
            <a:pPr algn="l"/>
            <a:r>
              <a:rPr lang="en-US" sz="1300">
                <a:latin typeface="Consolas" panose="020B0609020204030204" pitchFamily="49" charset="0"/>
              </a:rPr>
              <a:t>| union (</a:t>
            </a:r>
          </a:p>
          <a:p>
            <a:pPr algn="l"/>
            <a:r>
              <a:rPr lang="en-US" sz="1300">
                <a:latin typeface="Consolas" panose="020B0609020204030204" pitchFamily="49" charset="0"/>
              </a:rPr>
              <a:t>    MicrosoftGraphActivityLogs</a:t>
            </a:r>
          </a:p>
          <a:p>
            <a:pPr algn="l"/>
            <a:r>
              <a:rPr lang="en-US" sz="1300">
                <a:latin typeface="Consolas" panose="020B0609020204030204" pitchFamily="49" charset="0"/>
              </a:rPr>
              <a:t>    | where UniqueTokenIdentifier == tokenId</a:t>
            </a:r>
          </a:p>
          <a:p>
            <a:pPr algn="l"/>
            <a:r>
              <a:rPr lang="en-US" sz="1300">
                <a:latin typeface="Consolas" panose="020B0609020204030204" pitchFamily="49" charset="0"/>
              </a:rPr>
              <a:t>    | project TimeGenerated, RequestUri, ResponseStatusCode,</a:t>
            </a:r>
          </a:p>
          <a:p>
            <a:pPr algn="l"/>
            <a:r>
              <a:rPr lang="en-US" sz="1300">
                <a:latin typeface="Consolas" panose="020B0609020204030204" pitchFamily="49" charset="0"/>
              </a:rPr>
              <a:t>              IPAddress</a:t>
            </a:r>
          </a:p>
          <a:p>
            <a:pPr algn="l"/>
            <a:r>
              <a:rPr lang="en-US" sz="1300">
                <a:latin typeface="Consolas" panose="020B0609020204030204" pitchFamily="49" charset="0"/>
              </a:rPr>
              <a:t>)</a:t>
            </a:r>
          </a:p>
          <a:p>
            <a:pPr algn="l"/>
            <a:endParaRPr lang="en-US" sz="1300">
              <a:latin typeface="Consolas" panose="020B0609020204030204" pitchFamily="49" charset="0"/>
            </a:endParaRPr>
          </a:p>
          <a:p>
            <a:pPr algn="l"/>
            <a:r>
              <a:rPr lang="en-US" sz="1300">
                <a:latin typeface="Consolas" panose="020B0609020204030204" pitchFamily="49" charset="0"/>
              </a:rPr>
              <a:t>| sort by TimeGenerated asc</a:t>
            </a:r>
            <a:endParaRPr lang="en-US" sz="1300" dirty="0" err="1">
              <a:latin typeface="Consolas" panose="020B0609020204030204" pitchFamily="49" charset="0"/>
            </a:endParaRPr>
          </a:p>
        </p:txBody>
      </p:sp>
    </p:spTree>
    <p:extLst>
      <p:ext uri="{BB962C8B-B14F-4D97-AF65-F5344CB8AC3E}">
        <p14:creationId xmlns:p14="http://schemas.microsoft.com/office/powerpoint/2010/main" val="86539226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F35FA-7464-854D-EED8-3730DF8D35AE}"/>
              </a:ext>
            </a:extLst>
          </p:cNvPr>
          <p:cNvSpPr>
            <a:spLocks noGrp="1"/>
          </p:cNvSpPr>
          <p:nvPr>
            <p:ph type="title"/>
          </p:nvPr>
        </p:nvSpPr>
        <p:spPr/>
        <p:txBody>
          <a:bodyPr/>
          <a:lstStyle/>
          <a:p>
            <a:r>
              <a:rPr lang="en-US"/>
              <a:t>NetworkMessageId — Email Timeline Reconstruction</a:t>
            </a:r>
          </a:p>
        </p:txBody>
      </p:sp>
      <p:sp>
        <p:nvSpPr>
          <p:cNvPr id="3" name="Content Placeholder 2">
            <a:extLst>
              <a:ext uri="{FF2B5EF4-FFF2-40B4-BE49-F238E27FC236}">
                <a16:creationId xmlns:a16="http://schemas.microsoft.com/office/drawing/2014/main" id="{AC471AFA-55DD-2197-7EF4-50005B1D5809}"/>
              </a:ext>
            </a:extLst>
          </p:cNvPr>
          <p:cNvSpPr>
            <a:spLocks noGrp="1"/>
          </p:cNvSpPr>
          <p:nvPr>
            <p:ph sz="quarter" idx="10"/>
          </p:nvPr>
        </p:nvSpPr>
        <p:spPr/>
        <p:txBody>
          <a:bodyPr>
            <a:noAutofit/>
          </a:bodyPr>
          <a:lstStyle/>
          <a:p>
            <a:pPr>
              <a:lnSpc>
                <a:spcPct val="115000"/>
              </a:lnSpc>
              <a:spcBef>
                <a:spcPts val="600"/>
              </a:spcBef>
            </a:pPr>
            <a:r>
              <a:rPr lang="en-US"/>
              <a:t>What it is: The Microsoft 365 internal identifier for a single email message, consistent across all tables that reference that message.</a:t>
            </a:r>
          </a:p>
          <a:p>
            <a:pPr>
              <a:lnSpc>
                <a:spcPct val="115000"/>
              </a:lnSpc>
              <a:spcBef>
                <a:spcPts val="600"/>
              </a:spcBef>
            </a:pPr>
            <a:r>
              <a:rPr lang="en-US"/>
              <a:t>Use it when: Investigating a phishing chain - you need to see everything that happened to a specific message: delivery, URLs, attachments, and post-delivery remediation.</a:t>
            </a:r>
          </a:p>
          <a:p>
            <a:pPr>
              <a:lnSpc>
                <a:spcPct val="115000"/>
              </a:lnSpc>
              <a:spcBef>
                <a:spcPts val="600"/>
              </a:spcBef>
            </a:pPr>
            <a:r>
              <a:rPr lang="en-US"/>
              <a:t>Present in: EmailEvents, EmailUrlInfo, EmailAttachmentInfo, EmailPostDeliveryEvents</a:t>
            </a:r>
          </a:p>
        </p:txBody>
      </p:sp>
    </p:spTree>
    <p:extLst>
      <p:ext uri="{BB962C8B-B14F-4D97-AF65-F5344CB8AC3E}">
        <p14:creationId xmlns:p14="http://schemas.microsoft.com/office/powerpoint/2010/main" val="427539007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D192-5A22-5A55-19A4-3C6FE195221C}"/>
              </a:ext>
            </a:extLst>
          </p:cNvPr>
          <p:cNvSpPr>
            <a:spLocks noGrp="1"/>
          </p:cNvSpPr>
          <p:nvPr>
            <p:ph type="title"/>
          </p:nvPr>
        </p:nvSpPr>
        <p:spPr/>
        <p:txBody>
          <a:bodyPr/>
          <a:lstStyle/>
          <a:p>
            <a:r>
              <a:rPr lang="en-US"/>
              <a:t>KQL — Email Timeline Reconstruction</a:t>
            </a:r>
          </a:p>
        </p:txBody>
      </p:sp>
      <p:sp>
        <p:nvSpPr>
          <p:cNvPr id="3" name="Content Placeholder 2">
            <a:extLst>
              <a:ext uri="{FF2B5EF4-FFF2-40B4-BE49-F238E27FC236}">
                <a16:creationId xmlns:a16="http://schemas.microsoft.com/office/drawing/2014/main" id="{D51D20E4-EF59-42EB-20B5-7F1CD0AD724A}"/>
              </a:ext>
            </a:extLst>
          </p:cNvPr>
          <p:cNvSpPr>
            <a:spLocks noGrp="1"/>
          </p:cNvSpPr>
          <p:nvPr>
            <p:ph sz="quarter" idx="10"/>
          </p:nvPr>
        </p:nvSpPr>
        <p:spPr/>
        <p:txBody>
          <a:bodyPr/>
          <a:lstStyle/>
          <a:p>
            <a:endParaRPr lang="en-US"/>
          </a:p>
        </p:txBody>
      </p:sp>
      <p:sp>
        <p:nvSpPr>
          <p:cNvPr id="4" name="TextBox 3">
            <a:extLst>
              <a:ext uri="{FF2B5EF4-FFF2-40B4-BE49-F238E27FC236}">
                <a16:creationId xmlns:a16="http://schemas.microsoft.com/office/drawing/2014/main" id="{50289251-6798-8173-5531-BD176DA55228}"/>
              </a:ext>
            </a:extLst>
          </p:cNvPr>
          <p:cNvSpPr txBox="1"/>
          <p:nvPr/>
        </p:nvSpPr>
        <p:spPr>
          <a:xfrm>
            <a:off x="381000" y="2286000"/>
            <a:ext cx="11430000" cy="4401205"/>
          </a:xfrm>
          <a:prstGeom prst="rect">
            <a:avLst/>
          </a:prstGeom>
          <a:noFill/>
        </p:spPr>
        <p:txBody>
          <a:bodyPr vert="horz" wrap="square" lIns="0" tIns="0" rIns="0" bIns="0" rtlCol="0">
            <a:spAutoFit/>
          </a:bodyPr>
          <a:lstStyle/>
          <a:p>
            <a:pPr algn="l"/>
            <a:r>
              <a:rPr lang="en-US" sz="1300">
                <a:latin typeface="Consolas" panose="020B0609020204030204" pitchFamily="49" charset="0"/>
              </a:rPr>
              <a:t>let msgId = "&lt;insert NetworkMessageId&gt;";</a:t>
            </a:r>
          </a:p>
          <a:p>
            <a:pPr algn="l"/>
            <a:endParaRPr lang="en-US" sz="1300">
              <a:latin typeface="Consolas" panose="020B0609020204030204" pitchFamily="49" charset="0"/>
            </a:endParaRPr>
          </a:p>
          <a:p>
            <a:pPr algn="l"/>
            <a:r>
              <a:rPr lang="en-US" sz="1300">
                <a:latin typeface="Consolas" panose="020B0609020204030204" pitchFamily="49" charset="0"/>
              </a:rPr>
              <a:t>EmailEvents</a:t>
            </a:r>
          </a:p>
          <a:p>
            <a:pPr algn="l"/>
            <a:r>
              <a:rPr lang="en-US" sz="1300">
                <a:latin typeface="Consolas" panose="020B0609020204030204" pitchFamily="49" charset="0"/>
              </a:rPr>
              <a:t>| where NetworkMessageId == msgId</a:t>
            </a:r>
          </a:p>
          <a:p>
            <a:pPr algn="l"/>
            <a:r>
              <a:rPr lang="en-US" sz="1300">
                <a:latin typeface="Consolas" panose="020B0609020204030204" pitchFamily="49" charset="0"/>
              </a:rPr>
              <a:t>| project TimeGenerated, Subject, SenderFromAddress,</a:t>
            </a:r>
          </a:p>
          <a:p>
            <a:pPr algn="l"/>
            <a:r>
              <a:rPr lang="en-US" sz="1300">
                <a:latin typeface="Consolas" panose="020B0609020204030204" pitchFamily="49" charset="0"/>
              </a:rPr>
              <a:t>          RecipientEmailAddress, DeliveryAction,</a:t>
            </a:r>
          </a:p>
          <a:p>
            <a:pPr algn="l"/>
            <a:r>
              <a:rPr lang="en-US" sz="1300">
                <a:latin typeface="Consolas" panose="020B0609020204030204" pitchFamily="49" charset="0"/>
              </a:rPr>
              <a:t>          DeliveryLocation, ThreatTypes</a:t>
            </a:r>
          </a:p>
          <a:p>
            <a:pPr algn="l"/>
            <a:endParaRPr lang="en-US" sz="1300">
              <a:latin typeface="Consolas" panose="020B0609020204030204" pitchFamily="49" charset="0"/>
            </a:endParaRPr>
          </a:p>
          <a:p>
            <a:pPr algn="l"/>
            <a:r>
              <a:rPr lang="en-US" sz="1300">
                <a:latin typeface="Consolas" panose="020B0609020204030204" pitchFamily="49" charset="0"/>
              </a:rPr>
              <a:t>| union (</a:t>
            </a:r>
          </a:p>
          <a:p>
            <a:pPr algn="l"/>
            <a:r>
              <a:rPr lang="en-US" sz="1300">
                <a:latin typeface="Consolas" panose="020B0609020204030204" pitchFamily="49" charset="0"/>
              </a:rPr>
              <a:t>    EmailUrlInfo</a:t>
            </a:r>
          </a:p>
          <a:p>
            <a:pPr algn="l"/>
            <a:r>
              <a:rPr lang="en-US" sz="1300">
                <a:latin typeface="Consolas" panose="020B0609020204030204" pitchFamily="49" charset="0"/>
              </a:rPr>
              <a:t>    | where NetworkMessageId == msgId</a:t>
            </a:r>
          </a:p>
          <a:p>
            <a:pPr algn="l"/>
            <a:r>
              <a:rPr lang="en-US" sz="1300">
                <a:latin typeface="Consolas" panose="020B0609020204030204" pitchFamily="49" charset="0"/>
              </a:rPr>
              <a:t>    | project TimeGenerated = ingestion_time(), Url, UrlCount</a:t>
            </a:r>
          </a:p>
          <a:p>
            <a:pPr algn="l"/>
            <a:r>
              <a:rPr lang="en-US" sz="1300">
                <a:latin typeface="Consolas" panose="020B0609020204030204" pitchFamily="49" charset="0"/>
              </a:rPr>
              <a:t>)</a:t>
            </a:r>
          </a:p>
          <a:p>
            <a:pPr algn="l"/>
            <a:endParaRPr lang="en-US" sz="1300">
              <a:latin typeface="Consolas" panose="020B0609020204030204" pitchFamily="49" charset="0"/>
            </a:endParaRPr>
          </a:p>
          <a:p>
            <a:pPr algn="l"/>
            <a:r>
              <a:rPr lang="en-US" sz="1300">
                <a:latin typeface="Consolas" panose="020B0609020204030204" pitchFamily="49" charset="0"/>
              </a:rPr>
              <a:t>| union (</a:t>
            </a:r>
          </a:p>
          <a:p>
            <a:pPr algn="l"/>
            <a:r>
              <a:rPr lang="en-US" sz="1300">
                <a:latin typeface="Consolas" panose="020B0609020204030204" pitchFamily="49" charset="0"/>
              </a:rPr>
              <a:t>    EmailPostDeliveryEvents</a:t>
            </a:r>
          </a:p>
          <a:p>
            <a:pPr algn="l"/>
            <a:r>
              <a:rPr lang="en-US" sz="1300">
                <a:latin typeface="Consolas" panose="020B0609020204030204" pitchFamily="49" charset="0"/>
              </a:rPr>
              <a:t>    | where NetworkMessageId == msgId</a:t>
            </a:r>
          </a:p>
          <a:p>
            <a:pPr algn="l"/>
            <a:r>
              <a:rPr lang="en-US" sz="1300">
                <a:latin typeface="Consolas" panose="020B0609020204030204" pitchFamily="49" charset="0"/>
              </a:rPr>
              <a:t>    | project TimeGenerated, Action, ActionType,</a:t>
            </a:r>
          </a:p>
          <a:p>
            <a:pPr algn="l"/>
            <a:r>
              <a:rPr lang="en-US" sz="1300">
                <a:latin typeface="Consolas" panose="020B0609020204030204" pitchFamily="49" charset="0"/>
              </a:rPr>
              <a:t>              ActionResult, DeliveryLocation</a:t>
            </a:r>
          </a:p>
          <a:p>
            <a:pPr algn="l"/>
            <a:r>
              <a:rPr lang="en-US" sz="1300">
                <a:latin typeface="Consolas" panose="020B0609020204030204" pitchFamily="49" charset="0"/>
              </a:rPr>
              <a:t>)</a:t>
            </a:r>
          </a:p>
          <a:p>
            <a:pPr algn="l"/>
            <a:endParaRPr lang="en-US" sz="1300">
              <a:latin typeface="Consolas" panose="020B0609020204030204" pitchFamily="49" charset="0"/>
            </a:endParaRPr>
          </a:p>
          <a:p>
            <a:pPr algn="l"/>
            <a:r>
              <a:rPr lang="en-US" sz="1300">
                <a:latin typeface="Consolas" panose="020B0609020204030204" pitchFamily="49" charset="0"/>
              </a:rPr>
              <a:t>| sort by TimeGenerated asc</a:t>
            </a:r>
            <a:endParaRPr lang="en-US" sz="1300" dirty="0" err="1">
              <a:latin typeface="Consolas" panose="020B0609020204030204" pitchFamily="49" charset="0"/>
            </a:endParaRPr>
          </a:p>
        </p:txBody>
      </p:sp>
    </p:spTree>
    <p:extLst>
      <p:ext uri="{BB962C8B-B14F-4D97-AF65-F5344CB8AC3E}">
        <p14:creationId xmlns:p14="http://schemas.microsoft.com/office/powerpoint/2010/main" val="31359350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46048-58DF-C908-BC7C-04BA1665C01A}"/>
              </a:ext>
            </a:extLst>
          </p:cNvPr>
          <p:cNvSpPr>
            <a:spLocks noGrp="1"/>
          </p:cNvSpPr>
          <p:nvPr>
            <p:ph type="title"/>
          </p:nvPr>
        </p:nvSpPr>
        <p:spPr/>
        <p:txBody>
          <a:bodyPr/>
          <a:lstStyle/>
          <a:p>
            <a:r>
              <a:rPr lang="en-US"/>
              <a:t>End-to-End Hunt Pattern</a:t>
            </a:r>
          </a:p>
        </p:txBody>
      </p:sp>
      <p:sp>
        <p:nvSpPr>
          <p:cNvPr id="3" name="Content Placeholder 2">
            <a:extLst>
              <a:ext uri="{FF2B5EF4-FFF2-40B4-BE49-F238E27FC236}">
                <a16:creationId xmlns:a16="http://schemas.microsoft.com/office/drawing/2014/main" id="{9E0190EA-5433-51D8-2D34-E1FBD5D991A2}"/>
              </a:ext>
            </a:extLst>
          </p:cNvPr>
          <p:cNvSpPr>
            <a:spLocks noGrp="1"/>
          </p:cNvSpPr>
          <p:nvPr>
            <p:ph sz="quarter" idx="10"/>
          </p:nvPr>
        </p:nvSpPr>
        <p:spPr/>
        <p:txBody>
          <a:bodyPr>
            <a:noAutofit/>
          </a:bodyPr>
          <a:lstStyle/>
          <a:p>
            <a:pPr>
              <a:lnSpc>
                <a:spcPct val="115000"/>
              </a:lnSpc>
              <a:spcBef>
                <a:spcPts val="600"/>
              </a:spcBef>
            </a:pPr>
            <a:r>
              <a:rPr lang="en-US" sz="2000" b="1"/>
              <a:t>A complete hunt chains all three techniques:</a:t>
            </a:r>
          </a:p>
          <a:p>
            <a:pPr>
              <a:lnSpc>
                <a:spcPct val="115000"/>
              </a:lnSpc>
              <a:spcBef>
                <a:spcPts val="600"/>
              </a:spcBef>
            </a:pPr>
            <a:r>
              <a:rPr lang="en-US" sz="2000" b="1"/>
              <a:t>Step 1 - Surface the footprint:</a:t>
            </a:r>
          </a:p>
          <a:p>
            <a:pPr>
              <a:lnSpc>
                <a:spcPct val="115000"/>
              </a:lnSpc>
              <a:spcBef>
                <a:spcPts val="600"/>
              </a:spcBef>
            </a:pPr>
            <a:r>
              <a:rPr lang="en-US" sz="2000"/>
              <a:t>    search "indicator" | summarize by $table</a:t>
            </a:r>
          </a:p>
          <a:p>
            <a:pPr>
              <a:lnSpc>
                <a:spcPct val="115000"/>
              </a:lnSpc>
              <a:spcBef>
                <a:spcPts val="600"/>
              </a:spcBef>
            </a:pPr>
            <a:r>
              <a:rPr lang="en-US" sz="2000"/>
              <a:t>    Identifies which tables contain evidence</a:t>
            </a:r>
          </a:p>
          <a:p>
            <a:pPr>
              <a:lnSpc>
                <a:spcPct val="115000"/>
              </a:lnSpc>
              <a:spcBef>
                <a:spcPts val="600"/>
              </a:spcBef>
            </a:pPr>
            <a:r>
              <a:rPr lang="en-US" sz="2000" b="1"/>
              <a:t>Step 2 - Pull per-table records:</a:t>
            </a:r>
          </a:p>
          <a:p>
            <a:pPr>
              <a:lnSpc>
                <a:spcPct val="115000"/>
              </a:lnSpc>
              <a:spcBef>
                <a:spcPts val="600"/>
              </a:spcBef>
            </a:pPr>
            <a:r>
              <a:rPr lang="en-US" sz="2000"/>
              <a:t>    Targeted queries per table with time filter and key field projection</a:t>
            </a:r>
          </a:p>
        </p:txBody>
      </p:sp>
    </p:spTree>
    <p:extLst>
      <p:ext uri="{BB962C8B-B14F-4D97-AF65-F5344CB8AC3E}">
        <p14:creationId xmlns:p14="http://schemas.microsoft.com/office/powerpoint/2010/main" val="357137645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E1D21-E252-B30F-F59E-45552E02D856}"/>
              </a:ext>
            </a:extLst>
          </p:cNvPr>
          <p:cNvSpPr>
            <a:spLocks noGrp="1"/>
          </p:cNvSpPr>
          <p:nvPr>
            <p:ph type="title"/>
          </p:nvPr>
        </p:nvSpPr>
        <p:spPr/>
        <p:txBody>
          <a:bodyPr/>
          <a:lstStyle/>
          <a:p>
            <a:r>
              <a:rPr lang="en-US"/>
              <a:t>End-to-End Hunt Pattern (cont. 2)</a:t>
            </a:r>
          </a:p>
        </p:txBody>
      </p:sp>
      <p:sp>
        <p:nvSpPr>
          <p:cNvPr id="3" name="Content Placeholder 2">
            <a:extLst>
              <a:ext uri="{FF2B5EF4-FFF2-40B4-BE49-F238E27FC236}">
                <a16:creationId xmlns:a16="http://schemas.microsoft.com/office/drawing/2014/main" id="{9F90B618-DD48-C707-294E-50EF6D923A6C}"/>
              </a:ext>
            </a:extLst>
          </p:cNvPr>
          <p:cNvSpPr>
            <a:spLocks noGrp="1"/>
          </p:cNvSpPr>
          <p:nvPr>
            <p:ph sz="quarter" idx="10"/>
          </p:nvPr>
        </p:nvSpPr>
        <p:spPr/>
        <p:txBody>
          <a:bodyPr>
            <a:noAutofit/>
          </a:bodyPr>
          <a:lstStyle/>
          <a:p>
            <a:pPr>
              <a:lnSpc>
                <a:spcPct val="115000"/>
              </a:lnSpc>
              <a:spcBef>
                <a:spcPts val="600"/>
              </a:spcBef>
            </a:pPr>
            <a:r>
              <a:rPr lang="en-US" sz="2000"/>
              <a:t>    Review for suspicious patterns (unusual IPs, off-hours activity, failed operations)</a:t>
            </a:r>
          </a:p>
          <a:p>
            <a:pPr>
              <a:lnSpc>
                <a:spcPct val="115000"/>
              </a:lnSpc>
              <a:spcBef>
                <a:spcPts val="600"/>
              </a:spcBef>
            </a:pPr>
            <a:r>
              <a:rPr lang="en-US" sz="2000" b="1"/>
              <a:t>Step 3 - Correlate across tables:</a:t>
            </a:r>
          </a:p>
          <a:p>
            <a:pPr>
              <a:lnSpc>
                <a:spcPct val="115000"/>
              </a:lnSpc>
              <a:spcBef>
                <a:spcPts val="600"/>
              </a:spcBef>
            </a:pPr>
            <a:r>
              <a:rPr lang="en-US" sz="2000"/>
              <a:t>    Join events using CorrelationId, UniqueTokenIdentifier, or NetworkMessageId</a:t>
            </a:r>
          </a:p>
          <a:p>
            <a:pPr>
              <a:lnSpc>
                <a:spcPct val="115000"/>
              </a:lnSpc>
              <a:spcBef>
                <a:spcPts val="600"/>
              </a:spcBef>
            </a:pPr>
            <a:r>
              <a:rPr lang="en-US" sz="2000"/>
              <a:t>    Reconstruct the full attack timeline from authentication to action</a:t>
            </a:r>
          </a:p>
        </p:txBody>
      </p:sp>
    </p:spTree>
    <p:extLst>
      <p:ext uri="{BB962C8B-B14F-4D97-AF65-F5344CB8AC3E}">
        <p14:creationId xmlns:p14="http://schemas.microsoft.com/office/powerpoint/2010/main" val="222944404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C2545-3561-172B-79DC-64ACBAA0E86A}"/>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8F6CF2AB-36B4-DF0D-6DB7-6AE074D77F80}"/>
              </a:ext>
            </a:extLst>
          </p:cNvPr>
          <p:cNvSpPr>
            <a:spLocks noGrp="1"/>
          </p:cNvSpPr>
          <p:nvPr>
            <p:ph sz="quarter" idx="10"/>
          </p:nvPr>
        </p:nvSpPr>
        <p:spPr/>
        <p:txBody>
          <a:bodyPr>
            <a:noAutofit/>
          </a:bodyPr>
          <a:lstStyle/>
          <a:p>
            <a:pPr>
              <a:lnSpc>
                <a:spcPct val="115000"/>
              </a:lnSpc>
              <a:spcBef>
                <a:spcPts val="600"/>
              </a:spcBef>
            </a:pPr>
            <a:r>
              <a:rPr lang="en-US" sz="2000"/>
              <a:t>Threat hunting is proactive, hypothesis-driven, and complementary to alert-based detection</a:t>
            </a:r>
          </a:p>
          <a:p>
            <a:pPr>
              <a:lnSpc>
                <a:spcPct val="115000"/>
              </a:lnSpc>
              <a:spcBef>
                <a:spcPts val="600"/>
              </a:spcBef>
            </a:pPr>
            <a:r>
              <a:rPr lang="en-US" sz="2000"/>
              <a:t>Always start with a cross-table footprint scan before deep-diving into individual tables</a:t>
            </a:r>
          </a:p>
          <a:p>
            <a:pPr>
              <a:lnSpc>
                <a:spcPct val="115000"/>
              </a:lnSpc>
              <a:spcBef>
                <a:spcPts val="600"/>
              </a:spcBef>
            </a:pPr>
            <a:r>
              <a:rPr lang="en-US" sz="2000"/>
              <a:t>Three correlation fields connect cloud attack chains: CorrelationId, UniqueTokenIdentifier, NetworkMessageId</a:t>
            </a:r>
          </a:p>
        </p:txBody>
      </p:sp>
    </p:spTree>
    <p:extLst>
      <p:ext uri="{BB962C8B-B14F-4D97-AF65-F5344CB8AC3E}">
        <p14:creationId xmlns:p14="http://schemas.microsoft.com/office/powerpoint/2010/main" val="34526913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94F53-EBE2-7810-22FE-D053038A06F0}"/>
              </a:ext>
            </a:extLst>
          </p:cNvPr>
          <p:cNvSpPr>
            <a:spLocks noGrp="1"/>
          </p:cNvSpPr>
          <p:nvPr>
            <p:ph type="title"/>
          </p:nvPr>
        </p:nvSpPr>
        <p:spPr/>
        <p:txBody>
          <a:bodyPr/>
          <a:lstStyle/>
          <a:p>
            <a:r>
              <a:rPr lang="en-US"/>
              <a:t>Key Takeaways (cont. 2)</a:t>
            </a:r>
          </a:p>
        </p:txBody>
      </p:sp>
      <p:sp>
        <p:nvSpPr>
          <p:cNvPr id="3" name="Content Placeholder 2">
            <a:extLst>
              <a:ext uri="{FF2B5EF4-FFF2-40B4-BE49-F238E27FC236}">
                <a16:creationId xmlns:a16="http://schemas.microsoft.com/office/drawing/2014/main" id="{0C4951F4-4B1F-8495-E946-09FF94CD3F7F}"/>
              </a:ext>
            </a:extLst>
          </p:cNvPr>
          <p:cNvSpPr>
            <a:spLocks noGrp="1"/>
          </p:cNvSpPr>
          <p:nvPr>
            <p:ph sz="quarter" idx="10"/>
          </p:nvPr>
        </p:nvSpPr>
        <p:spPr/>
        <p:txBody>
          <a:bodyPr>
            <a:noAutofit/>
          </a:bodyPr>
          <a:lstStyle/>
          <a:p>
            <a:pPr>
              <a:lnSpc>
                <a:spcPct val="115000"/>
              </a:lnSpc>
              <a:spcBef>
                <a:spcPts val="600"/>
              </a:spcBef>
            </a:pPr>
            <a:r>
              <a:rPr lang="en-US" sz="2000"/>
              <a:t>The hunt loop - Hypothesis, Data Collection, Investigation, Finding, Feedback - applies to every module</a:t>
            </a:r>
          </a:p>
          <a:p>
            <a:pPr>
              <a:lnSpc>
                <a:spcPct val="115000"/>
              </a:lnSpc>
              <a:spcBef>
                <a:spcPts val="600"/>
              </a:spcBef>
            </a:pPr>
            <a:r>
              <a:rPr lang="en-US" sz="2000"/>
              <a:t>Convert confirmed findings into analytics rules to close detection gaps permanently</a:t>
            </a:r>
          </a:p>
          <a:p>
            <a:pPr>
              <a:lnSpc>
                <a:spcPct val="115000"/>
              </a:lnSpc>
              <a:spcBef>
                <a:spcPts val="600"/>
              </a:spcBef>
            </a:pPr>
            <a:r>
              <a:rPr lang="en-US" sz="2000" b="1"/>
              <a:t>What comes next:</a:t>
            </a:r>
          </a:p>
          <a:p>
            <a:pPr>
              <a:lnSpc>
                <a:spcPct val="115000"/>
              </a:lnSpc>
              <a:spcBef>
                <a:spcPts val="600"/>
              </a:spcBef>
            </a:pPr>
            <a:r>
              <a:rPr lang="en-US" sz="2000"/>
              <a:t>    Module 01: Phishing - device code phishing, Adversary-in-the-Middle (AiTM) attacks, illicit consent grants</a:t>
            </a:r>
          </a:p>
          <a:p>
            <a:pPr>
              <a:lnSpc>
                <a:spcPct val="115000"/>
              </a:lnSpc>
              <a:spcBef>
                <a:spcPts val="600"/>
              </a:spcBef>
            </a:pPr>
            <a:r>
              <a:rPr lang="en-US" sz="2000"/>
              <a:t>    Module 02: Token Abuse - refresh token replay, Primary Refresh Token (PRT) abuse, FOCI token farming</a:t>
            </a:r>
          </a:p>
          <a:p>
            <a:pPr>
              <a:lnSpc>
                <a:spcPct val="115000"/>
              </a:lnSpc>
              <a:spcBef>
                <a:spcPts val="600"/>
              </a:spcBef>
            </a:pPr>
            <a:r>
              <a:rPr lang="en-US" sz="2000"/>
              <a:t>    Modules 03-08: Logic Apps, Storage, Persistence, Key Vault, Container Apps, Web Apps</a:t>
            </a:r>
          </a:p>
        </p:txBody>
      </p:sp>
    </p:spTree>
    <p:extLst>
      <p:ext uri="{BB962C8B-B14F-4D97-AF65-F5344CB8AC3E}">
        <p14:creationId xmlns:p14="http://schemas.microsoft.com/office/powerpoint/2010/main" val="276613361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7D03-58CB-2BBD-95FF-96E869B6C704}"/>
              </a:ext>
            </a:extLst>
          </p:cNvPr>
          <p:cNvSpPr>
            <a:spLocks noGrp="1"/>
          </p:cNvSpPr>
          <p:nvPr>
            <p:ph type="title"/>
          </p:nvPr>
        </p:nvSpPr>
        <p:spPr/>
        <p:txBody>
          <a:bodyPr/>
          <a:lstStyle/>
          <a:p>
            <a:r>
              <a:rPr lang="en-US"/>
              <a:t>References</a:t>
            </a:r>
          </a:p>
        </p:txBody>
      </p:sp>
      <p:graphicFrame>
        <p:nvGraphicFramePr>
          <p:cNvPr id="4" name="Content Placeholder 3">
            <a:extLst>
              <a:ext uri="{FF2B5EF4-FFF2-40B4-BE49-F238E27FC236}">
                <a16:creationId xmlns:a16="http://schemas.microsoft.com/office/drawing/2014/main" id="{630383B8-A56F-8826-C890-9FFB23292CA9}"/>
              </a:ext>
            </a:extLst>
          </p:cNvPr>
          <p:cNvGraphicFramePr>
            <a:graphicFrameLocks noGrp="1"/>
          </p:cNvGraphicFramePr>
          <p:nvPr>
            <p:ph sz="quarter" idx="10"/>
            <p:extLst>
              <p:ext uri="{D42A27DB-BD31-4B8C-83A1-F6EECF244321}">
                <p14:modId xmlns:p14="http://schemas.microsoft.com/office/powerpoint/2010/main" val="3845584650"/>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464327883"/>
                    </a:ext>
                  </a:extLst>
                </a:gridCol>
                <a:gridCol w="5715000">
                  <a:extLst>
                    <a:ext uri="{9D8B030D-6E8A-4147-A177-3AD203B41FA5}">
                      <a16:colId xmlns:a16="http://schemas.microsoft.com/office/drawing/2014/main" val="83698754"/>
                    </a:ext>
                  </a:extLst>
                </a:gridCol>
              </a:tblGrid>
              <a:tr h="557389">
                <a:tc>
                  <a:txBody>
                    <a:bodyPr/>
                    <a:lstStyle/>
                    <a:p>
                      <a:r>
                        <a:rPr lang="en-US" sz="1200" b="1"/>
                        <a:t>Resource</a:t>
                      </a:r>
                    </a:p>
                  </a:txBody>
                  <a:tcPr/>
                </a:tc>
                <a:tc>
                  <a:txBody>
                    <a:bodyPr/>
                    <a:lstStyle/>
                    <a:p>
                      <a:r>
                        <a:rPr lang="en-US" sz="1200" b="1"/>
                        <a:t>Link</a:t>
                      </a:r>
                    </a:p>
                  </a:txBody>
                  <a:tcPr/>
                </a:tc>
                <a:extLst>
                  <a:ext uri="{0D108BD9-81ED-4DB2-BD59-A6C34878D82A}">
                    <a16:rowId xmlns:a16="http://schemas.microsoft.com/office/drawing/2014/main" val="3283728012"/>
                  </a:ext>
                </a:extLst>
              </a:tr>
              <a:tr h="557389">
                <a:tc>
                  <a:txBody>
                    <a:bodyPr/>
                    <a:lstStyle/>
                    <a:p>
                      <a:r>
                        <a:rPr lang="en-US" sz="1200"/>
                        <a:t>Threat Hunting in Microsoft Sentinel</a:t>
                      </a:r>
                    </a:p>
                  </a:txBody>
                  <a:tcPr/>
                </a:tc>
                <a:tc>
                  <a:txBody>
                    <a:bodyPr/>
                    <a:lstStyle/>
                    <a:p>
                      <a:r>
                        <a:rPr lang="en-US" sz="1200"/>
                        <a:t>learn.microsoft.com/azure/sentinel/hunting</a:t>
                      </a:r>
                    </a:p>
                  </a:txBody>
                  <a:tcPr/>
                </a:tc>
                <a:extLst>
                  <a:ext uri="{0D108BD9-81ED-4DB2-BD59-A6C34878D82A}">
                    <a16:rowId xmlns:a16="http://schemas.microsoft.com/office/drawing/2014/main" val="355924404"/>
                  </a:ext>
                </a:extLst>
              </a:tr>
              <a:tr h="557389">
                <a:tc>
                  <a:txBody>
                    <a:bodyPr/>
                    <a:lstStyle/>
                    <a:p>
                      <a:r>
                        <a:rPr lang="en-US" sz="1200"/>
                        <a:t>KQL search operator</a:t>
                      </a:r>
                    </a:p>
                  </a:txBody>
                  <a:tcPr/>
                </a:tc>
                <a:tc>
                  <a:txBody>
                    <a:bodyPr/>
                    <a:lstStyle/>
                    <a:p>
                      <a:r>
                        <a:rPr lang="en-US" sz="1200"/>
                        <a:t>learn.microsoft.com/kusto/query/search-operator</a:t>
                      </a:r>
                    </a:p>
                  </a:txBody>
                  <a:tcPr/>
                </a:tc>
                <a:extLst>
                  <a:ext uri="{0D108BD9-81ED-4DB2-BD59-A6C34878D82A}">
                    <a16:rowId xmlns:a16="http://schemas.microsoft.com/office/drawing/2014/main" val="2782214797"/>
                  </a:ext>
                </a:extLst>
              </a:tr>
              <a:tr h="557389">
                <a:tc>
                  <a:txBody>
                    <a:bodyPr/>
                    <a:lstStyle/>
                    <a:p>
                      <a:r>
                        <a:rPr lang="en-US" sz="1200"/>
                        <a:t>KQL summarize operator</a:t>
                      </a:r>
                    </a:p>
                  </a:txBody>
                  <a:tcPr/>
                </a:tc>
                <a:tc>
                  <a:txBody>
                    <a:bodyPr/>
                    <a:lstStyle/>
                    <a:p>
                      <a:r>
                        <a:rPr lang="en-US" sz="1200"/>
                        <a:t>learn.microsoft.com/kusto/query/summarize-operator</a:t>
                      </a:r>
                    </a:p>
                  </a:txBody>
                  <a:tcPr/>
                </a:tc>
                <a:extLst>
                  <a:ext uri="{0D108BD9-81ED-4DB2-BD59-A6C34878D82A}">
                    <a16:rowId xmlns:a16="http://schemas.microsoft.com/office/drawing/2014/main" val="798092136"/>
                  </a:ext>
                </a:extLst>
              </a:tr>
              <a:tr h="557389">
                <a:tc>
                  <a:txBody>
                    <a:bodyPr/>
                    <a:lstStyle/>
                    <a:p>
                      <a:r>
                        <a:rPr lang="en-US" sz="1200"/>
                        <a:t>SigninLogs table schema</a:t>
                      </a:r>
                    </a:p>
                  </a:txBody>
                  <a:tcPr/>
                </a:tc>
                <a:tc>
                  <a:txBody>
                    <a:bodyPr/>
                    <a:lstStyle/>
                    <a:p>
                      <a:r>
                        <a:rPr lang="en-US" sz="1200"/>
                        <a:t>learn.microsoft.com/azure/azure-monitor/reference/tables/signinlogs</a:t>
                      </a:r>
                    </a:p>
                  </a:txBody>
                  <a:tcPr/>
                </a:tc>
                <a:extLst>
                  <a:ext uri="{0D108BD9-81ED-4DB2-BD59-A6C34878D82A}">
                    <a16:rowId xmlns:a16="http://schemas.microsoft.com/office/drawing/2014/main" val="1552428327"/>
                  </a:ext>
                </a:extLst>
              </a:tr>
              <a:tr h="557389">
                <a:tc>
                  <a:txBody>
                    <a:bodyPr/>
                    <a:lstStyle/>
                    <a:p>
                      <a:r>
                        <a:rPr lang="en-US" sz="1200"/>
                        <a:t>AzureActivity table schema</a:t>
                      </a:r>
                    </a:p>
                  </a:txBody>
                  <a:tcPr/>
                </a:tc>
                <a:tc>
                  <a:txBody>
                    <a:bodyPr/>
                    <a:lstStyle/>
                    <a:p>
                      <a:r>
                        <a:rPr lang="en-US" sz="1200"/>
                        <a:t>learn.microsoft.com/azure/azure-monitor/reference/tables/azureactivity</a:t>
                      </a:r>
                    </a:p>
                  </a:txBody>
                  <a:tcPr/>
                </a:tc>
                <a:extLst>
                  <a:ext uri="{0D108BD9-81ED-4DB2-BD59-A6C34878D82A}">
                    <a16:rowId xmlns:a16="http://schemas.microsoft.com/office/drawing/2014/main" val="544227835"/>
                  </a:ext>
                </a:extLst>
              </a:tr>
              <a:tr h="557389">
                <a:tc>
                  <a:txBody>
                    <a:bodyPr/>
                    <a:lstStyle/>
                    <a:p>
                      <a:r>
                        <a:rPr lang="en-US" sz="1200"/>
                        <a:t>EmailEvents table schema</a:t>
                      </a:r>
                    </a:p>
                  </a:txBody>
                  <a:tcPr/>
                </a:tc>
                <a:tc>
                  <a:txBody>
                    <a:bodyPr/>
                    <a:lstStyle/>
                    <a:p>
                      <a:r>
                        <a:rPr lang="en-US" sz="1200"/>
                        <a:t>learn.microsoft.com/azure/azure-monitor/reference/tables/emailevents</a:t>
                      </a:r>
                    </a:p>
                  </a:txBody>
                  <a:tcPr/>
                </a:tc>
                <a:extLst>
                  <a:ext uri="{0D108BD9-81ED-4DB2-BD59-A6C34878D82A}">
                    <a16:rowId xmlns:a16="http://schemas.microsoft.com/office/drawing/2014/main" val="1674619495"/>
                  </a:ext>
                </a:extLst>
              </a:tr>
              <a:tr h="557389">
                <a:tc>
                  <a:txBody>
                    <a:bodyPr/>
                    <a:lstStyle/>
                    <a:p>
                      <a:r>
                        <a:rPr lang="fr-FR" sz="1200"/>
                        <a:t>MITRE ATT&amp;CK Cloud Matrix</a:t>
                      </a:r>
                      <a:endParaRPr lang="en-US" sz="1200"/>
                    </a:p>
                  </a:txBody>
                  <a:tcPr/>
                </a:tc>
                <a:tc>
                  <a:txBody>
                    <a:bodyPr/>
                    <a:lstStyle/>
                    <a:p>
                      <a:r>
                        <a:rPr lang="fr-FR" sz="1200"/>
                        <a:t>attack.mitre.org/matrices/enterprise/cloud/</a:t>
                      </a:r>
                      <a:endParaRPr lang="en-US" sz="1200"/>
                    </a:p>
                  </a:txBody>
                  <a:tcPr/>
                </a:tc>
                <a:extLst>
                  <a:ext uri="{0D108BD9-81ED-4DB2-BD59-A6C34878D82A}">
                    <a16:rowId xmlns:a16="http://schemas.microsoft.com/office/drawing/2014/main" val="917720411"/>
                  </a:ext>
                </a:extLst>
              </a:tr>
              <a:tr h="557389">
                <a:tc>
                  <a:txBody>
                    <a:bodyPr/>
                    <a:lstStyle/>
                    <a:p>
                      <a:r>
                        <a:rPr lang="en-US" sz="1200"/>
                        <a:t>SC-200 Threat Hunting Learning Path</a:t>
                      </a:r>
                    </a:p>
                  </a:txBody>
                  <a:tcPr/>
                </a:tc>
                <a:tc>
                  <a:txBody>
                    <a:bodyPr/>
                    <a:lstStyle/>
                    <a:p>
                      <a:r>
                        <a:rPr lang="en-US" sz="1200"/>
                        <a:t>learn.microsoft.com/training/paths/sc-200-perform-threat-hunting-azure-sentinel/</a:t>
                      </a:r>
                    </a:p>
                  </a:txBody>
                  <a:tcPr/>
                </a:tc>
                <a:extLst>
                  <a:ext uri="{0D108BD9-81ED-4DB2-BD59-A6C34878D82A}">
                    <a16:rowId xmlns:a16="http://schemas.microsoft.com/office/drawing/2014/main" val="727933464"/>
                  </a:ext>
                </a:extLst>
              </a:tr>
            </a:tbl>
          </a:graphicData>
        </a:graphic>
      </p:graphicFrame>
    </p:spTree>
    <p:extLst>
      <p:ext uri="{BB962C8B-B14F-4D97-AF65-F5344CB8AC3E}">
        <p14:creationId xmlns:p14="http://schemas.microsoft.com/office/powerpoint/2010/main" val="2622624874"/>
      </p:ext>
    </p:extLst>
  </p:cSld>
  <p:clrMapOvr>
    <a:masterClrMapping/>
  </p:clrMapOvr>
  <p:transition>
    <p:fade/>
  </p:transition>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 Security brand template.potx" id="{C2238F5F-88FF-42D2-B2B7-0AA68068F996}" vid="{6D1610A7-A963-40D5-9923-AA1928F2CA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Security brand template</Template>
  <TotalTime>0</TotalTime>
  <Words>4792</Words>
  <Application>Microsoft Office PowerPoint</Application>
  <PresentationFormat>Widescreen</PresentationFormat>
  <Paragraphs>352</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Arial</vt:lpstr>
      <vt:lpstr>Consolas</vt:lpstr>
      <vt:lpstr>Segoe UI</vt:lpstr>
      <vt:lpstr>Segoe UI Semibold</vt:lpstr>
      <vt:lpstr>Wingdings</vt:lpstr>
      <vt:lpstr>Microsoft Security template</vt:lpstr>
      <vt:lpstr>Cloud Threat Hunting: Methodology</vt:lpstr>
      <vt:lpstr>Agenda</vt:lpstr>
      <vt:lpstr>Agenda (cont. 2)</vt:lpstr>
      <vt:lpstr>What Is Threat Hunting?</vt:lpstr>
      <vt:lpstr>What Is Threat Hunting? (cont. 2)</vt:lpstr>
      <vt:lpstr>Reactive vs. Proactive Security</vt:lpstr>
      <vt:lpstr>Reactive vs. Proactive Security (cont. 2)</vt:lpstr>
      <vt:lpstr>The Threat Hunt Loop</vt:lpstr>
      <vt:lpstr>Forming a Strong Hypothesis</vt:lpstr>
      <vt:lpstr>Forming a Strong Hypothesis (cont. 2)</vt:lpstr>
      <vt:lpstr>Forming a Strong Hypothesis (cont. 3)</vt:lpstr>
      <vt:lpstr>Key Sentinel Tables for Cloud Hunting</vt:lpstr>
      <vt:lpstr>Starting Point — Find the Footprint</vt:lpstr>
      <vt:lpstr>Starting Point — Find the Footprint (cont. 2)</vt:lpstr>
      <vt:lpstr>KQL — Cross-Table Footprint Discovery</vt:lpstr>
      <vt:lpstr>KQL — Cross-Table Footprint Discovery (cont.)</vt:lpstr>
      <vt:lpstr>KQL — Scoped Search with Time Window</vt:lpstr>
      <vt:lpstr>Drilling Into Tables — Sign-In Events</vt:lpstr>
      <vt:lpstr>Drilling Into Tables — Control Plane and Graph API</vt:lpstr>
      <vt:lpstr>Correlating Activity — Overview</vt:lpstr>
      <vt:lpstr>CorrelationId — Linking Sign-Ins to Resource Actions</vt:lpstr>
      <vt:lpstr>KQL — CorrelationId Pivot</vt:lpstr>
      <vt:lpstr>UniqueTokenIdentifier — Detecting Token Theft</vt:lpstr>
      <vt:lpstr>KQL — Token Tracking Across Tables</vt:lpstr>
      <vt:lpstr>NetworkMessageId — Email Timeline Reconstruction</vt:lpstr>
      <vt:lpstr>KQL — Email Timeline Reconstruction</vt:lpstr>
      <vt:lpstr>End-to-End Hunt Pattern</vt:lpstr>
      <vt:lpstr>End-to-End Hunt Pattern (cont. 2)</vt:lpstr>
      <vt:lpstr>Key Takeaways</vt:lpstr>
      <vt:lpstr>Key Takeaways (cont. 2)</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Hall</dc:creator>
  <cp:lastModifiedBy>Jacob Hall</cp:lastModifiedBy>
  <cp:revision>1</cp:revision>
  <dcterms:created xsi:type="dcterms:W3CDTF">2026-04-21T23:33:17Z</dcterms:created>
  <dcterms:modified xsi:type="dcterms:W3CDTF">2026-04-21T23:33:24Z</dcterms:modified>
</cp:coreProperties>
</file>