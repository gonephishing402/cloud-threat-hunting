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9BE8B4-5829-4881-BAC5-17508A4773AF}"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6F08EC-A1BB-4491-B44C-346957C85F67}" type="slidenum">
              <a:rPr lang="en-US" smtClean="0"/>
              <a:t>‹#›</a:t>
            </a:fld>
            <a:endParaRPr lang="en-US"/>
          </a:p>
        </p:txBody>
      </p:sp>
    </p:spTree>
    <p:extLst>
      <p:ext uri="{BB962C8B-B14F-4D97-AF65-F5344CB8AC3E}">
        <p14:creationId xmlns:p14="http://schemas.microsoft.com/office/powerpoint/2010/main" val="2361364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Module 02. In the previous module we learned how phishing techniques steal tokens and sessions. In this module, we go deeper into what happens after tokens are stolen. We'll cover how attackers extract tokens from browsers, replay refresh tokens across services using the Family of Client IDs mechanism, and use tools like GraphSpy to enumerate and exfiltrate data. The detection surface here is AADNonInteractiveUserSignInLogs - the table that captures every silent token refresh, which is exactly where stolen token usage appears.</a:t>
            </a:r>
          </a:p>
        </p:txBody>
      </p:sp>
      <p:sp>
        <p:nvSpPr>
          <p:cNvPr id="4" name="Slide Number Placeholder 3"/>
          <p:cNvSpPr>
            <a:spLocks noGrp="1"/>
          </p:cNvSpPr>
          <p:nvPr>
            <p:ph type="sldNum" sz="quarter" idx="5"/>
          </p:nvPr>
        </p:nvSpPr>
        <p:spPr/>
        <p:txBody>
          <a:bodyPr/>
          <a:lstStyle/>
          <a:p>
            <a:fld id="{FB6F08EC-A1BB-4491-B44C-346957C85F67}" type="slidenum">
              <a:rPr lang="en-US" smtClean="0"/>
              <a:t>1</a:t>
            </a:fld>
            <a:endParaRPr lang="en-US"/>
          </a:p>
        </p:txBody>
      </p:sp>
    </p:spTree>
    <p:extLst>
      <p:ext uri="{BB962C8B-B14F-4D97-AF65-F5344CB8AC3E}">
        <p14:creationId xmlns:p14="http://schemas.microsoft.com/office/powerpoint/2010/main" val="2975966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We'll start with the fundamentals - understanding the three token types and why refresh tokens are the primary target. Then we'll walk through two attack techniques: browser-based token theft and FOCI token exchange with GraphSpy. The detection section focuses on AADNonInteractiveUserSignInLogs, which is the single most important table for token abuse hunting. We'll finish with incident response, emphasizing the critical role of Continuous Access Evaluation in making token revocation effective in near-real-time.</a:t>
            </a:r>
          </a:p>
        </p:txBody>
      </p:sp>
      <p:sp>
        <p:nvSpPr>
          <p:cNvPr id="4" name="Slide Number Placeholder 3"/>
          <p:cNvSpPr>
            <a:spLocks noGrp="1"/>
          </p:cNvSpPr>
          <p:nvPr>
            <p:ph type="sldNum" sz="quarter" idx="5"/>
          </p:nvPr>
        </p:nvSpPr>
        <p:spPr/>
        <p:txBody>
          <a:bodyPr/>
          <a:lstStyle/>
          <a:p>
            <a:fld id="{FB6F08EC-A1BB-4491-B44C-346957C85F67}" type="slidenum">
              <a:rPr lang="en-US" smtClean="0"/>
              <a:t>2</a:t>
            </a:fld>
            <a:endParaRPr lang="en-US"/>
          </a:p>
        </p:txBody>
      </p:sp>
    </p:spTree>
    <p:extLst>
      <p:ext uri="{BB962C8B-B14F-4D97-AF65-F5344CB8AC3E}">
        <p14:creationId xmlns:p14="http://schemas.microsoft.com/office/powerpoint/2010/main" val="1174552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We'll start with the fundamentals - understanding the three token types and why refresh tokens are the primary target. Then we'll walk through two attack techniques: browser-based token theft and FOCI token exchange with GraphSpy. The detection section focuses on AADNonInteractiveUserSignInLogs, which is the single most important table for token abuse hunting. We'll finish with incident response, emphasizing the critical role of Continuous Access Evaluation in making token revocation effective in near-real-time.</a:t>
            </a:r>
          </a:p>
        </p:txBody>
      </p:sp>
      <p:sp>
        <p:nvSpPr>
          <p:cNvPr id="4" name="Slide Number Placeholder 3"/>
          <p:cNvSpPr>
            <a:spLocks noGrp="1"/>
          </p:cNvSpPr>
          <p:nvPr>
            <p:ph type="sldNum" sz="quarter" idx="5"/>
          </p:nvPr>
        </p:nvSpPr>
        <p:spPr/>
        <p:txBody>
          <a:bodyPr/>
          <a:lstStyle/>
          <a:p>
            <a:fld id="{FB6F08EC-A1BB-4491-B44C-346957C85F67}" type="slidenum">
              <a:rPr lang="en-US" smtClean="0"/>
              <a:t>3</a:t>
            </a:fld>
            <a:endParaRPr lang="en-US"/>
          </a:p>
        </p:txBody>
      </p:sp>
    </p:spTree>
    <p:extLst>
      <p:ext uri="{BB962C8B-B14F-4D97-AF65-F5344CB8AC3E}">
        <p14:creationId xmlns:p14="http://schemas.microsoft.com/office/powerpoint/2010/main" val="99308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 abuse maps to five MITRE techniques. T1528 is the theft itself - extracting tokens from browser storage or memory. T1550.001 is the replay - using stolen tokens to authenticate as the victim. T1078.004 covers the attacker operating as a valid cloud account. T1526 and T1114.002 describe what the attacker does post-access: discovering tenant resources and collecting email. The key distinction from Module 01 is that token abuse is a post-authentication technique - the initial access has already occurred.</a:t>
            </a:r>
          </a:p>
        </p:txBody>
      </p:sp>
      <p:sp>
        <p:nvSpPr>
          <p:cNvPr id="4" name="Slide Number Placeholder 3"/>
          <p:cNvSpPr>
            <a:spLocks noGrp="1"/>
          </p:cNvSpPr>
          <p:nvPr>
            <p:ph type="sldNum" sz="quarter" idx="5"/>
          </p:nvPr>
        </p:nvSpPr>
        <p:spPr/>
        <p:txBody>
          <a:bodyPr/>
          <a:lstStyle/>
          <a:p>
            <a:fld id="{FB6F08EC-A1BB-4491-B44C-346957C85F67}" type="slidenum">
              <a:rPr lang="en-US" smtClean="0"/>
              <a:t>4</a:t>
            </a:fld>
            <a:endParaRPr lang="en-US"/>
          </a:p>
        </p:txBody>
      </p:sp>
    </p:spTree>
    <p:extLst>
      <p:ext uri="{BB962C8B-B14F-4D97-AF65-F5344CB8AC3E}">
        <p14:creationId xmlns:p14="http://schemas.microsoft.com/office/powerpoint/2010/main" val="1838239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 abuse maps to five MITRE techniques. T1528 is the theft itself - extracting tokens from browser storage or memory. T1550.001 is the replay - using stolen tokens to authenticate as the victim. T1078.004 covers the attacker operating as a valid cloud account. T1526 and T1114.002 describe what the attacker does post-access: discovering tenant resources and collecting email. The key distinction from Module 01 is that token abuse is a post-authentication technique - the initial access has already occurred.</a:t>
            </a:r>
          </a:p>
        </p:txBody>
      </p:sp>
      <p:sp>
        <p:nvSpPr>
          <p:cNvPr id="4" name="Slide Number Placeholder 3"/>
          <p:cNvSpPr>
            <a:spLocks noGrp="1"/>
          </p:cNvSpPr>
          <p:nvPr>
            <p:ph type="sldNum" sz="quarter" idx="5"/>
          </p:nvPr>
        </p:nvSpPr>
        <p:spPr/>
        <p:txBody>
          <a:bodyPr/>
          <a:lstStyle/>
          <a:p>
            <a:fld id="{FB6F08EC-A1BB-4491-B44C-346957C85F67}" type="slidenum">
              <a:rPr lang="en-US" smtClean="0"/>
              <a:t>5</a:t>
            </a:fld>
            <a:endParaRPr lang="en-US"/>
          </a:p>
        </p:txBody>
      </p:sp>
    </p:spTree>
    <p:extLst>
      <p:ext uri="{BB962C8B-B14F-4D97-AF65-F5344CB8AC3E}">
        <p14:creationId xmlns:p14="http://schemas.microsoft.com/office/powerpoint/2010/main" val="1771931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the token hierarchy is critical. Access tokens are short-lived and limited to a single resource - stealing one gives the attacker 60-90 minutes of access. Refresh tokens are the real prize - they last up to 90 days on a rolling window and can be exchanged for new access tokens targeting any resource the user has access to. PRTs are the most powerful - they're device-bound and can issue tokens for all Microsoft first-party applications. In this module, we focus primarily on refresh token theft and replay via FOCI, as this is the most common and impactful attack pattern.</a:t>
            </a:r>
          </a:p>
        </p:txBody>
      </p:sp>
      <p:sp>
        <p:nvSpPr>
          <p:cNvPr id="4" name="Slide Number Placeholder 3"/>
          <p:cNvSpPr>
            <a:spLocks noGrp="1"/>
          </p:cNvSpPr>
          <p:nvPr>
            <p:ph type="sldNum" sz="quarter" idx="5"/>
          </p:nvPr>
        </p:nvSpPr>
        <p:spPr/>
        <p:txBody>
          <a:bodyPr/>
          <a:lstStyle/>
          <a:p>
            <a:fld id="{FB6F08EC-A1BB-4491-B44C-346957C85F67}" type="slidenum">
              <a:rPr lang="en-US" smtClean="0"/>
              <a:t>6</a:t>
            </a:fld>
            <a:endParaRPr lang="en-US"/>
          </a:p>
        </p:txBody>
      </p:sp>
    </p:spTree>
    <p:extLst>
      <p:ext uri="{BB962C8B-B14F-4D97-AF65-F5344CB8AC3E}">
        <p14:creationId xmlns:p14="http://schemas.microsoft.com/office/powerpoint/2010/main" val="501892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AADNonInteractiveUserSignInLogs is the star table for this module. Token theft and FOCI replay attacks are nearly invisible in interactive sign-in logs because the attacker never triggers an interactive authentication. Every token refresh, every silent re-auth, every background sign-in appears in the non-interactive logs. SigninLogs provides the baseline - what does normal activity look like for this user? MicrosoftGraphActivityLogs shows what the attacker accessed with the stolen token. CloudAppEvents captures the downstream impact - emails read, files downloaded, Teams messages accessed.</a:t>
            </a:r>
          </a:p>
        </p:txBody>
      </p:sp>
      <p:sp>
        <p:nvSpPr>
          <p:cNvPr id="4" name="Slide Number Placeholder 3"/>
          <p:cNvSpPr>
            <a:spLocks noGrp="1"/>
          </p:cNvSpPr>
          <p:nvPr>
            <p:ph type="sldNum" sz="quarter" idx="5"/>
          </p:nvPr>
        </p:nvSpPr>
        <p:spPr/>
        <p:txBody>
          <a:bodyPr/>
          <a:lstStyle/>
          <a:p>
            <a:fld id="{FB6F08EC-A1BB-4491-B44C-346957C85F67}" type="slidenum">
              <a:rPr lang="en-US" smtClean="0"/>
              <a:t>7</a:t>
            </a:fld>
            <a:endParaRPr lang="en-US"/>
          </a:p>
        </p:txBody>
      </p:sp>
    </p:spTree>
    <p:extLst>
      <p:ext uri="{BB962C8B-B14F-4D97-AF65-F5344CB8AC3E}">
        <p14:creationId xmlns:p14="http://schemas.microsoft.com/office/powerpoint/2010/main" val="3709636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low-barrier attack. An attacker who gets 30 seconds of physical access to an unlocked workstation can open browser dev tools, navigate to localStorage, and extract both access and refresh tokens. They don't need to know the user's password. The tokens are cached by MSAL.js in a predictable format. The refresh token is in the secret field of the refreshtoken cache entry. They can also capture tokens live from the Network tab by filtering for Authorization headers on outbound Graph Application Programming Interface (API) requests. This is why workstation security and screen lock policies matter.</a:t>
            </a:r>
          </a:p>
        </p:txBody>
      </p:sp>
      <p:sp>
        <p:nvSpPr>
          <p:cNvPr id="4" name="Slide Number Placeholder 3"/>
          <p:cNvSpPr>
            <a:spLocks noGrp="1"/>
          </p:cNvSpPr>
          <p:nvPr>
            <p:ph type="sldNum" sz="quarter" idx="5"/>
          </p:nvPr>
        </p:nvSpPr>
        <p:spPr/>
        <p:txBody>
          <a:bodyPr/>
          <a:lstStyle/>
          <a:p>
            <a:fld id="{FB6F08EC-A1BB-4491-B44C-346957C85F67}" type="slidenum">
              <a:rPr lang="en-US" smtClean="0"/>
              <a:t>8</a:t>
            </a:fld>
            <a:endParaRPr lang="en-US"/>
          </a:p>
        </p:txBody>
      </p:sp>
    </p:spTree>
    <p:extLst>
      <p:ext uri="{BB962C8B-B14F-4D97-AF65-F5344CB8AC3E}">
        <p14:creationId xmlns:p14="http://schemas.microsoft.com/office/powerpoint/2010/main" val="1740663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is a low-barrier attack. An attacker who gets 30 seconds of physical access to an unlocked workstation can open browser dev tools, navigate to localStorage, and extract both access and refresh tokens. They don't need to know the user's password. The tokens are cached by MSAL.js in a predictable format. The refresh token is in the secret field of the refreshtoken cache entry. They can also capture tokens live from the Network tab by filtering for Authorization headers on outbound Graph Application Programming Interface (API) requests. This is why workstation security and screen lock policies matter.</a:t>
            </a:r>
          </a:p>
        </p:txBody>
      </p:sp>
      <p:sp>
        <p:nvSpPr>
          <p:cNvPr id="4" name="Slide Number Placeholder 3"/>
          <p:cNvSpPr>
            <a:spLocks noGrp="1"/>
          </p:cNvSpPr>
          <p:nvPr>
            <p:ph type="sldNum" sz="quarter" idx="5"/>
          </p:nvPr>
        </p:nvSpPr>
        <p:spPr/>
        <p:txBody>
          <a:bodyPr/>
          <a:lstStyle/>
          <a:p>
            <a:fld id="{FB6F08EC-A1BB-4491-B44C-346957C85F67}" type="slidenum">
              <a:rPr lang="en-US" smtClean="0"/>
              <a:t>9</a:t>
            </a:fld>
            <a:endParaRPr lang="en-US"/>
          </a:p>
        </p:txBody>
      </p:sp>
    </p:spTree>
    <p:extLst>
      <p:ext uri="{BB962C8B-B14F-4D97-AF65-F5344CB8AC3E}">
        <p14:creationId xmlns:p14="http://schemas.microsoft.com/office/powerpoint/2010/main" val="3572586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FOCI is a design feature, not a vulnerability. Microsoft intentionally shares refresh tokens across trusted first-party apps for user convenience - you authenticate once and all Microsoft apps work seamlessly. But attackers abuse this by stealing a token issued for one app (like the browser) and exchanging it via a different client ID (like Azure CLI). This gives them access to any resource the user is authorized for - Graph, Exchange, SharePoint, Azure Resource Manager - all from a single stolen refresh token. The FOCI client ID table here shows the most commonly abused apps. Azure CLI is the most popular because it has broad default scopes.</a:t>
            </a:r>
          </a:p>
        </p:txBody>
      </p:sp>
      <p:sp>
        <p:nvSpPr>
          <p:cNvPr id="4" name="Slide Number Placeholder 3"/>
          <p:cNvSpPr>
            <a:spLocks noGrp="1"/>
          </p:cNvSpPr>
          <p:nvPr>
            <p:ph type="sldNum" sz="quarter" idx="5"/>
          </p:nvPr>
        </p:nvSpPr>
        <p:spPr/>
        <p:txBody>
          <a:bodyPr/>
          <a:lstStyle/>
          <a:p>
            <a:fld id="{FB6F08EC-A1BB-4491-B44C-346957C85F67}" type="slidenum">
              <a:rPr lang="en-US" smtClean="0"/>
              <a:t>10</a:t>
            </a:fld>
            <a:endParaRPr lang="en-US"/>
          </a:p>
        </p:txBody>
      </p:sp>
    </p:spTree>
    <p:extLst>
      <p:ext uri="{BB962C8B-B14F-4D97-AF65-F5344CB8AC3E}">
        <p14:creationId xmlns:p14="http://schemas.microsoft.com/office/powerpoint/2010/main" val="13860007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FOCI is a design feature, not a vulnerability. Microsoft intentionally shares refresh tokens across trusted first-party apps for user convenience - you authenticate once and all Microsoft apps work seamlessly. But attackers abuse this by stealing a token issued for one app (like the browser) and exchanging it via a different client ID (like Azure CLI). This gives them access to any resource the user is authorized for - Graph, Exchange, SharePoint, Azure Resource Manager - all from a single stolen refresh token. The FOCI client ID table here shows the most commonly abused apps. Azure CLI is the most popular because it has broad default scopes.</a:t>
            </a:r>
          </a:p>
        </p:txBody>
      </p:sp>
      <p:sp>
        <p:nvSpPr>
          <p:cNvPr id="4" name="Slide Number Placeholder 3"/>
          <p:cNvSpPr>
            <a:spLocks noGrp="1"/>
          </p:cNvSpPr>
          <p:nvPr>
            <p:ph type="sldNum" sz="quarter" idx="5"/>
          </p:nvPr>
        </p:nvSpPr>
        <p:spPr/>
        <p:txBody>
          <a:bodyPr/>
          <a:lstStyle/>
          <a:p>
            <a:fld id="{FB6F08EC-A1BB-4491-B44C-346957C85F67}" type="slidenum">
              <a:rPr lang="en-US" smtClean="0"/>
              <a:t>11</a:t>
            </a:fld>
            <a:endParaRPr lang="en-US"/>
          </a:p>
        </p:txBody>
      </p:sp>
    </p:spTree>
    <p:extLst>
      <p:ext uri="{BB962C8B-B14F-4D97-AF65-F5344CB8AC3E}">
        <p14:creationId xmlns:p14="http://schemas.microsoft.com/office/powerpoint/2010/main" val="1265964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GraphSpy is a real tool used by both red teams and actual threat actors. It abstracts the complexity of token manipulation and Graph Application Programming Interface (API) interaction into a simple web UI. The key detection implication is that GraphSpy generates a burst of Graph Application Programming Interface (API) requests across multiple resource types in rapid succession - a pattern that's very different from normal user activity. It also uses Python HTTP libraries, which creates a UserAgent mismatch when the token was originally issued to a browser-based app. We'll see how to detect this pattern in the Kusto Query Language (KQL) queries.</a:t>
            </a:r>
          </a:p>
        </p:txBody>
      </p:sp>
      <p:sp>
        <p:nvSpPr>
          <p:cNvPr id="4" name="Slide Number Placeholder 3"/>
          <p:cNvSpPr>
            <a:spLocks noGrp="1"/>
          </p:cNvSpPr>
          <p:nvPr>
            <p:ph type="sldNum" sz="quarter" idx="5"/>
          </p:nvPr>
        </p:nvSpPr>
        <p:spPr/>
        <p:txBody>
          <a:bodyPr/>
          <a:lstStyle/>
          <a:p>
            <a:fld id="{FB6F08EC-A1BB-4491-B44C-346957C85F67}" type="slidenum">
              <a:rPr lang="en-US" smtClean="0"/>
              <a:t>12</a:t>
            </a:fld>
            <a:endParaRPr lang="en-US"/>
          </a:p>
        </p:txBody>
      </p:sp>
    </p:spTree>
    <p:extLst>
      <p:ext uri="{BB962C8B-B14F-4D97-AF65-F5344CB8AC3E}">
        <p14:creationId xmlns:p14="http://schemas.microsoft.com/office/powerpoint/2010/main" val="3134114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GraphSpy is a real tool used by both red teams and actual threat actors. It abstracts the complexity of token manipulation and Graph Application Programming Interface (API) interaction into a simple web UI. The key detection implication is that GraphSpy generates a burst of Graph Application Programming Interface (API) requests across multiple resource types in rapid succession - a pattern that's very different from normal user activity. It also uses Python HTTP libraries, which creates a UserAgent mismatch when the token was originally issued to a browser-based app. We'll see how to detect this pattern in the Kusto Query Language (KQL) queries.</a:t>
            </a:r>
          </a:p>
        </p:txBody>
      </p:sp>
      <p:sp>
        <p:nvSpPr>
          <p:cNvPr id="4" name="Slide Number Placeholder 3"/>
          <p:cNvSpPr>
            <a:spLocks noGrp="1"/>
          </p:cNvSpPr>
          <p:nvPr>
            <p:ph type="sldNum" sz="quarter" idx="5"/>
          </p:nvPr>
        </p:nvSpPr>
        <p:spPr/>
        <p:txBody>
          <a:bodyPr/>
          <a:lstStyle/>
          <a:p>
            <a:fld id="{FB6F08EC-A1BB-4491-B44C-346957C85F67}" type="slidenum">
              <a:rPr lang="en-US" smtClean="0"/>
              <a:t>13</a:t>
            </a:fld>
            <a:endParaRPr lang="en-US"/>
          </a:p>
        </p:txBody>
      </p:sp>
    </p:spTree>
    <p:extLst>
      <p:ext uri="{BB962C8B-B14F-4D97-AF65-F5344CB8AC3E}">
        <p14:creationId xmlns:p14="http://schemas.microsoft.com/office/powerpoint/2010/main" val="2518222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indicators you'll be hunting for in the lab. The most reliable signal is the combination of IncomingTokenType = refreshToken with an IP address that has never appeared in the user's interactive sign-in history. FOCI pivoting is detected by a single user authenticating to 3 or more distinct resources within a short window. The UserAgent mismatch is a tool-specific signal - legitimate Azure CLI uses python-requests, but GraphSpy and other tools use different HTTP libraries. Each of these indicators alone is suspicious; in combination, they're near-definitive for token abuse.</a:t>
            </a:r>
          </a:p>
        </p:txBody>
      </p:sp>
      <p:sp>
        <p:nvSpPr>
          <p:cNvPr id="4" name="Slide Number Placeholder 3"/>
          <p:cNvSpPr>
            <a:spLocks noGrp="1"/>
          </p:cNvSpPr>
          <p:nvPr>
            <p:ph type="sldNum" sz="quarter" idx="5"/>
          </p:nvPr>
        </p:nvSpPr>
        <p:spPr/>
        <p:txBody>
          <a:bodyPr/>
          <a:lstStyle/>
          <a:p>
            <a:fld id="{FB6F08EC-A1BB-4491-B44C-346957C85F67}" type="slidenum">
              <a:rPr lang="en-US" smtClean="0"/>
              <a:t>14</a:t>
            </a:fld>
            <a:endParaRPr lang="en-US"/>
          </a:p>
        </p:txBody>
      </p:sp>
    </p:spTree>
    <p:extLst>
      <p:ext uri="{BB962C8B-B14F-4D97-AF65-F5344CB8AC3E}">
        <p14:creationId xmlns:p14="http://schemas.microsoft.com/office/powerpoint/2010/main" val="2422486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is your field reference card for investigating token abuse. IncomingTokenType is the single most important field - if it shows refreshToken, you know a previously issued refresh token was replayed rather than a fresh authentication occurring. SignInEventTypes confirms this. AppDisplayName combined with UserAgent reveals tool-based attacks - if AppDisplayName says "Azure CLI" but UserAgent doesn't show python-requests, that's a tool impersonating the Azure CLI client ID. TokenProtectionStatusDetails is a newer field that shows whether the token was cryptographically bound to the device - unbound tokens from policies that require binding are anomalous.</a:t>
            </a:r>
          </a:p>
        </p:txBody>
      </p:sp>
      <p:sp>
        <p:nvSpPr>
          <p:cNvPr id="4" name="Slide Number Placeholder 3"/>
          <p:cNvSpPr>
            <a:spLocks noGrp="1"/>
          </p:cNvSpPr>
          <p:nvPr>
            <p:ph type="sldNum" sz="quarter" idx="5"/>
          </p:nvPr>
        </p:nvSpPr>
        <p:spPr/>
        <p:txBody>
          <a:bodyPr/>
          <a:lstStyle/>
          <a:p>
            <a:fld id="{FB6F08EC-A1BB-4491-B44C-346957C85F67}" type="slidenum">
              <a:rPr lang="en-US" smtClean="0"/>
              <a:t>15</a:t>
            </a:fld>
            <a:endParaRPr lang="en-US"/>
          </a:p>
        </p:txBody>
      </p:sp>
    </p:spTree>
    <p:extLst>
      <p:ext uri="{BB962C8B-B14F-4D97-AF65-F5344CB8AC3E}">
        <p14:creationId xmlns:p14="http://schemas.microsoft.com/office/powerpoint/2010/main" val="218316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your primary hunting query for token abuse. It filters for refresh token usage targeting the three most valuable resources. In a normal environment, you'll see legitimate refresh token activity - but look for anomalies: unusual IPs, unexpected AppDisplayNames, or UserAgents that don't match the app. The volume of results will be high in a busy tenant, so use this as a starting point and then narrow with additional filters. In the lab, we'll filter this further by specific users or IPs identified through other signals.</a:t>
            </a:r>
          </a:p>
        </p:txBody>
      </p:sp>
      <p:sp>
        <p:nvSpPr>
          <p:cNvPr id="4" name="Slide Number Placeholder 3"/>
          <p:cNvSpPr>
            <a:spLocks noGrp="1"/>
          </p:cNvSpPr>
          <p:nvPr>
            <p:ph type="sldNum" sz="quarter" idx="5"/>
          </p:nvPr>
        </p:nvSpPr>
        <p:spPr/>
        <p:txBody>
          <a:bodyPr/>
          <a:lstStyle/>
          <a:p>
            <a:fld id="{FB6F08EC-A1BB-4491-B44C-346957C85F67}" type="slidenum">
              <a:rPr lang="en-US" smtClean="0"/>
              <a:t>16</a:t>
            </a:fld>
            <a:endParaRPr lang="en-US"/>
          </a:p>
        </p:txBody>
      </p:sp>
    </p:spTree>
    <p:extLst>
      <p:ext uri="{BB962C8B-B14F-4D97-AF65-F5344CB8AC3E}">
        <p14:creationId xmlns:p14="http://schemas.microsoft.com/office/powerpoint/2010/main" val="3321507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FOCI-specific detection query. Normal user activity typically targets one or two resources in a 15-minute window - your browser refreshes tokens for Graph and maybe Exchange. An attacker using FOCI exchanges will hit Graph, Exchange, SharePoint, Azure Resource Manager, and other resources in rapid succession. The ResourceCount &gt;= 3 threshold is conservative - in real attacks, you'll often see 4 or 5 distinct resources. The make_set aggregations give you the full picture: which resources, which apps, which IPs, which user agents. This is ideal for an analytics rule with a 15-minute window.</a:t>
            </a:r>
          </a:p>
        </p:txBody>
      </p:sp>
      <p:sp>
        <p:nvSpPr>
          <p:cNvPr id="4" name="Slide Number Placeholder 3"/>
          <p:cNvSpPr>
            <a:spLocks noGrp="1"/>
          </p:cNvSpPr>
          <p:nvPr>
            <p:ph type="sldNum" sz="quarter" idx="5"/>
          </p:nvPr>
        </p:nvSpPr>
        <p:spPr/>
        <p:txBody>
          <a:bodyPr/>
          <a:lstStyle/>
          <a:p>
            <a:fld id="{FB6F08EC-A1BB-4491-B44C-346957C85F67}" type="slidenum">
              <a:rPr lang="en-US" smtClean="0"/>
              <a:t>17</a:t>
            </a:fld>
            <a:endParaRPr lang="en-US"/>
          </a:p>
        </p:txBody>
      </p:sp>
    </p:spTree>
    <p:extLst>
      <p:ext uri="{BB962C8B-B14F-4D97-AF65-F5344CB8AC3E}">
        <p14:creationId xmlns:p14="http://schemas.microsoft.com/office/powerpoint/2010/main" val="4275046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FOCI-specific detection query. Normal user activity typically targets one or two resources in a 15-minute window - your browser refreshes tokens for Graph and maybe Exchange. An attacker using FOCI exchanges will hit Graph, Exchange, SharePoint, Azure Resource Manager, and other resources in rapid succession. The ResourceCount &gt;= 3 threshold is conservative - in real attacks, you'll often see 4 or 5 distinct resources. The make_set aggregations give you the full picture: which resources, which apps, which IPs, which user agents. This is ideal for an analytics rule with a 15-minute window.</a:t>
            </a:r>
          </a:p>
        </p:txBody>
      </p:sp>
      <p:sp>
        <p:nvSpPr>
          <p:cNvPr id="4" name="Slide Number Placeholder 3"/>
          <p:cNvSpPr>
            <a:spLocks noGrp="1"/>
          </p:cNvSpPr>
          <p:nvPr>
            <p:ph type="sldNum" sz="quarter" idx="5"/>
          </p:nvPr>
        </p:nvSpPr>
        <p:spPr/>
        <p:txBody>
          <a:bodyPr/>
          <a:lstStyle/>
          <a:p>
            <a:fld id="{FB6F08EC-A1BB-4491-B44C-346957C85F67}" type="slidenum">
              <a:rPr lang="en-US" smtClean="0"/>
              <a:t>18</a:t>
            </a:fld>
            <a:endParaRPr lang="en-US"/>
          </a:p>
        </p:txBody>
      </p:sp>
    </p:spTree>
    <p:extLst>
      <p:ext uri="{BB962C8B-B14F-4D97-AF65-F5344CB8AC3E}">
        <p14:creationId xmlns:p14="http://schemas.microsoft.com/office/powerpoint/2010/main" val="25114145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is highly specific to tool-based attacks. Legitimate Azure CLI uses the python-requests library and will have a UserAgent starting with "python-requests/". If someone is using the Azure CLI client ID but sending requests with curl, Postman, or a Python library other than requests, they're likely using a replay tool. GraphSpy's own UserAgent string will sometimes appear directly. Mozilla/4.0 is a legacy user agent string sometimes used by older tools. This query has a very low false positive rate because it's matching specific tool signatures.</a:t>
            </a:r>
          </a:p>
        </p:txBody>
      </p:sp>
      <p:sp>
        <p:nvSpPr>
          <p:cNvPr id="4" name="Slide Number Placeholder 3"/>
          <p:cNvSpPr>
            <a:spLocks noGrp="1"/>
          </p:cNvSpPr>
          <p:nvPr>
            <p:ph type="sldNum" sz="quarter" idx="5"/>
          </p:nvPr>
        </p:nvSpPr>
        <p:spPr/>
        <p:txBody>
          <a:bodyPr/>
          <a:lstStyle/>
          <a:p>
            <a:fld id="{FB6F08EC-A1BB-4491-B44C-346957C85F67}" type="slidenum">
              <a:rPr lang="en-US" smtClean="0"/>
              <a:t>19</a:t>
            </a:fld>
            <a:endParaRPr lang="en-US"/>
          </a:p>
        </p:txBody>
      </p:sp>
    </p:spTree>
    <p:extLst>
      <p:ext uri="{BB962C8B-B14F-4D97-AF65-F5344CB8AC3E}">
        <p14:creationId xmlns:p14="http://schemas.microsoft.com/office/powerpoint/2010/main" val="29723682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is highly specific to tool-based attacks. Legitimate Azure CLI uses the python-requests library and will have a UserAgent starting with "python-requests/". If someone is using the Azure CLI client ID but sending requests with curl, Postman, or a Python library other than requests, they're likely using a replay tool. GraphSpy's own UserAgent string will sometimes appear directly. Mozilla/4.0 is a legacy user agent string sometimes used by older tools. This query has a very low false positive rate because it's matching specific tool signatures.</a:t>
            </a:r>
          </a:p>
        </p:txBody>
      </p:sp>
      <p:sp>
        <p:nvSpPr>
          <p:cNvPr id="4" name="Slide Number Placeholder 3"/>
          <p:cNvSpPr>
            <a:spLocks noGrp="1"/>
          </p:cNvSpPr>
          <p:nvPr>
            <p:ph type="sldNum" sz="quarter" idx="5"/>
          </p:nvPr>
        </p:nvSpPr>
        <p:spPr/>
        <p:txBody>
          <a:bodyPr/>
          <a:lstStyle/>
          <a:p>
            <a:fld id="{FB6F08EC-A1BB-4491-B44C-346957C85F67}" type="slidenum">
              <a:rPr lang="en-US" smtClean="0"/>
              <a:t>20</a:t>
            </a:fld>
            <a:endParaRPr lang="en-US"/>
          </a:p>
        </p:txBody>
      </p:sp>
    </p:spTree>
    <p:extLst>
      <p:ext uri="{BB962C8B-B14F-4D97-AF65-F5344CB8AC3E}">
        <p14:creationId xmlns:p14="http://schemas.microsoft.com/office/powerpoint/2010/main" val="2771951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leverages Entra ID Protection's machine learning detections. The anomalousToken risk type is the most relevant for token abuse - it fires when the token's characteristics (issuing device, network, timing) don't match the user's established pattern. This requires Entra ID P2 licensing. The 48-hour window is wider than usual because risk detections can be retroactively applied. If your organization doesn't have P2, you'll need to rely on the manual detection patterns from the previous queries - IP mismatches, FOCI pivoting, and UserAgent mismatches.</a:t>
            </a:r>
          </a:p>
        </p:txBody>
      </p:sp>
      <p:sp>
        <p:nvSpPr>
          <p:cNvPr id="4" name="Slide Number Placeholder 3"/>
          <p:cNvSpPr>
            <a:spLocks noGrp="1"/>
          </p:cNvSpPr>
          <p:nvPr>
            <p:ph type="sldNum" sz="quarter" idx="5"/>
          </p:nvPr>
        </p:nvSpPr>
        <p:spPr/>
        <p:txBody>
          <a:bodyPr/>
          <a:lstStyle/>
          <a:p>
            <a:fld id="{FB6F08EC-A1BB-4491-B44C-346957C85F67}" type="slidenum">
              <a:rPr lang="en-US" smtClean="0"/>
              <a:t>21</a:t>
            </a:fld>
            <a:endParaRPr lang="en-US"/>
          </a:p>
        </p:txBody>
      </p:sp>
    </p:spTree>
    <p:extLst>
      <p:ext uri="{BB962C8B-B14F-4D97-AF65-F5344CB8AC3E}">
        <p14:creationId xmlns:p14="http://schemas.microsoft.com/office/powerpoint/2010/main" val="25078386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leverages Entra ID Protection's machine learning detections. The anomalousToken risk type is the most relevant for token abuse - it fires when the token's characteristics (issuing device, network, timing) don't match the user's established pattern. This requires Entra ID P2 licensing. The 48-hour window is wider than usual because risk detections can be retroactively applied. If your organization doesn't have P2, you'll need to rely on the manual detection patterns from the previous queries - IP mismatches, FOCI pivoting, and UserAgent mismatches.</a:t>
            </a:r>
          </a:p>
        </p:txBody>
      </p:sp>
      <p:sp>
        <p:nvSpPr>
          <p:cNvPr id="4" name="Slide Number Placeholder 3"/>
          <p:cNvSpPr>
            <a:spLocks noGrp="1"/>
          </p:cNvSpPr>
          <p:nvPr>
            <p:ph type="sldNum" sz="quarter" idx="5"/>
          </p:nvPr>
        </p:nvSpPr>
        <p:spPr/>
        <p:txBody>
          <a:bodyPr/>
          <a:lstStyle/>
          <a:p>
            <a:fld id="{FB6F08EC-A1BB-4491-B44C-346957C85F67}" type="slidenum">
              <a:rPr lang="en-US" smtClean="0"/>
              <a:t>22</a:t>
            </a:fld>
            <a:endParaRPr lang="en-US"/>
          </a:p>
        </p:txBody>
      </p:sp>
    </p:spTree>
    <p:extLst>
      <p:ext uri="{BB962C8B-B14F-4D97-AF65-F5344CB8AC3E}">
        <p14:creationId xmlns:p14="http://schemas.microsoft.com/office/powerpoint/2010/main" val="28160085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definitive token replay detection query from the module playbooks. It joins interactive sign-ins (where the token was issued) with non-interactive sign-ins (where the token was used) and looks for IP mismatches within a 10-minute window. If a user authenticates from their office IP and within 10 minutes the resulting token is used from a completely different IP, that's token theft. The Count &gt; 3 threshold reduces noise from legitimate VPN switches. The Resources aggregation shows which services the attacker accessed. This query is suitable for conversion to a near-real-time analytics rule with a 1-hour window.</a:t>
            </a:r>
          </a:p>
        </p:txBody>
      </p:sp>
      <p:sp>
        <p:nvSpPr>
          <p:cNvPr id="4" name="Slide Number Placeholder 3"/>
          <p:cNvSpPr>
            <a:spLocks noGrp="1"/>
          </p:cNvSpPr>
          <p:nvPr>
            <p:ph type="sldNum" sz="quarter" idx="5"/>
          </p:nvPr>
        </p:nvSpPr>
        <p:spPr/>
        <p:txBody>
          <a:bodyPr/>
          <a:lstStyle/>
          <a:p>
            <a:fld id="{FB6F08EC-A1BB-4491-B44C-346957C85F67}" type="slidenum">
              <a:rPr lang="en-US" smtClean="0"/>
              <a:t>23</a:t>
            </a:fld>
            <a:endParaRPr lang="en-US"/>
          </a:p>
        </p:txBody>
      </p:sp>
    </p:spTree>
    <p:extLst>
      <p:ext uri="{BB962C8B-B14F-4D97-AF65-F5344CB8AC3E}">
        <p14:creationId xmlns:p14="http://schemas.microsoft.com/office/powerpoint/2010/main" val="27840543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Revoking refresh tokens is always the first step. This immediately prevents the attacker from using FOCI or direct refresh to get new access tokens. But there's a critical gap: any access tokens the attacker already holds continue to work until they expire. A 60-90 minute window where the attacker still has access is unacceptable for high-impact compromises. This is where Continuous Access Evaluation becomes essential - it closes this gap by pushing revocation signals to resource providers in near-real-time. We'll cover CAE on the next slide.</a:t>
            </a:r>
          </a:p>
        </p:txBody>
      </p:sp>
      <p:sp>
        <p:nvSpPr>
          <p:cNvPr id="4" name="Slide Number Placeholder 3"/>
          <p:cNvSpPr>
            <a:spLocks noGrp="1"/>
          </p:cNvSpPr>
          <p:nvPr>
            <p:ph type="sldNum" sz="quarter" idx="5"/>
          </p:nvPr>
        </p:nvSpPr>
        <p:spPr/>
        <p:txBody>
          <a:bodyPr/>
          <a:lstStyle/>
          <a:p>
            <a:fld id="{FB6F08EC-A1BB-4491-B44C-346957C85F67}" type="slidenum">
              <a:rPr lang="en-US" smtClean="0"/>
              <a:t>24</a:t>
            </a:fld>
            <a:endParaRPr lang="en-US"/>
          </a:p>
        </p:txBody>
      </p:sp>
    </p:spTree>
    <p:extLst>
      <p:ext uri="{BB962C8B-B14F-4D97-AF65-F5344CB8AC3E}">
        <p14:creationId xmlns:p14="http://schemas.microsoft.com/office/powerpoint/2010/main" val="7220033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CAE is the most important defensive control for token abuse. Without CAE, revoking a refresh token only prevents future token issuance - the attacker's existing access tokens are valid for up to 90 minutes. With CAE, calling Invoke-MgInvalidateUserRefreshToken triggers a revocation event that is pushed to Graph, Exchange, SharePoint, and Teams within seconds. The attacker's access tokens are rejected immediately. CAE should be enabled for all users - it's available with Entra ID P1 and higher. Verify CAE is working by checking the SignInEventTypes field for "continuousAccessEvaluation" entries after a revocation.</a:t>
            </a:r>
          </a:p>
        </p:txBody>
      </p:sp>
      <p:sp>
        <p:nvSpPr>
          <p:cNvPr id="4" name="Slide Number Placeholder 3"/>
          <p:cNvSpPr>
            <a:spLocks noGrp="1"/>
          </p:cNvSpPr>
          <p:nvPr>
            <p:ph type="sldNum" sz="quarter" idx="5"/>
          </p:nvPr>
        </p:nvSpPr>
        <p:spPr/>
        <p:txBody>
          <a:bodyPr/>
          <a:lstStyle/>
          <a:p>
            <a:fld id="{FB6F08EC-A1BB-4491-B44C-346957C85F67}" type="slidenum">
              <a:rPr lang="en-US" smtClean="0"/>
              <a:t>25</a:t>
            </a:fld>
            <a:endParaRPr lang="en-US"/>
          </a:p>
        </p:txBody>
      </p:sp>
    </p:spTree>
    <p:extLst>
      <p:ext uri="{BB962C8B-B14F-4D97-AF65-F5344CB8AC3E}">
        <p14:creationId xmlns:p14="http://schemas.microsoft.com/office/powerpoint/2010/main" val="37070246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CAE is the most important defensive control for token abuse. Without CAE, revoking a refresh token only prevents future token issuance - the attacker's existing access tokens are valid for up to 90 minutes. With CAE, calling Invoke-MgInvalidateUserRefreshToken triggers a revocation event that is pushed to Graph, Exchange, SharePoint, and Teams within seconds. The attacker's access tokens are rejected immediately. CAE should be enabled for all users - it's available with Entra ID P1 and higher. Verify CAE is working by checking the SignInEventTypes field for "continuousAccessEvaluation" entries after a revocation.</a:t>
            </a:r>
          </a:p>
        </p:txBody>
      </p:sp>
      <p:sp>
        <p:nvSpPr>
          <p:cNvPr id="4" name="Slide Number Placeholder 3"/>
          <p:cNvSpPr>
            <a:spLocks noGrp="1"/>
          </p:cNvSpPr>
          <p:nvPr>
            <p:ph type="sldNum" sz="quarter" idx="5"/>
          </p:nvPr>
        </p:nvSpPr>
        <p:spPr/>
        <p:txBody>
          <a:bodyPr/>
          <a:lstStyle/>
          <a:p>
            <a:fld id="{FB6F08EC-A1BB-4491-B44C-346957C85F67}" type="slidenum">
              <a:rPr lang="en-US" smtClean="0"/>
              <a:t>26</a:t>
            </a:fld>
            <a:endParaRPr lang="en-US"/>
          </a:p>
        </p:txBody>
      </p:sp>
    </p:spTree>
    <p:extLst>
      <p:ext uri="{BB962C8B-B14F-4D97-AF65-F5344CB8AC3E}">
        <p14:creationId xmlns:p14="http://schemas.microsoft.com/office/powerpoint/2010/main" val="13473406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CAE is the most important defensive control for token abuse. Without CAE, revoking a refresh token only prevents future token issuance - the attacker's existing access tokens are valid for up to 90 minutes. With CAE, calling Invoke-MgInvalidateUserRefreshToken triggers a revocation event that is pushed to Graph, Exchange, SharePoint, and Teams within seconds. The attacker's access tokens are rejected immediately. CAE should be enabled for all users - it's available with Entra ID P1 and higher. Verify CAE is working by checking the SignInEventTypes field for "continuousAccessEvaluation" entries after a revocation.</a:t>
            </a:r>
          </a:p>
        </p:txBody>
      </p:sp>
      <p:sp>
        <p:nvSpPr>
          <p:cNvPr id="4" name="Slide Number Placeholder 3"/>
          <p:cNvSpPr>
            <a:spLocks noGrp="1"/>
          </p:cNvSpPr>
          <p:nvPr>
            <p:ph type="sldNum" sz="quarter" idx="5"/>
          </p:nvPr>
        </p:nvSpPr>
        <p:spPr/>
        <p:txBody>
          <a:bodyPr/>
          <a:lstStyle/>
          <a:p>
            <a:fld id="{FB6F08EC-A1BB-4491-B44C-346957C85F67}" type="slidenum">
              <a:rPr lang="en-US" smtClean="0"/>
              <a:t>27</a:t>
            </a:fld>
            <a:endParaRPr lang="en-US"/>
          </a:p>
        </p:txBody>
      </p:sp>
    </p:spTree>
    <p:extLst>
      <p:ext uri="{BB962C8B-B14F-4D97-AF65-F5344CB8AC3E}">
        <p14:creationId xmlns:p14="http://schemas.microsoft.com/office/powerpoint/2010/main" val="23779942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controls layer to create defense-in-depth against token abuse. CAE is the most impactful - it makes token revocation effective in near-real-time. Token Protection is the next evolution - it cryptographically binds the token to the device, making stolen tokens unusable on other devices. This is currently in preview but will be the definitive control when GA. Compliant device requirements and named locations add additional constraints. For organizations with high-value targets, consider reducing access token lifetimes and disabling FOCI apps that aren't needed. In the lab, students will verify which of these controls are active in the training environment.</a:t>
            </a:r>
          </a:p>
        </p:txBody>
      </p:sp>
      <p:sp>
        <p:nvSpPr>
          <p:cNvPr id="4" name="Slide Number Placeholder 3"/>
          <p:cNvSpPr>
            <a:spLocks noGrp="1"/>
          </p:cNvSpPr>
          <p:nvPr>
            <p:ph type="sldNum" sz="quarter" idx="5"/>
          </p:nvPr>
        </p:nvSpPr>
        <p:spPr/>
        <p:txBody>
          <a:bodyPr/>
          <a:lstStyle/>
          <a:p>
            <a:fld id="{FB6F08EC-A1BB-4491-B44C-346957C85F67}" type="slidenum">
              <a:rPr lang="en-US" smtClean="0"/>
              <a:t>28</a:t>
            </a:fld>
            <a:endParaRPr lang="en-US"/>
          </a:p>
        </p:txBody>
      </p:sp>
    </p:spTree>
    <p:extLst>
      <p:ext uri="{BB962C8B-B14F-4D97-AF65-F5344CB8AC3E}">
        <p14:creationId xmlns:p14="http://schemas.microsoft.com/office/powerpoint/2010/main" val="16422467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investigation phase determines the blast radius. The first query shows all resources the attacker accessed using the stolen refresh token - the distinct clause deduplicates to show unique access patterns. Compare the IPAddress values from non-interactive logs against the user's known interactive sign-in IPs. Any IP that appears in non-interactive logs but never in interactive sign-ins is likely the attacker. After containment and investigation, force a password reset and Multi-Factor Authentication (MFA) re-registration. Check the user's authentication methods for any attacker-registered devices or phone numbers, just like we did in Module 01 for Adversary-in-the-Middle (AiTM).</a:t>
            </a:r>
          </a:p>
        </p:txBody>
      </p:sp>
      <p:sp>
        <p:nvSpPr>
          <p:cNvPr id="4" name="Slide Number Placeholder 3"/>
          <p:cNvSpPr>
            <a:spLocks noGrp="1"/>
          </p:cNvSpPr>
          <p:nvPr>
            <p:ph type="sldNum" sz="quarter" idx="5"/>
          </p:nvPr>
        </p:nvSpPr>
        <p:spPr/>
        <p:txBody>
          <a:bodyPr/>
          <a:lstStyle/>
          <a:p>
            <a:fld id="{FB6F08EC-A1BB-4491-B44C-346957C85F67}" type="slidenum">
              <a:rPr lang="en-US" smtClean="0"/>
              <a:t>29</a:t>
            </a:fld>
            <a:endParaRPr lang="en-US"/>
          </a:p>
        </p:txBody>
      </p:sp>
    </p:spTree>
    <p:extLst>
      <p:ext uri="{BB962C8B-B14F-4D97-AF65-F5344CB8AC3E}">
        <p14:creationId xmlns:p14="http://schemas.microsoft.com/office/powerpoint/2010/main" val="3144499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Summarize the three key skills from this module: understanding the token hierarchy, detecting refresh token abuse in non-interactive sign-in logs, and the critical importance of CAE for effective incident response. The FOCI mechanism is a design feature that attackers exploit - understanding which client IDs participate in FOCI helps you detect cross-service pivoting. Encourage students to run the lab playbooks and practice the IP mismatch and FOCI detection queries. Module 03 shifts from identity-layer attacks to Azure resource-layer attacks with Logic Apps.</a:t>
            </a:r>
          </a:p>
        </p:txBody>
      </p:sp>
      <p:sp>
        <p:nvSpPr>
          <p:cNvPr id="4" name="Slide Number Placeholder 3"/>
          <p:cNvSpPr>
            <a:spLocks noGrp="1"/>
          </p:cNvSpPr>
          <p:nvPr>
            <p:ph type="sldNum" sz="quarter" idx="5"/>
          </p:nvPr>
        </p:nvSpPr>
        <p:spPr/>
        <p:txBody>
          <a:bodyPr/>
          <a:lstStyle/>
          <a:p>
            <a:fld id="{FB6F08EC-A1BB-4491-B44C-346957C85F67}" type="slidenum">
              <a:rPr lang="en-US" smtClean="0"/>
              <a:t>30</a:t>
            </a:fld>
            <a:endParaRPr lang="en-US"/>
          </a:p>
        </p:txBody>
      </p:sp>
    </p:spTree>
    <p:extLst>
      <p:ext uri="{BB962C8B-B14F-4D97-AF65-F5344CB8AC3E}">
        <p14:creationId xmlns:p14="http://schemas.microsoft.com/office/powerpoint/2010/main" val="2149621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Summarize the three key skills from this module: understanding the token hierarchy, detecting refresh token abuse in non-interactive sign-in logs, and the critical importance of CAE for effective incident response. The FOCI mechanism is a design feature that attackers exploit - understanding which client IDs participate in FOCI helps you detect cross-service pivoting. Encourage students to run the lab playbooks and practice the IP mismatch and FOCI detection queries. Module 03 shifts from identity-layer attacks to Azure resource-layer attacks with Logic Apps.</a:t>
            </a:r>
          </a:p>
        </p:txBody>
      </p:sp>
      <p:sp>
        <p:nvSpPr>
          <p:cNvPr id="4" name="Slide Number Placeholder 3"/>
          <p:cNvSpPr>
            <a:spLocks noGrp="1"/>
          </p:cNvSpPr>
          <p:nvPr>
            <p:ph type="sldNum" sz="quarter" idx="5"/>
          </p:nvPr>
        </p:nvSpPr>
        <p:spPr/>
        <p:txBody>
          <a:bodyPr/>
          <a:lstStyle/>
          <a:p>
            <a:fld id="{FB6F08EC-A1BB-4491-B44C-346957C85F67}" type="slidenum">
              <a:rPr lang="en-US" smtClean="0"/>
              <a:t>31</a:t>
            </a:fld>
            <a:endParaRPr lang="en-US"/>
          </a:p>
        </p:txBody>
      </p:sp>
    </p:spTree>
    <p:extLst>
      <p:ext uri="{BB962C8B-B14F-4D97-AF65-F5344CB8AC3E}">
        <p14:creationId xmlns:p14="http://schemas.microsoft.com/office/powerpoint/2010/main" val="2913811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Token Theft Playbook from Microsoft Security is the authoritative reference for token abuse investigation. The Protecting Tokens documentation covers all defensive controls including CAE and Token Protection. The AADNonInteractiveUserSignInLogs schema reference is essential for understanding all available fields in the primary detection table. Encourage students to review the CAE documentation and verify it's enabled in their production environments.</a:t>
            </a:r>
          </a:p>
        </p:txBody>
      </p:sp>
      <p:sp>
        <p:nvSpPr>
          <p:cNvPr id="4" name="Slide Number Placeholder 3"/>
          <p:cNvSpPr>
            <a:spLocks noGrp="1"/>
          </p:cNvSpPr>
          <p:nvPr>
            <p:ph type="sldNum" sz="quarter" idx="5"/>
          </p:nvPr>
        </p:nvSpPr>
        <p:spPr/>
        <p:txBody>
          <a:bodyPr/>
          <a:lstStyle/>
          <a:p>
            <a:fld id="{FB6F08EC-A1BB-4491-B44C-346957C85F67}" type="slidenum">
              <a:rPr lang="en-US" smtClean="0"/>
              <a:t>32</a:t>
            </a:fld>
            <a:endParaRPr lang="en-US"/>
          </a:p>
        </p:txBody>
      </p:sp>
    </p:spTree>
    <p:extLst>
      <p:ext uri="{BB962C8B-B14F-4D97-AF65-F5344CB8AC3E}">
        <p14:creationId xmlns:p14="http://schemas.microsoft.com/office/powerpoint/2010/main" val="5260721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jpe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1.xml"/><Relationship Id="rId5" Type="http://schemas.openxmlformats.org/officeDocument/2006/relationships/image" Target="../media/image27.jpeg"/><Relationship Id="rId4" Type="http://schemas.openxmlformats.org/officeDocument/2006/relationships/image" Target="../media/image26.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 Title">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9" name="Picture 8" descr="Icon&#10;&#10;Description automatically generated">
            <a:extLst>
              <a:ext uri="{FF2B5EF4-FFF2-40B4-BE49-F238E27FC236}">
                <a16:creationId xmlns:a16="http://schemas.microsoft.com/office/drawing/2014/main" id="{CB6D3FA3-C210-4270-964A-C6A0069D59E2}"/>
              </a:ext>
            </a:extLst>
          </p:cNvPr>
          <p:cNvPicPr>
            <a:picLocks noChangeAspect="1"/>
          </p:cNvPicPr>
          <p:nvPr/>
        </p:nvPicPr>
        <p:blipFill>
          <a:blip r:embed="rId3"/>
          <a:stretch>
            <a:fillRect/>
          </a:stretch>
        </p:blipFill>
        <p:spPr bwMode="invGray">
          <a:xfrm>
            <a:off x="4671100" y="0"/>
            <a:ext cx="7520900" cy="6858000"/>
          </a:xfrm>
          <a:prstGeom prst="rect">
            <a:avLst/>
          </a:prstGeom>
        </p:spPr>
      </p:pic>
    </p:spTree>
    <p:extLst>
      <p:ext uri="{BB962C8B-B14F-4D97-AF65-F5344CB8AC3E}">
        <p14:creationId xmlns:p14="http://schemas.microsoft.com/office/powerpoint/2010/main" val="11504961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mprehensiveness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4586D2A5-469B-42D5-B926-C4EE6716E87F}"/>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35962918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I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F7A52431-DCFD-473D-980B-E667BAC2F19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21425133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icity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3" name="Graphic 2">
            <a:extLst>
              <a:ext uri="{FF2B5EF4-FFF2-40B4-BE49-F238E27FC236}">
                <a16:creationId xmlns:a16="http://schemas.microsoft.com/office/drawing/2014/main" id="{AAD66E76-E933-412A-9841-907EA78433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6731000" y="0"/>
            <a:ext cx="5461000" cy="6858000"/>
          </a:xfrm>
          <a:prstGeom prst="rect">
            <a:avLst/>
          </a:prstGeom>
        </p:spPr>
      </p:pic>
    </p:spTree>
    <p:extLst>
      <p:ext uri="{BB962C8B-B14F-4D97-AF65-F5344CB8AC3E}">
        <p14:creationId xmlns:p14="http://schemas.microsoft.com/office/powerpoint/2010/main" val="30268774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urity 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2240"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224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0D5D4CBA-07EB-4CCF-BEB7-6F3185DCC670}"/>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41714288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9" name="Graphic 18">
            <a:extLst>
              <a:ext uri="{FF2B5EF4-FFF2-40B4-BE49-F238E27FC236}">
                <a16:creationId xmlns:a16="http://schemas.microsoft.com/office/drawing/2014/main" id="{3FBDEDB6-A84F-40BC-B54B-238AED6B04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invGray">
          <a:xfrm>
            <a:off x="4393915" y="0"/>
            <a:ext cx="7798085" cy="6858000"/>
          </a:xfrm>
          <a:prstGeom prst="rect">
            <a:avLst/>
          </a:prstGeom>
        </p:spPr>
      </p:pic>
      <p:sp>
        <p:nvSpPr>
          <p:cNvPr id="25" name="Freeform: Shape 24">
            <a:extLst>
              <a:ext uri="{FF2B5EF4-FFF2-40B4-BE49-F238E27FC236}">
                <a16:creationId xmlns:a16="http://schemas.microsoft.com/office/drawing/2014/main" id="{72B44542-6FEA-4633-9FA4-2E7E2381276D}"/>
              </a:ext>
            </a:extLst>
          </p:cNvPr>
          <p:cNvSpPr/>
          <p:nvPr/>
        </p:nvSpPr>
        <p:spPr bwMode="auto">
          <a:xfrm rot="17674506">
            <a:off x="10794396" y="4611776"/>
            <a:ext cx="635802" cy="2665253"/>
          </a:xfrm>
          <a:custGeom>
            <a:avLst/>
            <a:gdLst>
              <a:gd name="connsiteX0" fmla="*/ 610820 w 635802"/>
              <a:gd name="connsiteY0" fmla="*/ 194160 h 2665253"/>
              <a:gd name="connsiteX1" fmla="*/ 635802 w 635802"/>
              <a:gd name="connsiteY1" fmla="*/ 317901 h 2665253"/>
              <a:gd name="connsiteX2" fmla="*/ 635802 w 635802"/>
              <a:gd name="connsiteY2" fmla="*/ 2374494 h 2665253"/>
              <a:gd name="connsiteX3" fmla="*/ 0 w 635802"/>
              <a:gd name="connsiteY3" fmla="*/ 2665253 h 2665253"/>
              <a:gd name="connsiteX4" fmla="*/ 0 w 635802"/>
              <a:gd name="connsiteY4" fmla="*/ 317901 h 2665253"/>
              <a:gd name="connsiteX5" fmla="*/ 317901 w 635802"/>
              <a:gd name="connsiteY5" fmla="*/ 0 h 2665253"/>
              <a:gd name="connsiteX6" fmla="*/ 610820 w 635802"/>
              <a:gd name="connsiteY6" fmla="*/ 194160 h 266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802" h="2665253">
                <a:moveTo>
                  <a:pt x="610820" y="194160"/>
                </a:moveTo>
                <a:cubicBezTo>
                  <a:pt x="626906" y="232193"/>
                  <a:pt x="635802" y="274008"/>
                  <a:pt x="635802" y="317901"/>
                </a:cubicBezTo>
                <a:lnTo>
                  <a:pt x="635802" y="2374494"/>
                </a:lnTo>
                <a:lnTo>
                  <a:pt x="0" y="2665253"/>
                </a:lnTo>
                <a:lnTo>
                  <a:pt x="0" y="317901"/>
                </a:lnTo>
                <a:cubicBezTo>
                  <a:pt x="-1" y="142329"/>
                  <a:pt x="142328" y="0"/>
                  <a:pt x="317901" y="0"/>
                </a:cubicBezTo>
                <a:cubicBezTo>
                  <a:pt x="449580" y="0"/>
                  <a:pt x="562559" y="80060"/>
                  <a:pt x="610820" y="194160"/>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 name="Freeform: Shape 20">
            <a:extLst>
              <a:ext uri="{FF2B5EF4-FFF2-40B4-BE49-F238E27FC236}">
                <a16:creationId xmlns:a16="http://schemas.microsoft.com/office/drawing/2014/main" id="{F3335884-C023-4224-A943-917B878BC8D4}"/>
              </a:ext>
            </a:extLst>
          </p:cNvPr>
          <p:cNvSpPr/>
          <p:nvPr/>
        </p:nvSpPr>
        <p:spPr bwMode="auto">
          <a:xfrm>
            <a:off x="4410930" y="0"/>
            <a:ext cx="3165243" cy="1270495"/>
          </a:xfrm>
          <a:custGeom>
            <a:avLst/>
            <a:gdLst>
              <a:gd name="connsiteX0" fmla="*/ 0 w 3165243"/>
              <a:gd name="connsiteY0" fmla="*/ 0 h 1270495"/>
              <a:gd name="connsiteX1" fmla="*/ 1528791 w 3165243"/>
              <a:gd name="connsiteY1" fmla="*/ 0 h 1270495"/>
              <a:gd name="connsiteX2" fmla="*/ 2979476 w 3165243"/>
              <a:gd name="connsiteY2" fmla="*/ 663413 h 1270495"/>
              <a:gd name="connsiteX3" fmla="*/ 3136370 w 3165243"/>
              <a:gd name="connsiteY3" fmla="*/ 1084728 h 1270495"/>
              <a:gd name="connsiteX4" fmla="*/ 2715055 w 3165243"/>
              <a:gd name="connsiteY4" fmla="*/ 1241622 h 1270495"/>
              <a:gd name="connsiteX5" fmla="*/ 0 w 3165243"/>
              <a:gd name="connsiteY5" fmla="*/ 0 h 1270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5243" h="1270495">
                <a:moveTo>
                  <a:pt x="0" y="0"/>
                </a:moveTo>
                <a:lnTo>
                  <a:pt x="1528791" y="0"/>
                </a:lnTo>
                <a:lnTo>
                  <a:pt x="2979476" y="663413"/>
                </a:lnTo>
                <a:cubicBezTo>
                  <a:pt x="3139144" y="736431"/>
                  <a:pt x="3209388" y="925060"/>
                  <a:pt x="3136370" y="1084728"/>
                </a:cubicBezTo>
                <a:cubicBezTo>
                  <a:pt x="3063352" y="1244396"/>
                  <a:pt x="2874723" y="1314640"/>
                  <a:pt x="2715055" y="1241622"/>
                </a:cubicBezTo>
                <a:lnTo>
                  <a:pt x="0" y="0"/>
                </a:ln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578693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dentity and Access Management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E8C58369-026C-4974-B869-BE8D4ADCB870}"/>
              </a:ext>
              <a:ext uri="{C183D7F6-B498-43B3-948B-1728B52AA6E4}">
                <adec:decorative xmlns:adec="http://schemas.microsoft.com/office/drawing/2017/decorative" val="1"/>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75" r="-18"/>
          <a:stretch/>
        </p:blipFill>
        <p:spPr bwMode="invGray">
          <a:xfrm>
            <a:off x="7076792" y="0"/>
            <a:ext cx="5115208" cy="6858000"/>
          </a:xfrm>
          <a:prstGeom prst="rect">
            <a:avLst/>
          </a:prstGeom>
        </p:spPr>
      </p:pic>
    </p:spTree>
    <p:extLst>
      <p:ext uri="{BB962C8B-B14F-4D97-AF65-F5344CB8AC3E}">
        <p14:creationId xmlns:p14="http://schemas.microsoft.com/office/powerpoint/2010/main" val="24883172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 Title square photo placehol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861522-4B83-496F-B783-60079A7F201B}"/>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3" name="Picture 12">
            <a:extLst>
              <a:ext uri="{FF2B5EF4-FFF2-40B4-BE49-F238E27FC236}">
                <a16:creationId xmlns:a16="http://schemas.microsoft.com/office/drawing/2014/main" id="{ED2EF16D-D401-4DD1-BD2B-1417889AD2A5}"/>
              </a:ext>
            </a:extLst>
          </p:cNvPr>
          <p:cNvPicPr>
            <a:picLocks noChangeAspect="1"/>
          </p:cNvPicPr>
          <p:nvPr/>
        </p:nvPicPr>
        <p:blipFill>
          <a:blip r:embed="rId2"/>
          <a:stretch>
            <a:fillRect/>
          </a:stretch>
        </p:blipFill>
        <p:spPr>
          <a:xfrm>
            <a:off x="582043" y="585788"/>
            <a:ext cx="2308795" cy="294139"/>
          </a:xfrm>
          <a:prstGeom prst="rect">
            <a:avLst/>
          </a:prstGeom>
        </p:spPr>
      </p:pic>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1F9ED9A-FBBB-45FF-A5CF-ED4786662DCE}"/>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3014866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quare photo placeholder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8" name="Group 7">
            <a:extLst>
              <a:ext uri="{FF2B5EF4-FFF2-40B4-BE49-F238E27FC236}">
                <a16:creationId xmlns:a16="http://schemas.microsoft.com/office/drawing/2014/main" id="{64913CEA-C43B-4E3B-AE2A-5F44288BCBBB}"/>
              </a:ext>
            </a:extLst>
          </p:cNvPr>
          <p:cNvGrpSpPr/>
          <p:nvPr/>
        </p:nvGrpSpPr>
        <p:grpSpPr bwMode="black">
          <a:xfrm>
            <a:off x="582043" y="585788"/>
            <a:ext cx="2308795" cy="294139"/>
            <a:chOff x="582043" y="585788"/>
            <a:chExt cx="2308795" cy="294139"/>
          </a:xfrm>
        </p:grpSpPr>
        <p:pic>
          <p:nvPicPr>
            <p:cNvPr id="9" name="Picture 8">
              <a:extLst>
                <a:ext uri="{FF2B5EF4-FFF2-40B4-BE49-F238E27FC236}">
                  <a16:creationId xmlns:a16="http://schemas.microsoft.com/office/drawing/2014/main" id="{323B6B2C-935A-48E1-9234-20A9CF488160}"/>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10" name="Picture 9">
              <a:extLst>
                <a:ext uri="{FF2B5EF4-FFF2-40B4-BE49-F238E27FC236}">
                  <a16:creationId xmlns:a16="http://schemas.microsoft.com/office/drawing/2014/main" id="{BB5C68CB-B9DE-4230-A702-903A205A042A}"/>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1" name="Rectangle 10">
            <a:extLst>
              <a:ext uri="{FF2B5EF4-FFF2-40B4-BE49-F238E27FC236}">
                <a16:creationId xmlns:a16="http://schemas.microsoft.com/office/drawing/2014/main" id="{7F05E9DA-E8D1-4172-820D-CEE3065C0EFC}"/>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2A3946FB-3CEF-4A23-BE32-5CA90CBB4988}"/>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251662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quare photo placeholder Yellow">
    <p:bg>
      <p:bgPr>
        <a:solidFill>
          <a:srgbClr val="FFB9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Picture 2">
            <a:extLst>
              <a:ext uri="{FF2B5EF4-FFF2-40B4-BE49-F238E27FC236}">
                <a16:creationId xmlns:a16="http://schemas.microsoft.com/office/drawing/2014/main" id="{2B7938B8-F298-4772-A6EC-8F59C02C0B8A}"/>
              </a:ext>
            </a:extLst>
          </p:cNvPr>
          <p:cNvPicPr>
            <a:picLocks noChangeAspect="1"/>
          </p:cNvPicPr>
          <p:nvPr/>
        </p:nvPicPr>
        <p:blipFill>
          <a:blip r:embed="rId2"/>
          <a:stretch>
            <a:fillRect/>
          </a:stretch>
        </p:blipFill>
        <p:spPr>
          <a:xfrm>
            <a:off x="581337" y="585788"/>
            <a:ext cx="2308796" cy="294587"/>
          </a:xfrm>
          <a:prstGeom prst="rect">
            <a:avLst/>
          </a:prstGeom>
        </p:spPr>
      </p:pic>
      <p:sp>
        <p:nvSpPr>
          <p:cNvPr id="7" name="Rectangle 6">
            <a:extLst>
              <a:ext uri="{FF2B5EF4-FFF2-40B4-BE49-F238E27FC236}">
                <a16:creationId xmlns:a16="http://schemas.microsoft.com/office/drawing/2014/main" id="{C9B633B0-40F9-4729-84DB-771120F5D70D}"/>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E0F96359-EC4C-4CE6-BA65-F486272055DA}"/>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6783199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quare photo placeholder Green">
    <p:bg>
      <p:bgPr>
        <a:solidFill>
          <a:srgbClr val="107C1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0368940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quare Photo placeholder Dk Blu">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544990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quare photo placeholder Dk Green">
    <p:bg>
      <p:bgPr>
        <a:solidFill>
          <a:srgbClr val="054B1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2879898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29963490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5215637" cy="553998"/>
          </a:xfrm>
        </p:spPr>
        <p:txBody>
          <a:bodyPr/>
          <a:lstStyle>
            <a:lvl1pPr>
              <a:defRPr/>
            </a:lvl1pPr>
          </a:lstStyle>
          <a:p>
            <a:r>
              <a:rPr lang="en-US"/>
              <a:t>Agenda</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0614E108-2258-4959-A182-798030A0C286}"/>
              </a:ext>
            </a:extLst>
          </p:cNvPr>
          <p:cNvSpPr/>
          <p:nvPr/>
        </p:nvSpPr>
        <p:spPr bwMode="auto">
          <a:xfrm>
            <a:off x="6395722" y="0"/>
            <a:ext cx="5796278"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2" name="Group 31">
            <a:extLst>
              <a:ext uri="{FF2B5EF4-FFF2-40B4-BE49-F238E27FC236}">
                <a16:creationId xmlns:a16="http://schemas.microsoft.com/office/drawing/2014/main" id="{22E07E8F-16B4-4F77-8278-6A843F1B9F57}"/>
              </a:ext>
            </a:extLst>
          </p:cNvPr>
          <p:cNvGrpSpPr/>
          <p:nvPr/>
        </p:nvGrpSpPr>
        <p:grpSpPr>
          <a:xfrm rot="16200000">
            <a:off x="7643952" y="2603639"/>
            <a:ext cx="5424211" cy="3084509"/>
            <a:chOff x="6395721" y="4420906"/>
            <a:chExt cx="3250001" cy="1848132"/>
          </a:xfrm>
        </p:grpSpPr>
        <p:sp>
          <p:nvSpPr>
            <p:cNvPr id="27" name="Rectangle: Top Corners Rounded 26">
              <a:extLst>
                <a:ext uri="{FF2B5EF4-FFF2-40B4-BE49-F238E27FC236}">
                  <a16:creationId xmlns:a16="http://schemas.microsoft.com/office/drawing/2014/main" id="{B26B5DC7-3928-4E30-95C7-101CC42758F9}"/>
                </a:ext>
              </a:extLst>
            </p:cNvPr>
            <p:cNvSpPr/>
            <p:nvPr userDrawn="1"/>
          </p:nvSpPr>
          <p:spPr bwMode="auto">
            <a:xfrm rot="5400000">
              <a:off x="6879140" y="3937487"/>
              <a:ext cx="501648" cy="1468485"/>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 name="Oval 24">
              <a:extLst>
                <a:ext uri="{FF2B5EF4-FFF2-40B4-BE49-F238E27FC236}">
                  <a16:creationId xmlns:a16="http://schemas.microsoft.com/office/drawing/2014/main" id="{6F2E0A55-6A95-45A9-9988-FD4377975EAD}"/>
                </a:ext>
              </a:extLst>
            </p:cNvPr>
            <p:cNvSpPr/>
            <p:nvPr userDrawn="1"/>
          </p:nvSpPr>
          <p:spPr bwMode="auto">
            <a:xfrm>
              <a:off x="7407431" y="4471065"/>
              <a:ext cx="401326" cy="40132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 name="Rectangle: Top Corners Rounded 27">
              <a:extLst>
                <a:ext uri="{FF2B5EF4-FFF2-40B4-BE49-F238E27FC236}">
                  <a16:creationId xmlns:a16="http://schemas.microsoft.com/office/drawing/2014/main" id="{EA3F14D9-33C3-411A-8D84-8E8E15E9381B}"/>
                </a:ext>
              </a:extLst>
            </p:cNvPr>
            <p:cNvSpPr/>
            <p:nvPr userDrawn="1"/>
          </p:nvSpPr>
          <p:spPr bwMode="auto">
            <a:xfrm rot="5400000">
              <a:off x="7246261" y="4243608"/>
              <a:ext cx="501648" cy="2202728"/>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Oval 28">
              <a:extLst>
                <a:ext uri="{FF2B5EF4-FFF2-40B4-BE49-F238E27FC236}">
                  <a16:creationId xmlns:a16="http://schemas.microsoft.com/office/drawing/2014/main" id="{4A285CB0-5ABD-4C59-98FE-F25F8026D321}"/>
                </a:ext>
              </a:extLst>
            </p:cNvPr>
            <p:cNvSpPr/>
            <p:nvPr userDrawn="1"/>
          </p:nvSpPr>
          <p:spPr bwMode="auto">
            <a:xfrm>
              <a:off x="8141673" y="5144307"/>
              <a:ext cx="401326" cy="401326"/>
            </a:xfrm>
            <a:prstGeom prst="ellipse">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 name="Rectangle: Top Corners Rounded 29">
              <a:extLst>
                <a:ext uri="{FF2B5EF4-FFF2-40B4-BE49-F238E27FC236}">
                  <a16:creationId xmlns:a16="http://schemas.microsoft.com/office/drawing/2014/main" id="{6EC31BC0-C04D-4163-9ECB-371CBCE34ADB}"/>
                </a:ext>
              </a:extLst>
            </p:cNvPr>
            <p:cNvSpPr/>
            <p:nvPr userDrawn="1"/>
          </p:nvSpPr>
          <p:spPr bwMode="auto">
            <a:xfrm rot="5400000">
              <a:off x="7769898" y="4393213"/>
              <a:ext cx="501648" cy="3250001"/>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 name="Oval 30">
              <a:extLst>
                <a:ext uri="{FF2B5EF4-FFF2-40B4-BE49-F238E27FC236}">
                  <a16:creationId xmlns:a16="http://schemas.microsoft.com/office/drawing/2014/main" id="{E691BBA6-17F1-4715-BBD9-9570E0AF6EBF}"/>
                </a:ext>
              </a:extLst>
            </p:cNvPr>
            <p:cNvSpPr/>
            <p:nvPr userDrawn="1"/>
          </p:nvSpPr>
          <p:spPr bwMode="auto">
            <a:xfrm>
              <a:off x="9188946" y="5817549"/>
              <a:ext cx="401326" cy="401326"/>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spTree>
    <p:extLst>
      <p:ext uri="{BB962C8B-B14F-4D97-AF65-F5344CB8AC3E}">
        <p14:creationId xmlns:p14="http://schemas.microsoft.com/office/powerpoint/2010/main" val="412819712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3FA96-19FC-48A6-A985-267EB2138E23}"/>
              </a:ext>
            </a:extLst>
          </p:cNvPr>
          <p:cNvSpPr/>
          <p:nvPr/>
        </p:nvSpPr>
        <p:spPr bwMode="auto">
          <a:xfrm>
            <a:off x="0" y="0"/>
            <a:ext cx="12192000" cy="120898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bg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CCCF4131-8CCF-4171-B985-EAF865CC55EF}"/>
              </a:ext>
            </a:extLst>
          </p:cNvPr>
          <p:cNvGrpSpPr/>
          <p:nvPr/>
        </p:nvGrpSpPr>
        <p:grpSpPr>
          <a:xfrm>
            <a:off x="10798157" y="457199"/>
            <a:ext cx="1100156" cy="564349"/>
            <a:chOff x="9946913" y="171645"/>
            <a:chExt cx="1656824" cy="849904"/>
          </a:xfrm>
        </p:grpSpPr>
        <p:sp>
          <p:nvSpPr>
            <p:cNvPr id="6" name="Graphic 4">
              <a:extLst>
                <a:ext uri="{FF2B5EF4-FFF2-40B4-BE49-F238E27FC236}">
                  <a16:creationId xmlns:a16="http://schemas.microsoft.com/office/drawing/2014/main" id="{494D7464-294F-4164-ACF7-0EDEA0812105}"/>
                </a:ext>
              </a:extLst>
            </p:cNvPr>
            <p:cNvSpPr/>
            <p:nvPr/>
          </p:nvSpPr>
          <p:spPr>
            <a:xfrm>
              <a:off x="994691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5" name="Graphic 4">
              <a:extLst>
                <a:ext uri="{FF2B5EF4-FFF2-40B4-BE49-F238E27FC236}">
                  <a16:creationId xmlns:a16="http://schemas.microsoft.com/office/drawing/2014/main" id="{8773D37F-9426-48AF-9E30-19EA4A3E4F07}"/>
                </a:ext>
              </a:extLst>
            </p:cNvPr>
            <p:cNvSpPr/>
            <p:nvPr userDrawn="1"/>
          </p:nvSpPr>
          <p:spPr>
            <a:xfrm>
              <a:off x="10689786" y="171645"/>
              <a:ext cx="521445"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6" name="Graphic 4">
              <a:extLst>
                <a:ext uri="{FF2B5EF4-FFF2-40B4-BE49-F238E27FC236}">
                  <a16:creationId xmlns:a16="http://schemas.microsoft.com/office/drawing/2014/main" id="{26D5F151-C3B9-4DC3-A552-E8B16BA82E44}"/>
                </a:ext>
              </a:extLst>
            </p:cNvPr>
            <p:cNvSpPr/>
            <p:nvPr userDrawn="1"/>
          </p:nvSpPr>
          <p:spPr>
            <a:xfrm>
              <a:off x="1108229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8803294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0902875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492672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4135399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614558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523201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508093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8055536"/>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335286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366065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669802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7123622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879687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0438811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4312065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6249004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36763598"/>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2525430"/>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71589909"/>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26699817"/>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3656866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66793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443310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15046291"/>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6470327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469179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6365553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9450942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4282836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5815046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8838813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184883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7298371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1830763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8439840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35645228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065103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078366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5204985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39327932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yellow">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5384"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6" name="Picture 5">
            <a:extLst>
              <a:ext uri="{FF2B5EF4-FFF2-40B4-BE49-F238E27FC236}">
                <a16:creationId xmlns:a16="http://schemas.microsoft.com/office/drawing/2014/main" id="{DD6A131B-0EEE-4C13-90D1-99AA5B3DC4ED}"/>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584200" y="1201415"/>
            <a:ext cx="2062492" cy="1842493"/>
          </a:xfrm>
          <a:prstGeom prst="rect">
            <a:avLst/>
          </a:prstGeom>
        </p:spPr>
      </p:pic>
    </p:spTree>
    <p:extLst>
      <p:ext uri="{BB962C8B-B14F-4D97-AF65-F5344CB8AC3E}">
        <p14:creationId xmlns:p14="http://schemas.microsoft.com/office/powerpoint/2010/main" val="34187572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704992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mo slid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9735525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emo slid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6902914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mo slid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8007847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Demo slide Dk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0213952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_Demo slid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0881028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ection Titl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997782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Section Title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9483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2_Section Title blue">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536590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Titl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7986426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Titl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6081330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Section Title Dk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0773507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Section Titl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528209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title - Threat dete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1B2F99-8E84-6040-8D67-9859BF2580C4}"/>
              </a:ext>
            </a:extLst>
          </p:cNvPr>
          <p:cNvSpPr/>
          <p:nvPr/>
        </p:nvSpPr>
        <p:spPr bwMode="auto">
          <a:xfrm>
            <a:off x="5270500" y="0"/>
            <a:ext cx="6921500"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57AA630A-F1CE-3240-9874-C76F0B95FC3C}"/>
              </a:ext>
            </a:extLst>
          </p:cNvPr>
          <p:cNvPicPr>
            <a:picLocks noChangeAspect="1"/>
          </p:cNvPicPr>
          <p:nvPr/>
        </p:nvPicPr>
        <p:blipFill>
          <a:blip r:embed="rId2"/>
          <a:stretch>
            <a:fillRect/>
          </a:stretch>
        </p:blipFill>
        <p:spPr>
          <a:xfrm>
            <a:off x="6197533" y="1064712"/>
            <a:ext cx="5024048" cy="4379659"/>
          </a:xfrm>
          <a:prstGeom prst="rect">
            <a:avLst/>
          </a:prstGeom>
        </p:spPr>
      </p:pic>
    </p:spTree>
    <p:extLst>
      <p:ext uri="{BB962C8B-B14F-4D97-AF65-F5344CB8AC3E}">
        <p14:creationId xmlns:p14="http://schemas.microsoft.com/office/powerpoint/2010/main" val="21531758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title - Comprehensive secur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85634B7-7348-3D4C-884C-574DBB5ACD92}"/>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44097A09-7943-5649-B860-0C242F6430E1}"/>
              </a:ext>
            </a:extLst>
          </p:cNvPr>
          <p:cNvPicPr>
            <a:picLocks noChangeAspect="1"/>
          </p:cNvPicPr>
          <p:nvPr/>
        </p:nvPicPr>
        <p:blipFill rotWithShape="1">
          <a:blip r:embed="rId2"/>
          <a:srcRect l="12404" r="9346"/>
          <a:stretch/>
        </p:blipFill>
        <p:spPr>
          <a:xfrm>
            <a:off x="5270501" y="1315232"/>
            <a:ext cx="6921500" cy="4238669"/>
          </a:xfrm>
          <a:prstGeom prst="rect">
            <a:avLst/>
          </a:prstGeom>
        </p:spPr>
      </p:pic>
    </p:spTree>
    <p:extLst>
      <p:ext uri="{BB962C8B-B14F-4D97-AF65-F5344CB8AC3E}">
        <p14:creationId xmlns:p14="http://schemas.microsoft.com/office/powerpoint/2010/main" val="3791379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title - End-to-end security visibilit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E5BB7F-3132-5D4C-AB53-07BD308F7C71}"/>
              </a:ext>
            </a:extLst>
          </p:cNvPr>
          <p:cNvSpPr/>
          <p:nvPr/>
        </p:nvSpPr>
        <p:spPr bwMode="auto">
          <a:xfrm>
            <a:off x="5270500" y="0"/>
            <a:ext cx="6921500" cy="6858000"/>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8" name="Picture 7">
            <a:extLst>
              <a:ext uri="{FF2B5EF4-FFF2-40B4-BE49-F238E27FC236}">
                <a16:creationId xmlns:a16="http://schemas.microsoft.com/office/drawing/2014/main" id="{1AC60BDD-CABB-8B4F-BFDB-1AAA8A20164C}"/>
              </a:ext>
            </a:extLst>
          </p:cNvPr>
          <p:cNvPicPr>
            <a:picLocks noChangeAspect="1"/>
          </p:cNvPicPr>
          <p:nvPr/>
        </p:nvPicPr>
        <p:blipFill rotWithShape="1">
          <a:blip r:embed="rId2"/>
          <a:srcRect l="8828" r="8209"/>
          <a:stretch/>
        </p:blipFill>
        <p:spPr>
          <a:xfrm>
            <a:off x="5270500" y="2322164"/>
            <a:ext cx="6921500" cy="2294285"/>
          </a:xfrm>
          <a:prstGeom prst="rect">
            <a:avLst/>
          </a:prstGeom>
        </p:spPr>
      </p:pic>
    </p:spTree>
    <p:extLst>
      <p:ext uri="{BB962C8B-B14F-4D97-AF65-F5344CB8AC3E}">
        <p14:creationId xmlns:p14="http://schemas.microsoft.com/office/powerpoint/2010/main" val="34925230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 Risk manag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46BD20-84B7-474B-8759-CD81E4655A25}"/>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10" name="Picture 9">
            <a:extLst>
              <a:ext uri="{FF2B5EF4-FFF2-40B4-BE49-F238E27FC236}">
                <a16:creationId xmlns:a16="http://schemas.microsoft.com/office/drawing/2014/main" id="{B1DAC3B3-181F-5149-B531-D73282A25D15}"/>
              </a:ext>
            </a:extLst>
          </p:cNvPr>
          <p:cNvPicPr>
            <a:picLocks noChangeAspect="1"/>
          </p:cNvPicPr>
          <p:nvPr/>
        </p:nvPicPr>
        <p:blipFill rotWithShape="1">
          <a:blip r:embed="rId2"/>
          <a:srcRect l="7666" t="4539" r="7270" b="6936"/>
          <a:stretch/>
        </p:blipFill>
        <p:spPr>
          <a:xfrm>
            <a:off x="5270499" y="-1"/>
            <a:ext cx="6921501" cy="6858001"/>
          </a:xfrm>
          <a:prstGeom prst="rect">
            <a:avLst/>
          </a:prstGeom>
        </p:spPr>
      </p:pic>
    </p:spTree>
    <p:extLst>
      <p:ext uri="{BB962C8B-B14F-4D97-AF65-F5344CB8AC3E}">
        <p14:creationId xmlns:p14="http://schemas.microsoft.com/office/powerpoint/2010/main" val="52248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 Secure ident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C11EAE-3A22-E84A-8BC8-11A0D824AB2E}"/>
              </a:ext>
            </a:extLst>
          </p:cNvPr>
          <p:cNvSpPr/>
          <p:nvPr/>
        </p:nvSpPr>
        <p:spPr bwMode="auto">
          <a:xfrm>
            <a:off x="5270500" y="0"/>
            <a:ext cx="69215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F1130DED-49F2-7F4A-A1D8-D5BEF2F4F110}"/>
              </a:ext>
            </a:extLst>
          </p:cNvPr>
          <p:cNvPicPr>
            <a:picLocks noChangeAspect="1"/>
          </p:cNvPicPr>
          <p:nvPr/>
        </p:nvPicPr>
        <p:blipFill>
          <a:blip r:embed="rId2"/>
          <a:stretch>
            <a:fillRect/>
          </a:stretch>
        </p:blipFill>
        <p:spPr>
          <a:xfrm>
            <a:off x="5692066" y="901699"/>
            <a:ext cx="6245934" cy="4735013"/>
          </a:xfrm>
          <a:prstGeom prst="rect">
            <a:avLst/>
          </a:prstGeom>
        </p:spPr>
      </p:pic>
    </p:spTree>
    <p:extLst>
      <p:ext uri="{BB962C8B-B14F-4D97-AF65-F5344CB8AC3E}">
        <p14:creationId xmlns:p14="http://schemas.microsoft.com/office/powerpoint/2010/main" val="4093112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title - Risk mitiga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0D265D-AA9F-1B4D-9271-7954CC4C5428}"/>
              </a:ext>
            </a:extLst>
          </p:cNvPr>
          <p:cNvSpPr/>
          <p:nvPr/>
        </p:nvSpPr>
        <p:spPr bwMode="auto">
          <a:xfrm>
            <a:off x="5270500" y="0"/>
            <a:ext cx="6921500" cy="6858000"/>
          </a:xfrm>
          <a:prstGeom prst="rect">
            <a:avLst/>
          </a:prstGeom>
          <a:solidFill>
            <a:srgbClr val="054B1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7" name="Graphic 6">
            <a:extLst>
              <a:ext uri="{FF2B5EF4-FFF2-40B4-BE49-F238E27FC236}">
                <a16:creationId xmlns:a16="http://schemas.microsoft.com/office/drawing/2014/main" id="{B55BBCEC-22DB-8F44-AC0C-CED390E2A8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40362592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5837531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nk 2">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018085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ank you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Tree>
    <p:extLst>
      <p:ext uri="{BB962C8B-B14F-4D97-AF65-F5344CB8AC3E}">
        <p14:creationId xmlns:p14="http://schemas.microsoft.com/office/powerpoint/2010/main" val="17212937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ank you phot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5" y="3035808"/>
            <a:ext cx="3948683"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C1D8EF4-A5A1-4D2B-9918-9B027853453F}"/>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899030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2DB3C5CC-AE72-496D-8E0F-9DEC4A52D5F7}"/>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319761055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125724432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8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9820229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62BCA-4062-93E0-378D-51E1CF4D7A92}"/>
              </a:ext>
            </a:extLst>
          </p:cNvPr>
          <p:cNvSpPr>
            <a:spLocks noGrp="1"/>
          </p:cNvSpPr>
          <p:nvPr>
            <p:ph type="title"/>
          </p:nvPr>
        </p:nvSpPr>
        <p:spPr/>
        <p:txBody>
          <a:bodyPr/>
          <a:lstStyle/>
          <a:p>
            <a:r>
              <a:rPr lang="en-US"/>
              <a:t>Cloud Token Abuse</a:t>
            </a:r>
          </a:p>
        </p:txBody>
      </p:sp>
      <p:sp>
        <p:nvSpPr>
          <p:cNvPr id="3" name="Text Placeholder 2">
            <a:extLst>
              <a:ext uri="{FF2B5EF4-FFF2-40B4-BE49-F238E27FC236}">
                <a16:creationId xmlns:a16="http://schemas.microsoft.com/office/drawing/2014/main" id="{A6A20781-ABA5-8E12-C487-D8AB93EB9E4F}"/>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053574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649A9-506F-D772-8165-0C8501E816DC}"/>
              </a:ext>
            </a:extLst>
          </p:cNvPr>
          <p:cNvSpPr>
            <a:spLocks noGrp="1"/>
          </p:cNvSpPr>
          <p:nvPr>
            <p:ph type="title"/>
          </p:nvPr>
        </p:nvSpPr>
        <p:spPr/>
        <p:txBody>
          <a:bodyPr/>
          <a:lstStyle/>
          <a:p>
            <a:r>
              <a:rPr lang="en-US"/>
              <a:t>Agenda</a:t>
            </a:r>
          </a:p>
        </p:txBody>
      </p:sp>
      <p:sp>
        <p:nvSpPr>
          <p:cNvPr id="3" name="Text Placeholder 2">
            <a:extLst>
              <a:ext uri="{FF2B5EF4-FFF2-40B4-BE49-F238E27FC236}">
                <a16:creationId xmlns:a16="http://schemas.microsoft.com/office/drawing/2014/main" id="{7F6D0DF2-8F8C-EDCA-D410-E52D0B2463D5}"/>
              </a:ext>
            </a:extLst>
          </p:cNvPr>
          <p:cNvSpPr>
            <a:spLocks noGrp="1"/>
          </p:cNvSpPr>
          <p:nvPr>
            <p:ph type="body" sz="quarter" idx="10"/>
          </p:nvPr>
        </p:nvSpPr>
        <p:spPr/>
        <p:txBody>
          <a:bodyPr>
            <a:noAutofit/>
          </a:bodyPr>
          <a:lstStyle/>
          <a:p>
            <a:pPr>
              <a:lnSpc>
                <a:spcPct val="115000"/>
              </a:lnSpc>
              <a:spcBef>
                <a:spcPts val="600"/>
              </a:spcBef>
            </a:pPr>
            <a:r>
              <a:rPr lang="en-US" sz="2000"/>
              <a:t>Module Objective and MITRE ATT&amp;CK Mapping</a:t>
            </a:r>
          </a:p>
          <a:p>
            <a:pPr>
              <a:lnSpc>
                <a:spcPct val="115000"/>
              </a:lnSpc>
              <a:spcBef>
                <a:spcPts val="600"/>
              </a:spcBef>
            </a:pPr>
            <a:r>
              <a:rPr lang="en-US" sz="2000"/>
              <a:t>Token Types: Access, Refresh, and Primary Refresh Token (PRT)</a:t>
            </a:r>
          </a:p>
          <a:p>
            <a:pPr>
              <a:lnSpc>
                <a:spcPct val="115000"/>
              </a:lnSpc>
              <a:spcBef>
                <a:spcPts val="600"/>
              </a:spcBef>
            </a:pPr>
            <a:r>
              <a:rPr lang="en-US" sz="2000"/>
              <a:t>Browser Token Theft - Extraction Techniques</a:t>
            </a:r>
          </a:p>
          <a:p>
            <a:pPr>
              <a:lnSpc>
                <a:spcPct val="115000"/>
              </a:lnSpc>
              <a:spcBef>
                <a:spcPts val="600"/>
              </a:spcBef>
            </a:pPr>
            <a:r>
              <a:rPr lang="en-US" sz="2000"/>
              <a:t>FOCI Token Exchange - Cross-Service Pivoting</a:t>
            </a:r>
          </a:p>
          <a:p>
            <a:pPr>
              <a:lnSpc>
                <a:spcPct val="115000"/>
              </a:lnSpc>
              <a:spcBef>
                <a:spcPts val="600"/>
              </a:spcBef>
            </a:pPr>
            <a:r>
              <a:rPr lang="en-US" sz="2000"/>
              <a:t>GraphSpy - Post-Authentication Enumeration</a:t>
            </a:r>
          </a:p>
          <a:p>
            <a:pPr>
              <a:lnSpc>
                <a:spcPct val="115000"/>
              </a:lnSpc>
              <a:spcBef>
                <a:spcPts val="600"/>
              </a:spcBef>
            </a:pPr>
            <a:r>
              <a:rPr lang="en-US" sz="2000"/>
              <a:t>AADNonInteractiveUserSignInLogs - Detection Foundation</a:t>
            </a:r>
          </a:p>
        </p:txBody>
      </p:sp>
    </p:spTree>
    <p:extLst>
      <p:ext uri="{BB962C8B-B14F-4D97-AF65-F5344CB8AC3E}">
        <p14:creationId xmlns:p14="http://schemas.microsoft.com/office/powerpoint/2010/main" val="414733067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45459-2B82-A863-E3E6-D1B839241704}"/>
              </a:ext>
            </a:extLst>
          </p:cNvPr>
          <p:cNvSpPr>
            <a:spLocks noGrp="1"/>
          </p:cNvSpPr>
          <p:nvPr>
            <p:ph type="title"/>
          </p:nvPr>
        </p:nvSpPr>
        <p:spPr/>
        <p:txBody>
          <a:bodyPr/>
          <a:lstStyle/>
          <a:p>
            <a:r>
              <a:rPr lang="en-US"/>
              <a:t>Agenda (cont. 2)</a:t>
            </a:r>
          </a:p>
        </p:txBody>
      </p:sp>
      <p:sp>
        <p:nvSpPr>
          <p:cNvPr id="3" name="Text Placeholder 2">
            <a:extLst>
              <a:ext uri="{FF2B5EF4-FFF2-40B4-BE49-F238E27FC236}">
                <a16:creationId xmlns:a16="http://schemas.microsoft.com/office/drawing/2014/main" id="{52F5D366-CF20-B91E-62D5-0F4A9355E2CE}"/>
              </a:ext>
            </a:extLst>
          </p:cNvPr>
          <p:cNvSpPr>
            <a:spLocks noGrp="1"/>
          </p:cNvSpPr>
          <p:nvPr>
            <p:ph type="body" sz="quarter" idx="10"/>
          </p:nvPr>
        </p:nvSpPr>
        <p:spPr/>
        <p:txBody>
          <a:bodyPr>
            <a:noAutofit/>
          </a:bodyPr>
          <a:lstStyle/>
          <a:p>
            <a:pPr>
              <a:lnSpc>
                <a:spcPct val="115000"/>
              </a:lnSpc>
              <a:spcBef>
                <a:spcPts val="600"/>
              </a:spcBef>
            </a:pPr>
            <a:r>
              <a:rPr lang="en-US" sz="2000"/>
              <a:t>Kusto Query Language (KQL) Detection Queries</a:t>
            </a:r>
          </a:p>
          <a:p>
            <a:pPr>
              <a:lnSpc>
                <a:spcPct val="115000"/>
              </a:lnSpc>
              <a:spcBef>
                <a:spcPts val="600"/>
              </a:spcBef>
            </a:pPr>
            <a:r>
              <a:rPr lang="en-US" sz="2000"/>
              <a:t>High-Signal Indicators of Compromise</a:t>
            </a:r>
          </a:p>
          <a:p>
            <a:pPr>
              <a:lnSpc>
                <a:spcPct val="115000"/>
              </a:lnSpc>
              <a:spcBef>
                <a:spcPts val="600"/>
              </a:spcBef>
            </a:pPr>
            <a:r>
              <a:rPr lang="en-US" sz="2000"/>
              <a:t>Incident Response and Token Revocation</a:t>
            </a:r>
          </a:p>
          <a:p>
            <a:pPr>
              <a:lnSpc>
                <a:spcPct val="115000"/>
              </a:lnSpc>
              <a:spcBef>
                <a:spcPts val="600"/>
              </a:spcBef>
            </a:pPr>
            <a:r>
              <a:rPr lang="en-US" sz="2000"/>
              <a:t>Continuous Access Evaluation (CAE)</a:t>
            </a:r>
          </a:p>
          <a:p>
            <a:pPr>
              <a:lnSpc>
                <a:spcPct val="115000"/>
              </a:lnSpc>
              <a:spcBef>
                <a:spcPts val="600"/>
              </a:spcBef>
            </a:pPr>
            <a:r>
              <a:rPr lang="en-US" sz="2000"/>
              <a:t>Hardening Controls</a:t>
            </a:r>
          </a:p>
        </p:txBody>
      </p:sp>
    </p:spTree>
    <p:extLst>
      <p:ext uri="{BB962C8B-B14F-4D97-AF65-F5344CB8AC3E}">
        <p14:creationId xmlns:p14="http://schemas.microsoft.com/office/powerpoint/2010/main" val="380779508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E31C6-4183-A2AD-5A5D-981F101950A1}"/>
              </a:ext>
            </a:extLst>
          </p:cNvPr>
          <p:cNvSpPr>
            <a:spLocks noGrp="1"/>
          </p:cNvSpPr>
          <p:nvPr>
            <p:ph type="title"/>
          </p:nvPr>
        </p:nvSpPr>
        <p:spPr/>
        <p:txBody>
          <a:bodyPr/>
          <a:lstStyle/>
          <a:p>
            <a:r>
              <a:rPr lang="en-US"/>
              <a:t>Objective and MITRE Mapping</a:t>
            </a:r>
          </a:p>
        </p:txBody>
      </p:sp>
      <p:graphicFrame>
        <p:nvGraphicFramePr>
          <p:cNvPr id="4" name="Content Placeholder 3">
            <a:extLst>
              <a:ext uri="{FF2B5EF4-FFF2-40B4-BE49-F238E27FC236}">
                <a16:creationId xmlns:a16="http://schemas.microsoft.com/office/drawing/2014/main" id="{27A4A4C3-F55E-EED6-797D-DAF931DB3DA4}"/>
              </a:ext>
            </a:extLst>
          </p:cNvPr>
          <p:cNvGraphicFramePr>
            <a:graphicFrameLocks noGrp="1"/>
          </p:cNvGraphicFramePr>
          <p:nvPr>
            <p:ph sz="quarter" idx="10"/>
            <p:extLst>
              <p:ext uri="{D42A27DB-BD31-4B8C-83A1-F6EECF244321}">
                <p14:modId xmlns:p14="http://schemas.microsoft.com/office/powerpoint/2010/main" val="3822582857"/>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891690934"/>
                    </a:ext>
                  </a:extLst>
                </a:gridCol>
                <a:gridCol w="3810000">
                  <a:extLst>
                    <a:ext uri="{9D8B030D-6E8A-4147-A177-3AD203B41FA5}">
                      <a16:colId xmlns:a16="http://schemas.microsoft.com/office/drawing/2014/main" val="1162237112"/>
                    </a:ext>
                  </a:extLst>
                </a:gridCol>
                <a:gridCol w="3810000">
                  <a:extLst>
                    <a:ext uri="{9D8B030D-6E8A-4147-A177-3AD203B41FA5}">
                      <a16:colId xmlns:a16="http://schemas.microsoft.com/office/drawing/2014/main" val="1077989588"/>
                    </a:ext>
                  </a:extLst>
                </a:gridCol>
              </a:tblGrid>
              <a:tr h="814917">
                <a:tc>
                  <a:txBody>
                    <a:bodyPr/>
                    <a:lstStyle/>
                    <a:p>
                      <a:r>
                        <a:rPr lang="en-US" sz="1400" b="1"/>
                        <a:t>Technique</a:t>
                      </a:r>
                    </a:p>
                  </a:txBody>
                  <a:tcPr/>
                </a:tc>
                <a:tc>
                  <a:txBody>
                    <a:bodyPr/>
                    <a:lstStyle/>
                    <a:p>
                      <a:r>
                        <a:rPr lang="en-US" sz="1400" b="1"/>
                        <a:t>ID</a:t>
                      </a:r>
                    </a:p>
                  </a:txBody>
                  <a:tcPr/>
                </a:tc>
                <a:tc>
                  <a:txBody>
                    <a:bodyPr/>
                    <a:lstStyle/>
                    <a:p>
                      <a:r>
                        <a:rPr lang="en-US" sz="1400" b="1"/>
                        <a:t>Tactic</a:t>
                      </a:r>
                    </a:p>
                  </a:txBody>
                  <a:tcPr/>
                </a:tc>
                <a:extLst>
                  <a:ext uri="{0D108BD9-81ED-4DB2-BD59-A6C34878D82A}">
                    <a16:rowId xmlns:a16="http://schemas.microsoft.com/office/drawing/2014/main" val="2691944519"/>
                  </a:ext>
                </a:extLst>
              </a:tr>
              <a:tr h="814917">
                <a:tc>
                  <a:txBody>
                    <a:bodyPr/>
                    <a:lstStyle/>
                    <a:p>
                      <a:r>
                        <a:rPr lang="en-US" sz="1400"/>
                        <a:t>Steal Application Access Token</a:t>
                      </a:r>
                    </a:p>
                  </a:txBody>
                  <a:tcPr/>
                </a:tc>
                <a:tc>
                  <a:txBody>
                    <a:bodyPr/>
                    <a:lstStyle/>
                    <a:p>
                      <a:r>
                        <a:rPr lang="en-US" sz="1400"/>
                        <a:t>T1528</a:t>
                      </a:r>
                    </a:p>
                  </a:txBody>
                  <a:tcPr/>
                </a:tc>
                <a:tc>
                  <a:txBody>
                    <a:bodyPr/>
                    <a:lstStyle/>
                    <a:p>
                      <a:r>
                        <a:rPr lang="en-US" sz="1400"/>
                        <a:t>Credential Access</a:t>
                      </a:r>
                    </a:p>
                  </a:txBody>
                  <a:tcPr/>
                </a:tc>
                <a:extLst>
                  <a:ext uri="{0D108BD9-81ED-4DB2-BD59-A6C34878D82A}">
                    <a16:rowId xmlns:a16="http://schemas.microsoft.com/office/drawing/2014/main" val="278519187"/>
                  </a:ext>
                </a:extLst>
              </a:tr>
              <a:tr h="814917">
                <a:tc>
                  <a:txBody>
                    <a:bodyPr/>
                    <a:lstStyle/>
                    <a:p>
                      <a:r>
                        <a:rPr lang="en-US" sz="1400"/>
                        <a:t>Use Alternate Authentication Material</a:t>
                      </a:r>
                    </a:p>
                  </a:txBody>
                  <a:tcPr/>
                </a:tc>
                <a:tc>
                  <a:txBody>
                    <a:bodyPr/>
                    <a:lstStyle/>
                    <a:p>
                      <a:r>
                        <a:rPr lang="en-US" sz="1400"/>
                        <a:t>T1550.001</a:t>
                      </a:r>
                    </a:p>
                  </a:txBody>
                  <a:tcPr/>
                </a:tc>
                <a:tc>
                  <a:txBody>
                    <a:bodyPr/>
                    <a:lstStyle/>
                    <a:p>
                      <a:r>
                        <a:rPr lang="en-US" sz="1400"/>
                        <a:t>Lateral Movement</a:t>
                      </a:r>
                    </a:p>
                  </a:txBody>
                  <a:tcPr/>
                </a:tc>
                <a:extLst>
                  <a:ext uri="{0D108BD9-81ED-4DB2-BD59-A6C34878D82A}">
                    <a16:rowId xmlns:a16="http://schemas.microsoft.com/office/drawing/2014/main" val="602198548"/>
                  </a:ext>
                </a:extLst>
              </a:tr>
              <a:tr h="814917">
                <a:tc>
                  <a:txBody>
                    <a:bodyPr/>
                    <a:lstStyle/>
                    <a:p>
                      <a:r>
                        <a:rPr lang="en-US" sz="1400"/>
                        <a:t>Valid Accounts: Cloud Accounts</a:t>
                      </a:r>
                    </a:p>
                  </a:txBody>
                  <a:tcPr/>
                </a:tc>
                <a:tc>
                  <a:txBody>
                    <a:bodyPr/>
                    <a:lstStyle/>
                    <a:p>
                      <a:r>
                        <a:rPr lang="en-US" sz="1400"/>
                        <a:t>T1078.004</a:t>
                      </a:r>
                    </a:p>
                  </a:txBody>
                  <a:tcPr/>
                </a:tc>
                <a:tc>
                  <a:txBody>
                    <a:bodyPr/>
                    <a:lstStyle/>
                    <a:p>
                      <a:r>
                        <a:rPr lang="en-US" sz="1400"/>
                        <a:t>Defense Evasion, Persistence</a:t>
                      </a:r>
                    </a:p>
                  </a:txBody>
                  <a:tcPr/>
                </a:tc>
                <a:extLst>
                  <a:ext uri="{0D108BD9-81ED-4DB2-BD59-A6C34878D82A}">
                    <a16:rowId xmlns:a16="http://schemas.microsoft.com/office/drawing/2014/main" val="3152222296"/>
                  </a:ext>
                </a:extLst>
              </a:tr>
              <a:tr h="814917">
                <a:tc>
                  <a:txBody>
                    <a:bodyPr/>
                    <a:lstStyle/>
                    <a:p>
                      <a:r>
                        <a:rPr lang="en-US" sz="1400"/>
                        <a:t>Cloud Service Discovery</a:t>
                      </a:r>
                    </a:p>
                  </a:txBody>
                  <a:tcPr/>
                </a:tc>
                <a:tc>
                  <a:txBody>
                    <a:bodyPr/>
                    <a:lstStyle/>
                    <a:p>
                      <a:r>
                        <a:rPr lang="en-US" sz="1400"/>
                        <a:t>T1526</a:t>
                      </a:r>
                    </a:p>
                  </a:txBody>
                  <a:tcPr/>
                </a:tc>
                <a:tc>
                  <a:txBody>
                    <a:bodyPr/>
                    <a:lstStyle/>
                    <a:p>
                      <a:r>
                        <a:rPr lang="en-US" sz="1400"/>
                        <a:t>Discovery</a:t>
                      </a:r>
                    </a:p>
                  </a:txBody>
                  <a:tcPr/>
                </a:tc>
                <a:extLst>
                  <a:ext uri="{0D108BD9-81ED-4DB2-BD59-A6C34878D82A}">
                    <a16:rowId xmlns:a16="http://schemas.microsoft.com/office/drawing/2014/main" val="2095954691"/>
                  </a:ext>
                </a:extLst>
              </a:tr>
              <a:tr h="814917">
                <a:tc>
                  <a:txBody>
                    <a:bodyPr/>
                    <a:lstStyle/>
                    <a:p>
                      <a:r>
                        <a:rPr lang="en-US" sz="1400"/>
                        <a:t>Email Collection</a:t>
                      </a:r>
                    </a:p>
                  </a:txBody>
                  <a:tcPr/>
                </a:tc>
                <a:tc>
                  <a:txBody>
                    <a:bodyPr/>
                    <a:lstStyle/>
                    <a:p>
                      <a:r>
                        <a:rPr lang="en-US" sz="1400"/>
                        <a:t>T1114.002</a:t>
                      </a:r>
                    </a:p>
                  </a:txBody>
                  <a:tcPr/>
                </a:tc>
                <a:tc>
                  <a:txBody>
                    <a:bodyPr/>
                    <a:lstStyle/>
                    <a:p>
                      <a:r>
                        <a:rPr lang="en-US" sz="1400"/>
                        <a:t>Collection</a:t>
                      </a:r>
                    </a:p>
                  </a:txBody>
                  <a:tcPr/>
                </a:tc>
                <a:extLst>
                  <a:ext uri="{0D108BD9-81ED-4DB2-BD59-A6C34878D82A}">
                    <a16:rowId xmlns:a16="http://schemas.microsoft.com/office/drawing/2014/main" val="3888001560"/>
                  </a:ext>
                </a:extLst>
              </a:tr>
            </a:tbl>
          </a:graphicData>
        </a:graphic>
      </p:graphicFrame>
    </p:spTree>
    <p:extLst>
      <p:ext uri="{BB962C8B-B14F-4D97-AF65-F5344CB8AC3E}">
        <p14:creationId xmlns:p14="http://schemas.microsoft.com/office/powerpoint/2010/main" val="243000347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59A30-D142-68CF-2ED7-D0D906FFAFED}"/>
              </a:ext>
            </a:extLst>
          </p:cNvPr>
          <p:cNvSpPr>
            <a:spLocks noGrp="1"/>
          </p:cNvSpPr>
          <p:nvPr>
            <p:ph type="title"/>
          </p:nvPr>
        </p:nvSpPr>
        <p:spPr/>
        <p:txBody>
          <a:bodyPr/>
          <a:lstStyle/>
          <a:p>
            <a:r>
              <a:rPr lang="en-US"/>
              <a:t>Objective and MITRE Mapping (cont.)</a:t>
            </a:r>
          </a:p>
        </p:txBody>
      </p:sp>
      <p:sp>
        <p:nvSpPr>
          <p:cNvPr id="3" name="Content Placeholder 2">
            <a:extLst>
              <a:ext uri="{FF2B5EF4-FFF2-40B4-BE49-F238E27FC236}">
                <a16:creationId xmlns:a16="http://schemas.microsoft.com/office/drawing/2014/main" id="{FC9E2D33-C903-C5F3-8054-FEB3D249CD14}"/>
              </a:ext>
            </a:extLst>
          </p:cNvPr>
          <p:cNvSpPr>
            <a:spLocks noGrp="1"/>
          </p:cNvSpPr>
          <p:nvPr>
            <p:ph sz="quarter" idx="10"/>
          </p:nvPr>
        </p:nvSpPr>
        <p:spPr/>
        <p:txBody>
          <a:bodyPr>
            <a:noAutofit/>
          </a:bodyPr>
          <a:lstStyle/>
          <a:p>
            <a:pPr>
              <a:lnSpc>
                <a:spcPct val="115000"/>
              </a:lnSpc>
              <a:spcBef>
                <a:spcPts val="600"/>
              </a:spcBef>
            </a:pPr>
            <a:r>
              <a:rPr lang="en-US" sz="1600"/>
              <a:t>Objective: Hunt for token theft and replay attacks in Entra ID. Learn how OAuth tokens, refresh tokens, and Primary Refresh Tokens are abused to maintain persistent access without re-authenticating.</a:t>
            </a:r>
          </a:p>
        </p:txBody>
      </p:sp>
    </p:spTree>
    <p:extLst>
      <p:ext uri="{BB962C8B-B14F-4D97-AF65-F5344CB8AC3E}">
        <p14:creationId xmlns:p14="http://schemas.microsoft.com/office/powerpoint/2010/main" val="299686887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DA90-2D65-B8CC-BD32-3166B14E0611}"/>
              </a:ext>
            </a:extLst>
          </p:cNvPr>
          <p:cNvSpPr>
            <a:spLocks noGrp="1"/>
          </p:cNvSpPr>
          <p:nvPr>
            <p:ph type="title"/>
          </p:nvPr>
        </p:nvSpPr>
        <p:spPr/>
        <p:txBody>
          <a:bodyPr/>
          <a:lstStyle/>
          <a:p>
            <a:r>
              <a:rPr lang="en-US"/>
              <a:t>Token Types — What Attackers Target</a:t>
            </a:r>
          </a:p>
        </p:txBody>
      </p:sp>
      <p:graphicFrame>
        <p:nvGraphicFramePr>
          <p:cNvPr id="5" name="Content Placeholder 4">
            <a:extLst>
              <a:ext uri="{FF2B5EF4-FFF2-40B4-BE49-F238E27FC236}">
                <a16:creationId xmlns:a16="http://schemas.microsoft.com/office/drawing/2014/main" id="{72116788-BA4F-4B6A-0E1F-8B59AF77B7FA}"/>
              </a:ext>
            </a:extLst>
          </p:cNvPr>
          <p:cNvGraphicFramePr>
            <a:graphicFrameLocks noGrp="1"/>
          </p:cNvGraphicFramePr>
          <p:nvPr>
            <p:ph sz="quarter" idx="10"/>
            <p:extLst>
              <p:ext uri="{D42A27DB-BD31-4B8C-83A1-F6EECF244321}">
                <p14:modId xmlns:p14="http://schemas.microsoft.com/office/powerpoint/2010/main" val="2046418455"/>
              </p:ext>
            </p:extLst>
          </p:nvPr>
        </p:nvGraphicFramePr>
        <p:xfrm>
          <a:off x="381000" y="1989097"/>
          <a:ext cx="11430000" cy="4513302"/>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1886421837"/>
                    </a:ext>
                  </a:extLst>
                </a:gridCol>
                <a:gridCol w="2857500">
                  <a:extLst>
                    <a:ext uri="{9D8B030D-6E8A-4147-A177-3AD203B41FA5}">
                      <a16:colId xmlns:a16="http://schemas.microsoft.com/office/drawing/2014/main" val="3838423945"/>
                    </a:ext>
                  </a:extLst>
                </a:gridCol>
                <a:gridCol w="2857500">
                  <a:extLst>
                    <a:ext uri="{9D8B030D-6E8A-4147-A177-3AD203B41FA5}">
                      <a16:colId xmlns:a16="http://schemas.microsoft.com/office/drawing/2014/main" val="2687633094"/>
                    </a:ext>
                  </a:extLst>
                </a:gridCol>
                <a:gridCol w="2857500">
                  <a:extLst>
                    <a:ext uri="{9D8B030D-6E8A-4147-A177-3AD203B41FA5}">
                      <a16:colId xmlns:a16="http://schemas.microsoft.com/office/drawing/2014/main" val="4105558354"/>
                    </a:ext>
                  </a:extLst>
                </a:gridCol>
              </a:tblGrid>
              <a:tr h="1128326">
                <a:tc>
                  <a:txBody>
                    <a:bodyPr/>
                    <a:lstStyle/>
                    <a:p>
                      <a:r>
                        <a:rPr lang="en-US" sz="1400" b="1"/>
                        <a:t>Token Type</a:t>
                      </a:r>
                    </a:p>
                  </a:txBody>
                  <a:tcPr/>
                </a:tc>
                <a:tc>
                  <a:txBody>
                    <a:bodyPr/>
                    <a:lstStyle/>
                    <a:p>
                      <a:r>
                        <a:rPr lang="en-US" sz="1400" b="1"/>
                        <a:t>Lifetime</a:t>
                      </a:r>
                    </a:p>
                  </a:txBody>
                  <a:tcPr/>
                </a:tc>
                <a:tc>
                  <a:txBody>
                    <a:bodyPr/>
                    <a:lstStyle/>
                    <a:p>
                      <a:r>
                        <a:rPr lang="en-US" sz="1400" b="1"/>
                        <a:t>Revocable</a:t>
                      </a:r>
                    </a:p>
                  </a:txBody>
                  <a:tcPr/>
                </a:tc>
                <a:tc>
                  <a:txBody>
                    <a:bodyPr/>
                    <a:lstStyle/>
                    <a:p>
                      <a:r>
                        <a:rPr lang="en-US" sz="1400" b="1"/>
                        <a:t>Red Team Value</a:t>
                      </a:r>
                    </a:p>
                  </a:txBody>
                  <a:tcPr/>
                </a:tc>
                <a:extLst>
                  <a:ext uri="{0D108BD9-81ED-4DB2-BD59-A6C34878D82A}">
                    <a16:rowId xmlns:a16="http://schemas.microsoft.com/office/drawing/2014/main" val="126501562"/>
                  </a:ext>
                </a:extLst>
              </a:tr>
              <a:tr h="1128326">
                <a:tc>
                  <a:txBody>
                    <a:bodyPr/>
                    <a:lstStyle/>
                    <a:p>
                      <a:r>
                        <a:rPr lang="en-US" sz="1400"/>
                        <a:t>Access Token</a:t>
                      </a:r>
                    </a:p>
                  </a:txBody>
                  <a:tcPr/>
                </a:tc>
                <a:tc>
                  <a:txBody>
                    <a:bodyPr/>
                    <a:lstStyle/>
                    <a:p>
                      <a:r>
                        <a:rPr lang="en-US" sz="1400"/>
                        <a:t>60-90 minutes</a:t>
                      </a:r>
                    </a:p>
                  </a:txBody>
                  <a:tcPr/>
                </a:tc>
                <a:tc>
                  <a:txBody>
                    <a:bodyPr/>
                    <a:lstStyle/>
                    <a:p>
                      <a:r>
                        <a:rPr lang="en-US" sz="1400"/>
                        <a:t>Only if CAE-capable</a:t>
                      </a:r>
                    </a:p>
                  </a:txBody>
                  <a:tcPr/>
                </a:tc>
                <a:tc>
                  <a:txBody>
                    <a:bodyPr/>
                    <a:lstStyle/>
                    <a:p>
                      <a:r>
                        <a:rPr lang="en-US" sz="1400"/>
                        <a:t>Short-lived; authorizes API calls directly</a:t>
                      </a:r>
                    </a:p>
                  </a:txBody>
                  <a:tcPr/>
                </a:tc>
                <a:extLst>
                  <a:ext uri="{0D108BD9-81ED-4DB2-BD59-A6C34878D82A}">
                    <a16:rowId xmlns:a16="http://schemas.microsoft.com/office/drawing/2014/main" val="715243261"/>
                  </a:ext>
                </a:extLst>
              </a:tr>
              <a:tr h="1128326">
                <a:tc>
                  <a:txBody>
                    <a:bodyPr/>
                    <a:lstStyle/>
                    <a:p>
                      <a:r>
                        <a:rPr lang="en-US" sz="1400"/>
                        <a:t>Refresh Token</a:t>
                      </a:r>
                    </a:p>
                  </a:txBody>
                  <a:tcPr/>
                </a:tc>
                <a:tc>
                  <a:txBody>
                    <a:bodyPr/>
                    <a:lstStyle/>
                    <a:p>
                      <a:r>
                        <a:rPr lang="en-US" sz="1400"/>
                        <a:t>90 days (rolling)</a:t>
                      </a:r>
                    </a:p>
                  </a:txBody>
                  <a:tcPr/>
                </a:tc>
                <a:tc>
                  <a:txBody>
                    <a:bodyPr/>
                    <a:lstStyle/>
                    <a:p>
                      <a:r>
                        <a:rPr lang="en-US" sz="1400"/>
                        <a:t>Yes</a:t>
                      </a:r>
                    </a:p>
                  </a:txBody>
                  <a:tcPr/>
                </a:tc>
                <a:tc>
                  <a:txBody>
                    <a:bodyPr/>
                    <a:lstStyle/>
                    <a:p>
                      <a:r>
                        <a:rPr lang="en-US" sz="1400"/>
                        <a:t>Long-lived; acquires new access tokens without re-auth</a:t>
                      </a:r>
                    </a:p>
                  </a:txBody>
                  <a:tcPr/>
                </a:tc>
                <a:extLst>
                  <a:ext uri="{0D108BD9-81ED-4DB2-BD59-A6C34878D82A}">
                    <a16:rowId xmlns:a16="http://schemas.microsoft.com/office/drawing/2014/main" val="3322595222"/>
                  </a:ext>
                </a:extLst>
              </a:tr>
              <a:tr h="1128326">
                <a:tc>
                  <a:txBody>
                    <a:bodyPr/>
                    <a:lstStyle/>
                    <a:p>
                      <a:r>
                        <a:rPr lang="en-US" sz="1400"/>
                        <a:t>Primary Refresh Token (PRT)</a:t>
                      </a:r>
                    </a:p>
                  </a:txBody>
                  <a:tcPr/>
                </a:tc>
                <a:tc>
                  <a:txBody>
                    <a:bodyPr/>
                    <a:lstStyle/>
                    <a:p>
                      <a:r>
                        <a:rPr lang="en-US" sz="1400"/>
                        <a:t>90 days</a:t>
                      </a:r>
                    </a:p>
                  </a:txBody>
                  <a:tcPr/>
                </a:tc>
                <a:tc>
                  <a:txBody>
                    <a:bodyPr/>
                    <a:lstStyle/>
                    <a:p>
                      <a:r>
                        <a:rPr lang="en-US" sz="1400"/>
                        <a:t>Yes</a:t>
                      </a:r>
                    </a:p>
                  </a:txBody>
                  <a:tcPr/>
                </a:tc>
                <a:tc>
                  <a:txBody>
                    <a:bodyPr/>
                    <a:lstStyle/>
                    <a:p>
                      <a:r>
                        <a:rPr lang="en-US" sz="1400"/>
                        <a:t>Device-bound; issues tokens for all first-party apps</a:t>
                      </a:r>
                    </a:p>
                  </a:txBody>
                  <a:tcPr/>
                </a:tc>
                <a:extLst>
                  <a:ext uri="{0D108BD9-81ED-4DB2-BD59-A6C34878D82A}">
                    <a16:rowId xmlns:a16="http://schemas.microsoft.com/office/drawing/2014/main" val="871566673"/>
                  </a:ext>
                </a:extLst>
              </a:tr>
            </a:tbl>
          </a:graphicData>
        </a:graphic>
      </p:graphicFrame>
      <p:sp>
        <p:nvSpPr>
          <p:cNvPr id="4" name="TextBox 3">
            <a:extLst>
              <a:ext uri="{FF2B5EF4-FFF2-40B4-BE49-F238E27FC236}">
                <a16:creationId xmlns:a16="http://schemas.microsoft.com/office/drawing/2014/main" id="{354CCA8C-F1A6-227C-48D1-DEEA7E0B3A34}"/>
              </a:ext>
            </a:extLst>
          </p:cNvPr>
          <p:cNvSpPr txBox="1"/>
          <p:nvPr/>
        </p:nvSpPr>
        <p:spPr>
          <a:xfrm>
            <a:off x="381000" y="1265198"/>
            <a:ext cx="11430000" cy="1723549"/>
          </a:xfrm>
          <a:prstGeom prst="rect">
            <a:avLst/>
          </a:prstGeom>
          <a:noFill/>
        </p:spPr>
        <p:txBody>
          <a:bodyPr vert="horz" wrap="square" lIns="0" tIns="0" rIns="0" bIns="0" rtlCol="0">
            <a:spAutoFit/>
          </a:bodyPr>
          <a:lstStyle/>
          <a:p>
            <a:pPr algn="l"/>
            <a:r>
              <a:rPr lang="en-US" sz="2800"/>
              <a:t>Key insight: A stolen refresh token is far more dangerous than a stolen access token - it enables persistent access for up to 90 days and can be used to acquire tokens for any in-scope resource without user interaction.</a:t>
            </a:r>
            <a:endParaRPr lang="en-US" sz="2800" dirty="0" err="1"/>
          </a:p>
        </p:txBody>
      </p:sp>
    </p:spTree>
    <p:extLst>
      <p:ext uri="{BB962C8B-B14F-4D97-AF65-F5344CB8AC3E}">
        <p14:creationId xmlns:p14="http://schemas.microsoft.com/office/powerpoint/2010/main" val="192852612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54DB4-DCE6-3B85-5289-D9BA8D1EBF31}"/>
              </a:ext>
            </a:extLst>
          </p:cNvPr>
          <p:cNvSpPr>
            <a:spLocks noGrp="1"/>
          </p:cNvSpPr>
          <p:nvPr>
            <p:ph type="title"/>
          </p:nvPr>
        </p:nvSpPr>
        <p:spPr/>
        <p:txBody>
          <a:bodyPr/>
          <a:lstStyle/>
          <a:p>
            <a:r>
              <a:rPr lang="en-US"/>
              <a:t>Key Tables for This Module</a:t>
            </a:r>
          </a:p>
        </p:txBody>
      </p:sp>
      <p:graphicFrame>
        <p:nvGraphicFramePr>
          <p:cNvPr id="4" name="Content Placeholder 3">
            <a:extLst>
              <a:ext uri="{FF2B5EF4-FFF2-40B4-BE49-F238E27FC236}">
                <a16:creationId xmlns:a16="http://schemas.microsoft.com/office/drawing/2014/main" id="{5CBEF5E7-9142-E8D0-7052-70DAC281231C}"/>
              </a:ext>
            </a:extLst>
          </p:cNvPr>
          <p:cNvGraphicFramePr>
            <a:graphicFrameLocks noGrp="1"/>
          </p:cNvGraphicFramePr>
          <p:nvPr>
            <p:ph sz="quarter" idx="10"/>
            <p:extLst>
              <p:ext uri="{D42A27DB-BD31-4B8C-83A1-F6EECF244321}">
                <p14:modId xmlns:p14="http://schemas.microsoft.com/office/powerpoint/2010/main" val="2378162476"/>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1750619292"/>
                    </a:ext>
                  </a:extLst>
                </a:gridCol>
                <a:gridCol w="3810000">
                  <a:extLst>
                    <a:ext uri="{9D8B030D-6E8A-4147-A177-3AD203B41FA5}">
                      <a16:colId xmlns:a16="http://schemas.microsoft.com/office/drawing/2014/main" val="3534614844"/>
                    </a:ext>
                  </a:extLst>
                </a:gridCol>
                <a:gridCol w="3810000">
                  <a:extLst>
                    <a:ext uri="{9D8B030D-6E8A-4147-A177-3AD203B41FA5}">
                      <a16:colId xmlns:a16="http://schemas.microsoft.com/office/drawing/2014/main" val="4214318425"/>
                    </a:ext>
                  </a:extLst>
                </a:gridCol>
              </a:tblGrid>
              <a:tr h="814917">
                <a:tc>
                  <a:txBody>
                    <a:bodyPr/>
                    <a:lstStyle/>
                    <a:p>
                      <a:r>
                        <a:rPr lang="en-US" sz="1400" b="1"/>
                        <a:t>Table</a:t>
                      </a:r>
                    </a:p>
                  </a:txBody>
                  <a:tcPr/>
                </a:tc>
                <a:tc>
                  <a:txBody>
                    <a:bodyPr/>
                    <a:lstStyle/>
                    <a:p>
                      <a:r>
                        <a:rPr lang="en-US" sz="1400" b="1"/>
                        <a:t>What It Captures</a:t>
                      </a:r>
                    </a:p>
                  </a:txBody>
                  <a:tcPr/>
                </a:tc>
                <a:tc>
                  <a:txBody>
                    <a:bodyPr/>
                    <a:lstStyle/>
                    <a:p>
                      <a:r>
                        <a:rPr lang="en-US" sz="1400" b="1"/>
                        <a:t>Module Use</a:t>
                      </a:r>
                    </a:p>
                  </a:txBody>
                  <a:tcPr/>
                </a:tc>
                <a:extLst>
                  <a:ext uri="{0D108BD9-81ED-4DB2-BD59-A6C34878D82A}">
                    <a16:rowId xmlns:a16="http://schemas.microsoft.com/office/drawing/2014/main" val="1566459318"/>
                  </a:ext>
                </a:extLst>
              </a:tr>
              <a:tr h="814917">
                <a:tc>
                  <a:txBody>
                    <a:bodyPr/>
                    <a:lstStyle/>
                    <a:p>
                      <a:r>
                        <a:rPr lang="en-US" sz="1400"/>
                        <a:t>AADNonInteractiveUserSignInLogs</a:t>
                      </a:r>
                    </a:p>
                  </a:txBody>
                  <a:tcPr/>
                </a:tc>
                <a:tc>
                  <a:txBody>
                    <a:bodyPr/>
                    <a:lstStyle/>
                    <a:p>
                      <a:r>
                        <a:rPr lang="en-US" sz="1400"/>
                        <a:t>Token refresh, silent sign-ins, background auth</a:t>
                      </a:r>
                    </a:p>
                  </a:txBody>
                  <a:tcPr/>
                </a:tc>
                <a:tc>
                  <a:txBody>
                    <a:bodyPr/>
                    <a:lstStyle/>
                    <a:p>
                      <a:r>
                        <a:rPr lang="en-US" sz="1400"/>
                        <a:t>Primary detection surface for token replay</a:t>
                      </a:r>
                    </a:p>
                  </a:txBody>
                  <a:tcPr/>
                </a:tc>
                <a:extLst>
                  <a:ext uri="{0D108BD9-81ED-4DB2-BD59-A6C34878D82A}">
                    <a16:rowId xmlns:a16="http://schemas.microsoft.com/office/drawing/2014/main" val="3971511401"/>
                  </a:ext>
                </a:extLst>
              </a:tr>
              <a:tr h="814917">
                <a:tc>
                  <a:txBody>
                    <a:bodyPr/>
                    <a:lstStyle/>
                    <a:p>
                      <a:r>
                        <a:rPr lang="en-US" sz="1400"/>
                        <a:t>SigninLogs</a:t>
                      </a:r>
                    </a:p>
                  </a:txBody>
                  <a:tcPr/>
                </a:tc>
                <a:tc>
                  <a:txBody>
                    <a:bodyPr/>
                    <a:lstStyle/>
                    <a:p>
                      <a:r>
                        <a:rPr lang="en-US" sz="1400"/>
                        <a:t>Interactive sign-in events</a:t>
                      </a:r>
                    </a:p>
                  </a:txBody>
                  <a:tcPr/>
                </a:tc>
                <a:tc>
                  <a:txBody>
                    <a:bodyPr/>
                    <a:lstStyle/>
                    <a:p>
                      <a:r>
                        <a:rPr lang="en-US" sz="1400"/>
                        <a:t>Baseline comparison and initial token issuance</a:t>
                      </a:r>
                    </a:p>
                  </a:txBody>
                  <a:tcPr/>
                </a:tc>
                <a:extLst>
                  <a:ext uri="{0D108BD9-81ED-4DB2-BD59-A6C34878D82A}">
                    <a16:rowId xmlns:a16="http://schemas.microsoft.com/office/drawing/2014/main" val="2581053624"/>
                  </a:ext>
                </a:extLst>
              </a:tr>
              <a:tr h="814917">
                <a:tc>
                  <a:txBody>
                    <a:bodyPr/>
                    <a:lstStyle/>
                    <a:p>
                      <a:r>
                        <a:rPr lang="en-US" sz="1400"/>
                        <a:t>MicrosoftGraphActivityLogs</a:t>
                      </a:r>
                    </a:p>
                  </a:txBody>
                  <a:tcPr/>
                </a:tc>
                <a:tc>
                  <a:txBody>
                    <a:bodyPr/>
                    <a:lstStyle/>
                    <a:p>
                      <a:r>
                        <a:rPr lang="en-US" sz="1400"/>
                        <a:t>Graph API calls made with tokens</a:t>
                      </a:r>
                    </a:p>
                  </a:txBody>
                  <a:tcPr/>
                </a:tc>
                <a:tc>
                  <a:txBody>
                    <a:bodyPr/>
                    <a:lstStyle/>
                    <a:p>
                      <a:r>
                        <a:rPr lang="en-US" sz="1400"/>
                        <a:t>Attacker's post-access activity</a:t>
                      </a:r>
                    </a:p>
                  </a:txBody>
                  <a:tcPr/>
                </a:tc>
                <a:extLst>
                  <a:ext uri="{0D108BD9-81ED-4DB2-BD59-A6C34878D82A}">
                    <a16:rowId xmlns:a16="http://schemas.microsoft.com/office/drawing/2014/main" val="4170963810"/>
                  </a:ext>
                </a:extLst>
              </a:tr>
              <a:tr h="814917">
                <a:tc>
                  <a:txBody>
                    <a:bodyPr/>
                    <a:lstStyle/>
                    <a:p>
                      <a:r>
                        <a:rPr lang="en-US" sz="1400"/>
                        <a:t>AzureActivity</a:t>
                      </a:r>
                    </a:p>
                  </a:txBody>
                  <a:tcPr/>
                </a:tc>
                <a:tc>
                  <a:txBody>
                    <a:bodyPr/>
                    <a:lstStyle/>
                    <a:p>
                      <a:r>
                        <a:rPr lang="en-US" sz="1400"/>
                        <a:t>Azure resource management operations</a:t>
                      </a:r>
                    </a:p>
                  </a:txBody>
                  <a:tcPr/>
                </a:tc>
                <a:tc>
                  <a:txBody>
                    <a:bodyPr/>
                    <a:lstStyle/>
                    <a:p>
                      <a:r>
                        <a:rPr lang="en-US" sz="1400"/>
                        <a:t>Stolen token used for control plane actions</a:t>
                      </a:r>
                    </a:p>
                  </a:txBody>
                  <a:tcPr/>
                </a:tc>
                <a:extLst>
                  <a:ext uri="{0D108BD9-81ED-4DB2-BD59-A6C34878D82A}">
                    <a16:rowId xmlns:a16="http://schemas.microsoft.com/office/drawing/2014/main" val="2298129614"/>
                  </a:ext>
                </a:extLst>
              </a:tr>
              <a:tr h="814917">
                <a:tc>
                  <a:txBody>
                    <a:bodyPr/>
                    <a:lstStyle/>
                    <a:p>
                      <a:r>
                        <a:rPr lang="en-US" sz="1400"/>
                        <a:t>CloudAppEvents</a:t>
                      </a:r>
                    </a:p>
                  </a:txBody>
                  <a:tcPr/>
                </a:tc>
                <a:tc>
                  <a:txBody>
                    <a:bodyPr/>
                    <a:lstStyle/>
                    <a:p>
                      <a:r>
                        <a:rPr lang="en-US" sz="1400"/>
                        <a:t>App-level events (mail, files, Teams)</a:t>
                      </a:r>
                    </a:p>
                  </a:txBody>
                  <a:tcPr/>
                </a:tc>
                <a:tc>
                  <a:txBody>
                    <a:bodyPr/>
                    <a:lstStyle/>
                    <a:p>
                      <a:r>
                        <a:rPr lang="en-US" sz="1400"/>
                        <a:t>Downstream impact assessment</a:t>
                      </a:r>
                    </a:p>
                  </a:txBody>
                  <a:tcPr/>
                </a:tc>
                <a:extLst>
                  <a:ext uri="{0D108BD9-81ED-4DB2-BD59-A6C34878D82A}">
                    <a16:rowId xmlns:a16="http://schemas.microsoft.com/office/drawing/2014/main" val="2333082456"/>
                  </a:ext>
                </a:extLst>
              </a:tr>
            </a:tbl>
          </a:graphicData>
        </a:graphic>
      </p:graphicFrame>
    </p:spTree>
    <p:extLst>
      <p:ext uri="{BB962C8B-B14F-4D97-AF65-F5344CB8AC3E}">
        <p14:creationId xmlns:p14="http://schemas.microsoft.com/office/powerpoint/2010/main" val="54881349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E931A-0246-6CB4-E81B-474C9BD65559}"/>
              </a:ext>
            </a:extLst>
          </p:cNvPr>
          <p:cNvSpPr>
            <a:spLocks noGrp="1"/>
          </p:cNvSpPr>
          <p:nvPr>
            <p:ph type="title"/>
          </p:nvPr>
        </p:nvSpPr>
        <p:spPr/>
        <p:txBody>
          <a:bodyPr/>
          <a:lstStyle/>
          <a:p>
            <a:r>
              <a:rPr lang="en-US"/>
              <a:t>Browser Token Theft — How It Works</a:t>
            </a:r>
          </a:p>
        </p:txBody>
      </p:sp>
      <p:sp>
        <p:nvSpPr>
          <p:cNvPr id="3" name="Content Placeholder 2">
            <a:extLst>
              <a:ext uri="{FF2B5EF4-FFF2-40B4-BE49-F238E27FC236}">
                <a16:creationId xmlns:a16="http://schemas.microsoft.com/office/drawing/2014/main" id="{AC88D149-5398-465D-82BF-7DF1085C2540}"/>
              </a:ext>
            </a:extLst>
          </p:cNvPr>
          <p:cNvSpPr>
            <a:spLocks noGrp="1"/>
          </p:cNvSpPr>
          <p:nvPr>
            <p:ph sz="quarter" idx="10"/>
          </p:nvPr>
        </p:nvSpPr>
        <p:spPr/>
        <p:txBody>
          <a:bodyPr>
            <a:noAutofit/>
          </a:bodyPr>
          <a:lstStyle/>
          <a:p>
            <a:pPr>
              <a:lnSpc>
                <a:spcPct val="115000"/>
              </a:lnSpc>
              <a:spcBef>
                <a:spcPts val="600"/>
              </a:spcBef>
            </a:pPr>
            <a:r>
              <a:rPr lang="en-US" sz="2000"/>
              <a:t>Single-page applications and browser-based Microsoft apps cache tokens locally in the browser using MSAL.js. An attacker with brief access to a browser session can extract these tokens in seconds.</a:t>
            </a:r>
          </a:p>
          <a:p>
            <a:pPr>
              <a:lnSpc>
                <a:spcPct val="115000"/>
              </a:lnSpc>
              <a:spcBef>
                <a:spcPts val="600"/>
              </a:spcBef>
            </a:pPr>
            <a:r>
              <a:rPr lang="en-US" sz="2000" b="1"/>
              <a:t>Token cache locations:</a:t>
            </a:r>
          </a:p>
          <a:p>
            <a:pPr>
              <a:lnSpc>
                <a:spcPct val="115000"/>
              </a:lnSpc>
              <a:spcBef>
                <a:spcPts val="600"/>
              </a:spcBef>
            </a:pPr>
            <a:r>
              <a:rPr lang="en-US" sz="2000"/>
              <a:t>    localStorage / sessionStorage / IndexedDB</a:t>
            </a:r>
          </a:p>
        </p:txBody>
      </p:sp>
    </p:spTree>
    <p:extLst>
      <p:ext uri="{BB962C8B-B14F-4D97-AF65-F5344CB8AC3E}">
        <p14:creationId xmlns:p14="http://schemas.microsoft.com/office/powerpoint/2010/main" val="123615760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C923D-0ACC-1C25-F816-A4B3A4C95853}"/>
              </a:ext>
            </a:extLst>
          </p:cNvPr>
          <p:cNvSpPr>
            <a:spLocks noGrp="1"/>
          </p:cNvSpPr>
          <p:nvPr>
            <p:ph type="title"/>
          </p:nvPr>
        </p:nvSpPr>
        <p:spPr/>
        <p:txBody>
          <a:bodyPr/>
          <a:lstStyle/>
          <a:p>
            <a:r>
              <a:rPr lang="en-US"/>
              <a:t>Browser Token Theft — How It Works (cont. 2)</a:t>
            </a:r>
          </a:p>
        </p:txBody>
      </p:sp>
      <p:sp>
        <p:nvSpPr>
          <p:cNvPr id="3" name="Content Placeholder 2">
            <a:extLst>
              <a:ext uri="{FF2B5EF4-FFF2-40B4-BE49-F238E27FC236}">
                <a16:creationId xmlns:a16="http://schemas.microsoft.com/office/drawing/2014/main" id="{F016AD4C-4E82-20FA-A38B-A0FD59F2EB80}"/>
              </a:ext>
            </a:extLst>
          </p:cNvPr>
          <p:cNvSpPr>
            <a:spLocks noGrp="1"/>
          </p:cNvSpPr>
          <p:nvPr>
            <p:ph sz="quarter" idx="10"/>
          </p:nvPr>
        </p:nvSpPr>
        <p:spPr/>
        <p:txBody>
          <a:bodyPr>
            <a:noAutofit/>
          </a:bodyPr>
          <a:lstStyle/>
          <a:p>
            <a:pPr>
              <a:lnSpc>
                <a:spcPct val="115000"/>
              </a:lnSpc>
              <a:spcBef>
                <a:spcPts val="600"/>
              </a:spcBef>
            </a:pPr>
            <a:r>
              <a:rPr lang="en-US" sz="2000"/>
              <a:t>    MSAL.js keys follow predictable patterns: msal.&lt;client-id&gt;.&lt;tenant-id&gt;.refreshtoken-&lt;hash&gt;</a:t>
            </a:r>
          </a:p>
          <a:p>
            <a:pPr>
              <a:lnSpc>
                <a:spcPct val="115000"/>
              </a:lnSpc>
              <a:spcBef>
                <a:spcPts val="600"/>
              </a:spcBef>
            </a:pPr>
            <a:r>
              <a:rPr lang="en-US" sz="2000"/>
              <a:t>    Network tab captures live Authorization: Bearer headers</a:t>
            </a:r>
          </a:p>
          <a:p>
            <a:pPr>
              <a:lnSpc>
                <a:spcPct val="115000"/>
              </a:lnSpc>
              <a:spcBef>
                <a:spcPts val="600"/>
              </a:spcBef>
            </a:pPr>
            <a:r>
              <a:rPr lang="en-US" sz="2000" b="1"/>
              <a:t>Attack prerequisites:</a:t>
            </a:r>
          </a:p>
          <a:p>
            <a:pPr>
              <a:lnSpc>
                <a:spcPct val="115000"/>
              </a:lnSpc>
              <a:spcBef>
                <a:spcPts val="600"/>
              </a:spcBef>
            </a:pPr>
            <a:r>
              <a:rPr lang="en-US" sz="2000"/>
              <a:t>    Physical access to unlocked workstation, or remote browser session access, or XSS execution</a:t>
            </a:r>
          </a:p>
          <a:p>
            <a:pPr>
              <a:lnSpc>
                <a:spcPct val="115000"/>
              </a:lnSpc>
              <a:spcBef>
                <a:spcPts val="600"/>
              </a:spcBef>
            </a:pPr>
            <a:r>
              <a:rPr lang="en-US" sz="2000"/>
              <a:t>    No credential knowledge required - tokens are already cached</a:t>
            </a:r>
          </a:p>
          <a:p>
            <a:pPr>
              <a:lnSpc>
                <a:spcPct val="115000"/>
              </a:lnSpc>
              <a:spcBef>
                <a:spcPts val="600"/>
              </a:spcBef>
            </a:pPr>
            <a:r>
              <a:rPr lang="en-US" sz="2000"/>
              <a:t>    No malware needed</a:t>
            </a:r>
          </a:p>
        </p:txBody>
      </p:sp>
    </p:spTree>
    <p:extLst>
      <p:ext uri="{BB962C8B-B14F-4D97-AF65-F5344CB8AC3E}">
        <p14:creationId xmlns:p14="http://schemas.microsoft.com/office/powerpoint/2010/main" val="4979618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C3042-DFA8-733A-3ADB-479FE07A0A24}"/>
              </a:ext>
            </a:extLst>
          </p:cNvPr>
          <p:cNvSpPr>
            <a:spLocks noGrp="1"/>
          </p:cNvSpPr>
          <p:nvPr>
            <p:ph type="title"/>
          </p:nvPr>
        </p:nvSpPr>
        <p:spPr/>
        <p:txBody>
          <a:bodyPr/>
          <a:lstStyle/>
          <a:p>
            <a:r>
              <a:rPr lang="en-US"/>
              <a:t>FOCI Token Exchange — Cross-Service Pivoting</a:t>
            </a:r>
          </a:p>
        </p:txBody>
      </p:sp>
      <p:graphicFrame>
        <p:nvGraphicFramePr>
          <p:cNvPr id="4" name="Content Placeholder 3">
            <a:extLst>
              <a:ext uri="{FF2B5EF4-FFF2-40B4-BE49-F238E27FC236}">
                <a16:creationId xmlns:a16="http://schemas.microsoft.com/office/drawing/2014/main" id="{551B21AA-9E2B-F7BC-3816-B67E714C5EB7}"/>
              </a:ext>
            </a:extLst>
          </p:cNvPr>
          <p:cNvGraphicFramePr>
            <a:graphicFrameLocks noGrp="1"/>
          </p:cNvGraphicFramePr>
          <p:nvPr>
            <p:ph sz="quarter" idx="10"/>
            <p:extLst>
              <p:ext uri="{D42A27DB-BD31-4B8C-83A1-F6EECF244321}">
                <p14:modId xmlns:p14="http://schemas.microsoft.com/office/powerpoint/2010/main" val="3694874011"/>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729643138"/>
                    </a:ext>
                  </a:extLst>
                </a:gridCol>
                <a:gridCol w="5715000">
                  <a:extLst>
                    <a:ext uri="{9D8B030D-6E8A-4147-A177-3AD203B41FA5}">
                      <a16:colId xmlns:a16="http://schemas.microsoft.com/office/drawing/2014/main" val="556094611"/>
                    </a:ext>
                  </a:extLst>
                </a:gridCol>
              </a:tblGrid>
              <a:tr h="814917">
                <a:tc>
                  <a:txBody>
                    <a:bodyPr/>
                    <a:lstStyle/>
                    <a:p>
                      <a:r>
                        <a:rPr lang="en-US" sz="1400" b="1"/>
                        <a:t>App Name</a:t>
                      </a:r>
                    </a:p>
                  </a:txBody>
                  <a:tcPr/>
                </a:tc>
                <a:tc>
                  <a:txBody>
                    <a:bodyPr/>
                    <a:lstStyle/>
                    <a:p>
                      <a:r>
                        <a:rPr lang="en-US" sz="1400" b="1"/>
                        <a:t>Client ID</a:t>
                      </a:r>
                    </a:p>
                  </a:txBody>
                  <a:tcPr/>
                </a:tc>
                <a:extLst>
                  <a:ext uri="{0D108BD9-81ED-4DB2-BD59-A6C34878D82A}">
                    <a16:rowId xmlns:a16="http://schemas.microsoft.com/office/drawing/2014/main" val="2870782927"/>
                  </a:ext>
                </a:extLst>
              </a:tr>
              <a:tr h="814917">
                <a:tc>
                  <a:txBody>
                    <a:bodyPr/>
                    <a:lstStyle/>
                    <a:p>
                      <a:r>
                        <a:rPr lang="en-US" sz="1400"/>
                        <a:t>Azure CLI</a:t>
                      </a:r>
                    </a:p>
                  </a:txBody>
                  <a:tcPr/>
                </a:tc>
                <a:tc>
                  <a:txBody>
                    <a:bodyPr/>
                    <a:lstStyle/>
                    <a:p>
                      <a:r>
                        <a:rPr lang="en-US" sz="1400"/>
                        <a:t>04b07795-8ddb-461a-bbee-02f9e1bf7b46</a:t>
                      </a:r>
                    </a:p>
                  </a:txBody>
                  <a:tcPr/>
                </a:tc>
                <a:extLst>
                  <a:ext uri="{0D108BD9-81ED-4DB2-BD59-A6C34878D82A}">
                    <a16:rowId xmlns:a16="http://schemas.microsoft.com/office/drawing/2014/main" val="2684664389"/>
                  </a:ext>
                </a:extLst>
              </a:tr>
              <a:tr h="814917">
                <a:tc>
                  <a:txBody>
                    <a:bodyPr/>
                    <a:lstStyle/>
                    <a:p>
                      <a:r>
                        <a:rPr lang="en-US" sz="1400"/>
                        <a:t>Microsoft Azure PowerShell</a:t>
                      </a:r>
                    </a:p>
                  </a:txBody>
                  <a:tcPr/>
                </a:tc>
                <a:tc>
                  <a:txBody>
                    <a:bodyPr/>
                    <a:lstStyle/>
                    <a:p>
                      <a:r>
                        <a:rPr lang="en-US" sz="1400"/>
                        <a:t>1950a258-227b-4e31-a9cf-717495945fc2</a:t>
                      </a:r>
                    </a:p>
                  </a:txBody>
                  <a:tcPr/>
                </a:tc>
                <a:extLst>
                  <a:ext uri="{0D108BD9-81ED-4DB2-BD59-A6C34878D82A}">
                    <a16:rowId xmlns:a16="http://schemas.microsoft.com/office/drawing/2014/main" val="2224442292"/>
                  </a:ext>
                </a:extLst>
              </a:tr>
              <a:tr h="814917">
                <a:tc>
                  <a:txBody>
                    <a:bodyPr/>
                    <a:lstStyle/>
                    <a:p>
                      <a:r>
                        <a:rPr lang="en-US" sz="1400"/>
                        <a:t>Microsoft Office</a:t>
                      </a:r>
                    </a:p>
                  </a:txBody>
                  <a:tcPr/>
                </a:tc>
                <a:tc>
                  <a:txBody>
                    <a:bodyPr/>
                    <a:lstStyle/>
                    <a:p>
                      <a:r>
                        <a:rPr lang="en-US" sz="1400"/>
                        <a:t>d3590ed6-52b3-4102-aeff-aad2292ab01c</a:t>
                      </a:r>
                    </a:p>
                  </a:txBody>
                  <a:tcPr/>
                </a:tc>
                <a:extLst>
                  <a:ext uri="{0D108BD9-81ED-4DB2-BD59-A6C34878D82A}">
                    <a16:rowId xmlns:a16="http://schemas.microsoft.com/office/drawing/2014/main" val="3647167428"/>
                  </a:ext>
                </a:extLst>
              </a:tr>
              <a:tr h="814917">
                <a:tc>
                  <a:txBody>
                    <a:bodyPr/>
                    <a:lstStyle/>
                    <a:p>
                      <a:r>
                        <a:rPr lang="en-US" sz="1400"/>
                        <a:t>Graph Command Line Tools</a:t>
                      </a:r>
                    </a:p>
                  </a:txBody>
                  <a:tcPr/>
                </a:tc>
                <a:tc>
                  <a:txBody>
                    <a:bodyPr/>
                    <a:lstStyle/>
                    <a:p>
                      <a:r>
                        <a:rPr lang="en-US" sz="1400"/>
                        <a:t>14d82eec-204b-4c2f-b7e8-296a70dab67e</a:t>
                      </a:r>
                    </a:p>
                  </a:txBody>
                  <a:tcPr/>
                </a:tc>
                <a:extLst>
                  <a:ext uri="{0D108BD9-81ED-4DB2-BD59-A6C34878D82A}">
                    <a16:rowId xmlns:a16="http://schemas.microsoft.com/office/drawing/2014/main" val="3768057629"/>
                  </a:ext>
                </a:extLst>
              </a:tr>
              <a:tr h="814917">
                <a:tc>
                  <a:txBody>
                    <a:bodyPr/>
                    <a:lstStyle/>
                    <a:p>
                      <a:r>
                        <a:rPr lang="en-US" sz="1400"/>
                        <a:t>Teams Web Client</a:t>
                      </a:r>
                    </a:p>
                  </a:txBody>
                  <a:tcPr/>
                </a:tc>
                <a:tc>
                  <a:txBody>
                    <a:bodyPr/>
                    <a:lstStyle/>
                    <a:p>
                      <a:r>
                        <a:rPr lang="en-US" sz="1400"/>
                        <a:t>5e3ce6c0-2b1f-4285-8d4b-75ee78787346</a:t>
                      </a:r>
                    </a:p>
                  </a:txBody>
                  <a:tcPr/>
                </a:tc>
                <a:extLst>
                  <a:ext uri="{0D108BD9-81ED-4DB2-BD59-A6C34878D82A}">
                    <a16:rowId xmlns:a16="http://schemas.microsoft.com/office/drawing/2014/main" val="842677834"/>
                  </a:ext>
                </a:extLst>
              </a:tr>
            </a:tbl>
          </a:graphicData>
        </a:graphic>
      </p:graphicFrame>
    </p:spTree>
    <p:extLst>
      <p:ext uri="{BB962C8B-B14F-4D97-AF65-F5344CB8AC3E}">
        <p14:creationId xmlns:p14="http://schemas.microsoft.com/office/powerpoint/2010/main" val="116379144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6E5E1-E1D8-8D7F-7110-2F30B891342C}"/>
              </a:ext>
            </a:extLst>
          </p:cNvPr>
          <p:cNvSpPr>
            <a:spLocks noGrp="1"/>
          </p:cNvSpPr>
          <p:nvPr>
            <p:ph type="title"/>
          </p:nvPr>
        </p:nvSpPr>
        <p:spPr/>
        <p:txBody>
          <a:bodyPr/>
          <a:lstStyle/>
          <a:p>
            <a:r>
              <a:rPr lang="en-US"/>
              <a:t>FOCI Token Exchange — Cross-Service Pivoting (cont.)</a:t>
            </a:r>
          </a:p>
        </p:txBody>
      </p:sp>
      <p:sp>
        <p:nvSpPr>
          <p:cNvPr id="3" name="Content Placeholder 2">
            <a:extLst>
              <a:ext uri="{FF2B5EF4-FFF2-40B4-BE49-F238E27FC236}">
                <a16:creationId xmlns:a16="http://schemas.microsoft.com/office/drawing/2014/main" id="{1EABA435-C5AA-5FD3-EEE8-E3A0FECA73B0}"/>
              </a:ext>
            </a:extLst>
          </p:cNvPr>
          <p:cNvSpPr>
            <a:spLocks noGrp="1"/>
          </p:cNvSpPr>
          <p:nvPr>
            <p:ph sz="quarter" idx="10"/>
          </p:nvPr>
        </p:nvSpPr>
        <p:spPr/>
        <p:txBody>
          <a:bodyPr>
            <a:noAutofit/>
          </a:bodyPr>
          <a:lstStyle/>
          <a:p>
            <a:pPr>
              <a:lnSpc>
                <a:spcPct val="115000"/>
              </a:lnSpc>
              <a:spcBef>
                <a:spcPts val="600"/>
              </a:spcBef>
            </a:pPr>
            <a:r>
              <a:rPr lang="en-US" sz="1600"/>
              <a:t>Family of Client IDs (FOCI): A set of trusted Microsoft first-party applications that share refresh tokens. Steal one refresh token and get access tokens for any Microsoft service the victim can access.</a:t>
            </a:r>
          </a:p>
          <a:p>
            <a:pPr>
              <a:lnSpc>
                <a:spcPct val="115000"/>
              </a:lnSpc>
              <a:spcBef>
                <a:spcPts val="600"/>
              </a:spcBef>
            </a:pPr>
            <a:r>
              <a:rPr lang="en-US" sz="1600"/>
              <a:t>How it works: Attacker sends stolen refresh token to /oauth2/v2.0/token with a DIFFERENT FOCI sibling client_id - gets back new access + refresh tokens for the requested scope, no user interaction required.</a:t>
            </a:r>
          </a:p>
        </p:txBody>
      </p:sp>
    </p:spTree>
    <p:extLst>
      <p:ext uri="{BB962C8B-B14F-4D97-AF65-F5344CB8AC3E}">
        <p14:creationId xmlns:p14="http://schemas.microsoft.com/office/powerpoint/2010/main" val="185770722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A561B-6219-A658-679A-FCCADB7E4988}"/>
              </a:ext>
            </a:extLst>
          </p:cNvPr>
          <p:cNvSpPr>
            <a:spLocks noGrp="1"/>
          </p:cNvSpPr>
          <p:nvPr>
            <p:ph type="title"/>
          </p:nvPr>
        </p:nvSpPr>
        <p:spPr/>
        <p:txBody>
          <a:bodyPr/>
          <a:lstStyle/>
          <a:p>
            <a:r>
              <a:rPr lang="en-US"/>
              <a:t>GraphSpy — Post-Authentication Enumeration</a:t>
            </a:r>
          </a:p>
        </p:txBody>
      </p:sp>
      <p:sp>
        <p:nvSpPr>
          <p:cNvPr id="3" name="Content Placeholder 2">
            <a:extLst>
              <a:ext uri="{FF2B5EF4-FFF2-40B4-BE49-F238E27FC236}">
                <a16:creationId xmlns:a16="http://schemas.microsoft.com/office/drawing/2014/main" id="{D13FE0BC-64C3-051D-6D6F-2E1193176FB1}"/>
              </a:ext>
            </a:extLst>
          </p:cNvPr>
          <p:cNvSpPr>
            <a:spLocks noGrp="1"/>
          </p:cNvSpPr>
          <p:nvPr>
            <p:ph sz="quarter" idx="10"/>
          </p:nvPr>
        </p:nvSpPr>
        <p:spPr/>
        <p:txBody>
          <a:bodyPr>
            <a:noAutofit/>
          </a:bodyPr>
          <a:lstStyle/>
          <a:p>
            <a:pPr>
              <a:lnSpc>
                <a:spcPct val="115000"/>
              </a:lnSpc>
              <a:spcBef>
                <a:spcPts val="600"/>
              </a:spcBef>
            </a:pPr>
            <a:r>
              <a:rPr lang="en-US" sz="1800" b="1"/>
              <a:t>GraphSpy is an open-source tool that provides a point-and-click interface for Microsoft Graph Application Programming Interface (API) operations post-authentication. It accepts a stolen token and automates:</a:t>
            </a:r>
          </a:p>
          <a:p>
            <a:pPr>
              <a:lnSpc>
                <a:spcPct val="115000"/>
              </a:lnSpc>
              <a:spcBef>
                <a:spcPts val="600"/>
              </a:spcBef>
            </a:pPr>
            <a:r>
              <a:rPr lang="en-US" sz="1800"/>
              <a:t>User, group, and application enumeration</a:t>
            </a:r>
          </a:p>
          <a:p>
            <a:pPr>
              <a:lnSpc>
                <a:spcPct val="115000"/>
              </a:lnSpc>
              <a:spcBef>
                <a:spcPts val="600"/>
              </a:spcBef>
            </a:pPr>
            <a:r>
              <a:rPr lang="en-US" sz="1800"/>
              <a:t>Mailbox reading, calendar access, Teams messages</a:t>
            </a:r>
          </a:p>
          <a:p>
            <a:pPr>
              <a:lnSpc>
                <a:spcPct val="115000"/>
              </a:lnSpc>
              <a:spcBef>
                <a:spcPts val="600"/>
              </a:spcBef>
            </a:pPr>
            <a:r>
              <a:rPr lang="en-US" sz="1800"/>
              <a:t>File download from OneDrive and SharePoint</a:t>
            </a:r>
          </a:p>
          <a:p>
            <a:pPr>
              <a:lnSpc>
                <a:spcPct val="115000"/>
              </a:lnSpc>
              <a:spcBef>
                <a:spcPts val="600"/>
              </a:spcBef>
            </a:pPr>
            <a:r>
              <a:rPr lang="en-US" sz="1800"/>
              <a:t>Search queries across the tenant</a:t>
            </a:r>
          </a:p>
          <a:p>
            <a:pPr>
              <a:lnSpc>
                <a:spcPct val="115000"/>
              </a:lnSpc>
              <a:spcBef>
                <a:spcPts val="600"/>
              </a:spcBef>
            </a:pPr>
            <a:r>
              <a:rPr lang="en-US" sz="1800"/>
              <a:t>Automatic token refresh via FOCI to maintain persistent access</a:t>
            </a:r>
          </a:p>
        </p:txBody>
      </p:sp>
    </p:spTree>
    <p:extLst>
      <p:ext uri="{BB962C8B-B14F-4D97-AF65-F5344CB8AC3E}">
        <p14:creationId xmlns:p14="http://schemas.microsoft.com/office/powerpoint/2010/main" val="293631434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A8677-AE68-99A1-3A7E-D5200FE6CFF2}"/>
              </a:ext>
            </a:extLst>
          </p:cNvPr>
          <p:cNvSpPr>
            <a:spLocks noGrp="1"/>
          </p:cNvSpPr>
          <p:nvPr>
            <p:ph type="title"/>
          </p:nvPr>
        </p:nvSpPr>
        <p:spPr>
          <a:xfrm>
            <a:off x="588263" y="457200"/>
            <a:ext cx="11018520" cy="1107996"/>
          </a:xfrm>
        </p:spPr>
        <p:txBody>
          <a:bodyPr/>
          <a:lstStyle/>
          <a:p>
            <a:r>
              <a:rPr lang="en-US"/>
              <a:t>GraphSpy — Post-Authentication Enumeration (cont. 2)</a:t>
            </a:r>
          </a:p>
        </p:txBody>
      </p:sp>
      <p:sp>
        <p:nvSpPr>
          <p:cNvPr id="3" name="Content Placeholder 2">
            <a:extLst>
              <a:ext uri="{FF2B5EF4-FFF2-40B4-BE49-F238E27FC236}">
                <a16:creationId xmlns:a16="http://schemas.microsoft.com/office/drawing/2014/main" id="{03D912B4-FC9B-DA2E-10FC-BEE1CC422BD1}"/>
              </a:ext>
            </a:extLst>
          </p:cNvPr>
          <p:cNvSpPr>
            <a:spLocks noGrp="1"/>
          </p:cNvSpPr>
          <p:nvPr>
            <p:ph sz="quarter" idx="10"/>
          </p:nvPr>
        </p:nvSpPr>
        <p:spPr>
          <a:xfrm>
            <a:off x="584200" y="1742996"/>
            <a:ext cx="11018838" cy="4526042"/>
          </a:xfrm>
        </p:spPr>
        <p:txBody>
          <a:bodyPr>
            <a:noAutofit/>
          </a:bodyPr>
          <a:lstStyle/>
          <a:p>
            <a:pPr>
              <a:lnSpc>
                <a:spcPct val="115000"/>
              </a:lnSpc>
              <a:spcBef>
                <a:spcPts val="600"/>
              </a:spcBef>
            </a:pPr>
            <a:r>
              <a:rPr lang="en-US" sz="1800" b="1"/>
              <a:t>Full attack chain:</a:t>
            </a:r>
          </a:p>
          <a:p>
            <a:pPr>
              <a:lnSpc>
                <a:spcPct val="115000"/>
              </a:lnSpc>
              <a:spcBef>
                <a:spcPts val="600"/>
              </a:spcBef>
            </a:pPr>
            <a:r>
              <a:rPr lang="en-US" sz="1800"/>
              <a:t>    Victim authenticates to M365 portal</a:t>
            </a:r>
          </a:p>
          <a:p>
            <a:pPr>
              <a:lnSpc>
                <a:spcPct val="115000"/>
              </a:lnSpc>
              <a:spcBef>
                <a:spcPts val="600"/>
              </a:spcBef>
            </a:pPr>
            <a:r>
              <a:rPr lang="en-US" sz="1800"/>
              <a:t>    Attacker extracts refresh token from browser localStorage</a:t>
            </a:r>
          </a:p>
          <a:p>
            <a:pPr>
              <a:lnSpc>
                <a:spcPct val="115000"/>
              </a:lnSpc>
              <a:spcBef>
                <a:spcPts val="600"/>
              </a:spcBef>
            </a:pPr>
            <a:r>
              <a:rPr lang="en-US" sz="1800"/>
              <a:t>    Attacker uses FOCI exchange (Azure CLI client ID) to get Graph access token</a:t>
            </a:r>
          </a:p>
          <a:p>
            <a:pPr>
              <a:lnSpc>
                <a:spcPct val="115000"/>
              </a:lnSpc>
              <a:spcBef>
                <a:spcPts val="600"/>
              </a:spcBef>
            </a:pPr>
            <a:r>
              <a:rPr lang="en-US" sz="1800"/>
              <a:t>    GraphSpy loaded with token - auto-refreshes as tokens expire</a:t>
            </a:r>
          </a:p>
          <a:p>
            <a:pPr>
              <a:lnSpc>
                <a:spcPct val="115000"/>
              </a:lnSpc>
              <a:spcBef>
                <a:spcPts val="600"/>
              </a:spcBef>
            </a:pPr>
            <a:r>
              <a:rPr lang="en-US" sz="1800"/>
              <a:t>    Attacker enumerates users, reads mail, downloads files</a:t>
            </a:r>
          </a:p>
          <a:p>
            <a:pPr>
              <a:lnSpc>
                <a:spcPct val="115000"/>
              </a:lnSpc>
              <a:spcBef>
                <a:spcPts val="600"/>
              </a:spcBef>
            </a:pPr>
            <a:r>
              <a:rPr lang="en-US" sz="1800"/>
              <a:t>    Pivots to Exchange, SharePoint, Azure ARM via additional FOCI exchanges</a:t>
            </a:r>
          </a:p>
        </p:txBody>
      </p:sp>
    </p:spTree>
    <p:extLst>
      <p:ext uri="{BB962C8B-B14F-4D97-AF65-F5344CB8AC3E}">
        <p14:creationId xmlns:p14="http://schemas.microsoft.com/office/powerpoint/2010/main" val="125521017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FAAF-1FD6-F81A-BE7A-26DD4AF20C3B}"/>
              </a:ext>
            </a:extLst>
          </p:cNvPr>
          <p:cNvSpPr>
            <a:spLocks noGrp="1"/>
          </p:cNvSpPr>
          <p:nvPr>
            <p:ph type="title"/>
          </p:nvPr>
        </p:nvSpPr>
        <p:spPr/>
        <p:txBody>
          <a:bodyPr/>
          <a:lstStyle/>
          <a:p>
            <a:r>
              <a:rPr lang="en-US"/>
              <a:t>High-Signal Indicators of Compromise</a:t>
            </a:r>
          </a:p>
        </p:txBody>
      </p:sp>
      <p:graphicFrame>
        <p:nvGraphicFramePr>
          <p:cNvPr id="4" name="Content Placeholder 3">
            <a:extLst>
              <a:ext uri="{FF2B5EF4-FFF2-40B4-BE49-F238E27FC236}">
                <a16:creationId xmlns:a16="http://schemas.microsoft.com/office/drawing/2014/main" id="{C95A8C98-A874-7B4D-BE73-0D8CAD7A765D}"/>
              </a:ext>
            </a:extLst>
          </p:cNvPr>
          <p:cNvGraphicFramePr>
            <a:graphicFrameLocks noGrp="1"/>
          </p:cNvGraphicFramePr>
          <p:nvPr>
            <p:ph sz="quarter" idx="10"/>
            <p:extLst>
              <p:ext uri="{D42A27DB-BD31-4B8C-83A1-F6EECF244321}">
                <p14:modId xmlns:p14="http://schemas.microsoft.com/office/powerpoint/2010/main" val="4246730590"/>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3504006645"/>
                    </a:ext>
                  </a:extLst>
                </a:gridCol>
                <a:gridCol w="5715000">
                  <a:extLst>
                    <a:ext uri="{9D8B030D-6E8A-4147-A177-3AD203B41FA5}">
                      <a16:colId xmlns:a16="http://schemas.microsoft.com/office/drawing/2014/main" val="3690304689"/>
                    </a:ext>
                  </a:extLst>
                </a:gridCol>
              </a:tblGrid>
              <a:tr h="627063">
                <a:tc>
                  <a:txBody>
                    <a:bodyPr/>
                    <a:lstStyle/>
                    <a:p>
                      <a:r>
                        <a:rPr lang="en-US" sz="1200" b="1"/>
                        <a:t>Indicator</a:t>
                      </a:r>
                    </a:p>
                  </a:txBody>
                  <a:tcPr/>
                </a:tc>
                <a:tc>
                  <a:txBody>
                    <a:bodyPr/>
                    <a:lstStyle/>
                    <a:p>
                      <a:r>
                        <a:rPr lang="en-US" sz="1200" b="1"/>
                        <a:t>What It Means</a:t>
                      </a:r>
                    </a:p>
                  </a:txBody>
                  <a:tcPr/>
                </a:tc>
                <a:extLst>
                  <a:ext uri="{0D108BD9-81ED-4DB2-BD59-A6C34878D82A}">
                    <a16:rowId xmlns:a16="http://schemas.microsoft.com/office/drawing/2014/main" val="2740300163"/>
                  </a:ext>
                </a:extLst>
              </a:tr>
              <a:tr h="627063">
                <a:tc>
                  <a:txBody>
                    <a:bodyPr/>
                    <a:lstStyle/>
                    <a:p>
                      <a:r>
                        <a:rPr lang="en-US" sz="1200"/>
                        <a:t>IncomingTokenType = refreshToken in non-interactive logs</a:t>
                      </a:r>
                    </a:p>
                  </a:txBody>
                  <a:tcPr/>
                </a:tc>
                <a:tc>
                  <a:txBody>
                    <a:bodyPr/>
                    <a:lstStyle/>
                    <a:p>
                      <a:r>
                        <a:rPr lang="en-US" sz="1200"/>
                        <a:t>Token replay - attacker reusing a stolen refresh token</a:t>
                      </a:r>
                    </a:p>
                  </a:txBody>
                  <a:tcPr/>
                </a:tc>
                <a:extLst>
                  <a:ext uri="{0D108BD9-81ED-4DB2-BD59-A6C34878D82A}">
                    <a16:rowId xmlns:a16="http://schemas.microsoft.com/office/drawing/2014/main" val="550278007"/>
                  </a:ext>
                </a:extLst>
              </a:tr>
              <a:tr h="627063">
                <a:tc>
                  <a:txBody>
                    <a:bodyPr/>
                    <a:lstStyle/>
                    <a:p>
                      <a:r>
                        <a:rPr lang="en-US" sz="1200"/>
                        <a:t>AppDisplayName = Azure CLI with unusual UserAgent</a:t>
                      </a:r>
                    </a:p>
                  </a:txBody>
                  <a:tcPr/>
                </a:tc>
                <a:tc>
                  <a:txBody>
                    <a:bodyPr/>
                    <a:lstStyle/>
                    <a:p>
                      <a:r>
                        <a:rPr lang="en-US" sz="1200"/>
                        <a:t>FOCI exchange - CLI app ID used from non-CLI tooling</a:t>
                      </a:r>
                    </a:p>
                  </a:txBody>
                  <a:tcPr/>
                </a:tc>
                <a:extLst>
                  <a:ext uri="{0D108BD9-81ED-4DB2-BD59-A6C34878D82A}">
                    <a16:rowId xmlns:a16="http://schemas.microsoft.com/office/drawing/2014/main" val="1880269092"/>
                  </a:ext>
                </a:extLst>
              </a:tr>
              <a:tr h="627063">
                <a:tc>
                  <a:txBody>
                    <a:bodyPr/>
                    <a:lstStyle/>
                    <a:p>
                      <a:r>
                        <a:rPr lang="en-US" sz="1200"/>
                        <a:t>ResourceDisplayName changes rapidly for same user</a:t>
                      </a:r>
                    </a:p>
                  </a:txBody>
                  <a:tcPr/>
                </a:tc>
                <a:tc>
                  <a:txBody>
                    <a:bodyPr/>
                    <a:lstStyle/>
                    <a:p>
                      <a:r>
                        <a:rPr lang="en-US" sz="1200"/>
                        <a:t>FOCI pivoting across services (Graph, Exchange, Azure)</a:t>
                      </a:r>
                    </a:p>
                  </a:txBody>
                  <a:tcPr/>
                </a:tc>
                <a:extLst>
                  <a:ext uri="{0D108BD9-81ED-4DB2-BD59-A6C34878D82A}">
                    <a16:rowId xmlns:a16="http://schemas.microsoft.com/office/drawing/2014/main" val="3545247885"/>
                  </a:ext>
                </a:extLst>
              </a:tr>
              <a:tr h="627063">
                <a:tc>
                  <a:txBody>
                    <a:bodyPr/>
                    <a:lstStyle/>
                    <a:p>
                      <a:r>
                        <a:rPr lang="en-US" sz="1200"/>
                        <a:t>Multiple resources accessed in minutes via same token</a:t>
                      </a:r>
                    </a:p>
                  </a:txBody>
                  <a:tcPr/>
                </a:tc>
                <a:tc>
                  <a:txBody>
                    <a:bodyPr/>
                    <a:lstStyle/>
                    <a:p>
                      <a:r>
                        <a:rPr lang="en-US" sz="1200"/>
                        <a:t>GraphSpy-style enumeration across resources</a:t>
                      </a:r>
                    </a:p>
                  </a:txBody>
                  <a:tcPr/>
                </a:tc>
                <a:extLst>
                  <a:ext uri="{0D108BD9-81ED-4DB2-BD59-A6C34878D82A}">
                    <a16:rowId xmlns:a16="http://schemas.microsoft.com/office/drawing/2014/main" val="655829277"/>
                  </a:ext>
                </a:extLst>
              </a:tr>
              <a:tr h="627063">
                <a:tc>
                  <a:txBody>
                    <a:bodyPr/>
                    <a:lstStyle/>
                    <a:p>
                      <a:r>
                        <a:rPr lang="en-US" sz="1200"/>
                        <a:t>RiskEventTypes includes anomalousToken</a:t>
                      </a:r>
                    </a:p>
                  </a:txBody>
                  <a:tcPr/>
                </a:tc>
                <a:tc>
                  <a:txBody>
                    <a:bodyPr/>
                    <a:lstStyle/>
                    <a:p>
                      <a:r>
                        <a:rPr lang="en-US" sz="1200"/>
                        <a:t>Entra ID Protection detecting token replay anomalies</a:t>
                      </a:r>
                    </a:p>
                  </a:txBody>
                  <a:tcPr/>
                </a:tc>
                <a:extLst>
                  <a:ext uri="{0D108BD9-81ED-4DB2-BD59-A6C34878D82A}">
                    <a16:rowId xmlns:a16="http://schemas.microsoft.com/office/drawing/2014/main" val="675471882"/>
                  </a:ext>
                </a:extLst>
              </a:tr>
              <a:tr h="627063">
                <a:tc>
                  <a:txBody>
                    <a:bodyPr/>
                    <a:lstStyle/>
                    <a:p>
                      <a:r>
                        <a:rPr lang="en-US" sz="1200"/>
                        <a:t>Non-interactive sign-in from IP with no prior interactive sign-in</a:t>
                      </a:r>
                    </a:p>
                  </a:txBody>
                  <a:tcPr/>
                </a:tc>
                <a:tc>
                  <a:txBody>
                    <a:bodyPr/>
                    <a:lstStyle/>
                    <a:p>
                      <a:r>
                        <a:rPr lang="en-US" sz="1200"/>
                        <a:t>Attacker IP not in victim's sign-in history</a:t>
                      </a:r>
                    </a:p>
                  </a:txBody>
                  <a:tcPr/>
                </a:tc>
                <a:extLst>
                  <a:ext uri="{0D108BD9-81ED-4DB2-BD59-A6C34878D82A}">
                    <a16:rowId xmlns:a16="http://schemas.microsoft.com/office/drawing/2014/main" val="1554091422"/>
                  </a:ext>
                </a:extLst>
              </a:tr>
              <a:tr h="627063">
                <a:tc>
                  <a:txBody>
                    <a:bodyPr/>
                    <a:lstStyle/>
                    <a:p>
                      <a:r>
                        <a:rPr lang="en-US" sz="1200"/>
                        <a:t>UserAgent mismatch with AppDisplayName</a:t>
                      </a:r>
                    </a:p>
                  </a:txBody>
                  <a:tcPr/>
                </a:tc>
                <a:tc>
                  <a:txBody>
                    <a:bodyPr/>
                    <a:lstStyle/>
                    <a:p>
                      <a:r>
                        <a:rPr lang="en-US" sz="1200"/>
                        <a:t>Tool-based replay (GraphSpy, curl, Postman)</a:t>
                      </a:r>
                    </a:p>
                  </a:txBody>
                  <a:tcPr/>
                </a:tc>
                <a:extLst>
                  <a:ext uri="{0D108BD9-81ED-4DB2-BD59-A6C34878D82A}">
                    <a16:rowId xmlns:a16="http://schemas.microsoft.com/office/drawing/2014/main" val="263922349"/>
                  </a:ext>
                </a:extLst>
              </a:tr>
            </a:tbl>
          </a:graphicData>
        </a:graphic>
      </p:graphicFrame>
    </p:spTree>
    <p:extLst>
      <p:ext uri="{BB962C8B-B14F-4D97-AF65-F5344CB8AC3E}">
        <p14:creationId xmlns:p14="http://schemas.microsoft.com/office/powerpoint/2010/main" val="37618981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75748-529B-B9C7-A773-7445C41916A6}"/>
              </a:ext>
            </a:extLst>
          </p:cNvPr>
          <p:cNvSpPr>
            <a:spLocks noGrp="1"/>
          </p:cNvSpPr>
          <p:nvPr>
            <p:ph type="title"/>
          </p:nvPr>
        </p:nvSpPr>
        <p:spPr/>
        <p:txBody>
          <a:bodyPr/>
          <a:lstStyle/>
          <a:p>
            <a:r>
              <a:rPr lang="en-US"/>
              <a:t>AADNonInteractiveUserSignInLogs — Key Fields</a:t>
            </a:r>
          </a:p>
        </p:txBody>
      </p:sp>
      <p:graphicFrame>
        <p:nvGraphicFramePr>
          <p:cNvPr id="4" name="Content Placeholder 3">
            <a:extLst>
              <a:ext uri="{FF2B5EF4-FFF2-40B4-BE49-F238E27FC236}">
                <a16:creationId xmlns:a16="http://schemas.microsoft.com/office/drawing/2014/main" id="{B186959A-D77D-8815-1241-DD01A06F69DB}"/>
              </a:ext>
            </a:extLst>
          </p:cNvPr>
          <p:cNvGraphicFramePr>
            <a:graphicFrameLocks noGrp="1"/>
          </p:cNvGraphicFramePr>
          <p:nvPr>
            <p:ph sz="quarter" idx="10"/>
            <p:extLst>
              <p:ext uri="{D42A27DB-BD31-4B8C-83A1-F6EECF244321}">
                <p14:modId xmlns:p14="http://schemas.microsoft.com/office/powerpoint/2010/main" val="1188040961"/>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2084001992"/>
                    </a:ext>
                  </a:extLst>
                </a:gridCol>
                <a:gridCol w="5715000">
                  <a:extLst>
                    <a:ext uri="{9D8B030D-6E8A-4147-A177-3AD203B41FA5}">
                      <a16:colId xmlns:a16="http://schemas.microsoft.com/office/drawing/2014/main" val="2494899495"/>
                    </a:ext>
                  </a:extLst>
                </a:gridCol>
              </a:tblGrid>
              <a:tr h="501650">
                <a:tc>
                  <a:txBody>
                    <a:bodyPr/>
                    <a:lstStyle/>
                    <a:p>
                      <a:r>
                        <a:rPr lang="en-US" sz="1200" b="1"/>
                        <a:t>Field</a:t>
                      </a:r>
                    </a:p>
                  </a:txBody>
                  <a:tcPr/>
                </a:tc>
                <a:tc>
                  <a:txBody>
                    <a:bodyPr/>
                    <a:lstStyle/>
                    <a:p>
                      <a:r>
                        <a:rPr lang="en-US" sz="1200" b="1"/>
                        <a:t>Why It Matters</a:t>
                      </a:r>
                    </a:p>
                  </a:txBody>
                  <a:tcPr/>
                </a:tc>
                <a:extLst>
                  <a:ext uri="{0D108BD9-81ED-4DB2-BD59-A6C34878D82A}">
                    <a16:rowId xmlns:a16="http://schemas.microsoft.com/office/drawing/2014/main" val="2220510210"/>
                  </a:ext>
                </a:extLst>
              </a:tr>
              <a:tr h="501650">
                <a:tc>
                  <a:txBody>
                    <a:bodyPr/>
                    <a:lstStyle/>
                    <a:p>
                      <a:r>
                        <a:rPr lang="en-US" sz="1200"/>
                        <a:t>IncomingTokenType</a:t>
                      </a:r>
                    </a:p>
                  </a:txBody>
                  <a:tcPr/>
                </a:tc>
                <a:tc>
                  <a:txBody>
                    <a:bodyPr/>
                    <a:lstStyle/>
                    <a:p>
                      <a:r>
                        <a:rPr lang="en-US" sz="1200"/>
                        <a:t>"refreshToken" = replay; "primaryRefreshToken" = PRT abuse</a:t>
                      </a:r>
                    </a:p>
                  </a:txBody>
                  <a:tcPr/>
                </a:tc>
                <a:extLst>
                  <a:ext uri="{0D108BD9-81ED-4DB2-BD59-A6C34878D82A}">
                    <a16:rowId xmlns:a16="http://schemas.microsoft.com/office/drawing/2014/main" val="2626550551"/>
                  </a:ext>
                </a:extLst>
              </a:tr>
              <a:tr h="501650">
                <a:tc>
                  <a:txBody>
                    <a:bodyPr/>
                    <a:lstStyle/>
                    <a:p>
                      <a:r>
                        <a:rPr lang="en-US" sz="1200"/>
                        <a:t>SignInEventTypes</a:t>
                      </a:r>
                    </a:p>
                  </a:txBody>
                  <a:tcPr/>
                </a:tc>
                <a:tc>
                  <a:txBody>
                    <a:bodyPr/>
                    <a:lstStyle/>
                    <a:p>
                      <a:r>
                        <a:rPr lang="fr-FR" sz="1200"/>
                        <a:t>"refreshToken" confirms non-interactive refresh usage</a:t>
                      </a:r>
                      <a:endParaRPr lang="en-US" sz="1200"/>
                    </a:p>
                  </a:txBody>
                  <a:tcPr/>
                </a:tc>
                <a:extLst>
                  <a:ext uri="{0D108BD9-81ED-4DB2-BD59-A6C34878D82A}">
                    <a16:rowId xmlns:a16="http://schemas.microsoft.com/office/drawing/2014/main" val="1786526176"/>
                  </a:ext>
                </a:extLst>
              </a:tr>
              <a:tr h="501650">
                <a:tc>
                  <a:txBody>
                    <a:bodyPr/>
                    <a:lstStyle/>
                    <a:p>
                      <a:r>
                        <a:rPr lang="en-US" sz="1200"/>
                        <a:t>AppDisplayName</a:t>
                      </a:r>
                    </a:p>
                  </a:txBody>
                  <a:tcPr/>
                </a:tc>
                <a:tc>
                  <a:txBody>
                    <a:bodyPr/>
                    <a:lstStyle/>
                    <a:p>
                      <a:r>
                        <a:rPr lang="en-US" sz="1200"/>
                        <a:t>Client app that initiated sign-in - mismatch indicates tooling</a:t>
                      </a:r>
                    </a:p>
                  </a:txBody>
                  <a:tcPr/>
                </a:tc>
                <a:extLst>
                  <a:ext uri="{0D108BD9-81ED-4DB2-BD59-A6C34878D82A}">
                    <a16:rowId xmlns:a16="http://schemas.microsoft.com/office/drawing/2014/main" val="398187958"/>
                  </a:ext>
                </a:extLst>
              </a:tr>
              <a:tr h="501650">
                <a:tc>
                  <a:txBody>
                    <a:bodyPr/>
                    <a:lstStyle/>
                    <a:p>
                      <a:r>
                        <a:rPr lang="en-US" sz="1200"/>
                        <a:t>ClientAppUsed</a:t>
                      </a:r>
                    </a:p>
                  </a:txBody>
                  <a:tcPr/>
                </a:tc>
                <a:tc>
                  <a:txBody>
                    <a:bodyPr/>
                    <a:lstStyle/>
                    <a:p>
                      <a:r>
                        <a:rPr lang="en-US" sz="1200"/>
                        <a:t>Category: "Browser", "Native App", "Other clients"</a:t>
                      </a:r>
                    </a:p>
                  </a:txBody>
                  <a:tcPr/>
                </a:tc>
                <a:extLst>
                  <a:ext uri="{0D108BD9-81ED-4DB2-BD59-A6C34878D82A}">
                    <a16:rowId xmlns:a16="http://schemas.microsoft.com/office/drawing/2014/main" val="2225739151"/>
                  </a:ext>
                </a:extLst>
              </a:tr>
              <a:tr h="501650">
                <a:tc>
                  <a:txBody>
                    <a:bodyPr/>
                    <a:lstStyle/>
                    <a:p>
                      <a:r>
                        <a:rPr lang="en-US" sz="1200"/>
                        <a:t>ResourceDisplayName</a:t>
                      </a:r>
                    </a:p>
                  </a:txBody>
                  <a:tcPr/>
                </a:tc>
                <a:tc>
                  <a:txBody>
                    <a:bodyPr/>
                    <a:lstStyle/>
                    <a:p>
                      <a:r>
                        <a:rPr lang="en-US" sz="1200"/>
                        <a:t>Target resource - rapid changes indicate FOCI pivoting</a:t>
                      </a:r>
                    </a:p>
                  </a:txBody>
                  <a:tcPr/>
                </a:tc>
                <a:extLst>
                  <a:ext uri="{0D108BD9-81ED-4DB2-BD59-A6C34878D82A}">
                    <a16:rowId xmlns:a16="http://schemas.microsoft.com/office/drawing/2014/main" val="4096054227"/>
                  </a:ext>
                </a:extLst>
              </a:tr>
              <a:tr h="501650">
                <a:tc>
                  <a:txBody>
                    <a:bodyPr/>
                    <a:lstStyle/>
                    <a:p>
                      <a:r>
                        <a:rPr lang="en-US" sz="1200"/>
                        <a:t>UserAgent</a:t>
                      </a:r>
                    </a:p>
                  </a:txBody>
                  <a:tcPr/>
                </a:tc>
                <a:tc>
                  <a:txBody>
                    <a:bodyPr/>
                    <a:lstStyle/>
                    <a:p>
                      <a:r>
                        <a:rPr lang="en-US" sz="1200"/>
                        <a:t>HTTP User-Agent - mismatches reveal replay tools</a:t>
                      </a:r>
                    </a:p>
                  </a:txBody>
                  <a:tcPr/>
                </a:tc>
                <a:extLst>
                  <a:ext uri="{0D108BD9-81ED-4DB2-BD59-A6C34878D82A}">
                    <a16:rowId xmlns:a16="http://schemas.microsoft.com/office/drawing/2014/main" val="2660981902"/>
                  </a:ext>
                </a:extLst>
              </a:tr>
              <a:tr h="501650">
                <a:tc>
                  <a:txBody>
                    <a:bodyPr/>
                    <a:lstStyle/>
                    <a:p>
                      <a:r>
                        <a:rPr lang="en-US" sz="1200"/>
                        <a:t>IPAddress</a:t>
                      </a:r>
                    </a:p>
                  </a:txBody>
                  <a:tcPr/>
                </a:tc>
                <a:tc>
                  <a:txBody>
                    <a:bodyPr/>
                    <a:lstStyle/>
                    <a:p>
                      <a:r>
                        <a:rPr lang="en-US" sz="1200"/>
                        <a:t>Attacker IP - differs from victim's normal IP</a:t>
                      </a:r>
                    </a:p>
                  </a:txBody>
                  <a:tcPr/>
                </a:tc>
                <a:extLst>
                  <a:ext uri="{0D108BD9-81ED-4DB2-BD59-A6C34878D82A}">
                    <a16:rowId xmlns:a16="http://schemas.microsoft.com/office/drawing/2014/main" val="2274939423"/>
                  </a:ext>
                </a:extLst>
              </a:tr>
              <a:tr h="501650">
                <a:tc>
                  <a:txBody>
                    <a:bodyPr/>
                    <a:lstStyle/>
                    <a:p>
                      <a:r>
                        <a:rPr lang="en-US" sz="1200"/>
                        <a:t>RiskEventTypes_V2</a:t>
                      </a:r>
                    </a:p>
                  </a:txBody>
                  <a:tcPr/>
                </a:tc>
                <a:tc>
                  <a:txBody>
                    <a:bodyPr/>
                    <a:lstStyle/>
                    <a:p>
                      <a:r>
                        <a:rPr lang="en-US" sz="1200"/>
                        <a:t>anomalousToken, unfamiliarFeatures</a:t>
                      </a:r>
                    </a:p>
                  </a:txBody>
                  <a:tcPr/>
                </a:tc>
                <a:extLst>
                  <a:ext uri="{0D108BD9-81ED-4DB2-BD59-A6C34878D82A}">
                    <a16:rowId xmlns:a16="http://schemas.microsoft.com/office/drawing/2014/main" val="3958886802"/>
                  </a:ext>
                </a:extLst>
              </a:tr>
              <a:tr h="501650">
                <a:tc>
                  <a:txBody>
                    <a:bodyPr/>
                    <a:lstStyle/>
                    <a:p>
                      <a:r>
                        <a:rPr lang="en-US" sz="1200"/>
                        <a:t>TokenProtectionStatusDetails</a:t>
                      </a:r>
                    </a:p>
                  </a:txBody>
                  <a:tcPr/>
                </a:tc>
                <a:tc>
                  <a:txBody>
                    <a:bodyPr/>
                    <a:lstStyle/>
                    <a:p>
                      <a:r>
                        <a:rPr lang="en-US" sz="1200"/>
                        <a:t>Unbound token from Token Protection-enabled policy</a:t>
                      </a:r>
                    </a:p>
                  </a:txBody>
                  <a:tcPr/>
                </a:tc>
                <a:extLst>
                  <a:ext uri="{0D108BD9-81ED-4DB2-BD59-A6C34878D82A}">
                    <a16:rowId xmlns:a16="http://schemas.microsoft.com/office/drawing/2014/main" val="1843833345"/>
                  </a:ext>
                </a:extLst>
              </a:tr>
            </a:tbl>
          </a:graphicData>
        </a:graphic>
      </p:graphicFrame>
    </p:spTree>
    <p:extLst>
      <p:ext uri="{BB962C8B-B14F-4D97-AF65-F5344CB8AC3E}">
        <p14:creationId xmlns:p14="http://schemas.microsoft.com/office/powerpoint/2010/main" val="327102811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64187-7DEC-9FA2-9D32-500F7152B659}"/>
              </a:ext>
            </a:extLst>
          </p:cNvPr>
          <p:cNvSpPr>
            <a:spLocks noGrp="1"/>
          </p:cNvSpPr>
          <p:nvPr>
            <p:ph type="title"/>
          </p:nvPr>
        </p:nvSpPr>
        <p:spPr/>
        <p:txBody>
          <a:bodyPr/>
          <a:lstStyle/>
          <a:p>
            <a:r>
              <a:rPr lang="en-US"/>
              <a:t>KQL — Detect Refresh Token Replay</a:t>
            </a:r>
          </a:p>
        </p:txBody>
      </p:sp>
      <p:sp>
        <p:nvSpPr>
          <p:cNvPr id="3" name="Content Placeholder 2">
            <a:extLst>
              <a:ext uri="{FF2B5EF4-FFF2-40B4-BE49-F238E27FC236}">
                <a16:creationId xmlns:a16="http://schemas.microsoft.com/office/drawing/2014/main" id="{040DBB92-6D4A-A48D-3B1B-37DB5750F2FE}"/>
              </a:ext>
            </a:extLst>
          </p:cNvPr>
          <p:cNvSpPr>
            <a:spLocks noGrp="1"/>
          </p:cNvSpPr>
          <p:nvPr>
            <p:ph sz="quarter" idx="10"/>
          </p:nvPr>
        </p:nvSpPr>
        <p:spPr/>
        <p:txBody>
          <a:bodyPr>
            <a:noAutofit/>
          </a:bodyPr>
          <a:lstStyle/>
          <a:p>
            <a:pPr>
              <a:lnSpc>
                <a:spcPct val="115000"/>
              </a:lnSpc>
              <a:spcBef>
                <a:spcPts val="600"/>
              </a:spcBef>
            </a:pPr>
            <a:r>
              <a:rPr lang="en-US"/>
              <a:t>What this finds: Refresh token usage targeting Graph, Exchange, and ARM - the three primary resources attackers target after token theft.</a:t>
            </a:r>
          </a:p>
        </p:txBody>
      </p:sp>
      <p:sp>
        <p:nvSpPr>
          <p:cNvPr id="4" name="TextBox 3">
            <a:extLst>
              <a:ext uri="{FF2B5EF4-FFF2-40B4-BE49-F238E27FC236}">
                <a16:creationId xmlns:a16="http://schemas.microsoft.com/office/drawing/2014/main" id="{B88BF156-B9CF-72B2-60FB-D111C4DAD0B9}"/>
              </a:ext>
            </a:extLst>
          </p:cNvPr>
          <p:cNvSpPr txBox="1"/>
          <p:nvPr/>
        </p:nvSpPr>
        <p:spPr>
          <a:xfrm>
            <a:off x="381000" y="3429000"/>
            <a:ext cx="11430000" cy="2585323"/>
          </a:xfrm>
          <a:prstGeom prst="rect">
            <a:avLst/>
          </a:prstGeom>
          <a:noFill/>
        </p:spPr>
        <p:txBody>
          <a:bodyPr vert="horz" wrap="square" lIns="0" tIns="0" rIns="0" bIns="0" rtlCol="0">
            <a:spAutoFit/>
          </a:bodyPr>
          <a:lstStyle/>
          <a:p>
            <a:pPr algn="l"/>
            <a:r>
              <a:rPr lang="en-US" sz="1200">
                <a:latin typeface="Consolas" panose="020B0609020204030204" pitchFamily="49" charset="0"/>
              </a:rPr>
              <a:t>AADNonInteractiveUserSignInLogs</a:t>
            </a:r>
          </a:p>
          <a:p>
            <a:pPr algn="l"/>
            <a:r>
              <a:rPr lang="en-US" sz="1200">
                <a:latin typeface="Consolas" panose="020B0609020204030204" pitchFamily="49" charset="0"/>
              </a:rPr>
              <a:t>| where TimeGenerated &gt; ago(24h)</a:t>
            </a:r>
          </a:p>
          <a:p>
            <a:pPr algn="l"/>
            <a:r>
              <a:rPr lang="en-US" sz="1200">
                <a:latin typeface="Consolas" panose="020B0609020204030204" pitchFamily="49" charset="0"/>
              </a:rPr>
              <a:t>| where IncomingTokenType == "refreshToken"</a:t>
            </a:r>
          </a:p>
          <a:p>
            <a:pPr algn="l"/>
            <a:r>
              <a:rPr lang="en-US" sz="1200">
                <a:latin typeface="Consolas" panose="020B0609020204030204" pitchFamily="49" charset="0"/>
              </a:rPr>
              <a:t>| where ResourceDisplayName has_any (</a:t>
            </a:r>
          </a:p>
          <a:p>
            <a:pPr algn="l"/>
            <a:r>
              <a:rPr lang="en-US" sz="1200">
                <a:latin typeface="Consolas" panose="020B0609020204030204" pitchFamily="49" charset="0"/>
              </a:rPr>
              <a:t>    "Microsoft Graph",</a:t>
            </a:r>
          </a:p>
          <a:p>
            <a:pPr algn="l"/>
            <a:r>
              <a:rPr lang="en-US" sz="1200">
                <a:latin typeface="Consolas" panose="020B0609020204030204" pitchFamily="49" charset="0"/>
              </a:rPr>
              <a:t>    "Office 365 Exchange Online",</a:t>
            </a:r>
          </a:p>
          <a:p>
            <a:pPr algn="l"/>
            <a:r>
              <a:rPr lang="en-US" sz="1200">
                <a:latin typeface="Consolas" panose="020B0609020204030204" pitchFamily="49" charset="0"/>
              </a:rPr>
              <a:t>    "Azure Resource Manager"</a:t>
            </a:r>
          </a:p>
          <a:p>
            <a:pPr algn="l"/>
            <a:r>
              <a:rPr lang="en-US" sz="1200">
                <a:latin typeface="Consolas" panose="020B0609020204030204" pitchFamily="49" charset="0"/>
              </a:rPr>
              <a:t>  )</a:t>
            </a:r>
          </a:p>
          <a:p>
            <a:pPr algn="l"/>
            <a:r>
              <a:rPr lang="en-US" sz="1200">
                <a:latin typeface="Consolas" panose="020B0609020204030204" pitchFamily="49" charset="0"/>
              </a:rPr>
              <a:t>| project TimeGenerated, UserPrincipalName,</a:t>
            </a:r>
          </a:p>
          <a:p>
            <a:pPr algn="l"/>
            <a:r>
              <a:rPr lang="en-US" sz="1200">
                <a:latin typeface="Consolas" panose="020B0609020204030204" pitchFamily="49" charset="0"/>
              </a:rPr>
              <a:t>          IPAddress, AppDisplayName,</a:t>
            </a:r>
          </a:p>
          <a:p>
            <a:pPr algn="l"/>
            <a:r>
              <a:rPr lang="en-US" sz="1200">
                <a:latin typeface="Consolas" panose="020B0609020204030204" pitchFamily="49" charset="0"/>
              </a:rPr>
              <a:t>          ClientAppUsed, ResourceDisplayName,</a:t>
            </a:r>
          </a:p>
          <a:p>
            <a:pPr algn="l"/>
            <a:r>
              <a:rPr lang="en-US" sz="1200">
                <a:latin typeface="Consolas" panose="020B0609020204030204" pitchFamily="49" charset="0"/>
              </a:rPr>
              <a:t>          IncomingTokenType, SignInEventTypes,</a:t>
            </a:r>
          </a:p>
          <a:p>
            <a:pPr algn="l"/>
            <a:r>
              <a:rPr lang="en-US" sz="1200">
                <a:latin typeface="Consolas" panose="020B0609020204030204" pitchFamily="49" charset="0"/>
              </a:rPr>
              <a:t>          UserAgent, RiskLevelDuringSignIn</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210333406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3F608-2170-10DC-2463-AFC6732B4E51}"/>
              </a:ext>
            </a:extLst>
          </p:cNvPr>
          <p:cNvSpPr>
            <a:spLocks noGrp="1"/>
          </p:cNvSpPr>
          <p:nvPr>
            <p:ph type="title"/>
          </p:nvPr>
        </p:nvSpPr>
        <p:spPr/>
        <p:txBody>
          <a:bodyPr/>
          <a:lstStyle/>
          <a:p>
            <a:r>
              <a:rPr lang="en-US"/>
              <a:t>KQL — FOCI Pivoting Detection</a:t>
            </a:r>
          </a:p>
        </p:txBody>
      </p:sp>
      <p:sp>
        <p:nvSpPr>
          <p:cNvPr id="3" name="Content Placeholder 2">
            <a:extLst>
              <a:ext uri="{FF2B5EF4-FFF2-40B4-BE49-F238E27FC236}">
                <a16:creationId xmlns:a16="http://schemas.microsoft.com/office/drawing/2014/main" id="{7B7EAC41-F683-1E20-CA81-23E7613FD256}"/>
              </a:ext>
            </a:extLst>
          </p:cNvPr>
          <p:cNvSpPr>
            <a:spLocks noGrp="1"/>
          </p:cNvSpPr>
          <p:nvPr>
            <p:ph sz="quarter" idx="10"/>
          </p:nvPr>
        </p:nvSpPr>
        <p:spPr/>
        <p:txBody>
          <a:bodyPr>
            <a:noAutofit/>
          </a:bodyPr>
          <a:lstStyle/>
          <a:p>
            <a:pPr>
              <a:lnSpc>
                <a:spcPct val="115000"/>
              </a:lnSpc>
              <a:spcBef>
                <a:spcPts val="600"/>
              </a:spcBef>
            </a:pPr>
            <a:r>
              <a:rPr lang="en-US"/>
              <a:t>A single account accessing 3+ distinct resources via refresh tokens within 15 minutes is a strong FOCI indicator.</a:t>
            </a:r>
          </a:p>
        </p:txBody>
      </p:sp>
    </p:spTree>
    <p:extLst>
      <p:ext uri="{BB962C8B-B14F-4D97-AF65-F5344CB8AC3E}">
        <p14:creationId xmlns:p14="http://schemas.microsoft.com/office/powerpoint/2010/main" val="423286849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4FD9-D196-69CA-1E2F-215786381CE3}"/>
              </a:ext>
            </a:extLst>
          </p:cNvPr>
          <p:cNvSpPr>
            <a:spLocks noGrp="1"/>
          </p:cNvSpPr>
          <p:nvPr>
            <p:ph type="title"/>
          </p:nvPr>
        </p:nvSpPr>
        <p:spPr/>
        <p:txBody>
          <a:bodyPr/>
          <a:lstStyle/>
          <a:p>
            <a:r>
              <a:rPr lang="en-US"/>
              <a:t>KQL — FOCI Pivoting Detection (cont.)</a:t>
            </a:r>
          </a:p>
        </p:txBody>
      </p:sp>
      <p:sp>
        <p:nvSpPr>
          <p:cNvPr id="3" name="Content Placeholder 2">
            <a:extLst>
              <a:ext uri="{FF2B5EF4-FFF2-40B4-BE49-F238E27FC236}">
                <a16:creationId xmlns:a16="http://schemas.microsoft.com/office/drawing/2014/main" id="{2F4C1B29-9A37-6DCE-F747-0F8A76C2A8E1}"/>
              </a:ext>
            </a:extLst>
          </p:cNvPr>
          <p:cNvSpPr>
            <a:spLocks noGrp="1"/>
          </p:cNvSpPr>
          <p:nvPr>
            <p:ph sz="quarter" idx="10"/>
          </p:nvPr>
        </p:nvSpPr>
        <p:spPr/>
        <p:txBody>
          <a:bodyPr>
            <a:noAutofit/>
          </a:bodyPr>
          <a:lstStyle/>
          <a:p>
            <a:pPr>
              <a:lnSpc>
                <a:spcPct val="115000"/>
              </a:lnSpc>
              <a:spcBef>
                <a:spcPts val="600"/>
              </a:spcBef>
            </a:pPr>
            <a:r>
              <a:rPr lang="en-US" sz="1600" b="1"/>
              <a:t>Sample Kusto Query Language (KQL):</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2C362BEC-7BB8-E862-8A8F-90A8E0503C69}"/>
              </a:ext>
            </a:extLst>
          </p:cNvPr>
          <p:cNvSpPr txBox="1"/>
          <p:nvPr/>
        </p:nvSpPr>
        <p:spPr>
          <a:xfrm>
            <a:off x="381000" y="3556000"/>
            <a:ext cx="11430000" cy="2769989"/>
          </a:xfrm>
          <a:prstGeom prst="rect">
            <a:avLst/>
          </a:prstGeom>
          <a:noFill/>
        </p:spPr>
        <p:txBody>
          <a:bodyPr vert="horz" wrap="square" lIns="0" tIns="0" rIns="0" bIns="0" rtlCol="0">
            <a:spAutoFit/>
          </a:bodyPr>
          <a:lstStyle/>
          <a:p>
            <a:pPr algn="l"/>
            <a:r>
              <a:rPr lang="en-US" sz="1200">
                <a:latin typeface="Consolas" panose="020B0609020204030204" pitchFamily="49" charset="0"/>
              </a:rPr>
              <a:t>AADNonInteractiveUserSignInLogs</a:t>
            </a:r>
          </a:p>
          <a:p>
            <a:pPr algn="l"/>
            <a:r>
              <a:rPr lang="en-US" sz="1200">
                <a:latin typeface="Consolas" panose="020B0609020204030204" pitchFamily="49" charset="0"/>
              </a:rPr>
              <a:t>| where TimeGenerated &gt; ago(24h)</a:t>
            </a:r>
          </a:p>
          <a:p>
            <a:pPr algn="l"/>
            <a:r>
              <a:rPr lang="en-US" sz="1200">
                <a:latin typeface="Consolas" panose="020B0609020204030204" pitchFamily="49" charset="0"/>
              </a:rPr>
              <a:t>| where IncomingTokenType == "refreshToken"</a:t>
            </a:r>
          </a:p>
          <a:p>
            <a:pPr algn="l"/>
            <a:r>
              <a:rPr lang="en-US" sz="1200">
                <a:latin typeface="Consolas" panose="020B0609020204030204" pitchFamily="49" charset="0"/>
              </a:rPr>
              <a:t>| where ResultType == 0</a:t>
            </a:r>
          </a:p>
          <a:p>
            <a:pPr algn="l"/>
            <a:r>
              <a:rPr lang="en-US" sz="1200">
                <a:latin typeface="Consolas" panose="020B0609020204030204" pitchFamily="49" charset="0"/>
              </a:rPr>
              <a:t>| summarize</a:t>
            </a:r>
          </a:p>
          <a:p>
            <a:pPr algn="l"/>
            <a:r>
              <a:rPr lang="en-US" sz="1200">
                <a:latin typeface="Consolas" panose="020B0609020204030204" pitchFamily="49" charset="0"/>
              </a:rPr>
              <a:t>    ResourceCount = dcount(ResourceDisplayName),</a:t>
            </a:r>
          </a:p>
          <a:p>
            <a:pPr algn="l"/>
            <a:r>
              <a:rPr lang="en-US" sz="1200">
                <a:latin typeface="Consolas" panose="020B0609020204030204" pitchFamily="49" charset="0"/>
              </a:rPr>
              <a:t>    Resources = make_set(ResourceDisplayName),</a:t>
            </a:r>
          </a:p>
          <a:p>
            <a:pPr algn="l"/>
            <a:r>
              <a:rPr lang="en-US" sz="1200">
                <a:latin typeface="Consolas" panose="020B0609020204030204" pitchFamily="49" charset="0"/>
              </a:rPr>
              <a:t>    AppNames = make_set(AppDisplayName),</a:t>
            </a:r>
          </a:p>
          <a:p>
            <a:pPr algn="l"/>
            <a:r>
              <a:rPr lang="en-US" sz="1200">
                <a:latin typeface="Consolas" panose="020B0609020204030204" pitchFamily="49" charset="0"/>
              </a:rPr>
              <a:t>    IPs = make_set(IPAddress),</a:t>
            </a:r>
          </a:p>
          <a:p>
            <a:pPr algn="l"/>
            <a:r>
              <a:rPr lang="en-US" sz="1200">
                <a:latin typeface="Consolas" panose="020B0609020204030204" pitchFamily="49" charset="0"/>
              </a:rPr>
              <a:t>    UserAgents = make_set(UserAgent),</a:t>
            </a:r>
          </a:p>
          <a:p>
            <a:pPr algn="l"/>
            <a:r>
              <a:rPr lang="en-US" sz="1200">
                <a:latin typeface="Consolas" panose="020B0609020204030204" pitchFamily="49" charset="0"/>
              </a:rPr>
              <a:t>    FirstSeen = min(TimeGenerated),</a:t>
            </a:r>
          </a:p>
          <a:p>
            <a:pPr algn="l"/>
            <a:r>
              <a:rPr lang="en-US" sz="1200">
                <a:latin typeface="Consolas" panose="020B0609020204030204" pitchFamily="49" charset="0"/>
              </a:rPr>
              <a:t>    LastSeen = max(TimeGenerated)</a:t>
            </a:r>
          </a:p>
          <a:p>
            <a:pPr algn="l"/>
            <a:r>
              <a:rPr lang="en-US" sz="1200">
                <a:latin typeface="Consolas" panose="020B0609020204030204" pitchFamily="49" charset="0"/>
              </a:rPr>
              <a:t>    by UserPrincipalName, bin(TimeGenerated, 15m)</a:t>
            </a:r>
          </a:p>
          <a:p>
            <a:pPr algn="l"/>
            <a:r>
              <a:rPr lang="en-US" sz="1200">
                <a:latin typeface="Consolas" panose="020B0609020204030204" pitchFamily="49" charset="0"/>
              </a:rPr>
              <a:t>| where ResourceCount &gt;= 3</a:t>
            </a:r>
          </a:p>
          <a:p>
            <a:pPr algn="l"/>
            <a:r>
              <a:rPr lang="en-US" sz="1200">
                <a:latin typeface="Consolas" panose="020B0609020204030204" pitchFamily="49" charset="0"/>
              </a:rPr>
              <a:t>| order by FirstSeen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146692554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99648-7262-93AA-066A-F25075AB89E9}"/>
              </a:ext>
            </a:extLst>
          </p:cNvPr>
          <p:cNvSpPr>
            <a:spLocks noGrp="1"/>
          </p:cNvSpPr>
          <p:nvPr>
            <p:ph type="title"/>
          </p:nvPr>
        </p:nvSpPr>
        <p:spPr/>
        <p:txBody>
          <a:bodyPr/>
          <a:lstStyle/>
          <a:p>
            <a:r>
              <a:rPr lang="en-US"/>
              <a:t>KQL — App/UserAgent Mismatch Detection</a:t>
            </a:r>
          </a:p>
        </p:txBody>
      </p:sp>
      <p:sp>
        <p:nvSpPr>
          <p:cNvPr id="3" name="Content Placeholder 2">
            <a:extLst>
              <a:ext uri="{FF2B5EF4-FFF2-40B4-BE49-F238E27FC236}">
                <a16:creationId xmlns:a16="http://schemas.microsoft.com/office/drawing/2014/main" id="{9E0D6F2C-CCBB-3DA1-08CE-798DFC9EA479}"/>
              </a:ext>
            </a:extLst>
          </p:cNvPr>
          <p:cNvSpPr>
            <a:spLocks noGrp="1"/>
          </p:cNvSpPr>
          <p:nvPr>
            <p:ph sz="quarter" idx="10"/>
          </p:nvPr>
        </p:nvSpPr>
        <p:spPr/>
        <p:txBody>
          <a:bodyPr>
            <a:noAutofit/>
          </a:bodyPr>
          <a:lstStyle/>
          <a:p>
            <a:pPr>
              <a:lnSpc>
                <a:spcPct val="115000"/>
              </a:lnSpc>
              <a:spcBef>
                <a:spcPts val="600"/>
              </a:spcBef>
            </a:pPr>
            <a:r>
              <a:rPr lang="en-US"/>
              <a:t>Detects tooling like GraphSpy by finding mismatches between AppDisplayName and UserAgent.</a:t>
            </a:r>
          </a:p>
        </p:txBody>
      </p:sp>
    </p:spTree>
    <p:extLst>
      <p:ext uri="{BB962C8B-B14F-4D97-AF65-F5344CB8AC3E}">
        <p14:creationId xmlns:p14="http://schemas.microsoft.com/office/powerpoint/2010/main" val="303957171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82449-1272-E09E-5417-D760539F14CF}"/>
              </a:ext>
            </a:extLst>
          </p:cNvPr>
          <p:cNvSpPr>
            <a:spLocks noGrp="1"/>
          </p:cNvSpPr>
          <p:nvPr>
            <p:ph type="title"/>
          </p:nvPr>
        </p:nvSpPr>
        <p:spPr/>
        <p:txBody>
          <a:bodyPr/>
          <a:lstStyle/>
          <a:p>
            <a:r>
              <a:rPr lang="en-US"/>
              <a:t>KQL — App/UserAgent Mismatch Detection (cont.)</a:t>
            </a:r>
          </a:p>
        </p:txBody>
      </p:sp>
      <p:sp>
        <p:nvSpPr>
          <p:cNvPr id="3" name="Content Placeholder 2">
            <a:extLst>
              <a:ext uri="{FF2B5EF4-FFF2-40B4-BE49-F238E27FC236}">
                <a16:creationId xmlns:a16="http://schemas.microsoft.com/office/drawing/2014/main" id="{24FD9BF8-6BA3-3C21-0259-DA22BEA3C9B0}"/>
              </a:ext>
            </a:extLst>
          </p:cNvPr>
          <p:cNvSpPr>
            <a:spLocks noGrp="1"/>
          </p:cNvSpPr>
          <p:nvPr>
            <p:ph sz="quarter" idx="10"/>
          </p:nvPr>
        </p:nvSpPr>
        <p:spPr/>
        <p:txBody>
          <a:bodyPr>
            <a:noAutofit/>
          </a:bodyPr>
          <a:lstStyle/>
          <a:p>
            <a:pPr>
              <a:lnSpc>
                <a:spcPct val="115000"/>
              </a:lnSpc>
              <a:spcBef>
                <a:spcPts val="600"/>
              </a:spcBef>
            </a:pPr>
            <a:r>
              <a:rPr lang="en-US" sz="1600" b="1"/>
              <a:t>Sample Kusto Query Language (KQL):</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057178BB-DB83-40F9-FE35-416F8D3625C7}"/>
              </a:ext>
            </a:extLst>
          </p:cNvPr>
          <p:cNvSpPr txBox="1"/>
          <p:nvPr/>
        </p:nvSpPr>
        <p:spPr>
          <a:xfrm>
            <a:off x="381000" y="3556000"/>
            <a:ext cx="11430000" cy="4247317"/>
          </a:xfrm>
          <a:prstGeom prst="rect">
            <a:avLst/>
          </a:prstGeom>
          <a:noFill/>
        </p:spPr>
        <p:txBody>
          <a:bodyPr vert="horz" wrap="square" lIns="0" tIns="0" rIns="0" bIns="0" rtlCol="0">
            <a:spAutoFit/>
          </a:bodyPr>
          <a:lstStyle/>
          <a:p>
            <a:pPr algn="l"/>
            <a:r>
              <a:rPr lang="en-US" sz="1200">
                <a:latin typeface="Consolas" panose="020B0609020204030204" pitchFamily="49" charset="0"/>
              </a:rPr>
              <a:t>AADNonInteractiveUserSignInLogs</a:t>
            </a:r>
          </a:p>
          <a:p>
            <a:pPr algn="l"/>
            <a:r>
              <a:rPr lang="en-US" sz="1200">
                <a:latin typeface="Consolas" panose="020B0609020204030204" pitchFamily="49" charset="0"/>
              </a:rPr>
              <a:t>| where TimeGenerated &gt; ago(24h)</a:t>
            </a:r>
          </a:p>
          <a:p>
            <a:pPr algn="l"/>
            <a:r>
              <a:rPr lang="en-US" sz="1200">
                <a:latin typeface="Consolas" panose="020B0609020204030204" pitchFamily="49" charset="0"/>
              </a:rPr>
              <a:t>| where IncomingTokenType == "refreshToken"</a:t>
            </a:r>
          </a:p>
          <a:p>
            <a:pPr algn="l"/>
            <a:r>
              <a:rPr lang="en-US" sz="1200">
                <a:latin typeface="Consolas" panose="020B0609020204030204" pitchFamily="49" charset="0"/>
              </a:rPr>
              <a:t>| where AppDisplayName has_any (</a:t>
            </a:r>
          </a:p>
          <a:p>
            <a:pPr algn="l"/>
            <a:r>
              <a:rPr lang="en-US" sz="1200">
                <a:latin typeface="Consolas" panose="020B0609020204030204" pitchFamily="49" charset="0"/>
              </a:rPr>
              <a:t>    "Azure CLI",</a:t>
            </a:r>
          </a:p>
          <a:p>
            <a:pPr algn="l"/>
            <a:r>
              <a:rPr lang="en-US" sz="1200">
                <a:latin typeface="Consolas" panose="020B0609020204030204" pitchFamily="49" charset="0"/>
              </a:rPr>
              <a:t>    "Microsoft Azure PowerShell",</a:t>
            </a:r>
          </a:p>
          <a:p>
            <a:pPr algn="l"/>
            <a:r>
              <a:rPr lang="en-US" sz="1200">
                <a:latin typeface="Consolas" panose="020B0609020204030204" pitchFamily="49" charset="0"/>
              </a:rPr>
              <a:t>    "Microsoft Office"</a:t>
            </a:r>
          </a:p>
          <a:p>
            <a:pPr algn="l"/>
            <a:r>
              <a:rPr lang="en-US" sz="1200">
                <a:latin typeface="Consolas" panose="020B0609020204030204" pitchFamily="49" charset="0"/>
              </a:rPr>
              <a:t>  )</a:t>
            </a:r>
          </a:p>
          <a:p>
            <a:pPr algn="l"/>
            <a:r>
              <a:rPr lang="en-US" sz="1200">
                <a:latin typeface="Consolas" panose="020B0609020204030204" pitchFamily="49" charset="0"/>
              </a:rPr>
              <a:t>| where isnotempty(UserAgent)</a:t>
            </a:r>
          </a:p>
          <a:p>
            <a:pPr algn="l"/>
            <a:r>
              <a:rPr lang="en-US" sz="1200">
                <a:latin typeface="Consolas" panose="020B0609020204030204" pitchFamily="49" charset="0"/>
              </a:rPr>
              <a:t>| extend IsSuspiciousAgent = case(</a:t>
            </a:r>
          </a:p>
          <a:p>
            <a:pPr algn="l"/>
            <a:r>
              <a:rPr lang="en-US" sz="1200">
                <a:latin typeface="Consolas" panose="020B0609020204030204" pitchFamily="49" charset="0"/>
              </a:rPr>
              <a:t>    AppDisplayName == "Azure CLI"</a:t>
            </a:r>
          </a:p>
          <a:p>
            <a:pPr algn="l"/>
            <a:r>
              <a:rPr lang="en-US" sz="1200">
                <a:latin typeface="Consolas" panose="020B0609020204030204" pitchFamily="49" charset="0"/>
              </a:rPr>
              <a:t>        and UserAgent !startswith "python-requests",</a:t>
            </a:r>
          </a:p>
          <a:p>
            <a:pPr algn="l"/>
            <a:r>
              <a:rPr lang="en-US" sz="1200">
                <a:latin typeface="Consolas" panose="020B0609020204030204" pitchFamily="49" charset="0"/>
              </a:rPr>
              <a:t>        true,</a:t>
            </a:r>
          </a:p>
          <a:p>
            <a:pPr algn="l"/>
            <a:r>
              <a:rPr lang="en-US" sz="1200">
                <a:latin typeface="Consolas" panose="020B0609020204030204" pitchFamily="49" charset="0"/>
              </a:rPr>
              <a:t>    UserAgent has_any (</a:t>
            </a:r>
          </a:p>
          <a:p>
            <a:pPr algn="l"/>
            <a:r>
              <a:rPr lang="en-US" sz="1200">
                <a:latin typeface="Consolas" panose="020B0609020204030204" pitchFamily="49" charset="0"/>
              </a:rPr>
              <a:t>        "GraphSpy", "curl", "Postman", "Mozilla/4.0"</a:t>
            </a:r>
          </a:p>
          <a:p>
            <a:pPr algn="l"/>
            <a:r>
              <a:rPr lang="en-US" sz="1200">
                <a:latin typeface="Consolas" panose="020B0609020204030204" pitchFamily="49" charset="0"/>
              </a:rPr>
              <a:t>    ), true,</a:t>
            </a:r>
          </a:p>
          <a:p>
            <a:pPr algn="l"/>
            <a:r>
              <a:rPr lang="en-US" sz="1200">
                <a:latin typeface="Consolas" panose="020B0609020204030204" pitchFamily="49" charset="0"/>
              </a:rPr>
              <a:t>    false</a:t>
            </a:r>
          </a:p>
          <a:p>
            <a:pPr algn="l"/>
            <a:r>
              <a:rPr lang="en-US" sz="1200">
                <a:latin typeface="Consolas" panose="020B0609020204030204" pitchFamily="49" charset="0"/>
              </a:rPr>
              <a:t>  )</a:t>
            </a:r>
          </a:p>
          <a:p>
            <a:pPr algn="l"/>
            <a:r>
              <a:rPr lang="en-US" sz="1200">
                <a:latin typeface="Consolas" panose="020B0609020204030204" pitchFamily="49" charset="0"/>
              </a:rPr>
              <a:t>| where IsSuspiciousAgent == true</a:t>
            </a:r>
          </a:p>
          <a:p>
            <a:pPr algn="l"/>
            <a:r>
              <a:rPr lang="en-US" sz="1200">
                <a:latin typeface="Consolas" panose="020B0609020204030204" pitchFamily="49" charset="0"/>
              </a:rPr>
              <a:t>| project TimeGenerated, UserPrincipalName,</a:t>
            </a:r>
          </a:p>
          <a:p>
            <a:pPr algn="l"/>
            <a:r>
              <a:rPr lang="en-US" sz="1200">
                <a:latin typeface="Consolas" panose="020B0609020204030204" pitchFamily="49" charset="0"/>
              </a:rPr>
              <a:t>          IPAddress, AppDisplayName, UserAgent,</a:t>
            </a:r>
          </a:p>
          <a:p>
            <a:pPr algn="l"/>
            <a:r>
              <a:rPr lang="en-US" sz="1200">
                <a:latin typeface="Consolas" panose="020B0609020204030204" pitchFamily="49" charset="0"/>
              </a:rPr>
              <a:t>          ResourceDisplayName, ResultType</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12959061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E67D8-AF9E-BAE2-B92C-8F6921B70B43}"/>
              </a:ext>
            </a:extLst>
          </p:cNvPr>
          <p:cNvSpPr>
            <a:spLocks noGrp="1"/>
          </p:cNvSpPr>
          <p:nvPr>
            <p:ph type="title"/>
          </p:nvPr>
        </p:nvSpPr>
        <p:spPr/>
        <p:txBody>
          <a:bodyPr/>
          <a:lstStyle/>
          <a:p>
            <a:r>
              <a:rPr lang="en-US"/>
              <a:t>KQL — Anomalous Token Risk Detections</a:t>
            </a:r>
          </a:p>
        </p:txBody>
      </p:sp>
      <p:sp>
        <p:nvSpPr>
          <p:cNvPr id="3" name="Content Placeholder 2">
            <a:extLst>
              <a:ext uri="{FF2B5EF4-FFF2-40B4-BE49-F238E27FC236}">
                <a16:creationId xmlns:a16="http://schemas.microsoft.com/office/drawing/2014/main" id="{24DCB87C-BE93-34BA-1E18-DEA903E6C383}"/>
              </a:ext>
            </a:extLst>
          </p:cNvPr>
          <p:cNvSpPr>
            <a:spLocks noGrp="1"/>
          </p:cNvSpPr>
          <p:nvPr>
            <p:ph sz="quarter" idx="10"/>
          </p:nvPr>
        </p:nvSpPr>
        <p:spPr/>
        <p:txBody>
          <a:bodyPr>
            <a:noAutofit/>
          </a:bodyPr>
          <a:lstStyle/>
          <a:p>
            <a:pPr>
              <a:lnSpc>
                <a:spcPct val="115000"/>
              </a:lnSpc>
              <a:spcBef>
                <a:spcPts val="600"/>
              </a:spcBef>
            </a:pPr>
            <a:r>
              <a:rPr lang="en-US" sz="2400" b="1"/>
              <a:t>Key risk types:</a:t>
            </a:r>
          </a:p>
          <a:p>
            <a:pPr>
              <a:lnSpc>
                <a:spcPct val="115000"/>
              </a:lnSpc>
              <a:spcBef>
                <a:spcPts val="600"/>
              </a:spcBef>
            </a:pPr>
            <a:r>
              <a:rPr lang="en-US" sz="2400"/>
              <a:t>    anomalousToken - Token characteristics don't match normal patterns (Entra ID P2)</a:t>
            </a:r>
          </a:p>
          <a:p>
            <a:pPr>
              <a:lnSpc>
                <a:spcPct val="115000"/>
              </a:lnSpc>
              <a:spcBef>
                <a:spcPts val="600"/>
              </a:spcBef>
            </a:pPr>
            <a:r>
              <a:rPr lang="en-US" sz="2400"/>
              <a:t>    unfamiliarFeatures - Sign-in properties don't match user's history</a:t>
            </a:r>
          </a:p>
          <a:p>
            <a:pPr>
              <a:lnSpc>
                <a:spcPct val="115000"/>
              </a:lnSpc>
              <a:spcBef>
                <a:spcPts val="600"/>
              </a:spcBef>
            </a:pPr>
            <a:r>
              <a:rPr lang="en-US" sz="2400"/>
              <a:t>    investigationsThreatIntelligence - IP matches known threat actor infrastructure</a:t>
            </a:r>
          </a:p>
        </p:txBody>
      </p:sp>
    </p:spTree>
    <p:extLst>
      <p:ext uri="{BB962C8B-B14F-4D97-AF65-F5344CB8AC3E}">
        <p14:creationId xmlns:p14="http://schemas.microsoft.com/office/powerpoint/2010/main" val="401827921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B2441-E213-1C0D-40FD-09FD0E94DC44}"/>
              </a:ext>
            </a:extLst>
          </p:cNvPr>
          <p:cNvSpPr>
            <a:spLocks noGrp="1"/>
          </p:cNvSpPr>
          <p:nvPr>
            <p:ph type="title"/>
          </p:nvPr>
        </p:nvSpPr>
        <p:spPr/>
        <p:txBody>
          <a:bodyPr/>
          <a:lstStyle/>
          <a:p>
            <a:r>
              <a:rPr lang="en-US"/>
              <a:t>KQL — Anomalous Token Risk Detections (cont.)</a:t>
            </a:r>
          </a:p>
        </p:txBody>
      </p:sp>
      <p:sp>
        <p:nvSpPr>
          <p:cNvPr id="3" name="Content Placeholder 2">
            <a:extLst>
              <a:ext uri="{FF2B5EF4-FFF2-40B4-BE49-F238E27FC236}">
                <a16:creationId xmlns:a16="http://schemas.microsoft.com/office/drawing/2014/main" id="{B206B671-7562-05C0-69C4-2197F5706E3D}"/>
              </a:ext>
            </a:extLst>
          </p:cNvPr>
          <p:cNvSpPr>
            <a:spLocks noGrp="1"/>
          </p:cNvSpPr>
          <p:nvPr>
            <p:ph sz="quarter" idx="10"/>
          </p:nvPr>
        </p:nvSpPr>
        <p:spPr/>
        <p:txBody>
          <a:bodyPr>
            <a:noAutofit/>
          </a:bodyPr>
          <a:lstStyle/>
          <a:p>
            <a:pPr>
              <a:lnSpc>
                <a:spcPct val="115000"/>
              </a:lnSpc>
              <a:spcBef>
                <a:spcPts val="600"/>
              </a:spcBef>
            </a:pPr>
            <a:r>
              <a:rPr lang="en-US" sz="1600" b="1"/>
              <a:t>Sample Kusto Query Language (KQL):</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2C610E67-C791-1685-786F-9C83E78896AF}"/>
              </a:ext>
            </a:extLst>
          </p:cNvPr>
          <p:cNvSpPr txBox="1"/>
          <p:nvPr/>
        </p:nvSpPr>
        <p:spPr>
          <a:xfrm>
            <a:off x="381000" y="3556000"/>
            <a:ext cx="11430000" cy="2585323"/>
          </a:xfrm>
          <a:prstGeom prst="rect">
            <a:avLst/>
          </a:prstGeom>
          <a:noFill/>
        </p:spPr>
        <p:txBody>
          <a:bodyPr vert="horz" wrap="square" lIns="0" tIns="0" rIns="0" bIns="0" rtlCol="0">
            <a:spAutoFit/>
          </a:bodyPr>
          <a:lstStyle/>
          <a:p>
            <a:pPr algn="l"/>
            <a:r>
              <a:rPr lang="en-US" sz="1200">
                <a:latin typeface="Consolas" panose="020B0609020204030204" pitchFamily="49" charset="0"/>
              </a:rPr>
              <a:t>AADNonInteractiveUserSignInLogs</a:t>
            </a:r>
          </a:p>
          <a:p>
            <a:pPr algn="l"/>
            <a:r>
              <a:rPr lang="en-US" sz="1200">
                <a:latin typeface="Consolas" panose="020B0609020204030204" pitchFamily="49" charset="0"/>
              </a:rPr>
              <a:t>| where TimeGenerated &gt; ago(48h)</a:t>
            </a:r>
          </a:p>
          <a:p>
            <a:pPr algn="l"/>
            <a:r>
              <a:rPr lang="en-US" sz="1200">
                <a:latin typeface="Consolas" panose="020B0609020204030204" pitchFamily="49" charset="0"/>
              </a:rPr>
              <a:t>| where IsRisky == true</a:t>
            </a:r>
          </a:p>
          <a:p>
            <a:pPr algn="l"/>
            <a:r>
              <a:rPr lang="en-US" sz="1200">
                <a:latin typeface="Consolas" panose="020B0609020204030204" pitchFamily="49" charset="0"/>
              </a:rPr>
              <a:t>    or RiskLevelDuringSignIn in ("medium", "high")</a:t>
            </a:r>
          </a:p>
          <a:p>
            <a:pPr algn="l"/>
            <a:r>
              <a:rPr lang="en-US" sz="1200">
                <a:latin typeface="Consolas" panose="020B0609020204030204" pitchFamily="49" charset="0"/>
              </a:rPr>
              <a:t>    or RiskEventTypes_V2 has_any (</a:t>
            </a:r>
          </a:p>
          <a:p>
            <a:pPr algn="l"/>
            <a:r>
              <a:rPr lang="en-US" sz="1200">
                <a:latin typeface="Consolas" panose="020B0609020204030204" pitchFamily="49" charset="0"/>
              </a:rPr>
              <a:t>        "anomalousToken",</a:t>
            </a:r>
          </a:p>
          <a:p>
            <a:pPr algn="l"/>
            <a:r>
              <a:rPr lang="en-US" sz="1200">
                <a:latin typeface="Consolas" panose="020B0609020204030204" pitchFamily="49" charset="0"/>
              </a:rPr>
              <a:t>        "unfamiliarFeatures",</a:t>
            </a:r>
          </a:p>
          <a:p>
            <a:pPr algn="l"/>
            <a:r>
              <a:rPr lang="en-US" sz="1200">
                <a:latin typeface="Consolas" panose="020B0609020204030204" pitchFamily="49" charset="0"/>
              </a:rPr>
              <a:t>        "investigationsThreatIntelligence"</a:t>
            </a:r>
          </a:p>
          <a:p>
            <a:pPr algn="l"/>
            <a:r>
              <a:rPr lang="en-US" sz="1200">
                <a:latin typeface="Consolas" panose="020B0609020204030204" pitchFamily="49" charset="0"/>
              </a:rPr>
              <a:t>    )</a:t>
            </a:r>
          </a:p>
          <a:p>
            <a:pPr algn="l"/>
            <a:r>
              <a:rPr lang="en-US" sz="1200">
                <a:latin typeface="Consolas" panose="020B0609020204030204" pitchFamily="49" charset="0"/>
              </a:rPr>
              <a:t>| project TimeGenerated, UserPrincipalName,</a:t>
            </a:r>
          </a:p>
          <a:p>
            <a:pPr algn="l"/>
            <a:r>
              <a:rPr lang="en-US" sz="1200">
                <a:latin typeface="Consolas" panose="020B0609020204030204" pitchFamily="49" charset="0"/>
              </a:rPr>
              <a:t>          IPAddress, AppDisplayName,</a:t>
            </a:r>
          </a:p>
          <a:p>
            <a:pPr algn="l"/>
            <a:r>
              <a:rPr lang="en-US" sz="1200">
                <a:latin typeface="Consolas" panose="020B0609020204030204" pitchFamily="49" charset="0"/>
              </a:rPr>
              <a:t>          ResourceDisplayName, IncomingTokenType,</a:t>
            </a:r>
          </a:p>
          <a:p>
            <a:pPr algn="l"/>
            <a:r>
              <a:rPr lang="en-US" sz="1200">
                <a:latin typeface="Consolas" panose="020B0609020204030204" pitchFamily="49" charset="0"/>
              </a:rPr>
              <a:t>          RiskLevelDuringSignIn, RiskEventTypes_V2</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37973875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31C9C-0AE5-4B02-21CF-370A4DB2E25B}"/>
              </a:ext>
            </a:extLst>
          </p:cNvPr>
          <p:cNvSpPr>
            <a:spLocks noGrp="1"/>
          </p:cNvSpPr>
          <p:nvPr>
            <p:ph type="title"/>
          </p:nvPr>
        </p:nvSpPr>
        <p:spPr/>
        <p:txBody>
          <a:bodyPr/>
          <a:lstStyle/>
          <a:p>
            <a:r>
              <a:rPr lang="en-US"/>
              <a:t>KQL — Token Replay Detection (IP Mismatch)</a:t>
            </a:r>
          </a:p>
        </p:txBody>
      </p:sp>
      <p:sp>
        <p:nvSpPr>
          <p:cNvPr id="3" name="Content Placeholder 2">
            <a:extLst>
              <a:ext uri="{FF2B5EF4-FFF2-40B4-BE49-F238E27FC236}">
                <a16:creationId xmlns:a16="http://schemas.microsoft.com/office/drawing/2014/main" id="{D3546D0F-E61C-CF14-4856-3763FECED836}"/>
              </a:ext>
            </a:extLst>
          </p:cNvPr>
          <p:cNvSpPr>
            <a:spLocks noGrp="1"/>
          </p:cNvSpPr>
          <p:nvPr>
            <p:ph sz="quarter" idx="10"/>
          </p:nvPr>
        </p:nvSpPr>
        <p:spPr/>
        <p:txBody>
          <a:bodyPr/>
          <a:lstStyle/>
          <a:p>
            <a:endParaRPr lang="en-US"/>
          </a:p>
        </p:txBody>
      </p:sp>
      <p:sp>
        <p:nvSpPr>
          <p:cNvPr id="4" name="TextBox 3">
            <a:extLst>
              <a:ext uri="{FF2B5EF4-FFF2-40B4-BE49-F238E27FC236}">
                <a16:creationId xmlns:a16="http://schemas.microsoft.com/office/drawing/2014/main" id="{25EFAA99-3041-D6CF-BCC5-860AD6915554}"/>
              </a:ext>
            </a:extLst>
          </p:cNvPr>
          <p:cNvSpPr txBox="1"/>
          <p:nvPr/>
        </p:nvSpPr>
        <p:spPr>
          <a:xfrm>
            <a:off x="381000" y="2286000"/>
            <a:ext cx="11430000" cy="5201424"/>
          </a:xfrm>
          <a:prstGeom prst="rect">
            <a:avLst/>
          </a:prstGeom>
          <a:noFill/>
        </p:spPr>
        <p:txBody>
          <a:bodyPr vert="horz" wrap="square" lIns="0" tIns="0" rIns="0" bIns="0" rtlCol="0">
            <a:spAutoFit/>
          </a:bodyPr>
          <a:lstStyle/>
          <a:p>
            <a:pPr algn="l"/>
            <a:r>
              <a:rPr lang="en-US" sz="1300">
                <a:latin typeface="Consolas" panose="020B0609020204030204" pitchFamily="49" charset="0"/>
              </a:rPr>
              <a:t>let TimeWindow = 10m;</a:t>
            </a:r>
          </a:p>
          <a:p>
            <a:pPr algn="l"/>
            <a:r>
              <a:rPr lang="en-US" sz="1300">
                <a:latin typeface="Consolas" panose="020B0609020204030204" pitchFamily="49" charset="0"/>
              </a:rPr>
              <a:t>SigninLogs</a:t>
            </a:r>
          </a:p>
          <a:p>
            <a:pPr algn="l"/>
            <a:r>
              <a:rPr lang="en-US" sz="1300">
                <a:latin typeface="Consolas" panose="020B0609020204030204" pitchFamily="49" charset="0"/>
              </a:rPr>
              <a:t>| where TimeGenerated &gt; ago(7d)</a:t>
            </a:r>
          </a:p>
          <a:p>
            <a:pPr algn="l"/>
            <a:r>
              <a:rPr lang="en-US" sz="1300">
                <a:latin typeface="Consolas" panose="020B0609020204030204" pitchFamily="49" charset="0"/>
              </a:rPr>
              <a:t>| where ResultType == 0</a:t>
            </a:r>
          </a:p>
          <a:p>
            <a:pPr algn="l"/>
            <a:r>
              <a:rPr lang="en-US" sz="1300">
                <a:latin typeface="Consolas" panose="020B0609020204030204" pitchFamily="49" charset="0"/>
              </a:rPr>
              <a:t>| project IssuanceTime = TimeGenerated,</a:t>
            </a:r>
          </a:p>
          <a:p>
            <a:pPr algn="l"/>
            <a:r>
              <a:rPr lang="en-US" sz="1300">
                <a:latin typeface="Consolas" panose="020B0609020204030204" pitchFamily="49" charset="0"/>
              </a:rPr>
              <a:t>          UserPrincipalName,</a:t>
            </a:r>
          </a:p>
          <a:p>
            <a:pPr algn="l"/>
            <a:r>
              <a:rPr lang="en-US" sz="1300">
                <a:latin typeface="Consolas" panose="020B0609020204030204" pitchFamily="49" charset="0"/>
              </a:rPr>
              <a:t>          IssuanceIP = IPAddress,</a:t>
            </a:r>
          </a:p>
          <a:p>
            <a:pPr algn="l"/>
            <a:r>
              <a:rPr lang="en-US" sz="1300">
                <a:latin typeface="Consolas" panose="020B0609020204030204" pitchFamily="49" charset="0"/>
              </a:rPr>
              <a:t>          AppDisplayName</a:t>
            </a:r>
          </a:p>
          <a:p>
            <a:pPr algn="l"/>
            <a:r>
              <a:rPr lang="en-US" sz="1300">
                <a:latin typeface="Consolas" panose="020B0609020204030204" pitchFamily="49" charset="0"/>
              </a:rPr>
              <a:t>| join kind=inner (</a:t>
            </a:r>
          </a:p>
          <a:p>
            <a:pPr algn="l"/>
            <a:r>
              <a:rPr lang="en-US" sz="1300">
                <a:latin typeface="Consolas" panose="020B0609020204030204" pitchFamily="49" charset="0"/>
              </a:rPr>
              <a:t>    AADNonInteractiveUserSignInLogs</a:t>
            </a:r>
          </a:p>
          <a:p>
            <a:pPr algn="l"/>
            <a:r>
              <a:rPr lang="en-US" sz="1300">
                <a:latin typeface="Consolas" panose="020B0609020204030204" pitchFamily="49" charset="0"/>
              </a:rPr>
              <a:t>    | where TimeGenerated &gt; ago(7d)</a:t>
            </a:r>
          </a:p>
          <a:p>
            <a:pPr algn="l"/>
            <a:r>
              <a:rPr lang="en-US" sz="1300">
                <a:latin typeface="Consolas" panose="020B0609020204030204" pitchFamily="49" charset="0"/>
              </a:rPr>
              <a:t>    | where ResultType == 0</a:t>
            </a:r>
          </a:p>
          <a:p>
            <a:pPr algn="l"/>
            <a:r>
              <a:rPr lang="en-US" sz="1300">
                <a:latin typeface="Consolas" panose="020B0609020204030204" pitchFamily="49" charset="0"/>
              </a:rPr>
              <a:t>    | project UseTime = TimeGenerated,</a:t>
            </a:r>
          </a:p>
          <a:p>
            <a:pPr algn="l"/>
            <a:r>
              <a:rPr lang="en-US" sz="1300">
                <a:latin typeface="Consolas" panose="020B0609020204030204" pitchFamily="49" charset="0"/>
              </a:rPr>
              <a:t>              UserPrincipalName,</a:t>
            </a:r>
          </a:p>
          <a:p>
            <a:pPr algn="l"/>
            <a:r>
              <a:rPr lang="en-US" sz="1300">
                <a:latin typeface="Consolas" panose="020B0609020204030204" pitchFamily="49" charset="0"/>
              </a:rPr>
              <a:t>              UseIP = IPAddress,</a:t>
            </a:r>
          </a:p>
          <a:p>
            <a:pPr algn="l"/>
            <a:r>
              <a:rPr lang="en-US" sz="1300">
                <a:latin typeface="Consolas" panose="020B0609020204030204" pitchFamily="49" charset="0"/>
              </a:rPr>
              <a:t>              ResourceDisplayName</a:t>
            </a:r>
          </a:p>
          <a:p>
            <a:pPr algn="l"/>
            <a:r>
              <a:rPr lang="en-US" sz="1300">
                <a:latin typeface="Consolas" panose="020B0609020204030204" pitchFamily="49" charset="0"/>
              </a:rPr>
              <a:t>) on UserPrincipalName</a:t>
            </a:r>
          </a:p>
          <a:p>
            <a:pPr algn="l"/>
            <a:r>
              <a:rPr lang="en-US" sz="1300">
                <a:latin typeface="Consolas" panose="020B0609020204030204" pitchFamily="49" charset="0"/>
              </a:rPr>
              <a:t>| where UseTime between</a:t>
            </a:r>
          </a:p>
          <a:p>
            <a:pPr algn="l"/>
            <a:r>
              <a:rPr lang="en-US" sz="1300">
                <a:latin typeface="Consolas" panose="020B0609020204030204" pitchFamily="49" charset="0"/>
              </a:rPr>
              <a:t>    (IssuanceTime .. (IssuanceTime + TimeWindow))</a:t>
            </a:r>
          </a:p>
          <a:p>
            <a:pPr algn="l"/>
            <a:r>
              <a:rPr lang="en-US" sz="1300">
                <a:latin typeface="Consolas" panose="020B0609020204030204" pitchFamily="49" charset="0"/>
              </a:rPr>
              <a:t>| where IssuanceIP != UseIP</a:t>
            </a:r>
          </a:p>
          <a:p>
            <a:pPr algn="l"/>
            <a:r>
              <a:rPr lang="en-US" sz="1300">
                <a:latin typeface="Consolas" panose="020B0609020204030204" pitchFamily="49" charset="0"/>
              </a:rPr>
              <a:t>| summarize Count = count(),</a:t>
            </a:r>
          </a:p>
          <a:p>
            <a:pPr algn="l"/>
            <a:r>
              <a:rPr lang="en-US" sz="1300">
                <a:latin typeface="Consolas" panose="020B0609020204030204" pitchFamily="49" charset="0"/>
              </a:rPr>
              <a:t>    Resources = make_set(ResourceDisplayName)</a:t>
            </a:r>
          </a:p>
          <a:p>
            <a:pPr algn="l"/>
            <a:r>
              <a:rPr lang="en-US" sz="1300">
                <a:latin typeface="Consolas" panose="020B0609020204030204" pitchFamily="49" charset="0"/>
              </a:rPr>
              <a:t>    by UserPrincipalName,</a:t>
            </a:r>
          </a:p>
          <a:p>
            <a:pPr algn="l"/>
            <a:r>
              <a:rPr lang="en-US" sz="1300">
                <a:latin typeface="Consolas" panose="020B0609020204030204" pitchFamily="49" charset="0"/>
              </a:rPr>
              <a:t>    strcat(IssuanceIP, " -&gt; ", UseIP)</a:t>
            </a:r>
          </a:p>
          <a:p>
            <a:pPr algn="l"/>
            <a:r>
              <a:rPr lang="en-US" sz="1300">
                <a:latin typeface="Consolas" panose="020B0609020204030204" pitchFamily="49" charset="0"/>
              </a:rPr>
              <a:t>| where Count &gt; 3</a:t>
            </a:r>
          </a:p>
          <a:p>
            <a:pPr algn="l"/>
            <a:r>
              <a:rPr lang="en-US" sz="1300">
                <a:latin typeface="Consolas" panose="020B0609020204030204" pitchFamily="49" charset="0"/>
              </a:rPr>
              <a:t>| order by Count desc</a:t>
            </a:r>
            <a:endParaRPr lang="en-US" sz="1300" dirty="0" err="1">
              <a:latin typeface="Consolas" panose="020B0609020204030204" pitchFamily="49" charset="0"/>
            </a:endParaRPr>
          </a:p>
        </p:txBody>
      </p:sp>
    </p:spTree>
    <p:extLst>
      <p:ext uri="{BB962C8B-B14F-4D97-AF65-F5344CB8AC3E}">
        <p14:creationId xmlns:p14="http://schemas.microsoft.com/office/powerpoint/2010/main" val="246092541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8B103-7C39-5491-40E7-2E65BA6C190B}"/>
              </a:ext>
            </a:extLst>
          </p:cNvPr>
          <p:cNvSpPr>
            <a:spLocks noGrp="1"/>
          </p:cNvSpPr>
          <p:nvPr>
            <p:ph type="title"/>
          </p:nvPr>
        </p:nvSpPr>
        <p:spPr/>
        <p:txBody>
          <a:bodyPr/>
          <a:lstStyle/>
          <a:p>
            <a:r>
              <a:rPr lang="en-US"/>
              <a:t>Incident Response — Token Revocation</a:t>
            </a:r>
          </a:p>
        </p:txBody>
      </p:sp>
      <p:sp>
        <p:nvSpPr>
          <p:cNvPr id="3" name="Content Placeholder 2">
            <a:extLst>
              <a:ext uri="{FF2B5EF4-FFF2-40B4-BE49-F238E27FC236}">
                <a16:creationId xmlns:a16="http://schemas.microsoft.com/office/drawing/2014/main" id="{FA16D802-75CF-F7B1-9D3A-5042E230DEDB}"/>
              </a:ext>
            </a:extLst>
          </p:cNvPr>
          <p:cNvSpPr>
            <a:spLocks noGrp="1"/>
          </p:cNvSpPr>
          <p:nvPr>
            <p:ph sz="quarter" idx="10"/>
          </p:nvPr>
        </p:nvSpPr>
        <p:spPr/>
        <p:txBody>
          <a:bodyPr>
            <a:noAutofit/>
          </a:bodyPr>
          <a:lstStyle/>
          <a:p>
            <a:pPr>
              <a:lnSpc>
                <a:spcPct val="115000"/>
              </a:lnSpc>
              <a:spcBef>
                <a:spcPts val="600"/>
              </a:spcBef>
            </a:pPr>
            <a:r>
              <a:rPr lang="en-US" sz="2400" b="1"/>
              <a:t>Step 1 - Revoke refresh tokens (critical):</a:t>
            </a:r>
          </a:p>
          <a:p>
            <a:pPr>
              <a:lnSpc>
                <a:spcPct val="115000"/>
              </a:lnSpc>
              <a:spcBef>
                <a:spcPts val="600"/>
              </a:spcBef>
            </a:pPr>
            <a:r>
              <a:rPr lang="en-US" sz="2400"/>
              <a:t>This blocks the attacker from obtaining new access tokens. Next refresh attempt returns error AADSTS50173.</a:t>
            </a:r>
          </a:p>
          <a:p>
            <a:pPr>
              <a:lnSpc>
                <a:spcPct val="115000"/>
              </a:lnSpc>
              <a:spcBef>
                <a:spcPts val="600"/>
              </a:spcBef>
            </a:pPr>
            <a:r>
              <a:rPr lang="en-US" sz="2400" b="1"/>
              <a:t>Step 2 - Block sign-in if confirmed compromised:</a:t>
            </a:r>
          </a:p>
          <a:p>
            <a:pPr>
              <a:lnSpc>
                <a:spcPct val="115000"/>
              </a:lnSpc>
              <a:spcBef>
                <a:spcPts val="600"/>
              </a:spcBef>
            </a:pPr>
            <a:r>
              <a:rPr lang="en-US" sz="2400"/>
              <a:t>The problem: Access tokens already in the attacker's possession remain valid for up to 90 minutes - unless CAE is in place.</a:t>
            </a:r>
          </a:p>
        </p:txBody>
      </p:sp>
      <p:sp>
        <p:nvSpPr>
          <p:cNvPr id="4" name="TextBox 3">
            <a:extLst>
              <a:ext uri="{FF2B5EF4-FFF2-40B4-BE49-F238E27FC236}">
                <a16:creationId xmlns:a16="http://schemas.microsoft.com/office/drawing/2014/main" id="{566CD216-1B50-E91A-76E5-2B583362B016}"/>
              </a:ext>
            </a:extLst>
          </p:cNvPr>
          <p:cNvSpPr txBox="1"/>
          <p:nvPr/>
        </p:nvSpPr>
        <p:spPr>
          <a:xfrm>
            <a:off x="381000" y="3429000"/>
            <a:ext cx="11430000" cy="369332"/>
          </a:xfrm>
          <a:prstGeom prst="rect">
            <a:avLst/>
          </a:prstGeom>
          <a:noFill/>
        </p:spPr>
        <p:txBody>
          <a:bodyPr vert="horz" wrap="square" lIns="0" tIns="0" rIns="0" bIns="0" rtlCol="0">
            <a:spAutoFit/>
          </a:bodyPr>
          <a:lstStyle/>
          <a:p>
            <a:pPr algn="l"/>
            <a:r>
              <a:rPr lang="en-US" sz="1200">
                <a:latin typeface="Consolas" panose="020B0609020204030204" pitchFamily="49" charset="0"/>
              </a:rPr>
              <a:t>Connect-MgGraph -Scopes "User.ReadWrite.All"</a:t>
            </a:r>
          </a:p>
          <a:p>
            <a:pPr algn="l"/>
            <a:r>
              <a:rPr lang="en-US" sz="1200">
                <a:latin typeface="Consolas" panose="020B0609020204030204" pitchFamily="49" charset="0"/>
              </a:rPr>
              <a:t>Invoke-MgInvalidateUserRefreshToken -UserId &lt;UPN&gt;</a:t>
            </a:r>
            <a:endParaRPr lang="en-US" sz="1200" dirty="0" err="1">
              <a:latin typeface="Consolas" panose="020B0609020204030204" pitchFamily="49" charset="0"/>
            </a:endParaRPr>
          </a:p>
        </p:txBody>
      </p:sp>
    </p:spTree>
    <p:extLst>
      <p:ext uri="{BB962C8B-B14F-4D97-AF65-F5344CB8AC3E}">
        <p14:creationId xmlns:p14="http://schemas.microsoft.com/office/powerpoint/2010/main" val="365011741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89D78-5985-64D0-A120-B848040DE274}"/>
              </a:ext>
            </a:extLst>
          </p:cNvPr>
          <p:cNvSpPr>
            <a:spLocks noGrp="1"/>
          </p:cNvSpPr>
          <p:nvPr>
            <p:ph type="title"/>
          </p:nvPr>
        </p:nvSpPr>
        <p:spPr/>
        <p:txBody>
          <a:bodyPr/>
          <a:lstStyle/>
          <a:p>
            <a:r>
              <a:rPr lang="en-US"/>
              <a:t>Continuous Access Evaluation (CAE)</a:t>
            </a:r>
          </a:p>
        </p:txBody>
      </p:sp>
      <p:sp>
        <p:nvSpPr>
          <p:cNvPr id="3" name="Content Placeholder 2">
            <a:extLst>
              <a:ext uri="{FF2B5EF4-FFF2-40B4-BE49-F238E27FC236}">
                <a16:creationId xmlns:a16="http://schemas.microsoft.com/office/drawing/2014/main" id="{382BC20D-9186-AE93-2FE1-07F2D13200AB}"/>
              </a:ext>
            </a:extLst>
          </p:cNvPr>
          <p:cNvSpPr>
            <a:spLocks noGrp="1"/>
          </p:cNvSpPr>
          <p:nvPr>
            <p:ph sz="quarter" idx="10"/>
          </p:nvPr>
        </p:nvSpPr>
        <p:spPr/>
        <p:txBody>
          <a:bodyPr>
            <a:noAutofit/>
          </a:bodyPr>
          <a:lstStyle/>
          <a:p>
            <a:pPr>
              <a:lnSpc>
                <a:spcPct val="115000"/>
              </a:lnSpc>
              <a:spcBef>
                <a:spcPts val="600"/>
              </a:spcBef>
            </a:pPr>
            <a:r>
              <a:rPr lang="en-US" sz="2000"/>
              <a:t>CAE allows Entra ID to push revocation signals to resource providers in near-real-time. When a revocation event occurs, the resource provider rejects the token immediately - without waiting for expiry.</a:t>
            </a:r>
          </a:p>
          <a:p>
            <a:pPr>
              <a:lnSpc>
                <a:spcPct val="115000"/>
              </a:lnSpc>
              <a:spcBef>
                <a:spcPts val="600"/>
              </a:spcBef>
            </a:pPr>
            <a:r>
              <a:rPr lang="en-US" sz="2000" b="1"/>
              <a:t>CAE revocation triggers:</a:t>
            </a:r>
          </a:p>
          <a:p>
            <a:pPr>
              <a:lnSpc>
                <a:spcPct val="115000"/>
              </a:lnSpc>
              <a:spcBef>
                <a:spcPts val="600"/>
              </a:spcBef>
            </a:pPr>
            <a:r>
              <a:rPr lang="en-US" sz="2000"/>
              <a:t>    User account is disabled or deleted</a:t>
            </a:r>
          </a:p>
          <a:p>
            <a:pPr>
              <a:lnSpc>
                <a:spcPct val="115000"/>
              </a:lnSpc>
              <a:spcBef>
                <a:spcPts val="600"/>
              </a:spcBef>
            </a:pPr>
            <a:r>
              <a:rPr lang="en-US" sz="2000"/>
              <a:t>    User password is changed or reset</a:t>
            </a:r>
          </a:p>
        </p:txBody>
      </p:sp>
    </p:spTree>
    <p:extLst>
      <p:ext uri="{BB962C8B-B14F-4D97-AF65-F5344CB8AC3E}">
        <p14:creationId xmlns:p14="http://schemas.microsoft.com/office/powerpoint/2010/main" val="213178910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60A4-08BD-B680-62A1-E7A990F889ED}"/>
              </a:ext>
            </a:extLst>
          </p:cNvPr>
          <p:cNvSpPr>
            <a:spLocks noGrp="1"/>
          </p:cNvSpPr>
          <p:nvPr>
            <p:ph type="title"/>
          </p:nvPr>
        </p:nvSpPr>
        <p:spPr/>
        <p:txBody>
          <a:bodyPr/>
          <a:lstStyle/>
          <a:p>
            <a:r>
              <a:rPr lang="en-US"/>
              <a:t>Continuous Access Evaluation (CAE) (cont. 2)</a:t>
            </a:r>
          </a:p>
        </p:txBody>
      </p:sp>
      <p:sp>
        <p:nvSpPr>
          <p:cNvPr id="3" name="Content Placeholder 2">
            <a:extLst>
              <a:ext uri="{FF2B5EF4-FFF2-40B4-BE49-F238E27FC236}">
                <a16:creationId xmlns:a16="http://schemas.microsoft.com/office/drawing/2014/main" id="{CDFF0136-D5A9-FD5E-C17F-9A2B67821728}"/>
              </a:ext>
            </a:extLst>
          </p:cNvPr>
          <p:cNvSpPr>
            <a:spLocks noGrp="1"/>
          </p:cNvSpPr>
          <p:nvPr>
            <p:ph sz="quarter" idx="10"/>
          </p:nvPr>
        </p:nvSpPr>
        <p:spPr/>
        <p:txBody>
          <a:bodyPr>
            <a:noAutofit/>
          </a:bodyPr>
          <a:lstStyle/>
          <a:p>
            <a:pPr>
              <a:lnSpc>
                <a:spcPct val="115000"/>
              </a:lnSpc>
              <a:spcBef>
                <a:spcPts val="600"/>
              </a:spcBef>
            </a:pPr>
            <a:r>
              <a:rPr lang="en-US" sz="2000"/>
              <a:t>    Admin revokes all refresh tokens (Invoke-MgInvalidateUserRefreshToken)</a:t>
            </a:r>
          </a:p>
          <a:p>
            <a:pPr>
              <a:lnSpc>
                <a:spcPct val="115000"/>
              </a:lnSpc>
              <a:spcBef>
                <a:spcPts val="600"/>
              </a:spcBef>
            </a:pPr>
            <a:r>
              <a:rPr lang="en-US" sz="2000"/>
              <a:t>    Entra ID Protection elevates user to high risk</a:t>
            </a:r>
          </a:p>
          <a:p>
            <a:pPr>
              <a:lnSpc>
                <a:spcPct val="115000"/>
              </a:lnSpc>
              <a:spcBef>
                <a:spcPts val="600"/>
              </a:spcBef>
            </a:pPr>
            <a:r>
              <a:rPr lang="en-US" sz="2000"/>
              <a:t>    Token exported to untrusted network (location-based CAE)</a:t>
            </a:r>
          </a:p>
          <a:p>
            <a:pPr>
              <a:lnSpc>
                <a:spcPct val="115000"/>
              </a:lnSpc>
              <a:spcBef>
                <a:spcPts val="600"/>
              </a:spcBef>
            </a:pPr>
            <a:r>
              <a:rPr lang="en-US" sz="2000" b="1"/>
              <a:t>CAE-capable resources (near-real-time revocation):</a:t>
            </a:r>
          </a:p>
          <a:p>
            <a:pPr>
              <a:lnSpc>
                <a:spcPct val="115000"/>
              </a:lnSpc>
              <a:spcBef>
                <a:spcPts val="600"/>
              </a:spcBef>
            </a:pPr>
            <a:r>
              <a:rPr lang="en-US" sz="2000"/>
              <a:t>    Microsoft Graph, Exchange Online, SharePoint, Teams</a:t>
            </a:r>
          </a:p>
        </p:txBody>
      </p:sp>
    </p:spTree>
    <p:extLst>
      <p:ext uri="{BB962C8B-B14F-4D97-AF65-F5344CB8AC3E}">
        <p14:creationId xmlns:p14="http://schemas.microsoft.com/office/powerpoint/2010/main" val="69281633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F860-64D2-E187-7C7B-73C26186BDA9}"/>
              </a:ext>
            </a:extLst>
          </p:cNvPr>
          <p:cNvSpPr>
            <a:spLocks noGrp="1"/>
          </p:cNvSpPr>
          <p:nvPr>
            <p:ph type="title"/>
          </p:nvPr>
        </p:nvSpPr>
        <p:spPr/>
        <p:txBody>
          <a:bodyPr/>
          <a:lstStyle/>
          <a:p>
            <a:r>
              <a:rPr lang="en-US"/>
              <a:t>Continuous Access Evaluation (CAE) (cont. 3)</a:t>
            </a:r>
          </a:p>
        </p:txBody>
      </p:sp>
      <p:sp>
        <p:nvSpPr>
          <p:cNvPr id="3" name="Content Placeholder 2">
            <a:extLst>
              <a:ext uri="{FF2B5EF4-FFF2-40B4-BE49-F238E27FC236}">
                <a16:creationId xmlns:a16="http://schemas.microsoft.com/office/drawing/2014/main" id="{EE68E623-8511-A280-1D55-8D5D0C6CAAF9}"/>
              </a:ext>
            </a:extLst>
          </p:cNvPr>
          <p:cNvSpPr>
            <a:spLocks noGrp="1"/>
          </p:cNvSpPr>
          <p:nvPr>
            <p:ph sz="quarter" idx="10"/>
          </p:nvPr>
        </p:nvSpPr>
        <p:spPr/>
        <p:txBody>
          <a:bodyPr>
            <a:noAutofit/>
          </a:bodyPr>
          <a:lstStyle/>
          <a:p>
            <a:pPr>
              <a:lnSpc>
                <a:spcPct val="115000"/>
              </a:lnSpc>
              <a:spcBef>
                <a:spcPts val="600"/>
              </a:spcBef>
            </a:pPr>
            <a:r>
              <a:rPr lang="en-US" sz="2000" b="1"/>
              <a:t>Non-CAE resources (tokens valid until expiry):</a:t>
            </a:r>
          </a:p>
          <a:p>
            <a:pPr>
              <a:lnSpc>
                <a:spcPct val="115000"/>
              </a:lnSpc>
              <a:spcBef>
                <a:spcPts val="600"/>
              </a:spcBef>
            </a:pPr>
            <a:r>
              <a:rPr lang="en-US" sz="2000"/>
              <a:t>    Third-party APIs, non-CAE-integrated apps</a:t>
            </a:r>
          </a:p>
        </p:txBody>
      </p:sp>
    </p:spTree>
    <p:extLst>
      <p:ext uri="{BB962C8B-B14F-4D97-AF65-F5344CB8AC3E}">
        <p14:creationId xmlns:p14="http://schemas.microsoft.com/office/powerpoint/2010/main" val="367566917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5C811-9058-C08C-81F5-B72C965B1BFD}"/>
              </a:ext>
            </a:extLst>
          </p:cNvPr>
          <p:cNvSpPr>
            <a:spLocks noGrp="1"/>
          </p:cNvSpPr>
          <p:nvPr>
            <p:ph type="title"/>
          </p:nvPr>
        </p:nvSpPr>
        <p:spPr/>
        <p:txBody>
          <a:bodyPr/>
          <a:lstStyle/>
          <a:p>
            <a:r>
              <a:rPr lang="en-US"/>
              <a:t>Hardening Controls</a:t>
            </a:r>
          </a:p>
        </p:txBody>
      </p:sp>
      <p:graphicFrame>
        <p:nvGraphicFramePr>
          <p:cNvPr id="4" name="Content Placeholder 3">
            <a:extLst>
              <a:ext uri="{FF2B5EF4-FFF2-40B4-BE49-F238E27FC236}">
                <a16:creationId xmlns:a16="http://schemas.microsoft.com/office/drawing/2014/main" id="{796C765C-3587-9480-DA6F-A7D3D286EAB6}"/>
              </a:ext>
            </a:extLst>
          </p:cNvPr>
          <p:cNvGraphicFramePr>
            <a:graphicFrameLocks noGrp="1"/>
          </p:cNvGraphicFramePr>
          <p:nvPr>
            <p:ph sz="quarter" idx="10"/>
            <p:extLst>
              <p:ext uri="{D42A27DB-BD31-4B8C-83A1-F6EECF244321}">
                <p14:modId xmlns:p14="http://schemas.microsoft.com/office/powerpoint/2010/main" val="833975692"/>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3722884200"/>
                    </a:ext>
                  </a:extLst>
                </a:gridCol>
                <a:gridCol w="5715000">
                  <a:extLst>
                    <a:ext uri="{9D8B030D-6E8A-4147-A177-3AD203B41FA5}">
                      <a16:colId xmlns:a16="http://schemas.microsoft.com/office/drawing/2014/main" val="2064759205"/>
                    </a:ext>
                  </a:extLst>
                </a:gridCol>
              </a:tblGrid>
              <a:tr h="627063">
                <a:tc>
                  <a:txBody>
                    <a:bodyPr/>
                    <a:lstStyle/>
                    <a:p>
                      <a:r>
                        <a:rPr lang="en-US" sz="1200" b="1"/>
                        <a:t>Control</a:t>
                      </a:r>
                    </a:p>
                  </a:txBody>
                  <a:tcPr/>
                </a:tc>
                <a:tc>
                  <a:txBody>
                    <a:bodyPr/>
                    <a:lstStyle/>
                    <a:p>
                      <a:r>
                        <a:rPr lang="en-US" sz="1200" b="1"/>
                        <a:t>What It Prevents</a:t>
                      </a:r>
                    </a:p>
                  </a:txBody>
                  <a:tcPr/>
                </a:tc>
                <a:extLst>
                  <a:ext uri="{0D108BD9-81ED-4DB2-BD59-A6C34878D82A}">
                    <a16:rowId xmlns:a16="http://schemas.microsoft.com/office/drawing/2014/main" val="315379711"/>
                  </a:ext>
                </a:extLst>
              </a:tr>
              <a:tr h="627063">
                <a:tc>
                  <a:txBody>
                    <a:bodyPr/>
                    <a:lstStyle/>
                    <a:p>
                      <a:r>
                        <a:rPr lang="en-US" sz="1200"/>
                        <a:t>Continuous Access Evaluation (CAE)</a:t>
                      </a:r>
                    </a:p>
                  </a:txBody>
                  <a:tcPr/>
                </a:tc>
                <a:tc>
                  <a:txBody>
                    <a:bodyPr/>
                    <a:lstStyle/>
                    <a:p>
                      <a:r>
                        <a:rPr lang="en-US" sz="1200"/>
                        <a:t>Closes the access token validity gap after revocation</a:t>
                      </a:r>
                    </a:p>
                  </a:txBody>
                  <a:tcPr/>
                </a:tc>
                <a:extLst>
                  <a:ext uri="{0D108BD9-81ED-4DB2-BD59-A6C34878D82A}">
                    <a16:rowId xmlns:a16="http://schemas.microsoft.com/office/drawing/2014/main" val="581096916"/>
                  </a:ext>
                </a:extLst>
              </a:tr>
              <a:tr h="627063">
                <a:tc>
                  <a:txBody>
                    <a:bodyPr/>
                    <a:lstStyle/>
                    <a:p>
                      <a:r>
                        <a:rPr lang="en-US" sz="1200"/>
                        <a:t>Token Protection (CA preview)</a:t>
                      </a:r>
                    </a:p>
                  </a:txBody>
                  <a:tcPr/>
                </a:tc>
                <a:tc>
                  <a:txBody>
                    <a:bodyPr/>
                    <a:lstStyle/>
                    <a:p>
                      <a:r>
                        <a:rPr lang="en-US" sz="1200"/>
                        <a:t>Cryptographically binds tokens to the issuing device</a:t>
                      </a:r>
                    </a:p>
                  </a:txBody>
                  <a:tcPr/>
                </a:tc>
                <a:extLst>
                  <a:ext uri="{0D108BD9-81ED-4DB2-BD59-A6C34878D82A}">
                    <a16:rowId xmlns:a16="http://schemas.microsoft.com/office/drawing/2014/main" val="95755262"/>
                  </a:ext>
                </a:extLst>
              </a:tr>
              <a:tr h="627063">
                <a:tc>
                  <a:txBody>
                    <a:bodyPr/>
                    <a:lstStyle/>
                    <a:p>
                      <a:r>
                        <a:rPr lang="fr-FR" sz="1200"/>
                        <a:t>Conditional Access: Require Compliant Device</a:t>
                      </a:r>
                      <a:endParaRPr lang="en-US" sz="1200"/>
                    </a:p>
                  </a:txBody>
                  <a:tcPr/>
                </a:tc>
                <a:tc>
                  <a:txBody>
                    <a:bodyPr/>
                    <a:lstStyle/>
                    <a:p>
                      <a:r>
                        <a:rPr lang="en-US" sz="1200"/>
                        <a:t>Prevents token use from non-managed devices</a:t>
                      </a:r>
                    </a:p>
                  </a:txBody>
                  <a:tcPr/>
                </a:tc>
                <a:extLst>
                  <a:ext uri="{0D108BD9-81ED-4DB2-BD59-A6C34878D82A}">
                    <a16:rowId xmlns:a16="http://schemas.microsoft.com/office/drawing/2014/main" val="1977485274"/>
                  </a:ext>
                </a:extLst>
              </a:tr>
              <a:tr h="627063">
                <a:tc>
                  <a:txBody>
                    <a:bodyPr/>
                    <a:lstStyle/>
                    <a:p>
                      <a:r>
                        <a:rPr lang="en-US" sz="1200"/>
                        <a:t>Conditional Access: Named Locations</a:t>
                      </a:r>
                    </a:p>
                  </a:txBody>
                  <a:tcPr/>
                </a:tc>
                <a:tc>
                  <a:txBody>
                    <a:bodyPr/>
                    <a:lstStyle/>
                    <a:p>
                      <a:r>
                        <a:rPr lang="en-US" sz="1200"/>
                        <a:t>Restricts token use to known corporate IPs</a:t>
                      </a:r>
                    </a:p>
                  </a:txBody>
                  <a:tcPr/>
                </a:tc>
                <a:extLst>
                  <a:ext uri="{0D108BD9-81ED-4DB2-BD59-A6C34878D82A}">
                    <a16:rowId xmlns:a16="http://schemas.microsoft.com/office/drawing/2014/main" val="2358712273"/>
                  </a:ext>
                </a:extLst>
              </a:tr>
              <a:tr h="627063">
                <a:tc>
                  <a:txBody>
                    <a:bodyPr/>
                    <a:lstStyle/>
                    <a:p>
                      <a:r>
                        <a:rPr lang="en-US" sz="1200"/>
                        <a:t>Credential Guard (Windows)</a:t>
                      </a:r>
                    </a:p>
                  </a:txBody>
                  <a:tcPr/>
                </a:tc>
                <a:tc>
                  <a:txBody>
                    <a:bodyPr/>
                    <a:lstStyle/>
                    <a:p>
                      <a:r>
                        <a:rPr lang="en-US" sz="1200"/>
                        <a:t>Protects PRT on Windows endpoints</a:t>
                      </a:r>
                    </a:p>
                  </a:txBody>
                  <a:tcPr/>
                </a:tc>
                <a:extLst>
                  <a:ext uri="{0D108BD9-81ED-4DB2-BD59-A6C34878D82A}">
                    <a16:rowId xmlns:a16="http://schemas.microsoft.com/office/drawing/2014/main" val="1223142227"/>
                  </a:ext>
                </a:extLst>
              </a:tr>
              <a:tr h="627063">
                <a:tc>
                  <a:txBody>
                    <a:bodyPr/>
                    <a:lstStyle/>
                    <a:p>
                      <a:r>
                        <a:rPr lang="en-US" sz="1200"/>
                        <a:t>Token Lifetime Policies</a:t>
                      </a:r>
                    </a:p>
                  </a:txBody>
                  <a:tcPr/>
                </a:tc>
                <a:tc>
                  <a:txBody>
                    <a:bodyPr/>
                    <a:lstStyle/>
                    <a:p>
                      <a:r>
                        <a:rPr lang="en-US" sz="1200"/>
                        <a:t>Reduce access token lifetime; enforce re-auth frequency</a:t>
                      </a:r>
                    </a:p>
                  </a:txBody>
                  <a:tcPr/>
                </a:tc>
                <a:extLst>
                  <a:ext uri="{0D108BD9-81ED-4DB2-BD59-A6C34878D82A}">
                    <a16:rowId xmlns:a16="http://schemas.microsoft.com/office/drawing/2014/main" val="218701042"/>
                  </a:ext>
                </a:extLst>
              </a:tr>
              <a:tr h="627063">
                <a:tc>
                  <a:txBody>
                    <a:bodyPr/>
                    <a:lstStyle/>
                    <a:p>
                      <a:r>
                        <a:rPr lang="en-US" sz="1200"/>
                        <a:t>Disable FOCI Apps</a:t>
                      </a:r>
                    </a:p>
                  </a:txBody>
                  <a:tcPr/>
                </a:tc>
                <a:tc>
                  <a:txBody>
                    <a:bodyPr/>
                    <a:lstStyle/>
                    <a:p>
                      <a:r>
                        <a:rPr lang="en-US" sz="1200"/>
                        <a:t>Block first-party apps not needed in your environment</a:t>
                      </a:r>
                    </a:p>
                  </a:txBody>
                  <a:tcPr/>
                </a:tc>
                <a:extLst>
                  <a:ext uri="{0D108BD9-81ED-4DB2-BD59-A6C34878D82A}">
                    <a16:rowId xmlns:a16="http://schemas.microsoft.com/office/drawing/2014/main" val="193910377"/>
                  </a:ext>
                </a:extLst>
              </a:tr>
            </a:tbl>
          </a:graphicData>
        </a:graphic>
      </p:graphicFrame>
    </p:spTree>
    <p:extLst>
      <p:ext uri="{BB962C8B-B14F-4D97-AF65-F5344CB8AC3E}">
        <p14:creationId xmlns:p14="http://schemas.microsoft.com/office/powerpoint/2010/main" val="137913128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ACE0F-E2B4-D1EC-14A1-F43F34CCC7AD}"/>
              </a:ext>
            </a:extLst>
          </p:cNvPr>
          <p:cNvSpPr>
            <a:spLocks noGrp="1"/>
          </p:cNvSpPr>
          <p:nvPr>
            <p:ph type="title"/>
          </p:nvPr>
        </p:nvSpPr>
        <p:spPr/>
        <p:txBody>
          <a:bodyPr/>
          <a:lstStyle/>
          <a:p>
            <a:r>
              <a:rPr lang="en-US"/>
              <a:t>Post-Incident Investigation</a:t>
            </a:r>
          </a:p>
        </p:txBody>
      </p:sp>
      <p:sp>
        <p:nvSpPr>
          <p:cNvPr id="3" name="Content Placeholder 2">
            <a:extLst>
              <a:ext uri="{FF2B5EF4-FFF2-40B4-BE49-F238E27FC236}">
                <a16:creationId xmlns:a16="http://schemas.microsoft.com/office/drawing/2014/main" id="{C2F8D038-B0D2-0015-6691-08D6A710181A}"/>
              </a:ext>
            </a:extLst>
          </p:cNvPr>
          <p:cNvSpPr>
            <a:spLocks noGrp="1"/>
          </p:cNvSpPr>
          <p:nvPr>
            <p:ph sz="quarter" idx="10"/>
          </p:nvPr>
        </p:nvSpPr>
        <p:spPr/>
        <p:txBody>
          <a:bodyPr>
            <a:noAutofit/>
          </a:bodyPr>
          <a:lstStyle/>
          <a:p>
            <a:pPr>
              <a:lnSpc>
                <a:spcPct val="115000"/>
              </a:lnSpc>
              <a:spcBef>
                <a:spcPts val="600"/>
              </a:spcBef>
            </a:pPr>
            <a:r>
              <a:rPr lang="en-US" b="1"/>
              <a:t>Identify what the attacker accessed:</a:t>
            </a:r>
          </a:p>
          <a:p>
            <a:pPr>
              <a:lnSpc>
                <a:spcPct val="115000"/>
              </a:lnSpc>
              <a:spcBef>
                <a:spcPts val="600"/>
              </a:spcBef>
            </a:pPr>
            <a:r>
              <a:rPr lang="en-US" b="1"/>
              <a:t>Distinguish attacker IPs from legitimate IPs:</a:t>
            </a:r>
          </a:p>
          <a:p>
            <a:pPr>
              <a:lnSpc>
                <a:spcPct val="115000"/>
              </a:lnSpc>
              <a:spcBef>
                <a:spcPts val="600"/>
              </a:spcBef>
            </a:pPr>
            <a:r>
              <a:rPr lang="en-US"/>
              <a:t>Recovery: Force password reset, re-enable account, force Multi-Factor Authentication (MFA) re-registration, verify no attacker-registered Multi-Factor Authentication (MFA) methods.</a:t>
            </a:r>
          </a:p>
        </p:txBody>
      </p:sp>
      <p:sp>
        <p:nvSpPr>
          <p:cNvPr id="4" name="TextBox 3">
            <a:extLst>
              <a:ext uri="{FF2B5EF4-FFF2-40B4-BE49-F238E27FC236}">
                <a16:creationId xmlns:a16="http://schemas.microsoft.com/office/drawing/2014/main" id="{49361C55-E056-87E2-69AA-A1B366B7AA8B}"/>
              </a:ext>
            </a:extLst>
          </p:cNvPr>
          <p:cNvSpPr txBox="1"/>
          <p:nvPr/>
        </p:nvSpPr>
        <p:spPr>
          <a:xfrm>
            <a:off x="381000" y="3429000"/>
            <a:ext cx="11430000" cy="1107996"/>
          </a:xfrm>
          <a:prstGeom prst="rect">
            <a:avLst/>
          </a:prstGeom>
          <a:noFill/>
        </p:spPr>
        <p:txBody>
          <a:bodyPr vert="horz" wrap="square" lIns="0" tIns="0" rIns="0" bIns="0" rtlCol="0">
            <a:spAutoFit/>
          </a:bodyPr>
          <a:lstStyle/>
          <a:p>
            <a:pPr algn="l"/>
            <a:r>
              <a:rPr lang="en-US" sz="1200">
                <a:latin typeface="Consolas" panose="020B0609020204030204" pitchFamily="49" charset="0"/>
              </a:rPr>
              <a:t>AADNonInteractiveUserSignInLogs</a:t>
            </a:r>
          </a:p>
          <a:p>
            <a:pPr algn="l"/>
            <a:r>
              <a:rPr lang="en-US" sz="1200">
                <a:latin typeface="Consolas" panose="020B0609020204030204" pitchFamily="49" charset="0"/>
              </a:rPr>
              <a:t>| where UserPrincipalName == "&lt;affected-UPN&gt;"</a:t>
            </a:r>
          </a:p>
          <a:p>
            <a:pPr algn="l"/>
            <a:r>
              <a:rPr lang="en-US" sz="1200">
                <a:latin typeface="Consolas" panose="020B0609020204030204" pitchFamily="49" charset="0"/>
              </a:rPr>
              <a:t>| where IncomingTokenType == "refreshToken"</a:t>
            </a:r>
          </a:p>
          <a:p>
            <a:pPr algn="l"/>
            <a:r>
              <a:rPr lang="en-US" sz="1200">
                <a:latin typeface="Consolas" panose="020B0609020204030204" pitchFamily="49" charset="0"/>
              </a:rPr>
              <a:t>| where ResultType == 0</a:t>
            </a:r>
          </a:p>
          <a:p>
            <a:pPr algn="l"/>
            <a:r>
              <a:rPr lang="en-US" sz="1200">
                <a:latin typeface="Consolas" panose="020B0609020204030204" pitchFamily="49" charset="0"/>
              </a:rPr>
              <a:t>| distinct IPAddress, UserAgent,</a:t>
            </a:r>
          </a:p>
          <a:p>
            <a:pPr algn="l"/>
            <a:r>
              <a:rPr lang="en-US" sz="1200">
                <a:latin typeface="Consolas" panose="020B0609020204030204" pitchFamily="49" charset="0"/>
              </a:rPr>
              <a:t>    AppDisplayName, ResourceDisplayName</a:t>
            </a:r>
            <a:endParaRPr lang="en-US" sz="1200" dirty="0" err="1">
              <a:latin typeface="Consolas" panose="020B0609020204030204" pitchFamily="49" charset="0"/>
            </a:endParaRPr>
          </a:p>
        </p:txBody>
      </p:sp>
    </p:spTree>
    <p:extLst>
      <p:ext uri="{BB962C8B-B14F-4D97-AF65-F5344CB8AC3E}">
        <p14:creationId xmlns:p14="http://schemas.microsoft.com/office/powerpoint/2010/main" val="242555093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05CB7-8B2E-1B3E-5380-F6DD22E51CAB}"/>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159491FE-81C4-A47E-D2C3-7B0DAC61A163}"/>
              </a:ext>
            </a:extLst>
          </p:cNvPr>
          <p:cNvSpPr>
            <a:spLocks noGrp="1"/>
          </p:cNvSpPr>
          <p:nvPr>
            <p:ph sz="quarter" idx="10"/>
          </p:nvPr>
        </p:nvSpPr>
        <p:spPr/>
        <p:txBody>
          <a:bodyPr>
            <a:noAutofit/>
          </a:bodyPr>
          <a:lstStyle/>
          <a:p>
            <a:pPr>
              <a:lnSpc>
                <a:spcPct val="115000"/>
              </a:lnSpc>
              <a:spcBef>
                <a:spcPts val="600"/>
              </a:spcBef>
            </a:pPr>
            <a:r>
              <a:rPr lang="en-US" sz="2200"/>
              <a:t>Refresh tokens are the primary target - they provide up to 90 days of persistent access</a:t>
            </a:r>
          </a:p>
          <a:p>
            <a:pPr>
              <a:lnSpc>
                <a:spcPct val="115000"/>
              </a:lnSpc>
              <a:spcBef>
                <a:spcPts val="600"/>
              </a:spcBef>
            </a:pPr>
            <a:r>
              <a:rPr lang="en-US" sz="2200"/>
              <a:t>FOCI allows one stolen refresh token to access ANY Microsoft service the user can reach</a:t>
            </a:r>
          </a:p>
        </p:txBody>
      </p:sp>
    </p:spTree>
    <p:extLst>
      <p:ext uri="{BB962C8B-B14F-4D97-AF65-F5344CB8AC3E}">
        <p14:creationId xmlns:p14="http://schemas.microsoft.com/office/powerpoint/2010/main" val="271846996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30BD5-2FCF-FDD1-8380-37FF7A2327D3}"/>
              </a:ext>
            </a:extLst>
          </p:cNvPr>
          <p:cNvSpPr>
            <a:spLocks noGrp="1"/>
          </p:cNvSpPr>
          <p:nvPr>
            <p:ph type="title"/>
          </p:nvPr>
        </p:nvSpPr>
        <p:spPr/>
        <p:txBody>
          <a:bodyPr/>
          <a:lstStyle/>
          <a:p>
            <a:r>
              <a:rPr lang="en-US"/>
              <a:t>Key Takeaways (cont. 2)</a:t>
            </a:r>
          </a:p>
        </p:txBody>
      </p:sp>
      <p:sp>
        <p:nvSpPr>
          <p:cNvPr id="3" name="Content Placeholder 2">
            <a:extLst>
              <a:ext uri="{FF2B5EF4-FFF2-40B4-BE49-F238E27FC236}">
                <a16:creationId xmlns:a16="http://schemas.microsoft.com/office/drawing/2014/main" id="{C4D55C11-D61E-A4A2-91B2-EA37E6591738}"/>
              </a:ext>
            </a:extLst>
          </p:cNvPr>
          <p:cNvSpPr>
            <a:spLocks noGrp="1"/>
          </p:cNvSpPr>
          <p:nvPr>
            <p:ph sz="quarter" idx="10"/>
          </p:nvPr>
        </p:nvSpPr>
        <p:spPr/>
        <p:txBody>
          <a:bodyPr>
            <a:noAutofit/>
          </a:bodyPr>
          <a:lstStyle/>
          <a:p>
            <a:pPr>
              <a:lnSpc>
                <a:spcPct val="115000"/>
              </a:lnSpc>
              <a:spcBef>
                <a:spcPts val="600"/>
              </a:spcBef>
            </a:pPr>
            <a:r>
              <a:rPr lang="en-US" sz="2200"/>
              <a:t>AADNonInteractiveUserSignInLogs is the primary detection surface for token abuse</a:t>
            </a:r>
          </a:p>
          <a:p>
            <a:pPr>
              <a:lnSpc>
                <a:spcPct val="115000"/>
              </a:lnSpc>
              <a:spcBef>
                <a:spcPts val="600"/>
              </a:spcBef>
            </a:pPr>
            <a:r>
              <a:rPr lang="en-US" sz="2200"/>
              <a:t>Look for: IP mismatches, FOCI pivoting (3+ resources in 15 min), UserAgent mismatches</a:t>
            </a:r>
          </a:p>
          <a:p>
            <a:pPr>
              <a:lnSpc>
                <a:spcPct val="115000"/>
              </a:lnSpc>
              <a:spcBef>
                <a:spcPts val="600"/>
              </a:spcBef>
            </a:pPr>
            <a:r>
              <a:rPr lang="en-US" sz="2200"/>
              <a:t>Revoking refresh tokens stops future issuance, but CAE is required for immediate access token revocation</a:t>
            </a:r>
          </a:p>
          <a:p>
            <a:pPr>
              <a:lnSpc>
                <a:spcPct val="115000"/>
              </a:lnSpc>
              <a:spcBef>
                <a:spcPts val="600"/>
              </a:spcBef>
            </a:pPr>
            <a:r>
              <a:rPr lang="en-US" sz="2200"/>
              <a:t>Token Protection (preview) will cryptographically bind tokens to devices - the definitive future control</a:t>
            </a:r>
          </a:p>
          <a:p>
            <a:pPr>
              <a:lnSpc>
                <a:spcPct val="115000"/>
              </a:lnSpc>
              <a:spcBef>
                <a:spcPts val="600"/>
              </a:spcBef>
            </a:pPr>
            <a:r>
              <a:rPr lang="en-US" sz="2200"/>
              <a:t>What comes next: Module 03 - Logic App Abuse (RBAC exploitation, trigger URL harvesting, managed identity exfiltration)</a:t>
            </a:r>
          </a:p>
        </p:txBody>
      </p:sp>
    </p:spTree>
    <p:extLst>
      <p:ext uri="{BB962C8B-B14F-4D97-AF65-F5344CB8AC3E}">
        <p14:creationId xmlns:p14="http://schemas.microsoft.com/office/powerpoint/2010/main" val="234421950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2EF86-94D2-EB6F-ABF7-7B5CF05F7B4C}"/>
              </a:ext>
            </a:extLst>
          </p:cNvPr>
          <p:cNvSpPr>
            <a:spLocks noGrp="1"/>
          </p:cNvSpPr>
          <p:nvPr>
            <p:ph type="title"/>
          </p:nvPr>
        </p:nvSpPr>
        <p:spPr/>
        <p:txBody>
          <a:bodyPr/>
          <a:lstStyle/>
          <a:p>
            <a:r>
              <a:rPr lang="en-US"/>
              <a:t>References</a:t>
            </a:r>
          </a:p>
        </p:txBody>
      </p:sp>
      <p:graphicFrame>
        <p:nvGraphicFramePr>
          <p:cNvPr id="4" name="Content Placeholder 3">
            <a:extLst>
              <a:ext uri="{FF2B5EF4-FFF2-40B4-BE49-F238E27FC236}">
                <a16:creationId xmlns:a16="http://schemas.microsoft.com/office/drawing/2014/main" id="{1FBB1178-8C94-8332-A003-EC7177BAF8C5}"/>
              </a:ext>
            </a:extLst>
          </p:cNvPr>
          <p:cNvGraphicFramePr>
            <a:graphicFrameLocks noGrp="1"/>
          </p:cNvGraphicFramePr>
          <p:nvPr>
            <p:ph sz="quarter" idx="10"/>
            <p:extLst>
              <p:ext uri="{D42A27DB-BD31-4B8C-83A1-F6EECF244321}">
                <p14:modId xmlns:p14="http://schemas.microsoft.com/office/powerpoint/2010/main" val="1813385822"/>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567480154"/>
                    </a:ext>
                  </a:extLst>
                </a:gridCol>
                <a:gridCol w="5715000">
                  <a:extLst>
                    <a:ext uri="{9D8B030D-6E8A-4147-A177-3AD203B41FA5}">
                      <a16:colId xmlns:a16="http://schemas.microsoft.com/office/drawing/2014/main" val="1375817731"/>
                    </a:ext>
                  </a:extLst>
                </a:gridCol>
              </a:tblGrid>
              <a:tr h="557389">
                <a:tc>
                  <a:txBody>
                    <a:bodyPr/>
                    <a:lstStyle/>
                    <a:p>
                      <a:r>
                        <a:rPr lang="en-US" sz="1200" b="1"/>
                        <a:t>Resource</a:t>
                      </a:r>
                    </a:p>
                  </a:txBody>
                  <a:tcPr/>
                </a:tc>
                <a:tc>
                  <a:txBody>
                    <a:bodyPr/>
                    <a:lstStyle/>
                    <a:p>
                      <a:r>
                        <a:rPr lang="en-US" sz="1200" b="1"/>
                        <a:t>Link</a:t>
                      </a:r>
                    </a:p>
                  </a:txBody>
                  <a:tcPr/>
                </a:tc>
                <a:extLst>
                  <a:ext uri="{0D108BD9-81ED-4DB2-BD59-A6C34878D82A}">
                    <a16:rowId xmlns:a16="http://schemas.microsoft.com/office/drawing/2014/main" val="2497308444"/>
                  </a:ext>
                </a:extLst>
              </a:tr>
              <a:tr h="557389">
                <a:tc>
                  <a:txBody>
                    <a:bodyPr/>
                    <a:lstStyle/>
                    <a:p>
                      <a:r>
                        <a:rPr lang="en-US" sz="1200"/>
                        <a:t>Token Theft Playbook</a:t>
                      </a:r>
                    </a:p>
                  </a:txBody>
                  <a:tcPr/>
                </a:tc>
                <a:tc>
                  <a:txBody>
                    <a:bodyPr/>
                    <a:lstStyle/>
                    <a:p>
                      <a:r>
                        <a:rPr lang="en-US" sz="1200"/>
                        <a:t>learn.microsoft.com/security/operations/token-theft-playbook</a:t>
                      </a:r>
                    </a:p>
                  </a:txBody>
                  <a:tcPr/>
                </a:tc>
                <a:extLst>
                  <a:ext uri="{0D108BD9-81ED-4DB2-BD59-A6C34878D82A}">
                    <a16:rowId xmlns:a16="http://schemas.microsoft.com/office/drawing/2014/main" val="2939768389"/>
                  </a:ext>
                </a:extLst>
              </a:tr>
              <a:tr h="557389">
                <a:tc>
                  <a:txBody>
                    <a:bodyPr/>
                    <a:lstStyle/>
                    <a:p>
                      <a:r>
                        <a:rPr lang="en-US" sz="1200"/>
                        <a:t>Understanding Tokens in Entra ID</a:t>
                      </a:r>
                    </a:p>
                  </a:txBody>
                  <a:tcPr/>
                </a:tc>
                <a:tc>
                  <a:txBody>
                    <a:bodyPr/>
                    <a:lstStyle/>
                    <a:p>
                      <a:r>
                        <a:rPr lang="en-US" sz="1200"/>
                        <a:t>learn.microsoft.com/entra/identity/devices/concept-tokens-microsoft-entra-id</a:t>
                      </a:r>
                    </a:p>
                  </a:txBody>
                  <a:tcPr/>
                </a:tc>
                <a:extLst>
                  <a:ext uri="{0D108BD9-81ED-4DB2-BD59-A6C34878D82A}">
                    <a16:rowId xmlns:a16="http://schemas.microsoft.com/office/drawing/2014/main" val="3873491475"/>
                  </a:ext>
                </a:extLst>
              </a:tr>
              <a:tr h="557389">
                <a:tc>
                  <a:txBody>
                    <a:bodyPr/>
                    <a:lstStyle/>
                    <a:p>
                      <a:r>
                        <a:rPr lang="en-US" sz="1200"/>
                        <a:t>Protecting Tokens in Entra ID</a:t>
                      </a:r>
                    </a:p>
                  </a:txBody>
                  <a:tcPr/>
                </a:tc>
                <a:tc>
                  <a:txBody>
                    <a:bodyPr/>
                    <a:lstStyle/>
                    <a:p>
                      <a:r>
                        <a:rPr lang="en-US" sz="1200"/>
                        <a:t>learn.microsoft.com/entra/identity/devices/protecting-tokens-microsoft-entra-id</a:t>
                      </a:r>
                    </a:p>
                  </a:txBody>
                  <a:tcPr/>
                </a:tc>
                <a:extLst>
                  <a:ext uri="{0D108BD9-81ED-4DB2-BD59-A6C34878D82A}">
                    <a16:rowId xmlns:a16="http://schemas.microsoft.com/office/drawing/2014/main" val="1933766309"/>
                  </a:ext>
                </a:extLst>
              </a:tr>
              <a:tr h="557389">
                <a:tc>
                  <a:txBody>
                    <a:bodyPr/>
                    <a:lstStyle/>
                    <a:p>
                      <a:r>
                        <a:rPr lang="en-US" sz="1200"/>
                        <a:t>Token Protection in Conditional Access</a:t>
                      </a:r>
                    </a:p>
                  </a:txBody>
                  <a:tcPr/>
                </a:tc>
                <a:tc>
                  <a:txBody>
                    <a:bodyPr/>
                    <a:lstStyle/>
                    <a:p>
                      <a:r>
                        <a:rPr lang="en-US" sz="1200"/>
                        <a:t>learn.microsoft.com/entra/identity/conditional-access/concept-token-protection</a:t>
                      </a:r>
                    </a:p>
                  </a:txBody>
                  <a:tcPr/>
                </a:tc>
                <a:extLst>
                  <a:ext uri="{0D108BD9-81ED-4DB2-BD59-A6C34878D82A}">
                    <a16:rowId xmlns:a16="http://schemas.microsoft.com/office/drawing/2014/main" val="225924414"/>
                  </a:ext>
                </a:extLst>
              </a:tr>
              <a:tr h="557389">
                <a:tc>
                  <a:txBody>
                    <a:bodyPr/>
                    <a:lstStyle/>
                    <a:p>
                      <a:r>
                        <a:rPr lang="en-US" sz="1200"/>
                        <a:t>Continuous Access Evaluation</a:t>
                      </a:r>
                    </a:p>
                  </a:txBody>
                  <a:tcPr/>
                </a:tc>
                <a:tc>
                  <a:txBody>
                    <a:bodyPr/>
                    <a:lstStyle/>
                    <a:p>
                      <a:r>
                        <a:rPr lang="en-US" sz="1200"/>
                        <a:t>learn.microsoft.com/entra/identity/conditional-access/concept-continuous-access-evaluation</a:t>
                      </a:r>
                    </a:p>
                  </a:txBody>
                  <a:tcPr/>
                </a:tc>
                <a:extLst>
                  <a:ext uri="{0D108BD9-81ED-4DB2-BD59-A6C34878D82A}">
                    <a16:rowId xmlns:a16="http://schemas.microsoft.com/office/drawing/2014/main" val="1757375588"/>
                  </a:ext>
                </a:extLst>
              </a:tr>
              <a:tr h="557389">
                <a:tc>
                  <a:txBody>
                    <a:bodyPr/>
                    <a:lstStyle/>
                    <a:p>
                      <a:r>
                        <a:rPr lang="en-US" sz="1200"/>
                        <a:t>Revoke User Access in Entra ID</a:t>
                      </a:r>
                    </a:p>
                  </a:txBody>
                  <a:tcPr/>
                </a:tc>
                <a:tc>
                  <a:txBody>
                    <a:bodyPr/>
                    <a:lstStyle/>
                    <a:p>
                      <a:r>
                        <a:rPr lang="en-US" sz="1200"/>
                        <a:t>learn.microsoft.com/entra/identity/users/users-revoke-access</a:t>
                      </a:r>
                    </a:p>
                  </a:txBody>
                  <a:tcPr/>
                </a:tc>
                <a:extLst>
                  <a:ext uri="{0D108BD9-81ED-4DB2-BD59-A6C34878D82A}">
                    <a16:rowId xmlns:a16="http://schemas.microsoft.com/office/drawing/2014/main" val="1639880974"/>
                  </a:ext>
                </a:extLst>
              </a:tr>
              <a:tr h="557389">
                <a:tc>
                  <a:txBody>
                    <a:bodyPr/>
                    <a:lstStyle/>
                    <a:p>
                      <a:r>
                        <a:rPr lang="en-US" sz="1200"/>
                        <a:t>AADNonInteractiveUserSignInLogs Schema</a:t>
                      </a:r>
                    </a:p>
                  </a:txBody>
                  <a:tcPr/>
                </a:tc>
                <a:tc>
                  <a:txBody>
                    <a:bodyPr/>
                    <a:lstStyle/>
                    <a:p>
                      <a:r>
                        <a:rPr lang="en-US" sz="1200"/>
                        <a:t>learn.microsoft.com/azure/azure-monitor/reference/tables/aadnoninteractiveusersigninlogs</a:t>
                      </a:r>
                    </a:p>
                  </a:txBody>
                  <a:tcPr/>
                </a:tc>
                <a:extLst>
                  <a:ext uri="{0D108BD9-81ED-4DB2-BD59-A6C34878D82A}">
                    <a16:rowId xmlns:a16="http://schemas.microsoft.com/office/drawing/2014/main" val="1801593900"/>
                  </a:ext>
                </a:extLst>
              </a:tr>
              <a:tr h="557389">
                <a:tc>
                  <a:txBody>
                    <a:bodyPr/>
                    <a:lstStyle/>
                    <a:p>
                      <a:r>
                        <a:rPr lang="en-US" sz="1200"/>
                        <a:t>Entra ID Protection Risk Detections</a:t>
                      </a:r>
                    </a:p>
                  </a:txBody>
                  <a:tcPr/>
                </a:tc>
                <a:tc>
                  <a:txBody>
                    <a:bodyPr/>
                    <a:lstStyle/>
                    <a:p>
                      <a:r>
                        <a:rPr lang="en-US" sz="1200"/>
                        <a:t>learn.microsoft.com/entra/id-protection/concept-identity-protection-risks</a:t>
                      </a:r>
                    </a:p>
                  </a:txBody>
                  <a:tcPr/>
                </a:tc>
                <a:extLst>
                  <a:ext uri="{0D108BD9-81ED-4DB2-BD59-A6C34878D82A}">
                    <a16:rowId xmlns:a16="http://schemas.microsoft.com/office/drawing/2014/main" val="693727145"/>
                  </a:ext>
                </a:extLst>
              </a:tr>
            </a:tbl>
          </a:graphicData>
        </a:graphic>
      </p:graphicFrame>
    </p:spTree>
    <p:extLst>
      <p:ext uri="{BB962C8B-B14F-4D97-AF65-F5344CB8AC3E}">
        <p14:creationId xmlns:p14="http://schemas.microsoft.com/office/powerpoint/2010/main" val="2333962433"/>
      </p:ext>
    </p:extLst>
  </p:cSld>
  <p:clrMapOvr>
    <a:masterClrMapping/>
  </p:clrMapOvr>
  <p:transition>
    <p:fade/>
  </p:transition>
</p:sld>
</file>

<file path=ppt/theme/theme1.xml><?xml version="1.0" encoding="utf-8"?>
<a:theme xmlns:a="http://schemas.openxmlformats.org/drawingml/2006/main" name="Microsoft Security template">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 Security brand template.potx" id="{C2238F5F-88FF-42D2-B2B7-0AA68068F996}" vid="{6D1610A7-A963-40D5-9923-AA1928F2CA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Security brand template</Template>
  <TotalTime>0</TotalTime>
  <Words>5513</Words>
  <Application>Microsoft Office PowerPoint</Application>
  <PresentationFormat>Widescreen</PresentationFormat>
  <Paragraphs>420</Paragraphs>
  <Slides>32</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Arial</vt:lpstr>
      <vt:lpstr>Consolas</vt:lpstr>
      <vt:lpstr>Segoe UI</vt:lpstr>
      <vt:lpstr>Segoe UI Semibold</vt:lpstr>
      <vt:lpstr>Wingdings</vt:lpstr>
      <vt:lpstr>Microsoft Security template</vt:lpstr>
      <vt:lpstr>Cloud Token Abuse</vt:lpstr>
      <vt:lpstr>Agenda</vt:lpstr>
      <vt:lpstr>Agenda (cont. 2)</vt:lpstr>
      <vt:lpstr>Objective and MITRE Mapping</vt:lpstr>
      <vt:lpstr>Objective and MITRE Mapping (cont.)</vt:lpstr>
      <vt:lpstr>Token Types — What Attackers Target</vt:lpstr>
      <vt:lpstr>Key Tables for This Module</vt:lpstr>
      <vt:lpstr>Browser Token Theft — How It Works</vt:lpstr>
      <vt:lpstr>Browser Token Theft — How It Works (cont. 2)</vt:lpstr>
      <vt:lpstr>FOCI Token Exchange — Cross-Service Pivoting</vt:lpstr>
      <vt:lpstr>FOCI Token Exchange — Cross-Service Pivoting (cont.)</vt:lpstr>
      <vt:lpstr>GraphSpy — Post-Authentication Enumeration</vt:lpstr>
      <vt:lpstr>GraphSpy — Post-Authentication Enumeration (cont. 2)</vt:lpstr>
      <vt:lpstr>High-Signal Indicators of Compromise</vt:lpstr>
      <vt:lpstr>AADNonInteractiveUserSignInLogs — Key Fields</vt:lpstr>
      <vt:lpstr>KQL — Detect Refresh Token Replay</vt:lpstr>
      <vt:lpstr>KQL — FOCI Pivoting Detection</vt:lpstr>
      <vt:lpstr>KQL — FOCI Pivoting Detection (cont.)</vt:lpstr>
      <vt:lpstr>KQL — App/UserAgent Mismatch Detection</vt:lpstr>
      <vt:lpstr>KQL — App/UserAgent Mismatch Detection (cont.)</vt:lpstr>
      <vt:lpstr>KQL — Anomalous Token Risk Detections</vt:lpstr>
      <vt:lpstr>KQL — Anomalous Token Risk Detections (cont.)</vt:lpstr>
      <vt:lpstr>KQL — Token Replay Detection (IP Mismatch)</vt:lpstr>
      <vt:lpstr>Incident Response — Token Revocation</vt:lpstr>
      <vt:lpstr>Continuous Access Evaluation (CAE)</vt:lpstr>
      <vt:lpstr>Continuous Access Evaluation (CAE) (cont. 2)</vt:lpstr>
      <vt:lpstr>Continuous Access Evaluation (CAE) (cont. 3)</vt:lpstr>
      <vt:lpstr>Hardening Controls</vt:lpstr>
      <vt:lpstr>Post-Incident Investigation</vt:lpstr>
      <vt:lpstr>Key Takeaways</vt:lpstr>
      <vt:lpstr>Key Takeaways (cont. 2)</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Hall</dc:creator>
  <cp:lastModifiedBy>Jacob Hall</cp:lastModifiedBy>
  <cp:revision>1</cp:revision>
  <dcterms:created xsi:type="dcterms:W3CDTF">2026-04-21T23:48:10Z</dcterms:created>
  <dcterms:modified xsi:type="dcterms:W3CDTF">2026-04-21T23:48:19Z</dcterms:modified>
</cp:coreProperties>
</file>