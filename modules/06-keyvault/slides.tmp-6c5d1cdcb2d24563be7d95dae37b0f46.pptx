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8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3AE50F-428A-4BD2-AAED-34614119E4F0}" type="datetimeFigureOut">
              <a:rPr lang="en-US" smtClean="0"/>
              <a:t>4/21/2026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A1DAAA-1B4B-4905-BB2D-CAA7497C3DC4}" type="slidenum">
              <a:rPr lang="en-US" smtClean="0"/>
              <a:t>‹#›</a:t>
            </a:fld>
            <a:endParaRPr lang="en-US"/>
          </a:p>
        </p:txBody>
      </p:sp>
    </p:spTree>
    <p:extLst>
      <p:ext uri="{BB962C8B-B14F-4D97-AF65-F5344CB8AC3E}">
        <p14:creationId xmlns:p14="http://schemas.microsoft.com/office/powerpoint/2010/main" val="481045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Welcome to Module 06. Key Vault is one of the highest-value targets in Azure - it stores secrets, certificates, keys, and connection strings that unlock access to other services. Attackers who gain Key Vault access can extract credentials that enable lateral movement across the entire environment. The detection challenge is the control plane vs. data plane split - AzureActivity captures RBAC changes, but AzureDiagnostics captures the actual secret reads.</a:t>
            </a:r>
          </a:p>
        </p:txBody>
      </p:sp>
      <p:sp>
        <p:nvSpPr>
          <p:cNvPr id="4" name="Slide Number Placeholder 3"/>
          <p:cNvSpPr>
            <a:spLocks noGrp="1"/>
          </p:cNvSpPr>
          <p:nvPr>
            <p:ph type="sldNum" sz="quarter" idx="5"/>
          </p:nvPr>
        </p:nvSpPr>
        <p:spPr/>
        <p:txBody>
          <a:bodyPr/>
          <a:lstStyle/>
          <a:p>
            <a:fld id="{C5A1DAAA-1B4B-4905-BB2D-CAA7497C3DC4}" type="slidenum">
              <a:rPr lang="en-US" smtClean="0"/>
              <a:t>1</a:t>
            </a:fld>
            <a:endParaRPr lang="en-US"/>
          </a:p>
        </p:txBody>
      </p:sp>
    </p:spTree>
    <p:extLst>
      <p:ext uri="{BB962C8B-B14F-4D97-AF65-F5344CB8AC3E}">
        <p14:creationId xmlns:p14="http://schemas.microsoft.com/office/powerpoint/2010/main" val="27045232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module follows the same two-plane pattern as Module 04 (Storage). Key Vault has a control plane (manage vault configuration, RBAC) and a data plane (read secrets, keys, certificates). An attacker needs both: control plane access to enumerate vaults and check permissions, then data plane access to read the actual secrets. The detection queries focus on AzureDiagnostics for data plane operations, particularly the SecretList followed by SecretGet pattern that indicates secret enumeration and extraction.</a:t>
            </a:r>
          </a:p>
        </p:txBody>
      </p:sp>
      <p:sp>
        <p:nvSpPr>
          <p:cNvPr id="4" name="Slide Number Placeholder 3"/>
          <p:cNvSpPr>
            <a:spLocks noGrp="1"/>
          </p:cNvSpPr>
          <p:nvPr>
            <p:ph type="sldNum" sz="quarter" idx="5"/>
          </p:nvPr>
        </p:nvSpPr>
        <p:spPr/>
        <p:txBody>
          <a:bodyPr/>
          <a:lstStyle/>
          <a:p>
            <a:fld id="{C5A1DAAA-1B4B-4905-BB2D-CAA7497C3DC4}" type="slidenum">
              <a:rPr lang="en-US" smtClean="0"/>
              <a:t>2</a:t>
            </a:fld>
            <a:endParaRPr lang="en-US"/>
          </a:p>
        </p:txBody>
      </p:sp>
    </p:spTree>
    <p:extLst>
      <p:ext uri="{BB962C8B-B14F-4D97-AF65-F5344CB8AC3E}">
        <p14:creationId xmlns:p14="http://schemas.microsoft.com/office/powerpoint/2010/main" val="39672095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This module follows the same two-plane pattern as Module 04 (Storage). Key Vault has a control plane (manage vault configuration, RBAC) and a data plane (read secrets, keys, certificates). An attacker needs both: control plane access to enumerate vaults and check permissions, then data plane access to read the actual secrets. The detection queries focus on AzureDiagnostics for data plane operations, particularly the SecretList followed by SecretGet pattern that indicates secret enumeration and extraction.</a:t>
            </a:r>
          </a:p>
        </p:txBody>
      </p:sp>
      <p:sp>
        <p:nvSpPr>
          <p:cNvPr id="4" name="Slide Number Placeholder 3"/>
          <p:cNvSpPr>
            <a:spLocks noGrp="1"/>
          </p:cNvSpPr>
          <p:nvPr>
            <p:ph type="sldNum" sz="quarter" idx="5"/>
          </p:nvPr>
        </p:nvSpPr>
        <p:spPr/>
        <p:txBody>
          <a:bodyPr/>
          <a:lstStyle/>
          <a:p>
            <a:fld id="{C5A1DAAA-1B4B-4905-BB2D-CAA7497C3DC4}" type="slidenum">
              <a:rPr lang="en-US" smtClean="0"/>
              <a:t>3</a:t>
            </a:fld>
            <a:endParaRPr lang="en-US"/>
          </a:p>
        </p:txBody>
      </p:sp>
    </p:spTree>
    <p:extLst>
      <p:ext uri="{BB962C8B-B14F-4D97-AF65-F5344CB8AC3E}">
        <p14:creationId xmlns:p14="http://schemas.microsoft.com/office/powerpoint/2010/main" val="41184555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Vault abuse maps to five MITRE techniques. T1552 covers the credential extraction - reading secrets and certificates. T1078.004 covers using stolen identities to access the vault. T1098 covers RBAC manipulation to grant or escalate Key Vault access. T1528 covers certificate theft, which enables service principal authentication as we learned in Module 05.</a:t>
            </a:r>
          </a:p>
        </p:txBody>
      </p:sp>
      <p:sp>
        <p:nvSpPr>
          <p:cNvPr id="4" name="Slide Number Placeholder 3"/>
          <p:cNvSpPr>
            <a:spLocks noGrp="1"/>
          </p:cNvSpPr>
          <p:nvPr>
            <p:ph type="sldNum" sz="quarter" idx="5"/>
          </p:nvPr>
        </p:nvSpPr>
        <p:spPr/>
        <p:txBody>
          <a:bodyPr/>
          <a:lstStyle/>
          <a:p>
            <a:fld id="{C5A1DAAA-1B4B-4905-BB2D-CAA7497C3DC4}" type="slidenum">
              <a:rPr lang="en-US" smtClean="0"/>
              <a:t>4</a:t>
            </a:fld>
            <a:endParaRPr lang="en-US"/>
          </a:p>
        </p:txBody>
      </p:sp>
    </p:spTree>
    <p:extLst>
      <p:ext uri="{BB962C8B-B14F-4D97-AF65-F5344CB8AC3E}">
        <p14:creationId xmlns:p14="http://schemas.microsoft.com/office/powerpoint/2010/main" val="11040662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Vault abuse maps to five MITRE techniques. T1552 covers the credential extraction - reading secrets and certificates. T1078.004 covers using stolen identities to access the vault. T1098 covers RBAC manipulation to grant or escalate Key Vault access. T1528 covers certificate theft, which enables service principal authentication as we learned in Module 05.</a:t>
            </a:r>
          </a:p>
        </p:txBody>
      </p:sp>
      <p:sp>
        <p:nvSpPr>
          <p:cNvPr id="4" name="Slide Number Placeholder 3"/>
          <p:cNvSpPr>
            <a:spLocks noGrp="1"/>
          </p:cNvSpPr>
          <p:nvPr>
            <p:ph type="sldNum" sz="quarter" idx="5"/>
          </p:nvPr>
        </p:nvSpPr>
        <p:spPr/>
        <p:txBody>
          <a:bodyPr/>
          <a:lstStyle/>
          <a:p>
            <a:fld id="{C5A1DAAA-1B4B-4905-BB2D-CAA7497C3DC4}" type="slidenum">
              <a:rPr lang="en-US" smtClean="0"/>
              <a:t>5</a:t>
            </a:fld>
            <a:endParaRPr lang="en-US"/>
          </a:p>
        </p:txBody>
      </p:sp>
    </p:spTree>
    <p:extLst>
      <p:ext uri="{BB962C8B-B14F-4D97-AF65-F5344CB8AC3E}">
        <p14:creationId xmlns:p14="http://schemas.microsoft.com/office/powerpoint/2010/main" val="6926994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Just like Storage, Key Vault has two planes. The control plane tells you who has access and how they got it. The data plane tells you what they actually read. Without diagnostic logging, you can see that someone was granted Key Vault Secrets User but NOT that they read 50 secrets in 2 minutes. The two access models - RBAC and Access Policies - determine how permissions are granted. RBAC is the modern approach and is auditable in AzureActivity. Legacy Access Policies are harder to monitor. Encourage students to migrate to RBAC-based access if they haven't already.</a:t>
            </a:r>
          </a:p>
        </p:txBody>
      </p:sp>
      <p:sp>
        <p:nvSpPr>
          <p:cNvPr id="4" name="Slide Number Placeholder 3"/>
          <p:cNvSpPr>
            <a:spLocks noGrp="1"/>
          </p:cNvSpPr>
          <p:nvPr>
            <p:ph type="sldNum" sz="quarter" idx="5"/>
          </p:nvPr>
        </p:nvSpPr>
        <p:spPr/>
        <p:txBody>
          <a:bodyPr/>
          <a:lstStyle/>
          <a:p>
            <a:fld id="{C5A1DAAA-1B4B-4905-BB2D-CAA7497C3DC4}" type="slidenum">
              <a:rPr lang="en-US" smtClean="0"/>
              <a:t>6</a:t>
            </a:fld>
            <a:endParaRPr lang="en-US"/>
          </a:p>
        </p:txBody>
      </p:sp>
    </p:spTree>
    <p:extLst>
      <p:ext uri="{BB962C8B-B14F-4D97-AF65-F5344CB8AC3E}">
        <p14:creationId xmlns:p14="http://schemas.microsoft.com/office/powerpoint/2010/main" val="31050908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(Continued from previous slide)</a:t>
            </a:r>
          </a:p>
          <a:p>
            <a:endParaRPr lang="en-US"/>
          </a:p>
          <a:p>
            <a:r>
              <a:rPr lang="en-US"/>
              <a:t>Just like Storage, Key Vault has two planes. The control plane tells you who has access and how they got it. The data plane tells you what they actually read. Without diagnostic logging, you can see that someone was granted Key Vault Secrets User but NOT that they read 50 secrets in 2 minutes. The two access models - RBAC and Access Policies - determine how permissions are granted. RBAC is the modern approach and is auditable in AzureActivity. Legacy Access Policies are harder to monitor. Encourage students to migrate to RBAC-based access if they haven't already.</a:t>
            </a:r>
          </a:p>
        </p:txBody>
      </p:sp>
      <p:sp>
        <p:nvSpPr>
          <p:cNvPr id="4" name="Slide Number Placeholder 3"/>
          <p:cNvSpPr>
            <a:spLocks noGrp="1"/>
          </p:cNvSpPr>
          <p:nvPr>
            <p:ph type="sldNum" sz="quarter" idx="5"/>
          </p:nvPr>
        </p:nvSpPr>
        <p:spPr/>
        <p:txBody>
          <a:bodyPr/>
          <a:lstStyle/>
          <a:p>
            <a:fld id="{C5A1DAAA-1B4B-4905-BB2D-CAA7497C3DC4}" type="slidenum">
              <a:rPr lang="en-US" smtClean="0"/>
              <a:t>7</a:t>
            </a:fld>
            <a:endParaRPr lang="en-US"/>
          </a:p>
        </p:txBody>
      </p:sp>
    </p:spTree>
    <p:extLst>
      <p:ext uri="{BB962C8B-B14F-4D97-AF65-F5344CB8AC3E}">
        <p14:creationId xmlns:p14="http://schemas.microsoft.com/office/powerpoint/2010/main" val="30018151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table shows the RBAC hierarchy. The critical insight is that Contributor - one of the most commonly assigned roles - doesn't have direct data plane access, but can grant it to themselves by creating a role assignment. This is a common escalation path: an attacker with Contributor creates a role assignment granting themselves Key Vault Secrets User, then reads all secrets. The detection for this is a roleAssignments/write in AzureActivity followed by SecretGet operations in AzureDiagnostics.</a:t>
            </a:r>
          </a:p>
        </p:txBody>
      </p:sp>
      <p:sp>
        <p:nvSpPr>
          <p:cNvPr id="4" name="Slide Number Placeholder 3"/>
          <p:cNvSpPr>
            <a:spLocks noGrp="1"/>
          </p:cNvSpPr>
          <p:nvPr>
            <p:ph type="sldNum" sz="quarter" idx="5"/>
          </p:nvPr>
        </p:nvSpPr>
        <p:spPr/>
        <p:txBody>
          <a:bodyPr/>
          <a:lstStyle/>
          <a:p>
            <a:fld id="{C5A1DAAA-1B4B-4905-BB2D-CAA7497C3DC4}" type="slidenum">
              <a:rPr lang="en-US" smtClean="0"/>
              <a:t>8</a:t>
            </a:fld>
            <a:endParaRPr lang="en-US"/>
          </a:p>
        </p:txBody>
      </p:sp>
    </p:spTree>
    <p:extLst>
      <p:ext uri="{BB962C8B-B14F-4D97-AF65-F5344CB8AC3E}">
        <p14:creationId xmlns:p14="http://schemas.microsoft.com/office/powerpoint/2010/main" val="2115025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table shows the RBAC hierarchy. The critical insight is that Contributor - one of the most commonly assigned roles - doesn't have direct data plane access, but can grant it to themselves by creating a role assignment. This is a common escalation path: an attacker with Contributor creates a role assignment granting themselves Key Vault Secrets User, then reads all secrets. The detection for this is a roleAssignments/write in AzureActivity followed by SecretGet operations in AzureDiagnostics.</a:t>
            </a:r>
          </a:p>
        </p:txBody>
      </p:sp>
      <p:sp>
        <p:nvSpPr>
          <p:cNvPr id="4" name="Slide Number Placeholder 3"/>
          <p:cNvSpPr>
            <a:spLocks noGrp="1"/>
          </p:cNvSpPr>
          <p:nvPr>
            <p:ph type="sldNum" sz="quarter" idx="5"/>
          </p:nvPr>
        </p:nvSpPr>
        <p:spPr/>
        <p:txBody>
          <a:bodyPr/>
          <a:lstStyle/>
          <a:p>
            <a:fld id="{C5A1DAAA-1B4B-4905-BB2D-CAA7497C3DC4}" type="slidenum">
              <a:rPr lang="en-US" smtClean="0"/>
              <a:t>9</a:t>
            </a:fld>
            <a:endParaRPr lang="en-US"/>
          </a:p>
        </p:txBody>
      </p:sp>
    </p:spTree>
    <p:extLst>
      <p:ext uri="{BB962C8B-B14F-4D97-AF65-F5344CB8AC3E}">
        <p14:creationId xmlns:p14="http://schemas.microsoft.com/office/powerpoint/2010/main" val="28867208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SecretList-to-SecretGet pattern is the signature of Key Vault enumeration. A legitimate application typically reads one or two specific secrets it needs. An attacker lists all secrets first, then reads each one. SecretBackup is the most critical operation - it exports the secret in a portable format. If you see SecretBackup in your logs, investigate immediately. User accounts performing SecretGet are also suspicious - most secret access should come from service principals or managed identities in production.</a:t>
            </a:r>
          </a:p>
        </p:txBody>
      </p:sp>
      <p:sp>
        <p:nvSpPr>
          <p:cNvPr id="4" name="Slide Number Placeholder 3"/>
          <p:cNvSpPr>
            <a:spLocks noGrp="1"/>
          </p:cNvSpPr>
          <p:nvPr>
            <p:ph type="sldNum" sz="quarter" idx="5"/>
          </p:nvPr>
        </p:nvSpPr>
        <p:spPr/>
        <p:txBody>
          <a:bodyPr/>
          <a:lstStyle/>
          <a:p>
            <a:fld id="{C5A1DAAA-1B4B-4905-BB2D-CAA7497C3DC4}" type="slidenum">
              <a:rPr lang="en-US" smtClean="0"/>
              <a:t>10</a:t>
            </a:fld>
            <a:endParaRPr lang="en-US"/>
          </a:p>
        </p:txBody>
      </p:sp>
    </p:spTree>
    <p:extLst>
      <p:ext uri="{BB962C8B-B14F-4D97-AF65-F5344CB8AC3E}">
        <p14:creationId xmlns:p14="http://schemas.microsoft.com/office/powerpoint/2010/main" val="17072261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SecretList-to-SecretGet pattern is the signature of Key Vault enumeration. A legitimate application typically reads one or two specific secrets it needs. An attacker lists all secrets first, then reads each one. SecretBackup is the most critical operation - it exports the secret in a portable format. If you see SecretBackup in your logs, investigate immediately. User accounts performing SecretGet are also suspicious - most secret access should come from service principals or managed identities in production.</a:t>
            </a:r>
          </a:p>
        </p:txBody>
      </p:sp>
      <p:sp>
        <p:nvSpPr>
          <p:cNvPr id="4" name="Slide Number Placeholder 3"/>
          <p:cNvSpPr>
            <a:spLocks noGrp="1"/>
          </p:cNvSpPr>
          <p:nvPr>
            <p:ph type="sldNum" sz="quarter" idx="5"/>
          </p:nvPr>
        </p:nvSpPr>
        <p:spPr/>
        <p:txBody>
          <a:bodyPr/>
          <a:lstStyle/>
          <a:p>
            <a:fld id="{C5A1DAAA-1B4B-4905-BB2D-CAA7497C3DC4}" type="slidenum">
              <a:rPr lang="en-US" smtClean="0"/>
              <a:t>11</a:t>
            </a:fld>
            <a:endParaRPr lang="en-US"/>
          </a:p>
        </p:txBody>
      </p:sp>
    </p:spTree>
    <p:extLst>
      <p:ext uri="{BB962C8B-B14F-4D97-AF65-F5344CB8AC3E}">
        <p14:creationId xmlns:p14="http://schemas.microsoft.com/office/powerpoint/2010/main" val="39373818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primary Key Vault abuse detection query. It aggregates secret operations by user and vault in 15-minute windows. The filter requires both SecretList AND SecretGet in the same window - this eliminates normal application access patterns that typically just perform SecretGet for known secrets. The OpCount &gt; 5 threshold is conservative - adjust based on your environment. The identity_claim_upn_s field shows the user, and the CallerIPAddress shows the source. SecretNames shows which secrets were accessed.</a:t>
            </a:r>
          </a:p>
        </p:txBody>
      </p:sp>
      <p:sp>
        <p:nvSpPr>
          <p:cNvPr id="4" name="Slide Number Placeholder 3"/>
          <p:cNvSpPr>
            <a:spLocks noGrp="1"/>
          </p:cNvSpPr>
          <p:nvPr>
            <p:ph type="sldNum" sz="quarter" idx="5"/>
          </p:nvPr>
        </p:nvSpPr>
        <p:spPr/>
        <p:txBody>
          <a:bodyPr/>
          <a:lstStyle/>
          <a:p>
            <a:fld id="{C5A1DAAA-1B4B-4905-BB2D-CAA7497C3DC4}" type="slidenum">
              <a:rPr lang="en-US" smtClean="0"/>
              <a:t>12</a:t>
            </a:fld>
            <a:endParaRPr lang="en-US"/>
          </a:p>
        </p:txBody>
      </p:sp>
    </p:spTree>
    <p:extLst>
      <p:ext uri="{BB962C8B-B14F-4D97-AF65-F5344CB8AC3E}">
        <p14:creationId xmlns:p14="http://schemas.microsoft.com/office/powerpoint/2010/main" val="1623109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primary Key Vault abuse detection query. It aggregates secret operations by user and vault in 15-minute windows. The filter requires both SecretList AND SecretGet in the same window - this eliminates normal application access patterns that typically just perform SecretGet for known secrets. The OpCount &gt; 5 threshold is conservative - adjust based on your environment. The identity_claim_upn_s field shows the user, and the CallerIPAddress shows the source. SecretNames shows which secrets were accessed.</a:t>
            </a:r>
          </a:p>
        </p:txBody>
      </p:sp>
      <p:sp>
        <p:nvSpPr>
          <p:cNvPr id="4" name="Slide Number Placeholder 3"/>
          <p:cNvSpPr>
            <a:spLocks noGrp="1"/>
          </p:cNvSpPr>
          <p:nvPr>
            <p:ph type="sldNum" sz="quarter" idx="5"/>
          </p:nvPr>
        </p:nvSpPr>
        <p:spPr/>
        <p:txBody>
          <a:bodyPr/>
          <a:lstStyle/>
          <a:p>
            <a:fld id="{C5A1DAAA-1B4B-4905-BB2D-CAA7497C3DC4}" type="slidenum">
              <a:rPr lang="en-US" smtClean="0"/>
              <a:t>13</a:t>
            </a:fld>
            <a:endParaRPr lang="en-US"/>
          </a:p>
        </p:txBody>
      </p:sp>
    </p:spTree>
    <p:extLst>
      <p:ext uri="{BB962C8B-B14F-4D97-AF65-F5344CB8AC3E}">
        <p14:creationId xmlns:p14="http://schemas.microsoft.com/office/powerpoint/2010/main" val="36710370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query uses a leftanti join to find callers who accessed secrets today but never in the previous 30 days. These are first-time callers and the highest-priority triage targets. In a well-managed environment, the set of identities accessing each vault is relatively stable. A new identity appearing is either a legitimate deployment change or an attacker. The DailyCount shows how aggressively the new caller is reading secrets.</a:t>
            </a:r>
          </a:p>
        </p:txBody>
      </p:sp>
      <p:sp>
        <p:nvSpPr>
          <p:cNvPr id="4" name="Slide Number Placeholder 3"/>
          <p:cNvSpPr>
            <a:spLocks noGrp="1"/>
          </p:cNvSpPr>
          <p:nvPr>
            <p:ph type="sldNum" sz="quarter" idx="5"/>
          </p:nvPr>
        </p:nvSpPr>
        <p:spPr/>
        <p:txBody>
          <a:bodyPr/>
          <a:lstStyle/>
          <a:p>
            <a:fld id="{C5A1DAAA-1B4B-4905-BB2D-CAA7497C3DC4}" type="slidenum">
              <a:rPr lang="en-US" smtClean="0"/>
              <a:t>14</a:t>
            </a:fld>
            <a:endParaRPr lang="en-US"/>
          </a:p>
        </p:txBody>
      </p:sp>
    </p:spTree>
    <p:extLst>
      <p:ext uri="{BB962C8B-B14F-4D97-AF65-F5344CB8AC3E}">
        <p14:creationId xmlns:p14="http://schemas.microsoft.com/office/powerpoint/2010/main" val="13775590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query uses a leftanti join to find callers who accessed secrets today but never in the previous 30 days. These are first-time callers and the highest-priority triage targets. In a well-managed environment, the set of identities accessing each vault is relatively stable. A new identity appearing is either a legitimate deployment change or an attacker. The DailyCount shows how aggressively the new caller is reading secrets.</a:t>
            </a:r>
          </a:p>
        </p:txBody>
      </p:sp>
      <p:sp>
        <p:nvSpPr>
          <p:cNvPr id="4" name="Slide Number Placeholder 3"/>
          <p:cNvSpPr>
            <a:spLocks noGrp="1"/>
          </p:cNvSpPr>
          <p:nvPr>
            <p:ph type="sldNum" sz="quarter" idx="5"/>
          </p:nvPr>
        </p:nvSpPr>
        <p:spPr/>
        <p:txBody>
          <a:bodyPr/>
          <a:lstStyle/>
          <a:p>
            <a:fld id="{C5A1DAAA-1B4B-4905-BB2D-CAA7497C3DC4}" type="slidenum">
              <a:rPr lang="en-US" smtClean="0"/>
              <a:t>15</a:t>
            </a:fld>
            <a:endParaRPr lang="en-US"/>
          </a:p>
        </p:txBody>
      </p:sp>
    </p:spTree>
    <p:extLst>
      <p:ext uri="{BB962C8B-B14F-4D97-AF65-F5344CB8AC3E}">
        <p14:creationId xmlns:p14="http://schemas.microsoft.com/office/powerpoint/2010/main" val="6765385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two-query pattern detects the escalation path: an attacker grants themselves Key Vault data plane access (roleAssignments/write), then reads secrets (SecretGet). Run both queries and correlate the Caller from AzureActivity with the identity_claim_upn_s from AzureDiagnostics. If the same identity appears in both within a short window, you've confirmed a privilege escalation attack. This is one of the most reliable detection patterns for Key Vault abuse.</a:t>
            </a:r>
          </a:p>
        </p:txBody>
      </p:sp>
      <p:sp>
        <p:nvSpPr>
          <p:cNvPr id="4" name="Slide Number Placeholder 3"/>
          <p:cNvSpPr>
            <a:spLocks noGrp="1"/>
          </p:cNvSpPr>
          <p:nvPr>
            <p:ph type="sldNum" sz="quarter" idx="5"/>
          </p:nvPr>
        </p:nvSpPr>
        <p:spPr/>
        <p:txBody>
          <a:bodyPr/>
          <a:lstStyle/>
          <a:p>
            <a:fld id="{C5A1DAAA-1B4B-4905-BB2D-CAA7497C3DC4}" type="slidenum">
              <a:rPr lang="en-US" smtClean="0"/>
              <a:t>16</a:t>
            </a:fld>
            <a:endParaRPr lang="en-US"/>
          </a:p>
        </p:txBody>
      </p:sp>
    </p:spTree>
    <p:extLst>
      <p:ext uri="{BB962C8B-B14F-4D97-AF65-F5344CB8AC3E}">
        <p14:creationId xmlns:p14="http://schemas.microsoft.com/office/powerpoint/2010/main" val="29034080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Defender for Key Vault provides ML-based anomaly detection on top of your Kusto Query Language (KQL) hunting queries. The "unusual secret listing" and "suspicious secret access volume" alerts specifically target the enumeration patterns we've been discussing. Enable Defender for Key Vault at the subscription level. The alerts feed into Defender for Cloud and can trigger Sentinel incidents.</a:t>
            </a:r>
          </a:p>
        </p:txBody>
      </p:sp>
      <p:sp>
        <p:nvSpPr>
          <p:cNvPr id="4" name="Slide Number Placeholder 3"/>
          <p:cNvSpPr>
            <a:spLocks noGrp="1"/>
          </p:cNvSpPr>
          <p:nvPr>
            <p:ph type="sldNum" sz="quarter" idx="5"/>
          </p:nvPr>
        </p:nvSpPr>
        <p:spPr/>
        <p:txBody>
          <a:bodyPr/>
          <a:lstStyle/>
          <a:p>
            <a:fld id="{C5A1DAAA-1B4B-4905-BB2D-CAA7497C3DC4}" type="slidenum">
              <a:rPr lang="en-US" smtClean="0"/>
              <a:t>17</a:t>
            </a:fld>
            <a:endParaRPr lang="en-US"/>
          </a:p>
        </p:txBody>
      </p:sp>
    </p:spTree>
    <p:extLst>
      <p:ext uri="{BB962C8B-B14F-4D97-AF65-F5344CB8AC3E}">
        <p14:creationId xmlns:p14="http://schemas.microsoft.com/office/powerpoint/2010/main" val="6936185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Defender for Key Vault provides ML-based anomaly detection on top of your Kusto Query Language (KQL) hunting queries. The "unusual secret listing" and "suspicious secret access volume" alerts specifically target the enumeration patterns we've been discussing. Enable Defender for Key Vault at the subscription level. The alerts feed into Defender for Cloud and can trigger Sentinel incidents.</a:t>
            </a:r>
          </a:p>
        </p:txBody>
      </p:sp>
      <p:sp>
        <p:nvSpPr>
          <p:cNvPr id="4" name="Slide Number Placeholder 3"/>
          <p:cNvSpPr>
            <a:spLocks noGrp="1"/>
          </p:cNvSpPr>
          <p:nvPr>
            <p:ph type="sldNum" sz="quarter" idx="5"/>
          </p:nvPr>
        </p:nvSpPr>
        <p:spPr/>
        <p:txBody>
          <a:bodyPr/>
          <a:lstStyle/>
          <a:p>
            <a:fld id="{C5A1DAAA-1B4B-4905-BB2D-CAA7497C3DC4}" type="slidenum">
              <a:rPr lang="en-US" smtClean="0"/>
              <a:t>18</a:t>
            </a:fld>
            <a:endParaRPr lang="en-US"/>
          </a:p>
        </p:txBody>
      </p:sp>
    </p:spTree>
    <p:extLst>
      <p:ext uri="{BB962C8B-B14F-4D97-AF65-F5344CB8AC3E}">
        <p14:creationId xmlns:p14="http://schemas.microsoft.com/office/powerpoint/2010/main" val="24371427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most critical response action is rotating all secrets in the affected vault. If an attacker read your secrets, assume they've been exfiltrated and treat them as compromised. Rotate everything: database connection strings, Application Programming Interface (API) keys, certificates, and any downstream credentials. For hardening, RBAC-based access is mandatory - it provides granular permissions that are auditable in AzureActivity. Private endpoints eliminate network-level exposure. Managed identities for secret access eliminate the need for service principal credentials to access the vault.</a:t>
            </a:r>
          </a:p>
        </p:txBody>
      </p:sp>
      <p:sp>
        <p:nvSpPr>
          <p:cNvPr id="4" name="Slide Number Placeholder 3"/>
          <p:cNvSpPr>
            <a:spLocks noGrp="1"/>
          </p:cNvSpPr>
          <p:nvPr>
            <p:ph type="sldNum" sz="quarter" idx="5"/>
          </p:nvPr>
        </p:nvSpPr>
        <p:spPr/>
        <p:txBody>
          <a:bodyPr/>
          <a:lstStyle/>
          <a:p>
            <a:fld id="{C5A1DAAA-1B4B-4905-BB2D-CAA7497C3DC4}" type="slidenum">
              <a:rPr lang="en-US" smtClean="0"/>
              <a:t>19</a:t>
            </a:fld>
            <a:endParaRPr lang="en-US"/>
          </a:p>
        </p:txBody>
      </p:sp>
    </p:spTree>
    <p:extLst>
      <p:ext uri="{BB962C8B-B14F-4D97-AF65-F5344CB8AC3E}">
        <p14:creationId xmlns:p14="http://schemas.microsoft.com/office/powerpoint/2010/main" val="7604693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most critical response action is rotating all secrets in the affected vault. If an attacker read your secrets, assume they've been exfiltrated and treat them as compromised. Rotate everything: database connection strings, Application Programming Interface (API) keys, certificates, and any downstream credentials. For hardening, RBAC-based access is mandatory - it provides granular permissions that are auditable in AzureActivity. Private endpoints eliminate network-level exposure. Managed identities for secret access eliminate the need for service principal credentials to access the vault.</a:t>
            </a:r>
          </a:p>
        </p:txBody>
      </p:sp>
      <p:sp>
        <p:nvSpPr>
          <p:cNvPr id="4" name="Slide Number Placeholder 3"/>
          <p:cNvSpPr>
            <a:spLocks noGrp="1"/>
          </p:cNvSpPr>
          <p:nvPr>
            <p:ph type="sldNum" sz="quarter" idx="5"/>
          </p:nvPr>
        </p:nvSpPr>
        <p:spPr/>
        <p:txBody>
          <a:bodyPr/>
          <a:lstStyle/>
          <a:p>
            <a:fld id="{C5A1DAAA-1B4B-4905-BB2D-CAA7497C3DC4}" type="slidenum">
              <a:rPr lang="en-US" smtClean="0"/>
              <a:t>20</a:t>
            </a:fld>
            <a:endParaRPr lang="en-US"/>
          </a:p>
        </p:txBody>
      </p:sp>
    </p:spTree>
    <p:extLst>
      <p:ext uri="{BB962C8B-B14F-4D97-AF65-F5344CB8AC3E}">
        <p14:creationId xmlns:p14="http://schemas.microsoft.com/office/powerpoint/2010/main" val="21571327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Module 06 builds directly on Module 05 - the service principal credentials stored in Key Vault are exactly what attackers extracted using the persistence techniques we covered. Encourage students to verify diagnostic logging is enabled on all production Key Vaults. Module 07 moves to Container Apps - where attackers use exec access and managed identity tokens for lateral movement.</a:t>
            </a:r>
          </a:p>
        </p:txBody>
      </p:sp>
      <p:sp>
        <p:nvSpPr>
          <p:cNvPr id="4" name="Slide Number Placeholder 3"/>
          <p:cNvSpPr>
            <a:spLocks noGrp="1"/>
          </p:cNvSpPr>
          <p:nvPr>
            <p:ph type="sldNum" sz="quarter" idx="5"/>
          </p:nvPr>
        </p:nvSpPr>
        <p:spPr/>
        <p:txBody>
          <a:bodyPr/>
          <a:lstStyle/>
          <a:p>
            <a:fld id="{C5A1DAAA-1B4B-4905-BB2D-CAA7497C3DC4}" type="slidenum">
              <a:rPr lang="en-US" smtClean="0"/>
              <a:t>21</a:t>
            </a:fld>
            <a:endParaRPr lang="en-US"/>
          </a:p>
        </p:txBody>
      </p:sp>
    </p:spTree>
    <p:extLst>
      <p:ext uri="{BB962C8B-B14F-4D97-AF65-F5344CB8AC3E}">
        <p14:creationId xmlns:p14="http://schemas.microsoft.com/office/powerpoint/2010/main" val="29387985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Module 06 builds directly on Module 05 - the service principal credentials stored in Key Vault are exactly what attackers extracted using the persistence techniques we covered. Encourage students to verify diagnostic logging is enabled on all production Key Vaults. Module 07 moves to Container Apps - where attackers use exec access and managed identity tokens for lateral movement.</a:t>
            </a:r>
          </a:p>
        </p:txBody>
      </p:sp>
      <p:sp>
        <p:nvSpPr>
          <p:cNvPr id="4" name="Slide Number Placeholder 3"/>
          <p:cNvSpPr>
            <a:spLocks noGrp="1"/>
          </p:cNvSpPr>
          <p:nvPr>
            <p:ph type="sldNum" sz="quarter" idx="5"/>
          </p:nvPr>
        </p:nvSpPr>
        <p:spPr/>
        <p:txBody>
          <a:bodyPr/>
          <a:lstStyle/>
          <a:p>
            <a:fld id="{C5A1DAAA-1B4B-4905-BB2D-CAA7497C3DC4}" type="slidenum">
              <a:rPr lang="en-US" smtClean="0"/>
              <a:t>22</a:t>
            </a:fld>
            <a:endParaRPr lang="en-US"/>
          </a:p>
        </p:txBody>
      </p:sp>
    </p:spTree>
    <p:extLst>
      <p:ext uri="{BB962C8B-B14F-4D97-AF65-F5344CB8AC3E}">
        <p14:creationId xmlns:p14="http://schemas.microsoft.com/office/powerpoint/2010/main" val="7210106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17.jpe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18.jpeg"/><Relationship Id="rId4" Type="http://schemas.openxmlformats.org/officeDocument/2006/relationships/image" Target="../media/image17.jpe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23.jpe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Master" Target="../slideMasters/slideMaster1.xml"/><Relationship Id="rId5" Type="http://schemas.openxmlformats.org/officeDocument/2006/relationships/image" Target="../media/image27.jpeg"/><Relationship Id="rId4" Type="http://schemas.openxmlformats.org/officeDocument/2006/relationships/image" Target="../media/image26.jpe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6" Type="http://schemas.openxmlformats.org/officeDocument/2006/relationships/image" Target="../media/image28.jpeg"/><Relationship Id="rId5" Type="http://schemas.openxmlformats.org/officeDocument/2006/relationships/image" Target="../media/image18.jpeg"/><Relationship Id="rId4" Type="http://schemas.openxmlformats.org/officeDocument/2006/relationships/image" Target="../media/image17.jpe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17.jpe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18.jpeg"/><Relationship Id="rId4" Type="http://schemas.openxmlformats.org/officeDocument/2006/relationships/image" Target="../media/image17.jpe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0.jpeg"/><Relationship Id="rId1" Type="http://schemas.openxmlformats.org/officeDocument/2006/relationships/slideMaster" Target="../slideMasters/slideMaster1.xml"/><Relationship Id="rId6" Type="http://schemas.openxmlformats.org/officeDocument/2006/relationships/image" Target="../media/image28.jpeg"/><Relationship Id="rId5" Type="http://schemas.openxmlformats.org/officeDocument/2006/relationships/image" Target="../media/image18.jpeg"/><Relationship Id="rId4" Type="http://schemas.openxmlformats.org/officeDocument/2006/relationships/image" Target="../media/image17.jpe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 Title">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B483D14-DC3C-45F3-855E-02B5FD4CDF8D}"/>
              </a:ext>
            </a:extLst>
          </p:cNvPr>
          <p:cNvPicPr>
            <a:picLocks noChangeAspect="1"/>
          </p:cNvPicPr>
          <p:nvPr/>
        </p:nvPicPr>
        <p:blipFill>
          <a:blip r:embed="rId2"/>
          <a:stretch>
            <a:fillRect/>
          </a:stretch>
        </p:blipFill>
        <p:spPr>
          <a:xfrm>
            <a:off x="582043" y="585788"/>
            <a:ext cx="2308795" cy="294139"/>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9" name="Picture 8" descr="Icon&#10;&#10;Description automatically generated">
            <a:extLst>
              <a:ext uri="{FF2B5EF4-FFF2-40B4-BE49-F238E27FC236}">
                <a16:creationId xmlns:a16="http://schemas.microsoft.com/office/drawing/2014/main" id="{CB6D3FA3-C210-4270-964A-C6A0069D59E2}"/>
              </a:ext>
            </a:extLst>
          </p:cNvPr>
          <p:cNvPicPr>
            <a:picLocks noChangeAspect="1"/>
          </p:cNvPicPr>
          <p:nvPr/>
        </p:nvPicPr>
        <p:blipFill>
          <a:blip r:embed="rId3"/>
          <a:stretch>
            <a:fillRect/>
          </a:stretch>
        </p:blipFill>
        <p:spPr bwMode="invGray">
          <a:xfrm>
            <a:off x="4671100" y="0"/>
            <a:ext cx="7520900" cy="6858000"/>
          </a:xfrm>
          <a:prstGeom prst="rect">
            <a:avLst/>
          </a:prstGeom>
        </p:spPr>
      </p:pic>
    </p:spTree>
    <p:extLst>
      <p:ext uri="{BB962C8B-B14F-4D97-AF65-F5344CB8AC3E}">
        <p14:creationId xmlns:p14="http://schemas.microsoft.com/office/powerpoint/2010/main" val="11046067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mprehensiveness_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6495574" cy="553998"/>
          </a:xfrm>
          <a:prstGeom prst="rect">
            <a:avLst/>
          </a:prstGeo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6495574"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4" y="585789"/>
            <a:ext cx="2308795" cy="294139"/>
          </a:xfrm>
          <a:prstGeom prst="rect">
            <a:avLst/>
          </a:prstGeom>
        </p:spPr>
      </p:pic>
      <p:pic>
        <p:nvPicPr>
          <p:cNvPr id="10" name="Graphic 9">
            <a:extLst>
              <a:ext uri="{FF2B5EF4-FFF2-40B4-BE49-F238E27FC236}">
                <a16:creationId xmlns:a16="http://schemas.microsoft.com/office/drawing/2014/main" id="{4586D2A5-469B-42D5-B926-C4EE6716E87F}"/>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invGray">
          <a:xfrm>
            <a:off x="7404100" y="0"/>
            <a:ext cx="4787900" cy="6858000"/>
          </a:xfrm>
          <a:prstGeom prst="rect">
            <a:avLst/>
          </a:prstGeom>
        </p:spPr>
      </p:pic>
    </p:spTree>
    <p:extLst>
      <p:ext uri="{BB962C8B-B14F-4D97-AF65-F5344CB8AC3E}">
        <p14:creationId xmlns:p14="http://schemas.microsoft.com/office/powerpoint/2010/main" val="214381812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I_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6495574" cy="553998"/>
          </a:xfrm>
          <a:prstGeom prst="rect">
            <a:avLst/>
          </a:prstGeo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6495574"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4" y="585789"/>
            <a:ext cx="2308795" cy="294139"/>
          </a:xfrm>
          <a:prstGeom prst="rect">
            <a:avLst/>
          </a:prstGeom>
        </p:spPr>
      </p:pic>
      <p:pic>
        <p:nvPicPr>
          <p:cNvPr id="6" name="Graphic 5">
            <a:extLst>
              <a:ext uri="{FF2B5EF4-FFF2-40B4-BE49-F238E27FC236}">
                <a16:creationId xmlns:a16="http://schemas.microsoft.com/office/drawing/2014/main" id="{F7A52431-DCFD-473D-980B-E667BAC2F19B}"/>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invGray">
          <a:xfrm>
            <a:off x="7404100" y="0"/>
            <a:ext cx="4787900" cy="6858000"/>
          </a:xfrm>
          <a:prstGeom prst="rect">
            <a:avLst/>
          </a:prstGeom>
        </p:spPr>
      </p:pic>
    </p:spTree>
    <p:extLst>
      <p:ext uri="{BB962C8B-B14F-4D97-AF65-F5344CB8AC3E}">
        <p14:creationId xmlns:p14="http://schemas.microsoft.com/office/powerpoint/2010/main" val="19536466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implicity_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6495574" cy="553998"/>
          </a:xfrm>
          <a:prstGeom prst="rect">
            <a:avLst/>
          </a:prstGeo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6495574"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4" y="585789"/>
            <a:ext cx="2308795" cy="294139"/>
          </a:xfrm>
          <a:prstGeom prst="rect">
            <a:avLst/>
          </a:prstGeom>
        </p:spPr>
      </p:pic>
      <p:pic>
        <p:nvPicPr>
          <p:cNvPr id="3" name="Graphic 2">
            <a:extLst>
              <a:ext uri="{FF2B5EF4-FFF2-40B4-BE49-F238E27FC236}">
                <a16:creationId xmlns:a16="http://schemas.microsoft.com/office/drawing/2014/main" id="{AAD66E76-E933-412A-9841-907EA7843332}"/>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bwMode="invGray">
          <a:xfrm>
            <a:off x="6731000" y="0"/>
            <a:ext cx="5461000" cy="6858000"/>
          </a:xfrm>
          <a:prstGeom prst="rect">
            <a:avLst/>
          </a:prstGeom>
        </p:spPr>
      </p:pic>
    </p:spTree>
    <p:extLst>
      <p:ext uri="{BB962C8B-B14F-4D97-AF65-F5344CB8AC3E}">
        <p14:creationId xmlns:p14="http://schemas.microsoft.com/office/powerpoint/2010/main" val="25458724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urity 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6492240" cy="553998"/>
          </a:xfrm>
          <a:prstGeom prst="rect">
            <a:avLst/>
          </a:prstGeo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649224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4" y="585789"/>
            <a:ext cx="2308795" cy="294139"/>
          </a:xfrm>
          <a:prstGeom prst="rect">
            <a:avLst/>
          </a:prstGeom>
        </p:spPr>
      </p:pic>
      <p:pic>
        <p:nvPicPr>
          <p:cNvPr id="10" name="Graphic 9">
            <a:extLst>
              <a:ext uri="{FF2B5EF4-FFF2-40B4-BE49-F238E27FC236}">
                <a16:creationId xmlns:a16="http://schemas.microsoft.com/office/drawing/2014/main" id="{0D5D4CBA-07EB-4CCF-BEB7-6F3185DCC670}"/>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bwMode="invGray">
          <a:xfrm>
            <a:off x="7404100" y="0"/>
            <a:ext cx="4787900" cy="6858000"/>
          </a:xfrm>
          <a:prstGeom prst="rect">
            <a:avLst/>
          </a:prstGeom>
        </p:spPr>
      </p:pic>
    </p:spTree>
    <p:extLst>
      <p:ext uri="{BB962C8B-B14F-4D97-AF65-F5344CB8AC3E}">
        <p14:creationId xmlns:p14="http://schemas.microsoft.com/office/powerpoint/2010/main" val="114810357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B483D14-DC3C-45F3-855E-02B5FD4CDF8D}"/>
              </a:ext>
            </a:extLst>
          </p:cNvPr>
          <p:cNvPicPr>
            <a:picLocks noChangeAspect="1"/>
          </p:cNvPicPr>
          <p:nvPr/>
        </p:nvPicPr>
        <p:blipFill>
          <a:blip r:embed="rId2"/>
          <a:stretch>
            <a:fillRect/>
          </a:stretch>
        </p:blipFill>
        <p:spPr>
          <a:xfrm>
            <a:off x="582043" y="585788"/>
            <a:ext cx="2308795" cy="294139"/>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19" name="Graphic 18">
            <a:extLst>
              <a:ext uri="{FF2B5EF4-FFF2-40B4-BE49-F238E27FC236}">
                <a16:creationId xmlns:a16="http://schemas.microsoft.com/office/drawing/2014/main" id="{3FBDEDB6-A84F-40BC-B54B-238AED6B041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bwMode="invGray">
          <a:xfrm>
            <a:off x="4393915" y="0"/>
            <a:ext cx="7798085" cy="6858000"/>
          </a:xfrm>
          <a:prstGeom prst="rect">
            <a:avLst/>
          </a:prstGeom>
        </p:spPr>
      </p:pic>
      <p:sp>
        <p:nvSpPr>
          <p:cNvPr id="25" name="Freeform: Shape 24">
            <a:extLst>
              <a:ext uri="{FF2B5EF4-FFF2-40B4-BE49-F238E27FC236}">
                <a16:creationId xmlns:a16="http://schemas.microsoft.com/office/drawing/2014/main" id="{72B44542-6FEA-4633-9FA4-2E7E2381276D}"/>
              </a:ext>
            </a:extLst>
          </p:cNvPr>
          <p:cNvSpPr/>
          <p:nvPr/>
        </p:nvSpPr>
        <p:spPr bwMode="auto">
          <a:xfrm rot="17674506">
            <a:off x="10794396" y="4611776"/>
            <a:ext cx="635802" cy="2665253"/>
          </a:xfrm>
          <a:custGeom>
            <a:avLst/>
            <a:gdLst>
              <a:gd name="connsiteX0" fmla="*/ 610820 w 635802"/>
              <a:gd name="connsiteY0" fmla="*/ 194160 h 2665253"/>
              <a:gd name="connsiteX1" fmla="*/ 635802 w 635802"/>
              <a:gd name="connsiteY1" fmla="*/ 317901 h 2665253"/>
              <a:gd name="connsiteX2" fmla="*/ 635802 w 635802"/>
              <a:gd name="connsiteY2" fmla="*/ 2374494 h 2665253"/>
              <a:gd name="connsiteX3" fmla="*/ 0 w 635802"/>
              <a:gd name="connsiteY3" fmla="*/ 2665253 h 2665253"/>
              <a:gd name="connsiteX4" fmla="*/ 0 w 635802"/>
              <a:gd name="connsiteY4" fmla="*/ 317901 h 2665253"/>
              <a:gd name="connsiteX5" fmla="*/ 317901 w 635802"/>
              <a:gd name="connsiteY5" fmla="*/ 0 h 2665253"/>
              <a:gd name="connsiteX6" fmla="*/ 610820 w 635802"/>
              <a:gd name="connsiteY6" fmla="*/ 194160 h 2665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802" h="2665253">
                <a:moveTo>
                  <a:pt x="610820" y="194160"/>
                </a:moveTo>
                <a:cubicBezTo>
                  <a:pt x="626906" y="232193"/>
                  <a:pt x="635802" y="274008"/>
                  <a:pt x="635802" y="317901"/>
                </a:cubicBezTo>
                <a:lnTo>
                  <a:pt x="635802" y="2374494"/>
                </a:lnTo>
                <a:lnTo>
                  <a:pt x="0" y="2665253"/>
                </a:lnTo>
                <a:lnTo>
                  <a:pt x="0" y="317901"/>
                </a:lnTo>
                <a:cubicBezTo>
                  <a:pt x="-1" y="142329"/>
                  <a:pt x="142328" y="0"/>
                  <a:pt x="317901" y="0"/>
                </a:cubicBezTo>
                <a:cubicBezTo>
                  <a:pt x="449580" y="0"/>
                  <a:pt x="562559" y="80060"/>
                  <a:pt x="610820" y="194160"/>
                </a:cubicBezTo>
                <a:close/>
              </a:path>
            </a:pathLst>
          </a:cu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1" name="Freeform: Shape 20">
            <a:extLst>
              <a:ext uri="{FF2B5EF4-FFF2-40B4-BE49-F238E27FC236}">
                <a16:creationId xmlns:a16="http://schemas.microsoft.com/office/drawing/2014/main" id="{F3335884-C023-4224-A943-917B878BC8D4}"/>
              </a:ext>
            </a:extLst>
          </p:cNvPr>
          <p:cNvSpPr/>
          <p:nvPr/>
        </p:nvSpPr>
        <p:spPr bwMode="auto">
          <a:xfrm>
            <a:off x="4410930" y="0"/>
            <a:ext cx="3165243" cy="1270495"/>
          </a:xfrm>
          <a:custGeom>
            <a:avLst/>
            <a:gdLst>
              <a:gd name="connsiteX0" fmla="*/ 0 w 3165243"/>
              <a:gd name="connsiteY0" fmla="*/ 0 h 1270495"/>
              <a:gd name="connsiteX1" fmla="*/ 1528791 w 3165243"/>
              <a:gd name="connsiteY1" fmla="*/ 0 h 1270495"/>
              <a:gd name="connsiteX2" fmla="*/ 2979476 w 3165243"/>
              <a:gd name="connsiteY2" fmla="*/ 663413 h 1270495"/>
              <a:gd name="connsiteX3" fmla="*/ 3136370 w 3165243"/>
              <a:gd name="connsiteY3" fmla="*/ 1084728 h 1270495"/>
              <a:gd name="connsiteX4" fmla="*/ 2715055 w 3165243"/>
              <a:gd name="connsiteY4" fmla="*/ 1241622 h 1270495"/>
              <a:gd name="connsiteX5" fmla="*/ 0 w 3165243"/>
              <a:gd name="connsiteY5" fmla="*/ 0 h 1270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65243" h="1270495">
                <a:moveTo>
                  <a:pt x="0" y="0"/>
                </a:moveTo>
                <a:lnTo>
                  <a:pt x="1528791" y="0"/>
                </a:lnTo>
                <a:lnTo>
                  <a:pt x="2979476" y="663413"/>
                </a:lnTo>
                <a:cubicBezTo>
                  <a:pt x="3139144" y="736431"/>
                  <a:pt x="3209388" y="925060"/>
                  <a:pt x="3136370" y="1084728"/>
                </a:cubicBezTo>
                <a:cubicBezTo>
                  <a:pt x="3063352" y="1244396"/>
                  <a:pt x="2874723" y="1314640"/>
                  <a:pt x="2715055" y="1241622"/>
                </a:cubicBezTo>
                <a:lnTo>
                  <a:pt x="0" y="0"/>
                </a:lnTo>
                <a:close/>
              </a:path>
            </a:pathLst>
          </a:cu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6489833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Identity and Access Management_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6495574" cy="553998"/>
          </a:xfrm>
          <a:prstGeom prst="rect">
            <a:avLst/>
          </a:prstGeo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6495574"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4" y="585789"/>
            <a:ext cx="2308795" cy="294139"/>
          </a:xfrm>
          <a:prstGeom prst="rect">
            <a:avLst/>
          </a:prstGeom>
        </p:spPr>
      </p:pic>
      <p:pic>
        <p:nvPicPr>
          <p:cNvPr id="6" name="Graphic 5">
            <a:extLst>
              <a:ext uri="{FF2B5EF4-FFF2-40B4-BE49-F238E27FC236}">
                <a16:creationId xmlns:a16="http://schemas.microsoft.com/office/drawing/2014/main" id="{E8C58369-026C-4974-B869-BE8D4ADCB870}"/>
              </a:ext>
              <a:ext uri="{C183D7F6-B498-43B3-948B-1728B52AA6E4}">
                <adec:decorative xmlns:adec="http://schemas.microsoft.com/office/drawing/2017/decorative" val="1"/>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l="75" r="-18"/>
          <a:stretch/>
        </p:blipFill>
        <p:spPr bwMode="invGray">
          <a:xfrm>
            <a:off x="7076792" y="0"/>
            <a:ext cx="5115208" cy="6858000"/>
          </a:xfrm>
          <a:prstGeom prst="rect">
            <a:avLst/>
          </a:prstGeom>
        </p:spPr>
      </p:pic>
    </p:spTree>
    <p:extLst>
      <p:ext uri="{BB962C8B-B14F-4D97-AF65-F5344CB8AC3E}">
        <p14:creationId xmlns:p14="http://schemas.microsoft.com/office/powerpoint/2010/main" val="25960272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 Title square photo placeholder">
    <p:bg>
      <p:bgRef idx="1001">
        <a:schemeClr val="bg2"/>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9861522-4B83-496F-B783-60079A7F201B}"/>
              </a:ext>
            </a:extLst>
          </p:cNvPr>
          <p:cNvSpPr/>
          <p:nvPr/>
        </p:nvSpPr>
        <p:spPr bwMode="auto">
          <a:xfrm>
            <a:off x="5334000" y="0"/>
            <a:ext cx="6858000"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13" name="Picture 12">
            <a:extLst>
              <a:ext uri="{FF2B5EF4-FFF2-40B4-BE49-F238E27FC236}">
                <a16:creationId xmlns:a16="http://schemas.microsoft.com/office/drawing/2014/main" id="{ED2EF16D-D401-4DD1-BD2B-1417889AD2A5}"/>
              </a:ext>
            </a:extLst>
          </p:cNvPr>
          <p:cNvPicPr>
            <a:picLocks noChangeAspect="1"/>
          </p:cNvPicPr>
          <p:nvPr/>
        </p:nvPicPr>
        <p:blipFill>
          <a:blip r:embed="rId2"/>
          <a:stretch>
            <a:fillRect/>
          </a:stretch>
        </p:blipFill>
        <p:spPr>
          <a:xfrm>
            <a:off x="582043" y="585788"/>
            <a:ext cx="2308795" cy="294139"/>
          </a:xfrm>
          <a:prstGeom prst="rect">
            <a:avLst/>
          </a:prstGeom>
        </p:spPr>
      </p:pic>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1F9ED9A-FBBB-45FF-A5CF-ED4786662DCE}"/>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4713109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square photo placeholder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grpSp>
        <p:nvGrpSpPr>
          <p:cNvPr id="8" name="Group 7">
            <a:extLst>
              <a:ext uri="{FF2B5EF4-FFF2-40B4-BE49-F238E27FC236}">
                <a16:creationId xmlns:a16="http://schemas.microsoft.com/office/drawing/2014/main" id="{64913CEA-C43B-4E3B-AE2A-5F44288BCBBB}"/>
              </a:ext>
            </a:extLst>
          </p:cNvPr>
          <p:cNvGrpSpPr/>
          <p:nvPr/>
        </p:nvGrpSpPr>
        <p:grpSpPr bwMode="black">
          <a:xfrm>
            <a:off x="582043" y="585788"/>
            <a:ext cx="2308795" cy="294139"/>
            <a:chOff x="582043" y="585788"/>
            <a:chExt cx="2308795" cy="294139"/>
          </a:xfrm>
        </p:grpSpPr>
        <p:pic>
          <p:nvPicPr>
            <p:cNvPr id="9" name="Picture 8">
              <a:extLst>
                <a:ext uri="{FF2B5EF4-FFF2-40B4-BE49-F238E27FC236}">
                  <a16:creationId xmlns:a16="http://schemas.microsoft.com/office/drawing/2014/main" id="{323B6B2C-935A-48E1-9234-20A9CF488160}"/>
                </a:ext>
              </a:extLst>
            </p:cNvPr>
            <p:cNvPicPr>
              <a:picLocks noChangeAspect="1"/>
            </p:cNvPicPr>
            <p:nvPr userDrawn="1"/>
          </p:nvPicPr>
          <p:blipFill rotWithShape="1">
            <a:blip r:embed="rId2">
              <a:lum bright="100000"/>
            </a:blip>
            <a:srcRect r="85089"/>
            <a:stretch/>
          </p:blipFill>
          <p:spPr bwMode="black">
            <a:xfrm>
              <a:off x="582043" y="585788"/>
              <a:ext cx="344263" cy="294139"/>
            </a:xfrm>
            <a:prstGeom prst="rect">
              <a:avLst/>
            </a:prstGeom>
          </p:spPr>
        </p:pic>
        <p:pic>
          <p:nvPicPr>
            <p:cNvPr id="10" name="Picture 9">
              <a:extLst>
                <a:ext uri="{FF2B5EF4-FFF2-40B4-BE49-F238E27FC236}">
                  <a16:creationId xmlns:a16="http://schemas.microsoft.com/office/drawing/2014/main" id="{BB5C68CB-B9DE-4230-A702-903A205A042A}"/>
                </a:ext>
              </a:extLst>
            </p:cNvPr>
            <p:cNvPicPr>
              <a:picLocks noChangeAspect="1"/>
            </p:cNvPicPr>
            <p:nvPr userDrawn="1"/>
          </p:nvPicPr>
          <p:blipFill rotWithShape="1">
            <a:blip r:embed="rId2">
              <a:lum bright="100000"/>
            </a:blip>
            <a:srcRect l="14911"/>
            <a:stretch/>
          </p:blipFill>
          <p:spPr bwMode="black">
            <a:xfrm>
              <a:off x="926306" y="585788"/>
              <a:ext cx="1964532" cy="294139"/>
            </a:xfrm>
            <a:prstGeom prst="rect">
              <a:avLst/>
            </a:prstGeom>
          </p:spPr>
        </p:pic>
      </p:grpSp>
      <p:sp>
        <p:nvSpPr>
          <p:cNvPr id="11" name="Rectangle 10">
            <a:extLst>
              <a:ext uri="{FF2B5EF4-FFF2-40B4-BE49-F238E27FC236}">
                <a16:creationId xmlns:a16="http://schemas.microsoft.com/office/drawing/2014/main" id="{7F05E9DA-E8D1-4172-820D-CEE3065C0EFC}"/>
              </a:ext>
            </a:extLst>
          </p:cNvPr>
          <p:cNvSpPr/>
          <p:nvPr/>
        </p:nvSpPr>
        <p:spPr bwMode="auto">
          <a:xfrm>
            <a:off x="5334000" y="0"/>
            <a:ext cx="6858000" cy="6858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2A3946FB-3CEF-4A23-BE32-5CA90CBB4988}"/>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8300610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quare photo placeholder Yellow">
    <p:bg>
      <p:bgPr>
        <a:solidFill>
          <a:srgbClr val="FFB9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3" name="Picture 2">
            <a:extLst>
              <a:ext uri="{FF2B5EF4-FFF2-40B4-BE49-F238E27FC236}">
                <a16:creationId xmlns:a16="http://schemas.microsoft.com/office/drawing/2014/main" id="{2B7938B8-F298-4772-A6EC-8F59C02C0B8A}"/>
              </a:ext>
            </a:extLst>
          </p:cNvPr>
          <p:cNvPicPr>
            <a:picLocks noChangeAspect="1"/>
          </p:cNvPicPr>
          <p:nvPr/>
        </p:nvPicPr>
        <p:blipFill>
          <a:blip r:embed="rId2"/>
          <a:stretch>
            <a:fillRect/>
          </a:stretch>
        </p:blipFill>
        <p:spPr>
          <a:xfrm>
            <a:off x="581337" y="585788"/>
            <a:ext cx="2308796" cy="294587"/>
          </a:xfrm>
          <a:prstGeom prst="rect">
            <a:avLst/>
          </a:prstGeom>
        </p:spPr>
      </p:pic>
      <p:sp>
        <p:nvSpPr>
          <p:cNvPr id="7" name="Rectangle 6">
            <a:extLst>
              <a:ext uri="{FF2B5EF4-FFF2-40B4-BE49-F238E27FC236}">
                <a16:creationId xmlns:a16="http://schemas.microsoft.com/office/drawing/2014/main" id="{C9B633B0-40F9-4729-84DB-771120F5D70D}"/>
              </a:ext>
            </a:extLst>
          </p:cNvPr>
          <p:cNvSpPr/>
          <p:nvPr/>
        </p:nvSpPr>
        <p:spPr bwMode="auto">
          <a:xfrm>
            <a:off x="5334000" y="0"/>
            <a:ext cx="6858000"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E0F96359-EC4C-4CE6-BA65-F486272055DA}"/>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720815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quare photo placeholder Green">
    <p:bg>
      <p:bgPr>
        <a:solidFill>
          <a:srgbClr val="107C1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grpSp>
        <p:nvGrpSpPr>
          <p:cNvPr id="7" name="Group 6">
            <a:extLst>
              <a:ext uri="{FF2B5EF4-FFF2-40B4-BE49-F238E27FC236}">
                <a16:creationId xmlns:a16="http://schemas.microsoft.com/office/drawing/2014/main" id="{79F73AF8-146B-42CD-B541-F752F139986C}"/>
              </a:ext>
            </a:extLst>
          </p:cNvPr>
          <p:cNvGrpSpPr/>
          <p:nvPr/>
        </p:nvGrpSpPr>
        <p:grpSpPr bwMode="black">
          <a:xfrm>
            <a:off x="582043" y="585788"/>
            <a:ext cx="2308795" cy="294139"/>
            <a:chOff x="582043" y="585788"/>
            <a:chExt cx="2308795" cy="294139"/>
          </a:xfrm>
        </p:grpSpPr>
        <p:pic>
          <p:nvPicPr>
            <p:cNvPr id="8" name="Picture 7">
              <a:extLst>
                <a:ext uri="{FF2B5EF4-FFF2-40B4-BE49-F238E27FC236}">
                  <a16:creationId xmlns:a16="http://schemas.microsoft.com/office/drawing/2014/main" id="{50DF95CC-AC64-474E-B72E-33CFB9D831F3}"/>
                </a:ext>
              </a:extLst>
            </p:cNvPr>
            <p:cNvPicPr>
              <a:picLocks noChangeAspect="1"/>
            </p:cNvPicPr>
            <p:nvPr userDrawn="1"/>
          </p:nvPicPr>
          <p:blipFill rotWithShape="1">
            <a:blip r:embed="rId2">
              <a:lum bright="100000"/>
            </a:blip>
            <a:srcRect r="85089"/>
            <a:stretch/>
          </p:blipFill>
          <p:spPr bwMode="black">
            <a:xfrm>
              <a:off x="582043" y="585788"/>
              <a:ext cx="344263" cy="294139"/>
            </a:xfrm>
            <a:prstGeom prst="rect">
              <a:avLst/>
            </a:prstGeom>
          </p:spPr>
        </p:pic>
        <p:pic>
          <p:nvPicPr>
            <p:cNvPr id="9" name="Picture 8">
              <a:extLst>
                <a:ext uri="{FF2B5EF4-FFF2-40B4-BE49-F238E27FC236}">
                  <a16:creationId xmlns:a16="http://schemas.microsoft.com/office/drawing/2014/main" id="{07DB53AF-4CA8-4329-BFA8-2FDDBB8D4982}"/>
                </a:ext>
              </a:extLst>
            </p:cNvPr>
            <p:cNvPicPr>
              <a:picLocks noChangeAspect="1"/>
            </p:cNvPicPr>
            <p:nvPr userDrawn="1"/>
          </p:nvPicPr>
          <p:blipFill rotWithShape="1">
            <a:blip r:embed="rId2">
              <a:lum bright="100000"/>
            </a:blip>
            <a:srcRect l="14911"/>
            <a:stretch/>
          </p:blipFill>
          <p:spPr bwMode="black">
            <a:xfrm>
              <a:off x="926306" y="585788"/>
              <a:ext cx="1964532" cy="294139"/>
            </a:xfrm>
            <a:prstGeom prst="rect">
              <a:avLst/>
            </a:prstGeom>
          </p:spPr>
        </p:pic>
      </p:grpSp>
      <p:sp>
        <p:nvSpPr>
          <p:cNvPr id="10" name="Rectangle 9">
            <a:extLst>
              <a:ext uri="{FF2B5EF4-FFF2-40B4-BE49-F238E27FC236}">
                <a16:creationId xmlns:a16="http://schemas.microsoft.com/office/drawing/2014/main" id="{E4B197E9-B625-4BCE-AA2E-ACB5788815C5}"/>
              </a:ext>
            </a:extLst>
          </p:cNvPr>
          <p:cNvSpPr/>
          <p:nvPr/>
        </p:nvSpPr>
        <p:spPr bwMode="auto">
          <a:xfrm>
            <a:off x="5334000" y="0"/>
            <a:ext cx="6858000" cy="6858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659E3F35-E30F-4CC7-B067-A26A900A106C}"/>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6279931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Square Photo placeholder Dk Blu">
    <p:bg>
      <p:bgPr>
        <a:solidFill>
          <a:srgbClr val="243A5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grpSp>
        <p:nvGrpSpPr>
          <p:cNvPr id="7" name="Group 6">
            <a:extLst>
              <a:ext uri="{FF2B5EF4-FFF2-40B4-BE49-F238E27FC236}">
                <a16:creationId xmlns:a16="http://schemas.microsoft.com/office/drawing/2014/main" id="{79F73AF8-146B-42CD-B541-F752F139986C}"/>
              </a:ext>
            </a:extLst>
          </p:cNvPr>
          <p:cNvGrpSpPr/>
          <p:nvPr/>
        </p:nvGrpSpPr>
        <p:grpSpPr bwMode="black">
          <a:xfrm>
            <a:off x="582043" y="585788"/>
            <a:ext cx="2308795" cy="294139"/>
            <a:chOff x="582043" y="585788"/>
            <a:chExt cx="2308795" cy="294139"/>
          </a:xfrm>
        </p:grpSpPr>
        <p:pic>
          <p:nvPicPr>
            <p:cNvPr id="8" name="Picture 7">
              <a:extLst>
                <a:ext uri="{FF2B5EF4-FFF2-40B4-BE49-F238E27FC236}">
                  <a16:creationId xmlns:a16="http://schemas.microsoft.com/office/drawing/2014/main" id="{50DF95CC-AC64-474E-B72E-33CFB9D831F3}"/>
                </a:ext>
              </a:extLst>
            </p:cNvPr>
            <p:cNvPicPr>
              <a:picLocks noChangeAspect="1"/>
            </p:cNvPicPr>
            <p:nvPr userDrawn="1"/>
          </p:nvPicPr>
          <p:blipFill rotWithShape="1">
            <a:blip r:embed="rId2">
              <a:lum bright="100000"/>
            </a:blip>
            <a:srcRect r="85089"/>
            <a:stretch/>
          </p:blipFill>
          <p:spPr bwMode="black">
            <a:xfrm>
              <a:off x="582043" y="585788"/>
              <a:ext cx="344263" cy="294139"/>
            </a:xfrm>
            <a:prstGeom prst="rect">
              <a:avLst/>
            </a:prstGeom>
          </p:spPr>
        </p:pic>
        <p:pic>
          <p:nvPicPr>
            <p:cNvPr id="9" name="Picture 8">
              <a:extLst>
                <a:ext uri="{FF2B5EF4-FFF2-40B4-BE49-F238E27FC236}">
                  <a16:creationId xmlns:a16="http://schemas.microsoft.com/office/drawing/2014/main" id="{07DB53AF-4CA8-4329-BFA8-2FDDBB8D4982}"/>
                </a:ext>
              </a:extLst>
            </p:cNvPr>
            <p:cNvPicPr>
              <a:picLocks noChangeAspect="1"/>
            </p:cNvPicPr>
            <p:nvPr userDrawn="1"/>
          </p:nvPicPr>
          <p:blipFill rotWithShape="1">
            <a:blip r:embed="rId2">
              <a:lum bright="100000"/>
            </a:blip>
            <a:srcRect l="14911"/>
            <a:stretch/>
          </p:blipFill>
          <p:spPr bwMode="black">
            <a:xfrm>
              <a:off x="926306" y="585788"/>
              <a:ext cx="1964532" cy="294139"/>
            </a:xfrm>
            <a:prstGeom prst="rect">
              <a:avLst/>
            </a:prstGeom>
          </p:spPr>
        </p:pic>
      </p:grpSp>
      <p:sp>
        <p:nvSpPr>
          <p:cNvPr id="10" name="Rectangle 9">
            <a:extLst>
              <a:ext uri="{FF2B5EF4-FFF2-40B4-BE49-F238E27FC236}">
                <a16:creationId xmlns:a16="http://schemas.microsoft.com/office/drawing/2014/main" id="{E4B197E9-B625-4BCE-AA2E-ACB5788815C5}"/>
              </a:ext>
            </a:extLst>
          </p:cNvPr>
          <p:cNvSpPr/>
          <p:nvPr/>
        </p:nvSpPr>
        <p:spPr bwMode="auto">
          <a:xfrm>
            <a:off x="5334000" y="0"/>
            <a:ext cx="6858000" cy="6858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659E3F35-E30F-4CC7-B067-A26A900A106C}"/>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6195049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Square photo placeholder Dk Green">
    <p:bg>
      <p:bgPr>
        <a:solidFill>
          <a:srgbClr val="054B1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grpSp>
        <p:nvGrpSpPr>
          <p:cNvPr id="7" name="Group 6">
            <a:extLst>
              <a:ext uri="{FF2B5EF4-FFF2-40B4-BE49-F238E27FC236}">
                <a16:creationId xmlns:a16="http://schemas.microsoft.com/office/drawing/2014/main" id="{79F73AF8-146B-42CD-B541-F752F139986C}"/>
              </a:ext>
            </a:extLst>
          </p:cNvPr>
          <p:cNvGrpSpPr/>
          <p:nvPr/>
        </p:nvGrpSpPr>
        <p:grpSpPr bwMode="black">
          <a:xfrm>
            <a:off x="582043" y="585788"/>
            <a:ext cx="2308795" cy="294139"/>
            <a:chOff x="582043" y="585788"/>
            <a:chExt cx="2308795" cy="294139"/>
          </a:xfrm>
        </p:grpSpPr>
        <p:pic>
          <p:nvPicPr>
            <p:cNvPr id="8" name="Picture 7">
              <a:extLst>
                <a:ext uri="{FF2B5EF4-FFF2-40B4-BE49-F238E27FC236}">
                  <a16:creationId xmlns:a16="http://schemas.microsoft.com/office/drawing/2014/main" id="{50DF95CC-AC64-474E-B72E-33CFB9D831F3}"/>
                </a:ext>
              </a:extLst>
            </p:cNvPr>
            <p:cNvPicPr>
              <a:picLocks noChangeAspect="1"/>
            </p:cNvPicPr>
            <p:nvPr userDrawn="1"/>
          </p:nvPicPr>
          <p:blipFill rotWithShape="1">
            <a:blip r:embed="rId2">
              <a:lum bright="100000"/>
            </a:blip>
            <a:srcRect r="85089"/>
            <a:stretch/>
          </p:blipFill>
          <p:spPr bwMode="black">
            <a:xfrm>
              <a:off x="582043" y="585788"/>
              <a:ext cx="344263" cy="294139"/>
            </a:xfrm>
            <a:prstGeom prst="rect">
              <a:avLst/>
            </a:prstGeom>
          </p:spPr>
        </p:pic>
        <p:pic>
          <p:nvPicPr>
            <p:cNvPr id="9" name="Picture 8">
              <a:extLst>
                <a:ext uri="{FF2B5EF4-FFF2-40B4-BE49-F238E27FC236}">
                  <a16:creationId xmlns:a16="http://schemas.microsoft.com/office/drawing/2014/main" id="{07DB53AF-4CA8-4329-BFA8-2FDDBB8D4982}"/>
                </a:ext>
              </a:extLst>
            </p:cNvPr>
            <p:cNvPicPr>
              <a:picLocks noChangeAspect="1"/>
            </p:cNvPicPr>
            <p:nvPr userDrawn="1"/>
          </p:nvPicPr>
          <p:blipFill rotWithShape="1">
            <a:blip r:embed="rId2">
              <a:lum bright="100000"/>
            </a:blip>
            <a:srcRect l="14911"/>
            <a:stretch/>
          </p:blipFill>
          <p:spPr bwMode="black">
            <a:xfrm>
              <a:off x="926306" y="585788"/>
              <a:ext cx="1964532" cy="294139"/>
            </a:xfrm>
            <a:prstGeom prst="rect">
              <a:avLst/>
            </a:prstGeom>
          </p:spPr>
        </p:pic>
      </p:grpSp>
      <p:sp>
        <p:nvSpPr>
          <p:cNvPr id="10" name="Rectangle 9">
            <a:extLst>
              <a:ext uri="{FF2B5EF4-FFF2-40B4-BE49-F238E27FC236}">
                <a16:creationId xmlns:a16="http://schemas.microsoft.com/office/drawing/2014/main" id="{E4B197E9-B625-4BCE-AA2E-ACB5788815C5}"/>
              </a:ext>
            </a:extLst>
          </p:cNvPr>
          <p:cNvSpPr/>
          <p:nvPr/>
        </p:nvSpPr>
        <p:spPr bwMode="auto">
          <a:xfrm>
            <a:off x="5334000" y="0"/>
            <a:ext cx="6858000" cy="6858000"/>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659E3F35-E30F-4CC7-B067-A26A900A106C}"/>
              </a:ext>
            </a:extLst>
          </p:cNvPr>
          <p:cNvSpPr>
            <a:spLocks noGrp="1"/>
          </p:cNvSpPr>
          <p:nvPr>
            <p:ph type="pic" sz="quarter" idx="11" hasCustomPrompt="1"/>
          </p:nvPr>
        </p:nvSpPr>
        <p:spPr bwMode="ltGray">
          <a:xfrm>
            <a:off x="5334000" y="-8469"/>
            <a:ext cx="6866467" cy="6870841"/>
          </a:xfrm>
          <a:custGeom>
            <a:avLst/>
            <a:gdLst>
              <a:gd name="connsiteX0" fmla="*/ 0 w 6858000"/>
              <a:gd name="connsiteY0" fmla="*/ 1718752 h 6858000"/>
              <a:gd name="connsiteX1" fmla="*/ 1718752 w 6858000"/>
              <a:gd name="connsiteY1" fmla="*/ 0 h 6858000"/>
              <a:gd name="connsiteX2" fmla="*/ 5139248 w 6858000"/>
              <a:gd name="connsiteY2" fmla="*/ 0 h 6858000"/>
              <a:gd name="connsiteX3" fmla="*/ 6858000 w 6858000"/>
              <a:gd name="connsiteY3" fmla="*/ 1718752 h 6858000"/>
              <a:gd name="connsiteX4" fmla="*/ 6858000 w 6858000"/>
              <a:gd name="connsiteY4" fmla="*/ 5139248 h 6858000"/>
              <a:gd name="connsiteX5" fmla="*/ 5139248 w 6858000"/>
              <a:gd name="connsiteY5" fmla="*/ 6858000 h 6858000"/>
              <a:gd name="connsiteX6" fmla="*/ 1718752 w 6858000"/>
              <a:gd name="connsiteY6" fmla="*/ 6858000 h 6858000"/>
              <a:gd name="connsiteX7" fmla="*/ 0 w 6858000"/>
              <a:gd name="connsiteY7" fmla="*/ 5139248 h 6858000"/>
              <a:gd name="connsiteX8" fmla="*/ 0 w 6858000"/>
              <a:gd name="connsiteY8" fmla="*/ 1718752 h 6858000"/>
              <a:gd name="connsiteX0" fmla="*/ 421870 w 7279870"/>
              <a:gd name="connsiteY0" fmla="*/ 1727219 h 6866467"/>
              <a:gd name="connsiteX1" fmla="*/ 421889 w 7279870"/>
              <a:gd name="connsiteY1" fmla="*/ 0 h 6866467"/>
              <a:gd name="connsiteX2" fmla="*/ 5561118 w 7279870"/>
              <a:gd name="connsiteY2" fmla="*/ 8467 h 6866467"/>
              <a:gd name="connsiteX3" fmla="*/ 7279870 w 7279870"/>
              <a:gd name="connsiteY3" fmla="*/ 1727219 h 6866467"/>
              <a:gd name="connsiteX4" fmla="*/ 7279870 w 7279870"/>
              <a:gd name="connsiteY4" fmla="*/ 5147715 h 6866467"/>
              <a:gd name="connsiteX5" fmla="*/ 5561118 w 7279870"/>
              <a:gd name="connsiteY5" fmla="*/ 6866467 h 6866467"/>
              <a:gd name="connsiteX6" fmla="*/ 2140622 w 7279870"/>
              <a:gd name="connsiteY6" fmla="*/ 6866467 h 6866467"/>
              <a:gd name="connsiteX7" fmla="*/ 421870 w 7279870"/>
              <a:gd name="connsiteY7" fmla="*/ 5147715 h 6866467"/>
              <a:gd name="connsiteX8" fmla="*/ 421870 w 7279870"/>
              <a:gd name="connsiteY8" fmla="*/ 1727219 h 6866467"/>
              <a:gd name="connsiteX0" fmla="*/ 0 w 6858000"/>
              <a:gd name="connsiteY0" fmla="*/ 5147715 h 6866467"/>
              <a:gd name="connsiteX1" fmla="*/ 19 w 6858000"/>
              <a:gd name="connsiteY1" fmla="*/ 0 h 6866467"/>
              <a:gd name="connsiteX2" fmla="*/ 5139248 w 6858000"/>
              <a:gd name="connsiteY2" fmla="*/ 8467 h 6866467"/>
              <a:gd name="connsiteX3" fmla="*/ 6858000 w 6858000"/>
              <a:gd name="connsiteY3" fmla="*/ 1727219 h 6866467"/>
              <a:gd name="connsiteX4" fmla="*/ 6858000 w 6858000"/>
              <a:gd name="connsiteY4" fmla="*/ 5147715 h 6866467"/>
              <a:gd name="connsiteX5" fmla="*/ 5139248 w 6858000"/>
              <a:gd name="connsiteY5" fmla="*/ 6866467 h 6866467"/>
              <a:gd name="connsiteX6" fmla="*/ 1718752 w 6858000"/>
              <a:gd name="connsiteY6" fmla="*/ 6866467 h 6866467"/>
              <a:gd name="connsiteX7" fmla="*/ 0 w 6858000"/>
              <a:gd name="connsiteY7" fmla="*/ 5147715 h 6866467"/>
              <a:gd name="connsiteX0" fmla="*/ 0 w 6866467"/>
              <a:gd name="connsiteY0" fmla="*/ 5567401 h 7286153"/>
              <a:gd name="connsiteX1" fmla="*/ 19 w 6866467"/>
              <a:gd name="connsiteY1" fmla="*/ 419686 h 7286153"/>
              <a:gd name="connsiteX2" fmla="*/ 5139248 w 6866467"/>
              <a:gd name="connsiteY2" fmla="*/ 428153 h 7286153"/>
              <a:gd name="connsiteX3" fmla="*/ 6866467 w 6866467"/>
              <a:gd name="connsiteY3" fmla="*/ 419705 h 7286153"/>
              <a:gd name="connsiteX4" fmla="*/ 6858000 w 6866467"/>
              <a:gd name="connsiteY4" fmla="*/ 5567401 h 7286153"/>
              <a:gd name="connsiteX5" fmla="*/ 5139248 w 6866467"/>
              <a:gd name="connsiteY5" fmla="*/ 7286153 h 7286153"/>
              <a:gd name="connsiteX6" fmla="*/ 1718752 w 6866467"/>
              <a:gd name="connsiteY6" fmla="*/ 7286153 h 7286153"/>
              <a:gd name="connsiteX7" fmla="*/ 0 w 6866467"/>
              <a:gd name="connsiteY7" fmla="*/ 5567401 h 7286153"/>
              <a:gd name="connsiteX0" fmla="*/ 0 w 6866467"/>
              <a:gd name="connsiteY0" fmla="*/ 5147715 h 6866467"/>
              <a:gd name="connsiteX1" fmla="*/ 19 w 6866467"/>
              <a:gd name="connsiteY1" fmla="*/ 0 h 6866467"/>
              <a:gd name="connsiteX2" fmla="*/ 6866467 w 6866467"/>
              <a:gd name="connsiteY2" fmla="*/ 19 h 6866467"/>
              <a:gd name="connsiteX3" fmla="*/ 6858000 w 6866467"/>
              <a:gd name="connsiteY3" fmla="*/ 5147715 h 6866467"/>
              <a:gd name="connsiteX4" fmla="*/ 5139248 w 6866467"/>
              <a:gd name="connsiteY4" fmla="*/ 6866467 h 6866467"/>
              <a:gd name="connsiteX5" fmla="*/ 1718752 w 6866467"/>
              <a:gd name="connsiteY5" fmla="*/ 6866467 h 6866467"/>
              <a:gd name="connsiteX6" fmla="*/ 0 w 6866467"/>
              <a:gd name="connsiteY6" fmla="*/ 5147715 h 6866467"/>
              <a:gd name="connsiteX0" fmla="*/ 0 w 6866467"/>
              <a:gd name="connsiteY0" fmla="*/ 5147715 h 7288337"/>
              <a:gd name="connsiteX1" fmla="*/ 19 w 6866467"/>
              <a:gd name="connsiteY1" fmla="*/ 0 h 7288337"/>
              <a:gd name="connsiteX2" fmla="*/ 6866467 w 6866467"/>
              <a:gd name="connsiteY2" fmla="*/ 19 h 7288337"/>
              <a:gd name="connsiteX3" fmla="*/ 6858000 w 6866467"/>
              <a:gd name="connsiteY3" fmla="*/ 6866448 h 7288337"/>
              <a:gd name="connsiteX4" fmla="*/ 5139248 w 6866467"/>
              <a:gd name="connsiteY4" fmla="*/ 6866467 h 7288337"/>
              <a:gd name="connsiteX5" fmla="*/ 1718752 w 6866467"/>
              <a:gd name="connsiteY5" fmla="*/ 6866467 h 7288337"/>
              <a:gd name="connsiteX6" fmla="*/ 0 w 6866467"/>
              <a:gd name="connsiteY6" fmla="*/ 5147715 h 7288337"/>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444913"/>
              <a:gd name="connsiteX1" fmla="*/ 19 w 6866467"/>
              <a:gd name="connsiteY1" fmla="*/ 0 h 7444913"/>
              <a:gd name="connsiteX2" fmla="*/ 6866467 w 6866467"/>
              <a:gd name="connsiteY2" fmla="*/ 19 h 7444913"/>
              <a:gd name="connsiteX3" fmla="*/ 6858000 w 6866467"/>
              <a:gd name="connsiteY3" fmla="*/ 6866448 h 7444913"/>
              <a:gd name="connsiteX4" fmla="*/ 1718752 w 6866467"/>
              <a:gd name="connsiteY4" fmla="*/ 6866467 h 7444913"/>
              <a:gd name="connsiteX5" fmla="*/ 0 w 6866467"/>
              <a:gd name="connsiteY5" fmla="*/ 5147715 h 7444913"/>
              <a:gd name="connsiteX0" fmla="*/ 0 w 6866467"/>
              <a:gd name="connsiteY0" fmla="*/ 5147715 h 7375078"/>
              <a:gd name="connsiteX1" fmla="*/ 19 w 6866467"/>
              <a:gd name="connsiteY1" fmla="*/ 0 h 7375078"/>
              <a:gd name="connsiteX2" fmla="*/ 6866467 w 6866467"/>
              <a:gd name="connsiteY2" fmla="*/ 19 h 7375078"/>
              <a:gd name="connsiteX3" fmla="*/ 6858000 w 6866467"/>
              <a:gd name="connsiteY3" fmla="*/ 6866448 h 7375078"/>
              <a:gd name="connsiteX4" fmla="*/ 1718752 w 6866467"/>
              <a:gd name="connsiteY4" fmla="*/ 6866467 h 7375078"/>
              <a:gd name="connsiteX5" fmla="*/ 0 w 6866467"/>
              <a:gd name="connsiteY5" fmla="*/ 5147715 h 7375078"/>
              <a:gd name="connsiteX0" fmla="*/ 0 w 6866467"/>
              <a:gd name="connsiteY0" fmla="*/ 5147715 h 6870841"/>
              <a:gd name="connsiteX1" fmla="*/ 19 w 6866467"/>
              <a:gd name="connsiteY1" fmla="*/ 0 h 6870841"/>
              <a:gd name="connsiteX2" fmla="*/ 6866467 w 6866467"/>
              <a:gd name="connsiteY2" fmla="*/ 19 h 6870841"/>
              <a:gd name="connsiteX3" fmla="*/ 6858000 w 6866467"/>
              <a:gd name="connsiteY3" fmla="*/ 6866448 h 6870841"/>
              <a:gd name="connsiteX4" fmla="*/ 1718752 w 6866467"/>
              <a:gd name="connsiteY4" fmla="*/ 6866467 h 6870841"/>
              <a:gd name="connsiteX5" fmla="*/ 0 w 6866467"/>
              <a:gd name="connsiteY5" fmla="*/ 5147715 h 6870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6467" h="6870841">
                <a:moveTo>
                  <a:pt x="0" y="5147715"/>
                </a:moveTo>
                <a:cubicBezTo>
                  <a:pt x="6" y="3431810"/>
                  <a:pt x="13" y="1715905"/>
                  <a:pt x="19" y="0"/>
                </a:cubicBezTo>
                <a:lnTo>
                  <a:pt x="6866467" y="19"/>
                </a:lnTo>
                <a:cubicBezTo>
                  <a:pt x="6863645" y="1715918"/>
                  <a:pt x="6862233" y="3433233"/>
                  <a:pt x="6858000" y="6866448"/>
                </a:cubicBezTo>
                <a:cubicBezTo>
                  <a:pt x="6016982" y="6876323"/>
                  <a:pt x="2897101" y="6866467"/>
                  <a:pt x="1718752" y="6866467"/>
                </a:cubicBezTo>
                <a:cubicBezTo>
                  <a:pt x="769511" y="6866467"/>
                  <a:pt x="0" y="6096956"/>
                  <a:pt x="0" y="5147715"/>
                </a:cubicBezTo>
                <a:close/>
              </a:path>
            </a:pathLst>
          </a:custGeo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5369545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lide gray">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DCE321EF-5297-4BC8-853D-BAA6A1AF47EA}"/>
              </a:ext>
            </a:extLst>
          </p:cNvPr>
          <p:cNvPicPr>
            <a:picLocks noChangeAspect="1"/>
          </p:cNvPicPr>
          <p:nvPr/>
        </p:nvPicPr>
        <p:blipFill>
          <a:blip r:embed="rId2"/>
          <a:stretch>
            <a:fillRect/>
          </a:stretch>
        </p:blipFill>
        <p:spPr>
          <a:xfrm>
            <a:off x="582043" y="585788"/>
            <a:ext cx="2308795" cy="294139"/>
          </a:xfrm>
          <a:prstGeom prst="rect">
            <a:avLst/>
          </a:prstGeom>
        </p:spPr>
      </p:pic>
    </p:spTree>
    <p:extLst>
      <p:ext uri="{BB962C8B-B14F-4D97-AF65-F5344CB8AC3E}">
        <p14:creationId xmlns:p14="http://schemas.microsoft.com/office/powerpoint/2010/main" val="10311649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hasCustomPrompt="1"/>
          </p:nvPr>
        </p:nvSpPr>
        <p:spPr>
          <a:xfrm>
            <a:off x="588263" y="457200"/>
            <a:ext cx="5215637" cy="553998"/>
          </a:xfrm>
        </p:spPr>
        <p:txBody>
          <a:bodyPr/>
          <a:lstStyle>
            <a:lvl1pPr>
              <a:defRPr/>
            </a:lvl1pPr>
          </a:lstStyle>
          <a:p>
            <a:r>
              <a:rPr lang="en-US"/>
              <a:t>Agenda</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0614E108-2258-4959-A182-798030A0C286}"/>
              </a:ext>
            </a:extLst>
          </p:cNvPr>
          <p:cNvSpPr/>
          <p:nvPr/>
        </p:nvSpPr>
        <p:spPr bwMode="auto">
          <a:xfrm>
            <a:off x="6395722" y="0"/>
            <a:ext cx="5796278" cy="6858000"/>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nvGrpSpPr>
          <p:cNvPr id="32" name="Group 31">
            <a:extLst>
              <a:ext uri="{FF2B5EF4-FFF2-40B4-BE49-F238E27FC236}">
                <a16:creationId xmlns:a16="http://schemas.microsoft.com/office/drawing/2014/main" id="{22E07E8F-16B4-4F77-8278-6A843F1B9F57}"/>
              </a:ext>
            </a:extLst>
          </p:cNvPr>
          <p:cNvGrpSpPr/>
          <p:nvPr/>
        </p:nvGrpSpPr>
        <p:grpSpPr>
          <a:xfrm rot="16200000">
            <a:off x="7643952" y="2603639"/>
            <a:ext cx="5424211" cy="3084509"/>
            <a:chOff x="6395721" y="4420906"/>
            <a:chExt cx="3250001" cy="1848132"/>
          </a:xfrm>
        </p:grpSpPr>
        <p:sp>
          <p:nvSpPr>
            <p:cNvPr id="27" name="Rectangle: Top Corners Rounded 26">
              <a:extLst>
                <a:ext uri="{FF2B5EF4-FFF2-40B4-BE49-F238E27FC236}">
                  <a16:creationId xmlns:a16="http://schemas.microsoft.com/office/drawing/2014/main" id="{B26B5DC7-3928-4E30-95C7-101CC42758F9}"/>
                </a:ext>
              </a:extLst>
            </p:cNvPr>
            <p:cNvSpPr/>
            <p:nvPr userDrawn="1"/>
          </p:nvSpPr>
          <p:spPr bwMode="auto">
            <a:xfrm rot="5400000">
              <a:off x="6879140" y="3937487"/>
              <a:ext cx="501648" cy="1468485"/>
            </a:xfrm>
            <a:prstGeom prst="round2SameRect">
              <a:avLst>
                <a:gd name="adj1" fmla="val 50000"/>
                <a:gd name="adj2" fmla="val 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5" name="Oval 24">
              <a:extLst>
                <a:ext uri="{FF2B5EF4-FFF2-40B4-BE49-F238E27FC236}">
                  <a16:creationId xmlns:a16="http://schemas.microsoft.com/office/drawing/2014/main" id="{6F2E0A55-6A95-45A9-9988-FD4377975EAD}"/>
                </a:ext>
              </a:extLst>
            </p:cNvPr>
            <p:cNvSpPr/>
            <p:nvPr userDrawn="1"/>
          </p:nvSpPr>
          <p:spPr bwMode="auto">
            <a:xfrm>
              <a:off x="7407431" y="4471065"/>
              <a:ext cx="401326" cy="401326"/>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8" name="Rectangle: Top Corners Rounded 27">
              <a:extLst>
                <a:ext uri="{FF2B5EF4-FFF2-40B4-BE49-F238E27FC236}">
                  <a16:creationId xmlns:a16="http://schemas.microsoft.com/office/drawing/2014/main" id="{EA3F14D9-33C3-411A-8D84-8E8E15E9381B}"/>
                </a:ext>
              </a:extLst>
            </p:cNvPr>
            <p:cNvSpPr/>
            <p:nvPr userDrawn="1"/>
          </p:nvSpPr>
          <p:spPr bwMode="auto">
            <a:xfrm rot="5400000">
              <a:off x="7246261" y="4243608"/>
              <a:ext cx="501648" cy="2202728"/>
            </a:xfrm>
            <a:prstGeom prst="round2SameRect">
              <a:avLst>
                <a:gd name="adj1" fmla="val 50000"/>
                <a:gd name="adj2" fmla="val 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9" name="Oval 28">
              <a:extLst>
                <a:ext uri="{FF2B5EF4-FFF2-40B4-BE49-F238E27FC236}">
                  <a16:creationId xmlns:a16="http://schemas.microsoft.com/office/drawing/2014/main" id="{4A285CB0-5ABD-4C59-98FE-F25F8026D321}"/>
                </a:ext>
              </a:extLst>
            </p:cNvPr>
            <p:cNvSpPr/>
            <p:nvPr userDrawn="1"/>
          </p:nvSpPr>
          <p:spPr bwMode="auto">
            <a:xfrm>
              <a:off x="8141673" y="5144307"/>
              <a:ext cx="401326" cy="401326"/>
            </a:xfrm>
            <a:prstGeom prst="ellipse">
              <a:avLst/>
            </a:prstGeom>
            <a:solidFill>
              <a:srgbClr val="FFB9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0" name="Rectangle: Top Corners Rounded 29">
              <a:extLst>
                <a:ext uri="{FF2B5EF4-FFF2-40B4-BE49-F238E27FC236}">
                  <a16:creationId xmlns:a16="http://schemas.microsoft.com/office/drawing/2014/main" id="{6EC31BC0-C04D-4163-9ECB-371CBCE34ADB}"/>
                </a:ext>
              </a:extLst>
            </p:cNvPr>
            <p:cNvSpPr/>
            <p:nvPr userDrawn="1"/>
          </p:nvSpPr>
          <p:spPr bwMode="auto">
            <a:xfrm rot="5400000">
              <a:off x="7769898" y="4393213"/>
              <a:ext cx="501648" cy="3250001"/>
            </a:xfrm>
            <a:prstGeom prst="round2SameRect">
              <a:avLst>
                <a:gd name="adj1" fmla="val 50000"/>
                <a:gd name="adj2" fmla="val 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1" name="Oval 30">
              <a:extLst>
                <a:ext uri="{FF2B5EF4-FFF2-40B4-BE49-F238E27FC236}">
                  <a16:creationId xmlns:a16="http://schemas.microsoft.com/office/drawing/2014/main" id="{E691BBA6-17F1-4715-BBD9-9570E0AF6EBF}"/>
                </a:ext>
              </a:extLst>
            </p:cNvPr>
            <p:cNvSpPr/>
            <p:nvPr userDrawn="1"/>
          </p:nvSpPr>
          <p:spPr bwMode="auto">
            <a:xfrm>
              <a:off x="9188946" y="5817549"/>
              <a:ext cx="401326" cy="401326"/>
            </a:xfrm>
            <a:prstGeom prst="ellipse">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grpSp>
    </p:spTree>
    <p:extLst>
      <p:ext uri="{BB962C8B-B14F-4D97-AF65-F5344CB8AC3E}">
        <p14:creationId xmlns:p14="http://schemas.microsoft.com/office/powerpoint/2010/main" val="216947661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B3FA96-19FC-48A6-A985-267EB2138E23}"/>
              </a:ext>
            </a:extLst>
          </p:cNvPr>
          <p:cNvSpPr/>
          <p:nvPr/>
        </p:nvSpPr>
        <p:spPr bwMode="auto">
          <a:xfrm>
            <a:off x="0" y="0"/>
            <a:ext cx="12192000" cy="120898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lvl1pPr>
              <a:defRPr>
                <a:solidFill>
                  <a:schemeClr val="bg1"/>
                </a:solidFill>
              </a:defRPr>
            </a:lvl1p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666187"/>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51102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666187"/>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50438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666187"/>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51102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666187"/>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504387"/>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7" name="Group 6">
            <a:extLst>
              <a:ext uri="{FF2B5EF4-FFF2-40B4-BE49-F238E27FC236}">
                <a16:creationId xmlns:a16="http://schemas.microsoft.com/office/drawing/2014/main" id="{CCCF4131-8CCF-4171-B985-EAF865CC55EF}"/>
              </a:ext>
            </a:extLst>
          </p:cNvPr>
          <p:cNvGrpSpPr/>
          <p:nvPr/>
        </p:nvGrpSpPr>
        <p:grpSpPr>
          <a:xfrm>
            <a:off x="10798157" y="457199"/>
            <a:ext cx="1100156" cy="564349"/>
            <a:chOff x="9946913" y="171645"/>
            <a:chExt cx="1656824" cy="849904"/>
          </a:xfrm>
        </p:grpSpPr>
        <p:sp>
          <p:nvSpPr>
            <p:cNvPr id="6" name="Graphic 4">
              <a:extLst>
                <a:ext uri="{FF2B5EF4-FFF2-40B4-BE49-F238E27FC236}">
                  <a16:creationId xmlns:a16="http://schemas.microsoft.com/office/drawing/2014/main" id="{494D7464-294F-4164-ACF7-0EDEA0812105}"/>
                </a:ext>
              </a:extLst>
            </p:cNvPr>
            <p:cNvSpPr/>
            <p:nvPr/>
          </p:nvSpPr>
          <p:spPr>
            <a:xfrm>
              <a:off x="9946913" y="171645"/>
              <a:ext cx="521444" cy="849904"/>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rgbClr val="FFFFFF"/>
            </a:solidFill>
            <a:ln w="9525" cap="flat">
              <a:noFill/>
              <a:prstDash val="solid"/>
              <a:miter/>
            </a:ln>
          </p:spPr>
          <p:txBody>
            <a:bodyPr rtlCol="0" anchor="ctr"/>
            <a:lstStyle/>
            <a:p>
              <a:endParaRPr lang="en-US"/>
            </a:p>
          </p:txBody>
        </p:sp>
        <p:sp>
          <p:nvSpPr>
            <p:cNvPr id="15" name="Graphic 4">
              <a:extLst>
                <a:ext uri="{FF2B5EF4-FFF2-40B4-BE49-F238E27FC236}">
                  <a16:creationId xmlns:a16="http://schemas.microsoft.com/office/drawing/2014/main" id="{8773D37F-9426-48AF-9E30-19EA4A3E4F07}"/>
                </a:ext>
              </a:extLst>
            </p:cNvPr>
            <p:cNvSpPr/>
            <p:nvPr userDrawn="1"/>
          </p:nvSpPr>
          <p:spPr>
            <a:xfrm>
              <a:off x="10689786" y="171645"/>
              <a:ext cx="521445" cy="849904"/>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rgbClr val="FFFFFF"/>
            </a:solidFill>
            <a:ln w="9525" cap="flat">
              <a:noFill/>
              <a:prstDash val="solid"/>
              <a:miter/>
            </a:ln>
          </p:spPr>
          <p:txBody>
            <a:bodyPr rtlCol="0" anchor="ctr"/>
            <a:lstStyle/>
            <a:p>
              <a:endParaRPr lang="en-US"/>
            </a:p>
          </p:txBody>
        </p:sp>
        <p:sp>
          <p:nvSpPr>
            <p:cNvPr id="16" name="Graphic 4">
              <a:extLst>
                <a:ext uri="{FF2B5EF4-FFF2-40B4-BE49-F238E27FC236}">
                  <a16:creationId xmlns:a16="http://schemas.microsoft.com/office/drawing/2014/main" id="{26D5F151-C3B9-4DC3-A552-E8B16BA82E44}"/>
                </a:ext>
              </a:extLst>
            </p:cNvPr>
            <p:cNvSpPr/>
            <p:nvPr userDrawn="1"/>
          </p:nvSpPr>
          <p:spPr>
            <a:xfrm>
              <a:off x="11082293" y="171645"/>
              <a:ext cx="521444" cy="849904"/>
            </a:xfrm>
            <a:custGeom>
              <a:avLst/>
              <a:gdLst>
                <a:gd name="connsiteX0" fmla="*/ 0 w 1187037"/>
                <a:gd name="connsiteY0" fmla="*/ 203666 h 1934760"/>
                <a:gd name="connsiteX1" fmla="*/ 56674 w 1187037"/>
                <a:gd name="connsiteY1" fmla="*/ 62696 h 1934760"/>
                <a:gd name="connsiteX2" fmla="*/ 344710 w 1187037"/>
                <a:gd name="connsiteY2" fmla="*/ 56695 h 1934760"/>
                <a:gd name="connsiteX3" fmla="*/ 1124331 w 1187037"/>
                <a:gd name="connsiteY3" fmla="*/ 804408 h 1934760"/>
                <a:gd name="connsiteX4" fmla="*/ 1187006 w 1187037"/>
                <a:gd name="connsiteY4" fmla="*/ 947187 h 1934760"/>
                <a:gd name="connsiteX5" fmla="*/ 1130332 w 1187037"/>
                <a:gd name="connsiteY5" fmla="*/ 1092444 h 1934760"/>
                <a:gd name="connsiteX6" fmla="*/ 382619 w 1187037"/>
                <a:gd name="connsiteY6" fmla="*/ 1872065 h 1934760"/>
                <a:gd name="connsiteX7" fmla="*/ 94583 w 1187037"/>
                <a:gd name="connsiteY7" fmla="*/ 1878066 h 1934760"/>
                <a:gd name="connsiteX8" fmla="*/ 88583 w 1187037"/>
                <a:gd name="connsiteY8" fmla="*/ 1590030 h 1934760"/>
                <a:gd name="connsiteX9" fmla="*/ 695325 w 1187037"/>
                <a:gd name="connsiteY9" fmla="*/ 957474 h 1934760"/>
                <a:gd name="connsiteX10" fmla="*/ 62675 w 1187037"/>
                <a:gd name="connsiteY10" fmla="*/ 350732 h 1934760"/>
                <a:gd name="connsiteX11" fmla="*/ 0 w 1187037"/>
                <a:gd name="connsiteY11" fmla="*/ 203666 h 193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87037" h="1934760">
                  <a:moveTo>
                    <a:pt x="0" y="203666"/>
                  </a:moveTo>
                  <a:cubicBezTo>
                    <a:pt x="0" y="152993"/>
                    <a:pt x="18860" y="102225"/>
                    <a:pt x="56674" y="62696"/>
                  </a:cubicBezTo>
                  <a:cubicBezTo>
                    <a:pt x="134493" y="-18457"/>
                    <a:pt x="263462" y="-21219"/>
                    <a:pt x="344710" y="56695"/>
                  </a:cubicBezTo>
                  <a:lnTo>
                    <a:pt x="1124331" y="804408"/>
                  </a:lnTo>
                  <a:cubicBezTo>
                    <a:pt x="1163288" y="841841"/>
                    <a:pt x="1185863" y="893181"/>
                    <a:pt x="1187006" y="947187"/>
                  </a:cubicBezTo>
                  <a:cubicBezTo>
                    <a:pt x="1187958" y="1000813"/>
                    <a:pt x="1167765" y="1053486"/>
                    <a:pt x="1130332" y="1092444"/>
                  </a:cubicBezTo>
                  <a:lnTo>
                    <a:pt x="382619" y="1872065"/>
                  </a:lnTo>
                  <a:cubicBezTo>
                    <a:pt x="304800" y="1953218"/>
                    <a:pt x="175831" y="1955980"/>
                    <a:pt x="94583" y="1878066"/>
                  </a:cubicBezTo>
                  <a:cubicBezTo>
                    <a:pt x="13335" y="1800151"/>
                    <a:pt x="10668" y="1671278"/>
                    <a:pt x="88583" y="1590030"/>
                  </a:cubicBezTo>
                  <a:lnTo>
                    <a:pt x="695325" y="957474"/>
                  </a:lnTo>
                  <a:lnTo>
                    <a:pt x="62675" y="350732"/>
                  </a:lnTo>
                  <a:cubicBezTo>
                    <a:pt x="20955" y="310727"/>
                    <a:pt x="0" y="257292"/>
                    <a:pt x="0" y="203666"/>
                  </a:cubicBez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43132625"/>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95694171"/>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8272212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76186494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3214364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8421906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078694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21171618"/>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09462767"/>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7458965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1156828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54868138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7619014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16538311"/>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3849243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45947188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59370551"/>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002816481"/>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0452943"/>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8923944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987058214"/>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7903381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949454687"/>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81333878"/>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5622280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2346637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0937822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7756640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6465216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71439555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7299422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737264"/>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6935748"/>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Developer Code Layout full pa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tileRect/>
          </a:gradFill>
        </p:spPr>
        <p:txBody>
          <a:bodyPr vert="horz" wrap="square" lIns="585216" tIns="91440" rIns="0" bIns="91440" rtlCol="0">
            <a:spAutoFit/>
          </a:bodyPr>
          <a:lstStyle>
            <a:lvl1pPr marL="0" indent="0">
              <a:buNone/>
              <a:defRPr lang="en-US" sz="1999" dirty="0">
                <a:solidFill>
                  <a:srgbClr val="FFFFFF"/>
                </a:solidFill>
                <a:latin typeface="+mj-lt"/>
              </a:defRPr>
            </a:lvl1pPr>
          </a:lstStyle>
          <a:p>
            <a:pPr marL="0" lvl="0" indent="0">
              <a:buNone/>
            </a:pPr>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120802710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Developer Code Layou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226723260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de Bottom">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84390959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de Top">
    <p:bg>
      <p:bgRef idx="1001">
        <a:schemeClr val="bg2"/>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32531100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de Right s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985422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ode Left sd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2256586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Quote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82416" y="585788"/>
            <a:ext cx="8026972" cy="2946033"/>
          </a:xfrm>
          <a:noFill/>
        </p:spPr>
        <p:txBody>
          <a:bodyPr wrap="square" lIns="0" tIns="0" rIns="0" bIns="0" anchor="b" anchorCtr="0">
            <a:norm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Quote text</a:t>
            </a:r>
          </a:p>
        </p:txBody>
      </p:sp>
      <p:sp>
        <p:nvSpPr>
          <p:cNvPr id="5" name="Text Placeholder 4"/>
          <p:cNvSpPr>
            <a:spLocks noGrp="1"/>
          </p:cNvSpPr>
          <p:nvPr>
            <p:ph type="body" sz="quarter" idx="12" hasCustomPrompt="1"/>
          </p:nvPr>
        </p:nvSpPr>
        <p:spPr>
          <a:xfrm>
            <a:off x="3582416" y="39773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Name</a:t>
            </a:r>
          </a:p>
        </p:txBody>
      </p:sp>
      <p:sp>
        <p:nvSpPr>
          <p:cNvPr id="4" name="Text Placeholder 4">
            <a:extLst>
              <a:ext uri="{FF2B5EF4-FFF2-40B4-BE49-F238E27FC236}">
                <a16:creationId xmlns:a16="http://schemas.microsoft.com/office/drawing/2014/main" id="{E442750B-A7AB-42A9-A8AF-218016DC73F6}"/>
              </a:ext>
            </a:extLst>
          </p:cNvPr>
          <p:cNvSpPr>
            <a:spLocks noGrp="1"/>
          </p:cNvSpPr>
          <p:nvPr>
            <p:ph type="body" sz="quarter" idx="13" hasCustomPrompt="1"/>
          </p:nvPr>
        </p:nvSpPr>
        <p:spPr>
          <a:xfrm>
            <a:off x="3582416" y="43837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Company or position</a:t>
            </a:r>
          </a:p>
        </p:txBody>
      </p:sp>
      <p:pic>
        <p:nvPicPr>
          <p:cNvPr id="7" name="Picture 6">
            <a:extLst>
              <a:ext uri="{FF2B5EF4-FFF2-40B4-BE49-F238E27FC236}">
                <a16:creationId xmlns:a16="http://schemas.microsoft.com/office/drawing/2014/main" id="{8EF7F8A9-CB63-4BA7-8A0E-637BFA251A89}"/>
              </a:ext>
            </a:extLst>
          </p:cNvPr>
          <p:cNvPicPr>
            <a:picLocks noChangeAspect="1"/>
          </p:cNvPicPr>
          <p:nvPr/>
        </p:nvPicPr>
        <p:blipFill>
          <a:blip r:embed="rId2"/>
          <a:stretch>
            <a:fillRect/>
          </a:stretch>
        </p:blipFill>
        <p:spPr bwMode="black">
          <a:xfrm>
            <a:off x="549201" y="1177602"/>
            <a:ext cx="2514666" cy="2251398"/>
          </a:xfrm>
          <a:prstGeom prst="rect">
            <a:avLst/>
          </a:prstGeom>
        </p:spPr>
      </p:pic>
    </p:spTree>
    <p:extLst>
      <p:ext uri="{BB962C8B-B14F-4D97-AF65-F5344CB8AC3E}">
        <p14:creationId xmlns:p14="http://schemas.microsoft.com/office/powerpoint/2010/main" val="76636898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Quote yellow">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82416" y="585788"/>
            <a:ext cx="8025384" cy="2946033"/>
          </a:xfrm>
          <a:noFill/>
        </p:spPr>
        <p:txBody>
          <a:bodyPr wrap="square" lIns="0" tIns="0" rIns="0" bIns="0" anchor="b" anchorCtr="0">
            <a:norm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Quote text</a:t>
            </a:r>
          </a:p>
        </p:txBody>
      </p:sp>
      <p:sp>
        <p:nvSpPr>
          <p:cNvPr id="5" name="Text Placeholder 4"/>
          <p:cNvSpPr>
            <a:spLocks noGrp="1"/>
          </p:cNvSpPr>
          <p:nvPr>
            <p:ph type="body" sz="quarter" idx="12" hasCustomPrompt="1"/>
          </p:nvPr>
        </p:nvSpPr>
        <p:spPr>
          <a:xfrm>
            <a:off x="3582416" y="3977319"/>
            <a:ext cx="8025384"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Name</a:t>
            </a:r>
          </a:p>
        </p:txBody>
      </p:sp>
      <p:sp>
        <p:nvSpPr>
          <p:cNvPr id="4" name="Text Placeholder 4">
            <a:extLst>
              <a:ext uri="{FF2B5EF4-FFF2-40B4-BE49-F238E27FC236}">
                <a16:creationId xmlns:a16="http://schemas.microsoft.com/office/drawing/2014/main" id="{E442750B-A7AB-42A9-A8AF-218016DC73F6}"/>
              </a:ext>
            </a:extLst>
          </p:cNvPr>
          <p:cNvSpPr>
            <a:spLocks noGrp="1"/>
          </p:cNvSpPr>
          <p:nvPr>
            <p:ph type="body" sz="quarter" idx="13" hasCustomPrompt="1"/>
          </p:nvPr>
        </p:nvSpPr>
        <p:spPr>
          <a:xfrm>
            <a:off x="3582416" y="4383719"/>
            <a:ext cx="8025384"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Company or position</a:t>
            </a:r>
          </a:p>
        </p:txBody>
      </p:sp>
      <p:pic>
        <p:nvPicPr>
          <p:cNvPr id="6" name="Picture 5">
            <a:extLst>
              <a:ext uri="{FF2B5EF4-FFF2-40B4-BE49-F238E27FC236}">
                <a16:creationId xmlns:a16="http://schemas.microsoft.com/office/drawing/2014/main" id="{DD6A131B-0EEE-4C13-90D1-99AA5B3DC4ED}"/>
              </a:ext>
              <a:ext uri="{C183D7F6-B498-43B3-948B-1728B52AA6E4}">
                <adec:decorative xmlns:adec="http://schemas.microsoft.com/office/drawing/2017/decorative" val="1"/>
              </a:ext>
            </a:extLst>
          </p:cNvPr>
          <p:cNvPicPr>
            <a:picLocks noChangeAspect="1"/>
          </p:cNvPicPr>
          <p:nvPr/>
        </p:nvPicPr>
        <p:blipFill>
          <a:blip r:embed="rId2"/>
          <a:srcRect/>
          <a:stretch/>
        </p:blipFill>
        <p:spPr>
          <a:xfrm>
            <a:off x="584200" y="1201415"/>
            <a:ext cx="2062492" cy="1842493"/>
          </a:xfrm>
          <a:prstGeom prst="rect">
            <a:avLst/>
          </a:prstGeom>
        </p:spPr>
      </p:pic>
    </p:spTree>
    <p:extLst>
      <p:ext uri="{BB962C8B-B14F-4D97-AF65-F5344CB8AC3E}">
        <p14:creationId xmlns:p14="http://schemas.microsoft.com/office/powerpoint/2010/main" val="68877944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Quote green">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82416" y="585788"/>
            <a:ext cx="8026972" cy="2946033"/>
          </a:xfrm>
          <a:noFill/>
        </p:spPr>
        <p:txBody>
          <a:bodyPr wrap="square" lIns="0" tIns="0" rIns="0" bIns="0" anchor="b" anchorCtr="0">
            <a:norm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Quote text</a:t>
            </a:r>
          </a:p>
        </p:txBody>
      </p:sp>
      <p:sp>
        <p:nvSpPr>
          <p:cNvPr id="5" name="Text Placeholder 4"/>
          <p:cNvSpPr>
            <a:spLocks noGrp="1"/>
          </p:cNvSpPr>
          <p:nvPr>
            <p:ph type="body" sz="quarter" idx="12" hasCustomPrompt="1"/>
          </p:nvPr>
        </p:nvSpPr>
        <p:spPr>
          <a:xfrm>
            <a:off x="3582416" y="39773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Name</a:t>
            </a:r>
          </a:p>
        </p:txBody>
      </p:sp>
      <p:sp>
        <p:nvSpPr>
          <p:cNvPr id="4" name="Text Placeholder 4">
            <a:extLst>
              <a:ext uri="{FF2B5EF4-FFF2-40B4-BE49-F238E27FC236}">
                <a16:creationId xmlns:a16="http://schemas.microsoft.com/office/drawing/2014/main" id="{E442750B-A7AB-42A9-A8AF-218016DC73F6}"/>
              </a:ext>
            </a:extLst>
          </p:cNvPr>
          <p:cNvSpPr>
            <a:spLocks noGrp="1"/>
          </p:cNvSpPr>
          <p:nvPr>
            <p:ph type="body" sz="quarter" idx="13" hasCustomPrompt="1"/>
          </p:nvPr>
        </p:nvSpPr>
        <p:spPr>
          <a:xfrm>
            <a:off x="3582416" y="4383719"/>
            <a:ext cx="8026972" cy="338554"/>
          </a:xfrm>
          <a:noFill/>
        </p:spPr>
        <p:txBody>
          <a:bodyPr wrap="square"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Company or position</a:t>
            </a:r>
          </a:p>
        </p:txBody>
      </p:sp>
      <p:pic>
        <p:nvPicPr>
          <p:cNvPr id="7" name="Picture 6">
            <a:extLst>
              <a:ext uri="{FF2B5EF4-FFF2-40B4-BE49-F238E27FC236}">
                <a16:creationId xmlns:a16="http://schemas.microsoft.com/office/drawing/2014/main" id="{8EF7F8A9-CB63-4BA7-8A0E-637BFA251A89}"/>
              </a:ext>
            </a:extLst>
          </p:cNvPr>
          <p:cNvPicPr>
            <a:picLocks noChangeAspect="1"/>
          </p:cNvPicPr>
          <p:nvPr/>
        </p:nvPicPr>
        <p:blipFill>
          <a:blip r:embed="rId2"/>
          <a:stretch>
            <a:fillRect/>
          </a:stretch>
        </p:blipFill>
        <p:spPr bwMode="black">
          <a:xfrm>
            <a:off x="549201" y="1177602"/>
            <a:ext cx="2514666" cy="2251398"/>
          </a:xfrm>
          <a:prstGeom prst="rect">
            <a:avLst/>
          </a:prstGeom>
        </p:spPr>
      </p:pic>
    </p:spTree>
    <p:extLst>
      <p:ext uri="{BB962C8B-B14F-4D97-AF65-F5344CB8AC3E}">
        <p14:creationId xmlns:p14="http://schemas.microsoft.com/office/powerpoint/2010/main" val="22684630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emo slide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56789672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Demo slide yellow">
    <p:bg>
      <p:bgPr>
        <a:solidFill>
          <a:srgbClr val="FFB9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12663199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Demo slide green">
    <p:bg>
      <p:bgPr>
        <a:solidFill>
          <a:srgbClr val="107C1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40218355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1_Demo slide Dk Blue">
    <p:bg>
      <p:bgPr>
        <a:solidFill>
          <a:srgbClr val="243A5E"/>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29592366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2_Demo slide Dk Green">
    <p:bg>
      <p:bgPr>
        <a:solidFill>
          <a:srgbClr val="054B1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47950051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Section Title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97689880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1_Section Title blue">
    <p:bg>
      <p:bgPr>
        <a:solidFill>
          <a:srgbClr val="243A5E"/>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6347373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2_Section Title blue">
    <p:bg>
      <p:bgPr>
        <a:solidFill>
          <a:srgbClr val="054B1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81352386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Section Title yellow">
    <p:bg>
      <p:bgPr>
        <a:solidFill>
          <a:srgbClr val="FFB90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6870395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Section Title green">
    <p:bg>
      <p:bgPr>
        <a:solidFill>
          <a:srgbClr val="107C1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83386190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1_Section Title DkBlue">
    <p:bg>
      <p:bgPr>
        <a:solidFill>
          <a:srgbClr val="243A5E"/>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8019780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2_Section Title Dk Green">
    <p:bg>
      <p:bgPr>
        <a:solidFill>
          <a:srgbClr val="054B1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428641297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Section title - Threat detecti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E1B2F99-8E84-6040-8D67-9859BF2580C4}"/>
              </a:ext>
            </a:extLst>
          </p:cNvPr>
          <p:cNvSpPr/>
          <p:nvPr/>
        </p:nvSpPr>
        <p:spPr bwMode="auto">
          <a:xfrm>
            <a:off x="5270500" y="0"/>
            <a:ext cx="6921500" cy="68580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5" name="Picture 4">
            <a:extLst>
              <a:ext uri="{FF2B5EF4-FFF2-40B4-BE49-F238E27FC236}">
                <a16:creationId xmlns:a16="http://schemas.microsoft.com/office/drawing/2014/main" id="{57AA630A-F1CE-3240-9874-C76F0B95FC3C}"/>
              </a:ext>
            </a:extLst>
          </p:cNvPr>
          <p:cNvPicPr>
            <a:picLocks noChangeAspect="1"/>
          </p:cNvPicPr>
          <p:nvPr/>
        </p:nvPicPr>
        <p:blipFill>
          <a:blip r:embed="rId2"/>
          <a:stretch>
            <a:fillRect/>
          </a:stretch>
        </p:blipFill>
        <p:spPr>
          <a:xfrm>
            <a:off x="6197533" y="1064712"/>
            <a:ext cx="5024048" cy="4379659"/>
          </a:xfrm>
          <a:prstGeom prst="rect">
            <a:avLst/>
          </a:prstGeom>
        </p:spPr>
      </p:pic>
    </p:spTree>
    <p:extLst>
      <p:ext uri="{BB962C8B-B14F-4D97-AF65-F5344CB8AC3E}">
        <p14:creationId xmlns:p14="http://schemas.microsoft.com/office/powerpoint/2010/main" val="310787471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Section title - Comprehensive securit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85634B7-7348-3D4C-884C-574DBB5ACD92}"/>
              </a:ext>
            </a:extLst>
          </p:cNvPr>
          <p:cNvSpPr/>
          <p:nvPr/>
        </p:nvSpPr>
        <p:spPr bwMode="auto">
          <a:xfrm>
            <a:off x="5270500" y="0"/>
            <a:ext cx="6921500" cy="6858000"/>
          </a:xfrm>
          <a:prstGeom prst="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3" name="Picture 2">
            <a:extLst>
              <a:ext uri="{FF2B5EF4-FFF2-40B4-BE49-F238E27FC236}">
                <a16:creationId xmlns:a16="http://schemas.microsoft.com/office/drawing/2014/main" id="{44097A09-7943-5649-B860-0C242F6430E1}"/>
              </a:ext>
            </a:extLst>
          </p:cNvPr>
          <p:cNvPicPr>
            <a:picLocks noChangeAspect="1"/>
          </p:cNvPicPr>
          <p:nvPr/>
        </p:nvPicPr>
        <p:blipFill rotWithShape="1">
          <a:blip r:embed="rId2"/>
          <a:srcRect l="12404" r="9346"/>
          <a:stretch/>
        </p:blipFill>
        <p:spPr>
          <a:xfrm>
            <a:off x="5270501" y="1315232"/>
            <a:ext cx="6921500" cy="4238669"/>
          </a:xfrm>
          <a:prstGeom prst="rect">
            <a:avLst/>
          </a:prstGeom>
        </p:spPr>
      </p:pic>
    </p:spTree>
    <p:extLst>
      <p:ext uri="{BB962C8B-B14F-4D97-AF65-F5344CB8AC3E}">
        <p14:creationId xmlns:p14="http://schemas.microsoft.com/office/powerpoint/2010/main" val="398606372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Section title - End-to-end security visibilit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6E5BB7F-3132-5D4C-AB53-07BD308F7C71}"/>
              </a:ext>
            </a:extLst>
          </p:cNvPr>
          <p:cNvSpPr/>
          <p:nvPr/>
        </p:nvSpPr>
        <p:spPr bwMode="auto">
          <a:xfrm>
            <a:off x="5270500" y="0"/>
            <a:ext cx="6921500" cy="6858000"/>
          </a:xfrm>
          <a:prstGeom prst="rect">
            <a:avLst/>
          </a:prstGeom>
          <a:solidFill>
            <a:srgbClr val="107C1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8" name="Picture 7">
            <a:extLst>
              <a:ext uri="{FF2B5EF4-FFF2-40B4-BE49-F238E27FC236}">
                <a16:creationId xmlns:a16="http://schemas.microsoft.com/office/drawing/2014/main" id="{1AC60BDD-CABB-8B4F-BFDB-1AAA8A20164C}"/>
              </a:ext>
            </a:extLst>
          </p:cNvPr>
          <p:cNvPicPr>
            <a:picLocks noChangeAspect="1"/>
          </p:cNvPicPr>
          <p:nvPr/>
        </p:nvPicPr>
        <p:blipFill rotWithShape="1">
          <a:blip r:embed="rId2"/>
          <a:srcRect l="8828" r="8209"/>
          <a:stretch/>
        </p:blipFill>
        <p:spPr>
          <a:xfrm>
            <a:off x="5270500" y="2322164"/>
            <a:ext cx="6921500" cy="2294285"/>
          </a:xfrm>
          <a:prstGeom prst="rect">
            <a:avLst/>
          </a:prstGeom>
        </p:spPr>
      </p:pic>
    </p:spTree>
    <p:extLst>
      <p:ext uri="{BB962C8B-B14F-4D97-AF65-F5344CB8AC3E}">
        <p14:creationId xmlns:p14="http://schemas.microsoft.com/office/powerpoint/2010/main" val="32345940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Section title - Risk managem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D46BD20-84B7-474B-8759-CD81E4655A25}"/>
              </a:ext>
            </a:extLst>
          </p:cNvPr>
          <p:cNvSpPr/>
          <p:nvPr/>
        </p:nvSpPr>
        <p:spPr bwMode="auto">
          <a:xfrm>
            <a:off x="5270500" y="0"/>
            <a:ext cx="6921500" cy="6858000"/>
          </a:xfrm>
          <a:prstGeom prst="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10" name="Picture 9">
            <a:extLst>
              <a:ext uri="{FF2B5EF4-FFF2-40B4-BE49-F238E27FC236}">
                <a16:creationId xmlns:a16="http://schemas.microsoft.com/office/drawing/2014/main" id="{B1DAC3B3-181F-5149-B531-D73282A25D15}"/>
              </a:ext>
            </a:extLst>
          </p:cNvPr>
          <p:cNvPicPr>
            <a:picLocks noChangeAspect="1"/>
          </p:cNvPicPr>
          <p:nvPr/>
        </p:nvPicPr>
        <p:blipFill rotWithShape="1">
          <a:blip r:embed="rId2"/>
          <a:srcRect l="7666" t="4539" r="7270" b="6936"/>
          <a:stretch/>
        </p:blipFill>
        <p:spPr>
          <a:xfrm>
            <a:off x="5270499" y="-1"/>
            <a:ext cx="6921501" cy="6858001"/>
          </a:xfrm>
          <a:prstGeom prst="rect">
            <a:avLst/>
          </a:prstGeom>
        </p:spPr>
      </p:pic>
    </p:spTree>
    <p:extLst>
      <p:ext uri="{BB962C8B-B14F-4D97-AF65-F5344CB8AC3E}">
        <p14:creationId xmlns:p14="http://schemas.microsoft.com/office/powerpoint/2010/main" val="22270516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Section title - Secure identit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0C11EAE-3A22-E84A-8BC8-11A0D824AB2E}"/>
              </a:ext>
            </a:extLst>
          </p:cNvPr>
          <p:cNvSpPr/>
          <p:nvPr/>
        </p:nvSpPr>
        <p:spPr bwMode="auto">
          <a:xfrm>
            <a:off x="5270500" y="0"/>
            <a:ext cx="69215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3" name="Picture 2">
            <a:extLst>
              <a:ext uri="{FF2B5EF4-FFF2-40B4-BE49-F238E27FC236}">
                <a16:creationId xmlns:a16="http://schemas.microsoft.com/office/drawing/2014/main" id="{F1130DED-49F2-7F4A-A1D8-D5BEF2F4F110}"/>
              </a:ext>
            </a:extLst>
          </p:cNvPr>
          <p:cNvPicPr>
            <a:picLocks noChangeAspect="1"/>
          </p:cNvPicPr>
          <p:nvPr/>
        </p:nvPicPr>
        <p:blipFill>
          <a:blip r:embed="rId2"/>
          <a:stretch>
            <a:fillRect/>
          </a:stretch>
        </p:blipFill>
        <p:spPr>
          <a:xfrm>
            <a:off x="5692066" y="901699"/>
            <a:ext cx="6245934" cy="4735013"/>
          </a:xfrm>
          <a:prstGeom prst="rect">
            <a:avLst/>
          </a:prstGeom>
        </p:spPr>
      </p:pic>
    </p:spTree>
    <p:extLst>
      <p:ext uri="{BB962C8B-B14F-4D97-AF65-F5344CB8AC3E}">
        <p14:creationId xmlns:p14="http://schemas.microsoft.com/office/powerpoint/2010/main" val="14505817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Section title - Risk mitiga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70D265D-AA9F-1B4D-9271-7954CC4C5428}"/>
              </a:ext>
            </a:extLst>
          </p:cNvPr>
          <p:cNvSpPr/>
          <p:nvPr/>
        </p:nvSpPr>
        <p:spPr bwMode="auto">
          <a:xfrm>
            <a:off x="5270500" y="0"/>
            <a:ext cx="6921500" cy="6858000"/>
          </a:xfrm>
          <a:prstGeom prst="rect">
            <a:avLst/>
          </a:prstGeom>
          <a:solidFill>
            <a:srgbClr val="054B1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p:cNvSpPr>
            <a:spLocks noGrp="1"/>
          </p:cNvSpPr>
          <p:nvPr>
            <p:ph type="title" hasCustomPrompt="1"/>
          </p:nvPr>
        </p:nvSpPr>
        <p:spPr>
          <a:xfrm>
            <a:off x="585216" y="3035808"/>
            <a:ext cx="3948684"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pic>
        <p:nvPicPr>
          <p:cNvPr id="7" name="Graphic 6">
            <a:extLst>
              <a:ext uri="{FF2B5EF4-FFF2-40B4-BE49-F238E27FC236}">
                <a16:creationId xmlns:a16="http://schemas.microsoft.com/office/drawing/2014/main" id="{B55BBCEC-22DB-8F44-AC0C-CED390E2A832}"/>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bwMode="invGray">
          <a:xfrm>
            <a:off x="7404100" y="0"/>
            <a:ext cx="4787900" cy="6858000"/>
          </a:xfrm>
          <a:prstGeom prst="rect">
            <a:avLst/>
          </a:prstGeom>
        </p:spPr>
      </p:pic>
    </p:spTree>
    <p:extLst>
      <p:ext uri="{BB962C8B-B14F-4D97-AF65-F5344CB8AC3E}">
        <p14:creationId xmlns:p14="http://schemas.microsoft.com/office/powerpoint/2010/main" val="17099042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24398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Blank 2">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206995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hank you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Thank you</a:t>
            </a:r>
          </a:p>
        </p:txBody>
      </p:sp>
    </p:spTree>
    <p:extLst>
      <p:ext uri="{BB962C8B-B14F-4D97-AF65-F5344CB8AC3E}">
        <p14:creationId xmlns:p14="http://schemas.microsoft.com/office/powerpoint/2010/main" val="20143913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hank you photo">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5" y="3035808"/>
            <a:ext cx="3948683" cy="4985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Thank you</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C1D8EF4-A5A1-4D2B-9918-9B027853453F}"/>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65935684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Picture 4">
            <a:extLst>
              <a:ext uri="{FF2B5EF4-FFF2-40B4-BE49-F238E27FC236}">
                <a16:creationId xmlns:a16="http://schemas.microsoft.com/office/drawing/2014/main" id="{2DB3C5CC-AE72-496D-8E0F-9DEC4A52D5F7}"/>
              </a:ext>
            </a:extLst>
          </p:cNvPr>
          <p:cNvPicPr>
            <a:picLocks noChangeAspect="1"/>
          </p:cNvPicPr>
          <p:nvPr/>
        </p:nvPicPr>
        <p:blipFill>
          <a:blip r:embed="rId2"/>
          <a:stretch>
            <a:fillRect/>
          </a:stretch>
        </p:blipFill>
        <p:spPr>
          <a:xfrm>
            <a:off x="582043" y="585788"/>
            <a:ext cx="2308795" cy="294139"/>
          </a:xfrm>
          <a:prstGeom prst="rect">
            <a:avLst/>
          </a:prstGeom>
        </p:spPr>
      </p:pic>
    </p:spTree>
    <p:extLst>
      <p:ext uri="{BB962C8B-B14F-4D97-AF65-F5344CB8AC3E}">
        <p14:creationId xmlns:p14="http://schemas.microsoft.com/office/powerpoint/2010/main" val="148093829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297333558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61" Type="http://schemas.openxmlformats.org/officeDocument/2006/relationships/slideLayout" Target="../slideLayouts/slideLayout61.xml"/><Relationship Id="rId82"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p:nvPicPr>
        <p:blipFill rotWithShape="1">
          <a:blip r:embed="rId83"/>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41669857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 id="2147483738" r:id="rId78"/>
    <p:sldLayoutId id="2147483739" r:id="rId79"/>
    <p:sldLayoutId id="2147483740" r:id="rId80"/>
    <p:sldLayoutId id="2147483741" r:id="rId81"/>
  </p:sldLayoutIdLst>
  <p:transition>
    <p:fade/>
  </p:transition>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9C527-A28D-E8C5-8A1E-B2D1FF153A5F}"/>
              </a:ext>
            </a:extLst>
          </p:cNvPr>
          <p:cNvSpPr>
            <a:spLocks noGrp="1"/>
          </p:cNvSpPr>
          <p:nvPr>
            <p:ph type="title"/>
          </p:nvPr>
        </p:nvSpPr>
        <p:spPr/>
        <p:txBody>
          <a:bodyPr/>
          <a:lstStyle/>
          <a:p>
            <a:r>
              <a:rPr lang="en-US"/>
              <a:t>Azure Key Vault Abuse</a:t>
            </a:r>
          </a:p>
        </p:txBody>
      </p:sp>
      <p:sp>
        <p:nvSpPr>
          <p:cNvPr id="3" name="Text Placeholder 2">
            <a:extLst>
              <a:ext uri="{FF2B5EF4-FFF2-40B4-BE49-F238E27FC236}">
                <a16:creationId xmlns:a16="http://schemas.microsoft.com/office/drawing/2014/main" id="{5A82589F-7710-956A-97AD-682EFC132E61}"/>
              </a:ext>
            </a:extLst>
          </p:cNvPr>
          <p:cNvSpPr>
            <a:spLocks noGrp="1"/>
          </p:cNvSpPr>
          <p:nvPr>
            <p:ph type="body" sz="quarter" idx="12"/>
          </p:nvPr>
        </p:nvSpPr>
        <p:spPr/>
        <p:txBody>
          <a:bodyPr/>
          <a:lstStyle/>
          <a:p>
            <a:endParaRPr lang="en-US"/>
          </a:p>
        </p:txBody>
      </p:sp>
    </p:spTree>
    <p:extLst>
      <p:ext uri="{BB962C8B-B14F-4D97-AF65-F5344CB8AC3E}">
        <p14:creationId xmlns:p14="http://schemas.microsoft.com/office/powerpoint/2010/main" val="1417875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41601-917B-CA86-DE8A-4E9F405B0BAD}"/>
              </a:ext>
            </a:extLst>
          </p:cNvPr>
          <p:cNvSpPr>
            <a:spLocks noGrp="1"/>
          </p:cNvSpPr>
          <p:nvPr>
            <p:ph type="title"/>
          </p:nvPr>
        </p:nvSpPr>
        <p:spPr/>
        <p:txBody>
          <a:bodyPr/>
          <a:lstStyle/>
          <a:p>
            <a:r>
              <a:rPr lang="en-US"/>
              <a:t>Agenda</a:t>
            </a:r>
          </a:p>
        </p:txBody>
      </p:sp>
      <p:sp>
        <p:nvSpPr>
          <p:cNvPr id="3" name="Text Placeholder 2">
            <a:extLst>
              <a:ext uri="{FF2B5EF4-FFF2-40B4-BE49-F238E27FC236}">
                <a16:creationId xmlns:a16="http://schemas.microsoft.com/office/drawing/2014/main" id="{7C5A6BE2-CBB5-A807-97D5-1A8B0E077D6E}"/>
              </a:ext>
            </a:extLst>
          </p:cNvPr>
          <p:cNvSpPr>
            <a:spLocks noGrp="1"/>
          </p:cNvSpPr>
          <p:nvPr>
            <p:ph type="body" sz="quarter" idx="10"/>
          </p:nvPr>
        </p:nvSpPr>
        <p:spPr/>
        <p:txBody>
          <a:bodyPr>
            <a:noAutofit/>
          </a:bodyPr>
          <a:lstStyle/>
          <a:p>
            <a:pPr>
              <a:lnSpc>
                <a:spcPct val="115000"/>
              </a:lnSpc>
              <a:spcBef>
                <a:spcPts val="600"/>
              </a:spcBef>
            </a:pPr>
            <a:r>
              <a:rPr lang="en-US" sz="2000"/>
              <a:t>Module Objective and MITRE ATT&amp;CK Mapping</a:t>
            </a:r>
          </a:p>
          <a:p>
            <a:pPr>
              <a:lnSpc>
                <a:spcPct val="115000"/>
              </a:lnSpc>
              <a:spcBef>
                <a:spcPts val="600"/>
              </a:spcBef>
            </a:pPr>
            <a:r>
              <a:rPr lang="en-US" sz="2000"/>
              <a:t>Key Vault Attack Surface: Control Plane vs. Data Plane</a:t>
            </a:r>
          </a:p>
          <a:p>
            <a:pPr>
              <a:lnSpc>
                <a:spcPct val="115000"/>
              </a:lnSpc>
              <a:spcBef>
                <a:spcPts val="600"/>
              </a:spcBef>
            </a:pPr>
            <a:r>
              <a:rPr lang="en-US" sz="2000"/>
              <a:t>RBAC Roles Attackers Abuse</a:t>
            </a:r>
          </a:p>
          <a:p>
            <a:pPr>
              <a:lnSpc>
                <a:spcPct val="115000"/>
              </a:lnSpc>
              <a:spcBef>
                <a:spcPts val="600"/>
              </a:spcBef>
            </a:pPr>
            <a:r>
              <a:rPr lang="en-US" sz="2000"/>
              <a:t>Attack Pattern: SecretList to SecretGet</a:t>
            </a:r>
          </a:p>
          <a:p>
            <a:pPr>
              <a:lnSpc>
                <a:spcPct val="115000"/>
              </a:lnSpc>
              <a:spcBef>
                <a:spcPts val="600"/>
              </a:spcBef>
            </a:pPr>
            <a:r>
              <a:rPr lang="en-US" sz="2000"/>
              <a:t>Enabling Key Vault Diagnostic Logging</a:t>
            </a:r>
          </a:p>
          <a:p>
            <a:pPr>
              <a:lnSpc>
                <a:spcPct val="115000"/>
              </a:lnSpc>
              <a:spcBef>
                <a:spcPts val="600"/>
              </a:spcBef>
            </a:pPr>
            <a:r>
              <a:rPr lang="en-US" sz="2000"/>
              <a:t>Kusto Query Language (KQL) Detection Queries</a:t>
            </a:r>
          </a:p>
        </p:txBody>
      </p:sp>
    </p:spTree>
    <p:extLst>
      <p:ext uri="{BB962C8B-B14F-4D97-AF65-F5344CB8AC3E}">
        <p14:creationId xmlns:p14="http://schemas.microsoft.com/office/powerpoint/2010/main" val="89782765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A00B5-0169-3A0F-0733-3A3EEEBC7D8A}"/>
              </a:ext>
            </a:extLst>
          </p:cNvPr>
          <p:cNvSpPr>
            <a:spLocks noGrp="1"/>
          </p:cNvSpPr>
          <p:nvPr>
            <p:ph type="title"/>
          </p:nvPr>
        </p:nvSpPr>
        <p:spPr/>
        <p:txBody>
          <a:bodyPr/>
          <a:lstStyle/>
          <a:p>
            <a:r>
              <a:rPr lang="en-US"/>
              <a:t>Agenda (cont. 2)</a:t>
            </a:r>
          </a:p>
        </p:txBody>
      </p:sp>
      <p:sp>
        <p:nvSpPr>
          <p:cNvPr id="3" name="Text Placeholder 2">
            <a:extLst>
              <a:ext uri="{FF2B5EF4-FFF2-40B4-BE49-F238E27FC236}">
                <a16:creationId xmlns:a16="http://schemas.microsoft.com/office/drawing/2014/main" id="{77F572CE-DB5B-19E5-047E-0A8BD4543629}"/>
              </a:ext>
            </a:extLst>
          </p:cNvPr>
          <p:cNvSpPr>
            <a:spLocks noGrp="1"/>
          </p:cNvSpPr>
          <p:nvPr>
            <p:ph type="body" sz="quarter" idx="10"/>
          </p:nvPr>
        </p:nvSpPr>
        <p:spPr/>
        <p:txBody>
          <a:bodyPr>
            <a:noAutofit/>
          </a:bodyPr>
          <a:lstStyle/>
          <a:p>
            <a:pPr>
              <a:lnSpc>
                <a:spcPct val="115000"/>
              </a:lnSpc>
              <a:spcBef>
                <a:spcPts val="600"/>
              </a:spcBef>
            </a:pPr>
            <a:r>
              <a:rPr lang="en-US" sz="2000"/>
              <a:t>Defender for Key Vault Alerts</a:t>
            </a:r>
          </a:p>
          <a:p>
            <a:pPr>
              <a:lnSpc>
                <a:spcPct val="115000"/>
              </a:lnSpc>
              <a:spcBef>
                <a:spcPts val="600"/>
              </a:spcBef>
            </a:pPr>
            <a:r>
              <a:rPr lang="en-US" sz="2000"/>
              <a:t>Incident Response</a:t>
            </a:r>
          </a:p>
          <a:p>
            <a:pPr>
              <a:lnSpc>
                <a:spcPct val="115000"/>
              </a:lnSpc>
              <a:spcBef>
                <a:spcPts val="600"/>
              </a:spcBef>
            </a:pPr>
            <a:r>
              <a:rPr lang="en-US" sz="2000"/>
              <a:t>Hardening Controls</a:t>
            </a:r>
          </a:p>
        </p:txBody>
      </p:sp>
    </p:spTree>
    <p:extLst>
      <p:ext uri="{BB962C8B-B14F-4D97-AF65-F5344CB8AC3E}">
        <p14:creationId xmlns:p14="http://schemas.microsoft.com/office/powerpoint/2010/main" val="424886651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64F61-4ABC-81AB-A2C6-DC636CBD6E5D}"/>
              </a:ext>
            </a:extLst>
          </p:cNvPr>
          <p:cNvSpPr>
            <a:spLocks noGrp="1"/>
          </p:cNvSpPr>
          <p:nvPr>
            <p:ph type="title"/>
          </p:nvPr>
        </p:nvSpPr>
        <p:spPr/>
        <p:txBody>
          <a:bodyPr/>
          <a:lstStyle/>
          <a:p>
            <a:r>
              <a:rPr lang="en-US"/>
              <a:t>Objective and MITRE Mapping</a:t>
            </a:r>
          </a:p>
        </p:txBody>
      </p:sp>
      <p:graphicFrame>
        <p:nvGraphicFramePr>
          <p:cNvPr id="4" name="Content Placeholder 3">
            <a:extLst>
              <a:ext uri="{FF2B5EF4-FFF2-40B4-BE49-F238E27FC236}">
                <a16:creationId xmlns:a16="http://schemas.microsoft.com/office/drawing/2014/main" id="{BC6610BE-AF06-7D7A-14E2-A55A9CC477EA}"/>
              </a:ext>
            </a:extLst>
          </p:cNvPr>
          <p:cNvGraphicFramePr>
            <a:graphicFrameLocks noGrp="1"/>
          </p:cNvGraphicFramePr>
          <p:nvPr>
            <p:ph sz="quarter" idx="10"/>
            <p:extLst>
              <p:ext uri="{D42A27DB-BD31-4B8C-83A1-F6EECF244321}">
                <p14:modId xmlns:p14="http://schemas.microsoft.com/office/powerpoint/2010/main" val="3228602728"/>
              </p:ext>
            </p:extLst>
          </p:nvPr>
        </p:nvGraphicFramePr>
        <p:xfrm>
          <a:off x="381000" y="1524000"/>
          <a:ext cx="11430000" cy="48895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1816868441"/>
                    </a:ext>
                  </a:extLst>
                </a:gridCol>
                <a:gridCol w="3810000">
                  <a:extLst>
                    <a:ext uri="{9D8B030D-6E8A-4147-A177-3AD203B41FA5}">
                      <a16:colId xmlns:a16="http://schemas.microsoft.com/office/drawing/2014/main" val="1116308721"/>
                    </a:ext>
                  </a:extLst>
                </a:gridCol>
                <a:gridCol w="3810000">
                  <a:extLst>
                    <a:ext uri="{9D8B030D-6E8A-4147-A177-3AD203B41FA5}">
                      <a16:colId xmlns:a16="http://schemas.microsoft.com/office/drawing/2014/main" val="747121790"/>
                    </a:ext>
                  </a:extLst>
                </a:gridCol>
              </a:tblGrid>
              <a:tr h="814917">
                <a:tc>
                  <a:txBody>
                    <a:bodyPr/>
                    <a:lstStyle/>
                    <a:p>
                      <a:r>
                        <a:rPr lang="en-US" sz="1400" b="1"/>
                        <a:t>Technique</a:t>
                      </a:r>
                    </a:p>
                  </a:txBody>
                  <a:tcPr/>
                </a:tc>
                <a:tc>
                  <a:txBody>
                    <a:bodyPr/>
                    <a:lstStyle/>
                    <a:p>
                      <a:r>
                        <a:rPr lang="en-US" sz="1400" b="1"/>
                        <a:t>ID</a:t>
                      </a:r>
                    </a:p>
                  </a:txBody>
                  <a:tcPr/>
                </a:tc>
                <a:tc>
                  <a:txBody>
                    <a:bodyPr/>
                    <a:lstStyle/>
                    <a:p>
                      <a:r>
                        <a:rPr lang="en-US" sz="1400" b="1"/>
                        <a:t>Tactic</a:t>
                      </a:r>
                    </a:p>
                  </a:txBody>
                  <a:tcPr/>
                </a:tc>
                <a:extLst>
                  <a:ext uri="{0D108BD9-81ED-4DB2-BD59-A6C34878D82A}">
                    <a16:rowId xmlns:a16="http://schemas.microsoft.com/office/drawing/2014/main" val="2544766138"/>
                  </a:ext>
                </a:extLst>
              </a:tr>
              <a:tr h="814917">
                <a:tc>
                  <a:txBody>
                    <a:bodyPr/>
                    <a:lstStyle/>
                    <a:p>
                      <a:r>
                        <a:rPr lang="en-US" sz="1400"/>
                        <a:t>Unsecured Credentials</a:t>
                      </a:r>
                    </a:p>
                  </a:txBody>
                  <a:tcPr/>
                </a:tc>
                <a:tc>
                  <a:txBody>
                    <a:bodyPr/>
                    <a:lstStyle/>
                    <a:p>
                      <a:r>
                        <a:rPr lang="en-US" sz="1400"/>
                        <a:t>T1552</a:t>
                      </a:r>
                    </a:p>
                  </a:txBody>
                  <a:tcPr/>
                </a:tc>
                <a:tc>
                  <a:txBody>
                    <a:bodyPr/>
                    <a:lstStyle/>
                    <a:p>
                      <a:r>
                        <a:rPr lang="en-US" sz="1400"/>
                        <a:t>Credential Access</a:t>
                      </a:r>
                    </a:p>
                  </a:txBody>
                  <a:tcPr/>
                </a:tc>
                <a:extLst>
                  <a:ext uri="{0D108BD9-81ED-4DB2-BD59-A6C34878D82A}">
                    <a16:rowId xmlns:a16="http://schemas.microsoft.com/office/drawing/2014/main" val="1102524051"/>
                  </a:ext>
                </a:extLst>
              </a:tr>
              <a:tr h="814917">
                <a:tc>
                  <a:txBody>
                    <a:bodyPr/>
                    <a:lstStyle/>
                    <a:p>
                      <a:r>
                        <a:rPr lang="en-US" sz="1400"/>
                        <a:t>Valid Accounts: Cloud Accounts</a:t>
                      </a:r>
                    </a:p>
                  </a:txBody>
                  <a:tcPr/>
                </a:tc>
                <a:tc>
                  <a:txBody>
                    <a:bodyPr/>
                    <a:lstStyle/>
                    <a:p>
                      <a:r>
                        <a:rPr lang="en-US" sz="1400"/>
                        <a:t>T1078.004</a:t>
                      </a:r>
                    </a:p>
                  </a:txBody>
                  <a:tcPr/>
                </a:tc>
                <a:tc>
                  <a:txBody>
                    <a:bodyPr/>
                    <a:lstStyle/>
                    <a:p>
                      <a:r>
                        <a:rPr lang="en-US" sz="1400"/>
                        <a:t>Persistence, Defense Evasion</a:t>
                      </a:r>
                    </a:p>
                  </a:txBody>
                  <a:tcPr/>
                </a:tc>
                <a:extLst>
                  <a:ext uri="{0D108BD9-81ED-4DB2-BD59-A6C34878D82A}">
                    <a16:rowId xmlns:a16="http://schemas.microsoft.com/office/drawing/2014/main" val="295845551"/>
                  </a:ext>
                </a:extLst>
              </a:tr>
              <a:tr h="814917">
                <a:tc>
                  <a:txBody>
                    <a:bodyPr/>
                    <a:lstStyle/>
                    <a:p>
                      <a:r>
                        <a:rPr lang="en-US" sz="1400"/>
                        <a:t>Account Manipulation</a:t>
                      </a:r>
                    </a:p>
                  </a:txBody>
                  <a:tcPr/>
                </a:tc>
                <a:tc>
                  <a:txBody>
                    <a:bodyPr/>
                    <a:lstStyle/>
                    <a:p>
                      <a:r>
                        <a:rPr lang="en-US" sz="1400"/>
                        <a:t>T1098</a:t>
                      </a:r>
                    </a:p>
                  </a:txBody>
                  <a:tcPr/>
                </a:tc>
                <a:tc>
                  <a:txBody>
                    <a:bodyPr/>
                    <a:lstStyle/>
                    <a:p>
                      <a:r>
                        <a:rPr lang="en-US" sz="1400"/>
                        <a:t>Persistence</a:t>
                      </a:r>
                    </a:p>
                  </a:txBody>
                  <a:tcPr/>
                </a:tc>
                <a:extLst>
                  <a:ext uri="{0D108BD9-81ED-4DB2-BD59-A6C34878D82A}">
                    <a16:rowId xmlns:a16="http://schemas.microsoft.com/office/drawing/2014/main" val="3032128510"/>
                  </a:ext>
                </a:extLst>
              </a:tr>
              <a:tr h="814917">
                <a:tc>
                  <a:txBody>
                    <a:bodyPr/>
                    <a:lstStyle/>
                    <a:p>
                      <a:r>
                        <a:rPr lang="en-US" sz="1400"/>
                        <a:t>Exfiltration Over Web Service</a:t>
                      </a:r>
                    </a:p>
                  </a:txBody>
                  <a:tcPr/>
                </a:tc>
                <a:tc>
                  <a:txBody>
                    <a:bodyPr/>
                    <a:lstStyle/>
                    <a:p>
                      <a:r>
                        <a:rPr lang="en-US" sz="1400"/>
                        <a:t>T1567</a:t>
                      </a:r>
                    </a:p>
                  </a:txBody>
                  <a:tcPr/>
                </a:tc>
                <a:tc>
                  <a:txBody>
                    <a:bodyPr/>
                    <a:lstStyle/>
                    <a:p>
                      <a:r>
                        <a:rPr lang="en-US" sz="1400"/>
                        <a:t>Exfiltration</a:t>
                      </a:r>
                    </a:p>
                  </a:txBody>
                  <a:tcPr/>
                </a:tc>
                <a:extLst>
                  <a:ext uri="{0D108BD9-81ED-4DB2-BD59-A6C34878D82A}">
                    <a16:rowId xmlns:a16="http://schemas.microsoft.com/office/drawing/2014/main" val="3212211680"/>
                  </a:ext>
                </a:extLst>
              </a:tr>
              <a:tr h="814917">
                <a:tc>
                  <a:txBody>
                    <a:bodyPr/>
                    <a:lstStyle/>
                    <a:p>
                      <a:r>
                        <a:rPr lang="en-US" sz="1400"/>
                        <a:t>Steal Application Access Token</a:t>
                      </a:r>
                    </a:p>
                  </a:txBody>
                  <a:tcPr/>
                </a:tc>
                <a:tc>
                  <a:txBody>
                    <a:bodyPr/>
                    <a:lstStyle/>
                    <a:p>
                      <a:r>
                        <a:rPr lang="en-US" sz="1400"/>
                        <a:t>T1528</a:t>
                      </a:r>
                    </a:p>
                  </a:txBody>
                  <a:tcPr/>
                </a:tc>
                <a:tc>
                  <a:txBody>
                    <a:bodyPr/>
                    <a:lstStyle/>
                    <a:p>
                      <a:r>
                        <a:rPr lang="en-US" sz="1400"/>
                        <a:t>Credential Access</a:t>
                      </a:r>
                    </a:p>
                  </a:txBody>
                  <a:tcPr/>
                </a:tc>
                <a:extLst>
                  <a:ext uri="{0D108BD9-81ED-4DB2-BD59-A6C34878D82A}">
                    <a16:rowId xmlns:a16="http://schemas.microsoft.com/office/drawing/2014/main" val="808174183"/>
                  </a:ext>
                </a:extLst>
              </a:tr>
            </a:tbl>
          </a:graphicData>
        </a:graphic>
      </p:graphicFrame>
    </p:spTree>
    <p:extLst>
      <p:ext uri="{BB962C8B-B14F-4D97-AF65-F5344CB8AC3E}">
        <p14:creationId xmlns:p14="http://schemas.microsoft.com/office/powerpoint/2010/main" val="125892388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B2223-23EF-C130-A0D6-91E0C262FA3E}"/>
              </a:ext>
            </a:extLst>
          </p:cNvPr>
          <p:cNvSpPr>
            <a:spLocks noGrp="1"/>
          </p:cNvSpPr>
          <p:nvPr>
            <p:ph type="title"/>
          </p:nvPr>
        </p:nvSpPr>
        <p:spPr/>
        <p:txBody>
          <a:bodyPr/>
          <a:lstStyle/>
          <a:p>
            <a:r>
              <a:rPr lang="en-US"/>
              <a:t>Objective and MITRE Mapping (cont.)</a:t>
            </a:r>
          </a:p>
        </p:txBody>
      </p:sp>
      <p:sp>
        <p:nvSpPr>
          <p:cNvPr id="3" name="Content Placeholder 2">
            <a:extLst>
              <a:ext uri="{FF2B5EF4-FFF2-40B4-BE49-F238E27FC236}">
                <a16:creationId xmlns:a16="http://schemas.microsoft.com/office/drawing/2014/main" id="{6E275FCB-FEC8-8F46-9C1B-56EABD78EBCD}"/>
              </a:ext>
            </a:extLst>
          </p:cNvPr>
          <p:cNvSpPr>
            <a:spLocks noGrp="1"/>
          </p:cNvSpPr>
          <p:nvPr>
            <p:ph sz="quarter" idx="10"/>
          </p:nvPr>
        </p:nvSpPr>
        <p:spPr/>
        <p:txBody>
          <a:bodyPr>
            <a:noAutofit/>
          </a:bodyPr>
          <a:lstStyle/>
          <a:p>
            <a:pPr>
              <a:lnSpc>
                <a:spcPct val="115000"/>
              </a:lnSpc>
              <a:spcBef>
                <a:spcPts val="600"/>
              </a:spcBef>
            </a:pPr>
            <a:r>
              <a:rPr lang="en-US" sz="1600"/>
              <a:t>Objective: Hunt for unauthorized Key Vault access, secret enumeration and extraction, and RBAC policy manipulation. Detect the SecretList-to-SecretGet pattern and volume anomalies.</a:t>
            </a:r>
          </a:p>
        </p:txBody>
      </p:sp>
    </p:spTree>
    <p:extLst>
      <p:ext uri="{BB962C8B-B14F-4D97-AF65-F5344CB8AC3E}">
        <p14:creationId xmlns:p14="http://schemas.microsoft.com/office/powerpoint/2010/main" val="196885496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766AB-4AC2-A645-513E-03732C689F4E}"/>
              </a:ext>
            </a:extLst>
          </p:cNvPr>
          <p:cNvSpPr>
            <a:spLocks noGrp="1"/>
          </p:cNvSpPr>
          <p:nvPr>
            <p:ph type="title"/>
          </p:nvPr>
        </p:nvSpPr>
        <p:spPr/>
        <p:txBody>
          <a:bodyPr/>
          <a:lstStyle/>
          <a:p>
            <a:r>
              <a:rPr lang="nn-NO"/>
              <a:t>Control Plane vs. Data Plane</a:t>
            </a:r>
            <a:endParaRPr lang="en-US"/>
          </a:p>
        </p:txBody>
      </p:sp>
      <p:sp>
        <p:nvSpPr>
          <p:cNvPr id="3" name="Content Placeholder 2">
            <a:extLst>
              <a:ext uri="{FF2B5EF4-FFF2-40B4-BE49-F238E27FC236}">
                <a16:creationId xmlns:a16="http://schemas.microsoft.com/office/drawing/2014/main" id="{777EB8C1-592D-ACB8-823B-6062001D08A6}"/>
              </a:ext>
            </a:extLst>
          </p:cNvPr>
          <p:cNvSpPr>
            <a:spLocks noGrp="1"/>
          </p:cNvSpPr>
          <p:nvPr>
            <p:ph sz="quarter" idx="10"/>
          </p:nvPr>
        </p:nvSpPr>
        <p:spPr/>
        <p:txBody>
          <a:bodyPr>
            <a:noAutofit/>
          </a:bodyPr>
          <a:lstStyle/>
          <a:p>
            <a:pPr>
              <a:lnSpc>
                <a:spcPct val="115000"/>
              </a:lnSpc>
              <a:spcBef>
                <a:spcPts val="600"/>
              </a:spcBef>
            </a:pPr>
            <a:r>
              <a:rPr lang="en-US" sz="1800" b="1"/>
              <a:t>Control Plane (AzureActivity):</a:t>
            </a:r>
          </a:p>
          <a:p>
            <a:pPr>
              <a:lnSpc>
                <a:spcPct val="115000"/>
              </a:lnSpc>
              <a:spcBef>
                <a:spcPts val="600"/>
              </a:spcBef>
            </a:pPr>
            <a:r>
              <a:rPr lang="en-US" sz="1800"/>
              <a:t>    List Key Vaults in a subscription</a:t>
            </a:r>
          </a:p>
          <a:p>
            <a:pPr>
              <a:lnSpc>
                <a:spcPct val="115000"/>
              </a:lnSpc>
              <a:spcBef>
                <a:spcPts val="600"/>
              </a:spcBef>
            </a:pPr>
            <a:r>
              <a:rPr lang="en-US" sz="1800"/>
              <a:t>    Manage RBAC role assignments on vaults</a:t>
            </a:r>
          </a:p>
          <a:p>
            <a:pPr>
              <a:lnSpc>
                <a:spcPct val="115000"/>
              </a:lnSpc>
              <a:spcBef>
                <a:spcPts val="600"/>
              </a:spcBef>
            </a:pPr>
            <a:r>
              <a:rPr lang="en-US" sz="1800"/>
              <a:t>    Create/delete vaults and access policies</a:t>
            </a:r>
          </a:p>
          <a:p>
            <a:pPr>
              <a:lnSpc>
                <a:spcPct val="115000"/>
              </a:lnSpc>
              <a:spcBef>
                <a:spcPts val="600"/>
              </a:spcBef>
            </a:pPr>
            <a:r>
              <a:rPr lang="en-US" sz="1800"/>
              <a:t>    Always logged - no additional configuration needed</a:t>
            </a:r>
          </a:p>
          <a:p>
            <a:pPr>
              <a:lnSpc>
                <a:spcPct val="115000"/>
              </a:lnSpc>
              <a:spcBef>
                <a:spcPts val="600"/>
              </a:spcBef>
            </a:pPr>
            <a:r>
              <a:rPr lang="en-US" sz="1800" b="1"/>
              <a:t>Data Plane (AzureDiagnostics):</a:t>
            </a:r>
          </a:p>
          <a:p>
            <a:pPr>
              <a:lnSpc>
                <a:spcPct val="115000"/>
              </a:lnSpc>
              <a:spcBef>
                <a:spcPts val="600"/>
              </a:spcBef>
            </a:pPr>
            <a:r>
              <a:rPr lang="en-US" sz="1800"/>
              <a:t>    Read secrets: SecretGet, SecretList</a:t>
            </a:r>
          </a:p>
          <a:p>
            <a:pPr>
              <a:lnSpc>
                <a:spcPct val="115000"/>
              </a:lnSpc>
              <a:spcBef>
                <a:spcPts val="600"/>
              </a:spcBef>
            </a:pPr>
            <a:r>
              <a:rPr lang="en-US" sz="1800"/>
              <a:t>    Read keys: KeySign, KeyDecrypt, KeyGet</a:t>
            </a:r>
          </a:p>
        </p:txBody>
      </p:sp>
    </p:spTree>
    <p:extLst>
      <p:ext uri="{BB962C8B-B14F-4D97-AF65-F5344CB8AC3E}">
        <p14:creationId xmlns:p14="http://schemas.microsoft.com/office/powerpoint/2010/main" val="155506845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CFA46-B509-1ECB-96B5-77E914E0DC4D}"/>
              </a:ext>
            </a:extLst>
          </p:cNvPr>
          <p:cNvSpPr>
            <a:spLocks noGrp="1"/>
          </p:cNvSpPr>
          <p:nvPr>
            <p:ph type="title"/>
          </p:nvPr>
        </p:nvSpPr>
        <p:spPr/>
        <p:txBody>
          <a:bodyPr/>
          <a:lstStyle/>
          <a:p>
            <a:r>
              <a:rPr lang="en-US"/>
              <a:t>Control Plane vs. Data Plane (cont. 2)</a:t>
            </a:r>
          </a:p>
        </p:txBody>
      </p:sp>
      <p:sp>
        <p:nvSpPr>
          <p:cNvPr id="3" name="Content Placeholder 2">
            <a:extLst>
              <a:ext uri="{FF2B5EF4-FFF2-40B4-BE49-F238E27FC236}">
                <a16:creationId xmlns:a16="http://schemas.microsoft.com/office/drawing/2014/main" id="{2A736526-8E4C-9E5F-749F-D9B3D569FDDE}"/>
              </a:ext>
            </a:extLst>
          </p:cNvPr>
          <p:cNvSpPr>
            <a:spLocks noGrp="1"/>
          </p:cNvSpPr>
          <p:nvPr>
            <p:ph sz="quarter" idx="10"/>
          </p:nvPr>
        </p:nvSpPr>
        <p:spPr/>
        <p:txBody>
          <a:bodyPr>
            <a:noAutofit/>
          </a:bodyPr>
          <a:lstStyle/>
          <a:p>
            <a:pPr>
              <a:lnSpc>
                <a:spcPct val="115000"/>
              </a:lnSpc>
              <a:spcBef>
                <a:spcPts val="600"/>
              </a:spcBef>
            </a:pPr>
            <a:r>
              <a:rPr lang="en-US" sz="1800"/>
              <a:t>    Read certificates: CertificateGet</a:t>
            </a:r>
          </a:p>
          <a:p>
            <a:pPr>
              <a:lnSpc>
                <a:spcPct val="115000"/>
              </a:lnSpc>
              <a:spcBef>
                <a:spcPts val="600"/>
              </a:spcBef>
            </a:pPr>
            <a:r>
              <a:rPr lang="en-US" sz="1800"/>
              <a:t>    Requires diagnostic logging enabled per vault</a:t>
            </a:r>
          </a:p>
          <a:p>
            <a:pPr>
              <a:lnSpc>
                <a:spcPct val="115000"/>
              </a:lnSpc>
              <a:spcBef>
                <a:spcPts val="600"/>
              </a:spcBef>
            </a:pPr>
            <a:r>
              <a:rPr lang="en-US" sz="1800"/>
              <a:t>The attack pattern: Control plane access to find and scope vaults, then data plane access to extract secrets.</a:t>
            </a:r>
          </a:p>
          <a:p>
            <a:pPr>
              <a:lnSpc>
                <a:spcPct val="115000"/>
              </a:lnSpc>
              <a:spcBef>
                <a:spcPts val="600"/>
              </a:spcBef>
            </a:pPr>
            <a:r>
              <a:rPr lang="en-US" sz="1800"/>
              <a:t>Two access models: RBAC-based (recommended) and legacy Access Policies (vault-level)</a:t>
            </a:r>
          </a:p>
        </p:txBody>
      </p:sp>
    </p:spTree>
    <p:extLst>
      <p:ext uri="{BB962C8B-B14F-4D97-AF65-F5344CB8AC3E}">
        <p14:creationId xmlns:p14="http://schemas.microsoft.com/office/powerpoint/2010/main" val="99693614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36B56-332C-4226-3E8C-CEABD1C8B531}"/>
              </a:ext>
            </a:extLst>
          </p:cNvPr>
          <p:cNvSpPr>
            <a:spLocks noGrp="1"/>
          </p:cNvSpPr>
          <p:nvPr>
            <p:ph type="title"/>
          </p:nvPr>
        </p:nvSpPr>
        <p:spPr/>
        <p:txBody>
          <a:bodyPr/>
          <a:lstStyle/>
          <a:p>
            <a:r>
              <a:rPr lang="en-US"/>
              <a:t>RBAC Roles Attackers Abuse</a:t>
            </a:r>
          </a:p>
        </p:txBody>
      </p:sp>
      <p:graphicFrame>
        <p:nvGraphicFramePr>
          <p:cNvPr id="4" name="Content Placeholder 3">
            <a:extLst>
              <a:ext uri="{FF2B5EF4-FFF2-40B4-BE49-F238E27FC236}">
                <a16:creationId xmlns:a16="http://schemas.microsoft.com/office/drawing/2014/main" id="{59C3DA8A-D872-E011-9802-6E4F6A77FAE5}"/>
              </a:ext>
            </a:extLst>
          </p:cNvPr>
          <p:cNvGraphicFramePr>
            <a:graphicFrameLocks noGrp="1"/>
          </p:cNvGraphicFramePr>
          <p:nvPr>
            <p:ph sz="quarter" idx="10"/>
            <p:extLst>
              <p:ext uri="{D42A27DB-BD31-4B8C-83A1-F6EECF244321}">
                <p14:modId xmlns:p14="http://schemas.microsoft.com/office/powerpoint/2010/main" val="1886019922"/>
              </p:ext>
            </p:extLst>
          </p:nvPr>
        </p:nvGraphicFramePr>
        <p:xfrm>
          <a:off x="381000" y="1397000"/>
          <a:ext cx="11430000" cy="50165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3400895269"/>
                    </a:ext>
                  </a:extLst>
                </a:gridCol>
                <a:gridCol w="3810000">
                  <a:extLst>
                    <a:ext uri="{9D8B030D-6E8A-4147-A177-3AD203B41FA5}">
                      <a16:colId xmlns:a16="http://schemas.microsoft.com/office/drawing/2014/main" val="1490891919"/>
                    </a:ext>
                  </a:extLst>
                </a:gridCol>
                <a:gridCol w="3810000">
                  <a:extLst>
                    <a:ext uri="{9D8B030D-6E8A-4147-A177-3AD203B41FA5}">
                      <a16:colId xmlns:a16="http://schemas.microsoft.com/office/drawing/2014/main" val="1502837195"/>
                    </a:ext>
                  </a:extLst>
                </a:gridCol>
              </a:tblGrid>
              <a:tr h="627063">
                <a:tc>
                  <a:txBody>
                    <a:bodyPr/>
                    <a:lstStyle/>
                    <a:p>
                      <a:r>
                        <a:rPr lang="en-US" sz="1200" b="1"/>
                        <a:t>Role</a:t>
                      </a:r>
                    </a:p>
                  </a:txBody>
                  <a:tcPr/>
                </a:tc>
                <a:tc>
                  <a:txBody>
                    <a:bodyPr/>
                    <a:lstStyle/>
                    <a:p>
                      <a:r>
                        <a:rPr lang="en-US" sz="1200" b="1"/>
                        <a:t>Data Plane Access</a:t>
                      </a:r>
                    </a:p>
                  </a:txBody>
                  <a:tcPr/>
                </a:tc>
                <a:tc>
                  <a:txBody>
                    <a:bodyPr/>
                    <a:lstStyle/>
                    <a:p>
                      <a:r>
                        <a:rPr lang="en-US" sz="1200" b="1"/>
                        <a:t>Attack Value</a:t>
                      </a:r>
                    </a:p>
                  </a:txBody>
                  <a:tcPr/>
                </a:tc>
                <a:extLst>
                  <a:ext uri="{0D108BD9-81ED-4DB2-BD59-A6C34878D82A}">
                    <a16:rowId xmlns:a16="http://schemas.microsoft.com/office/drawing/2014/main" val="3093995195"/>
                  </a:ext>
                </a:extLst>
              </a:tr>
              <a:tr h="627063">
                <a:tc>
                  <a:txBody>
                    <a:bodyPr/>
                    <a:lstStyle/>
                    <a:p>
                      <a:r>
                        <a:rPr lang="en-US" sz="1200"/>
                        <a:t>Key Vault Administrator</a:t>
                      </a:r>
                    </a:p>
                  </a:txBody>
                  <a:tcPr/>
                </a:tc>
                <a:tc>
                  <a:txBody>
                    <a:bodyPr/>
                    <a:lstStyle/>
                    <a:p>
                      <a:r>
                        <a:rPr lang="en-US" sz="1200"/>
                        <a:t>Full (secrets, keys, certificates)</a:t>
                      </a:r>
                    </a:p>
                  </a:txBody>
                  <a:tcPr/>
                </a:tc>
                <a:tc>
                  <a:txBody>
                    <a:bodyPr/>
                    <a:lstStyle/>
                    <a:p>
                      <a:r>
                        <a:rPr lang="en-US" sz="1200"/>
                        <a:t>Complete vault control</a:t>
                      </a:r>
                    </a:p>
                  </a:txBody>
                  <a:tcPr/>
                </a:tc>
                <a:extLst>
                  <a:ext uri="{0D108BD9-81ED-4DB2-BD59-A6C34878D82A}">
                    <a16:rowId xmlns:a16="http://schemas.microsoft.com/office/drawing/2014/main" val="291036296"/>
                  </a:ext>
                </a:extLst>
              </a:tr>
              <a:tr h="627063">
                <a:tc>
                  <a:txBody>
                    <a:bodyPr/>
                    <a:lstStyle/>
                    <a:p>
                      <a:r>
                        <a:rPr lang="en-US" sz="1200"/>
                        <a:t>Key Vault Secrets Officer</a:t>
                      </a:r>
                    </a:p>
                  </a:txBody>
                  <a:tcPr/>
                </a:tc>
                <a:tc>
                  <a:txBody>
                    <a:bodyPr/>
                    <a:lstStyle/>
                    <a:p>
                      <a:r>
                        <a:rPr lang="en-US" sz="1200"/>
                        <a:t>Read/write/delete secrets</a:t>
                      </a:r>
                    </a:p>
                  </a:txBody>
                  <a:tcPr/>
                </a:tc>
                <a:tc>
                  <a:txBody>
                    <a:bodyPr/>
                    <a:lstStyle/>
                    <a:p>
                      <a:r>
                        <a:rPr lang="en-US" sz="1200"/>
                        <a:t>Full secret extraction</a:t>
                      </a:r>
                    </a:p>
                  </a:txBody>
                  <a:tcPr/>
                </a:tc>
                <a:extLst>
                  <a:ext uri="{0D108BD9-81ED-4DB2-BD59-A6C34878D82A}">
                    <a16:rowId xmlns:a16="http://schemas.microsoft.com/office/drawing/2014/main" val="3493942727"/>
                  </a:ext>
                </a:extLst>
              </a:tr>
              <a:tr h="627063">
                <a:tc>
                  <a:txBody>
                    <a:bodyPr/>
                    <a:lstStyle/>
                    <a:p>
                      <a:r>
                        <a:rPr lang="en-US" sz="1200"/>
                        <a:t>Key Vault Secrets User</a:t>
                      </a:r>
                    </a:p>
                  </a:txBody>
                  <a:tcPr/>
                </a:tc>
                <a:tc>
                  <a:txBody>
                    <a:bodyPr/>
                    <a:lstStyle/>
                    <a:p>
                      <a:r>
                        <a:rPr lang="en-US" sz="1200"/>
                        <a:t>Read secrets only</a:t>
                      </a:r>
                    </a:p>
                  </a:txBody>
                  <a:tcPr/>
                </a:tc>
                <a:tc>
                  <a:txBody>
                    <a:bodyPr/>
                    <a:lstStyle/>
                    <a:p>
                      <a:r>
                        <a:rPr lang="en-US" sz="1200"/>
                        <a:t>Secret extraction (most common target)</a:t>
                      </a:r>
                    </a:p>
                  </a:txBody>
                  <a:tcPr/>
                </a:tc>
                <a:extLst>
                  <a:ext uri="{0D108BD9-81ED-4DB2-BD59-A6C34878D82A}">
                    <a16:rowId xmlns:a16="http://schemas.microsoft.com/office/drawing/2014/main" val="2887029080"/>
                  </a:ext>
                </a:extLst>
              </a:tr>
              <a:tr h="627063">
                <a:tc>
                  <a:txBody>
                    <a:bodyPr/>
                    <a:lstStyle/>
                    <a:p>
                      <a:r>
                        <a:rPr lang="en-US" sz="1200"/>
                        <a:t>Key Vault Crypto Officer</a:t>
                      </a:r>
                    </a:p>
                  </a:txBody>
                  <a:tcPr/>
                </a:tc>
                <a:tc>
                  <a:txBody>
                    <a:bodyPr/>
                    <a:lstStyle/>
                    <a:p>
                      <a:r>
                        <a:rPr lang="en-US" sz="1200"/>
                        <a:t>Key operations (sign, decrypt, encrypt)</a:t>
                      </a:r>
                    </a:p>
                  </a:txBody>
                  <a:tcPr/>
                </a:tc>
                <a:tc>
                  <a:txBody>
                    <a:bodyPr/>
                    <a:lstStyle/>
                    <a:p>
                      <a:r>
                        <a:rPr lang="en-US" sz="1200"/>
                        <a:t>Cryptographic key abuse</a:t>
                      </a:r>
                    </a:p>
                  </a:txBody>
                  <a:tcPr/>
                </a:tc>
                <a:extLst>
                  <a:ext uri="{0D108BD9-81ED-4DB2-BD59-A6C34878D82A}">
                    <a16:rowId xmlns:a16="http://schemas.microsoft.com/office/drawing/2014/main" val="510464733"/>
                  </a:ext>
                </a:extLst>
              </a:tr>
              <a:tr h="627063">
                <a:tc>
                  <a:txBody>
                    <a:bodyPr/>
                    <a:lstStyle/>
                    <a:p>
                      <a:r>
                        <a:rPr lang="en-US" sz="1200"/>
                        <a:t>Key Vault Certificate User</a:t>
                      </a:r>
                    </a:p>
                  </a:txBody>
                  <a:tcPr/>
                </a:tc>
                <a:tc>
                  <a:txBody>
                    <a:bodyPr/>
                    <a:lstStyle/>
                    <a:p>
                      <a:r>
                        <a:rPr lang="en-US" sz="1200"/>
                        <a:t>Read certificates</a:t>
                      </a:r>
                    </a:p>
                  </a:txBody>
                  <a:tcPr/>
                </a:tc>
                <a:tc>
                  <a:txBody>
                    <a:bodyPr/>
                    <a:lstStyle/>
                    <a:p>
                      <a:r>
                        <a:rPr lang="en-US" sz="1200"/>
                        <a:t>Certificate theft for SP auth</a:t>
                      </a:r>
                    </a:p>
                  </a:txBody>
                  <a:tcPr/>
                </a:tc>
                <a:extLst>
                  <a:ext uri="{0D108BD9-81ED-4DB2-BD59-A6C34878D82A}">
                    <a16:rowId xmlns:a16="http://schemas.microsoft.com/office/drawing/2014/main" val="1541995478"/>
                  </a:ext>
                </a:extLst>
              </a:tr>
              <a:tr h="627063">
                <a:tc>
                  <a:txBody>
                    <a:bodyPr/>
                    <a:lstStyle/>
                    <a:p>
                      <a:r>
                        <a:rPr lang="en-US" sz="1200"/>
                        <a:t>Key Vault Reader</a:t>
                      </a:r>
                    </a:p>
                  </a:txBody>
                  <a:tcPr/>
                </a:tc>
                <a:tc>
                  <a:txBody>
                    <a:bodyPr/>
                    <a:lstStyle/>
                    <a:p>
                      <a:r>
                        <a:rPr lang="en-US" sz="1200"/>
                        <a:t>List vaults and metadata only</a:t>
                      </a:r>
                    </a:p>
                  </a:txBody>
                  <a:tcPr/>
                </a:tc>
                <a:tc>
                  <a:txBody>
                    <a:bodyPr/>
                    <a:lstStyle/>
                    <a:p>
                      <a:r>
                        <a:rPr lang="en-US" sz="1200"/>
                        <a:t>Reconnaissance - no secret access</a:t>
                      </a:r>
                    </a:p>
                  </a:txBody>
                  <a:tcPr/>
                </a:tc>
                <a:extLst>
                  <a:ext uri="{0D108BD9-81ED-4DB2-BD59-A6C34878D82A}">
                    <a16:rowId xmlns:a16="http://schemas.microsoft.com/office/drawing/2014/main" val="460917598"/>
                  </a:ext>
                </a:extLst>
              </a:tr>
              <a:tr h="627063">
                <a:tc>
                  <a:txBody>
                    <a:bodyPr/>
                    <a:lstStyle/>
                    <a:p>
                      <a:r>
                        <a:rPr lang="en-US" sz="1200"/>
                        <a:t>Contributor</a:t>
                      </a:r>
                    </a:p>
                  </a:txBody>
                  <a:tcPr/>
                </a:tc>
                <a:tc>
                  <a:txBody>
                    <a:bodyPr/>
                    <a:lstStyle/>
                    <a:p>
                      <a:r>
                        <a:rPr lang="en-US" sz="1200"/>
                        <a:t>Control plane only</a:t>
                      </a:r>
                    </a:p>
                  </a:txBody>
                  <a:tcPr/>
                </a:tc>
                <a:tc>
                  <a:txBody>
                    <a:bodyPr/>
                    <a:lstStyle/>
                    <a:p>
                      <a:r>
                        <a:rPr lang="en-US" sz="1200"/>
                        <a:t>Can modify RBAC but NOT read secrets directly</a:t>
                      </a:r>
                    </a:p>
                  </a:txBody>
                  <a:tcPr/>
                </a:tc>
                <a:extLst>
                  <a:ext uri="{0D108BD9-81ED-4DB2-BD59-A6C34878D82A}">
                    <a16:rowId xmlns:a16="http://schemas.microsoft.com/office/drawing/2014/main" val="1058606146"/>
                  </a:ext>
                </a:extLst>
              </a:tr>
            </a:tbl>
          </a:graphicData>
        </a:graphic>
      </p:graphicFrame>
    </p:spTree>
    <p:extLst>
      <p:ext uri="{BB962C8B-B14F-4D97-AF65-F5344CB8AC3E}">
        <p14:creationId xmlns:p14="http://schemas.microsoft.com/office/powerpoint/2010/main" val="262113620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35343-BD17-4885-CBBC-53F20C8A0FD2}"/>
              </a:ext>
            </a:extLst>
          </p:cNvPr>
          <p:cNvSpPr>
            <a:spLocks noGrp="1"/>
          </p:cNvSpPr>
          <p:nvPr>
            <p:ph type="title"/>
          </p:nvPr>
        </p:nvSpPr>
        <p:spPr/>
        <p:txBody>
          <a:bodyPr/>
          <a:lstStyle/>
          <a:p>
            <a:r>
              <a:rPr lang="en-US"/>
              <a:t>RBAC Roles Attackers Abuse (cont.)</a:t>
            </a:r>
          </a:p>
        </p:txBody>
      </p:sp>
      <p:sp>
        <p:nvSpPr>
          <p:cNvPr id="3" name="Content Placeholder 2">
            <a:extLst>
              <a:ext uri="{FF2B5EF4-FFF2-40B4-BE49-F238E27FC236}">
                <a16:creationId xmlns:a16="http://schemas.microsoft.com/office/drawing/2014/main" id="{F38F86B2-4D30-32BA-BAF6-6E0D3C605134}"/>
              </a:ext>
            </a:extLst>
          </p:cNvPr>
          <p:cNvSpPr>
            <a:spLocks noGrp="1"/>
          </p:cNvSpPr>
          <p:nvPr>
            <p:ph sz="quarter" idx="10"/>
          </p:nvPr>
        </p:nvSpPr>
        <p:spPr/>
        <p:txBody>
          <a:bodyPr>
            <a:noAutofit/>
          </a:bodyPr>
          <a:lstStyle/>
          <a:p>
            <a:pPr>
              <a:lnSpc>
                <a:spcPct val="115000"/>
              </a:lnSpc>
              <a:spcBef>
                <a:spcPts val="600"/>
              </a:spcBef>
            </a:pPr>
            <a:r>
              <a:rPr lang="en-US" sz="1600"/>
              <a:t>Key insight: Contributor can grant themselves Key Vault Secrets User, then read all secrets. Control plane access enables data plane escalation.</a:t>
            </a:r>
          </a:p>
        </p:txBody>
      </p:sp>
    </p:spTree>
    <p:extLst>
      <p:ext uri="{BB962C8B-B14F-4D97-AF65-F5344CB8AC3E}">
        <p14:creationId xmlns:p14="http://schemas.microsoft.com/office/powerpoint/2010/main" val="111415435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47FBE-6FBB-9937-F767-D20399DA49CC}"/>
              </a:ext>
            </a:extLst>
          </p:cNvPr>
          <p:cNvSpPr>
            <a:spLocks noGrp="1"/>
          </p:cNvSpPr>
          <p:nvPr>
            <p:ph type="title"/>
          </p:nvPr>
        </p:nvSpPr>
        <p:spPr/>
        <p:txBody>
          <a:bodyPr/>
          <a:lstStyle/>
          <a:p>
            <a:r>
              <a:rPr lang="en-US"/>
              <a:t>Attack Pattern — Secret Enumeration and Extraction</a:t>
            </a:r>
          </a:p>
        </p:txBody>
      </p:sp>
      <p:graphicFrame>
        <p:nvGraphicFramePr>
          <p:cNvPr id="4" name="Content Placeholder 3">
            <a:extLst>
              <a:ext uri="{FF2B5EF4-FFF2-40B4-BE49-F238E27FC236}">
                <a16:creationId xmlns:a16="http://schemas.microsoft.com/office/drawing/2014/main" id="{A07416D6-A45B-5686-BAEB-AEF9E5A67942}"/>
              </a:ext>
            </a:extLst>
          </p:cNvPr>
          <p:cNvGraphicFramePr>
            <a:graphicFrameLocks noGrp="1"/>
          </p:cNvGraphicFramePr>
          <p:nvPr>
            <p:ph sz="quarter" idx="10"/>
            <p:extLst>
              <p:ext uri="{D42A27DB-BD31-4B8C-83A1-F6EECF244321}">
                <p14:modId xmlns:p14="http://schemas.microsoft.com/office/powerpoint/2010/main" val="2599740848"/>
              </p:ext>
            </p:extLst>
          </p:nvPr>
        </p:nvGraphicFramePr>
        <p:xfrm>
          <a:off x="381000" y="1524000"/>
          <a:ext cx="11430000" cy="48895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2067497317"/>
                    </a:ext>
                  </a:extLst>
                </a:gridCol>
                <a:gridCol w="3810000">
                  <a:extLst>
                    <a:ext uri="{9D8B030D-6E8A-4147-A177-3AD203B41FA5}">
                      <a16:colId xmlns:a16="http://schemas.microsoft.com/office/drawing/2014/main" val="1692212969"/>
                    </a:ext>
                  </a:extLst>
                </a:gridCol>
                <a:gridCol w="3810000">
                  <a:extLst>
                    <a:ext uri="{9D8B030D-6E8A-4147-A177-3AD203B41FA5}">
                      <a16:colId xmlns:a16="http://schemas.microsoft.com/office/drawing/2014/main" val="1113424784"/>
                    </a:ext>
                  </a:extLst>
                </a:gridCol>
              </a:tblGrid>
              <a:tr h="814917">
                <a:tc>
                  <a:txBody>
                    <a:bodyPr/>
                    <a:lstStyle/>
                    <a:p>
                      <a:r>
                        <a:rPr lang="en-US" sz="1400" b="1"/>
                        <a:t>Indicator</a:t>
                      </a:r>
                    </a:p>
                  </a:txBody>
                  <a:tcPr/>
                </a:tc>
                <a:tc>
                  <a:txBody>
                    <a:bodyPr/>
                    <a:lstStyle/>
                    <a:p>
                      <a:r>
                        <a:rPr lang="en-US" sz="1400" b="1"/>
                        <a:t>Source</a:t>
                      </a:r>
                    </a:p>
                  </a:txBody>
                  <a:tcPr/>
                </a:tc>
                <a:tc>
                  <a:txBody>
                    <a:bodyPr/>
                    <a:lstStyle/>
                    <a:p>
                      <a:r>
                        <a:rPr lang="en-US" sz="1400" b="1"/>
                        <a:t>Severity</a:t>
                      </a:r>
                    </a:p>
                  </a:txBody>
                  <a:tcPr/>
                </a:tc>
                <a:extLst>
                  <a:ext uri="{0D108BD9-81ED-4DB2-BD59-A6C34878D82A}">
                    <a16:rowId xmlns:a16="http://schemas.microsoft.com/office/drawing/2014/main" val="1863886173"/>
                  </a:ext>
                </a:extLst>
              </a:tr>
              <a:tr h="814917">
                <a:tc>
                  <a:txBody>
                    <a:bodyPr/>
                    <a:lstStyle/>
                    <a:p>
                      <a:r>
                        <a:rPr lang="en-US" sz="1400"/>
                        <a:t>SecretList followed by multiple SecretGet within minutes</a:t>
                      </a:r>
                    </a:p>
                  </a:txBody>
                  <a:tcPr/>
                </a:tc>
                <a:tc>
                  <a:txBody>
                    <a:bodyPr/>
                    <a:lstStyle/>
                    <a:p>
                      <a:r>
                        <a:rPr lang="en-US" sz="1400"/>
                        <a:t>AzureDiagnostics</a:t>
                      </a:r>
                    </a:p>
                  </a:txBody>
                  <a:tcPr/>
                </a:tc>
                <a:tc>
                  <a:txBody>
                    <a:bodyPr/>
                    <a:lstStyle/>
                    <a:p>
                      <a:r>
                        <a:rPr lang="en-US" sz="1400"/>
                        <a:t>High</a:t>
                      </a:r>
                    </a:p>
                  </a:txBody>
                  <a:tcPr/>
                </a:tc>
                <a:extLst>
                  <a:ext uri="{0D108BD9-81ED-4DB2-BD59-A6C34878D82A}">
                    <a16:rowId xmlns:a16="http://schemas.microsoft.com/office/drawing/2014/main" val="1225065834"/>
                  </a:ext>
                </a:extLst>
              </a:tr>
              <a:tr h="814917">
                <a:tc>
                  <a:txBody>
                    <a:bodyPr/>
                    <a:lstStyle/>
                    <a:p>
                      <a:r>
                        <a:rPr lang="en-US" sz="1400"/>
                        <a:t>User account performing SecretGet (not service principal)</a:t>
                      </a:r>
                    </a:p>
                  </a:txBody>
                  <a:tcPr/>
                </a:tc>
                <a:tc>
                  <a:txBody>
                    <a:bodyPr/>
                    <a:lstStyle/>
                    <a:p>
                      <a:r>
                        <a:rPr lang="en-US" sz="1400"/>
                        <a:t>AzureDiagnostics</a:t>
                      </a:r>
                    </a:p>
                  </a:txBody>
                  <a:tcPr/>
                </a:tc>
                <a:tc>
                  <a:txBody>
                    <a:bodyPr/>
                    <a:lstStyle/>
                    <a:p>
                      <a:r>
                        <a:rPr lang="en-US" sz="1400"/>
                        <a:t>High</a:t>
                      </a:r>
                    </a:p>
                  </a:txBody>
                  <a:tcPr/>
                </a:tc>
                <a:extLst>
                  <a:ext uri="{0D108BD9-81ED-4DB2-BD59-A6C34878D82A}">
                    <a16:rowId xmlns:a16="http://schemas.microsoft.com/office/drawing/2014/main" val="1049977571"/>
                  </a:ext>
                </a:extLst>
              </a:tr>
              <a:tr h="814917">
                <a:tc>
                  <a:txBody>
                    <a:bodyPr/>
                    <a:lstStyle/>
                    <a:p>
                      <a:r>
                        <a:rPr lang="en-US" sz="1400"/>
                        <a:t>SecretGet from IP not in vault's allowed network</a:t>
                      </a:r>
                    </a:p>
                  </a:txBody>
                  <a:tcPr/>
                </a:tc>
                <a:tc>
                  <a:txBody>
                    <a:bodyPr/>
                    <a:lstStyle/>
                    <a:p>
                      <a:r>
                        <a:rPr lang="en-US" sz="1400"/>
                        <a:t>AzureDiagnostics</a:t>
                      </a:r>
                    </a:p>
                  </a:txBody>
                  <a:tcPr/>
                </a:tc>
                <a:tc>
                  <a:txBody>
                    <a:bodyPr/>
                    <a:lstStyle/>
                    <a:p>
                      <a:r>
                        <a:rPr lang="en-US" sz="1400"/>
                        <a:t>High</a:t>
                      </a:r>
                    </a:p>
                  </a:txBody>
                  <a:tcPr/>
                </a:tc>
                <a:extLst>
                  <a:ext uri="{0D108BD9-81ED-4DB2-BD59-A6C34878D82A}">
                    <a16:rowId xmlns:a16="http://schemas.microsoft.com/office/drawing/2014/main" val="1917383457"/>
                  </a:ext>
                </a:extLst>
              </a:tr>
              <a:tr h="814917">
                <a:tc>
                  <a:txBody>
                    <a:bodyPr/>
                    <a:lstStyle/>
                    <a:p>
                      <a:r>
                        <a:rPr lang="en-US" sz="1400"/>
                        <a:t>roleAssignments/write on Key Vault scope</a:t>
                      </a:r>
                    </a:p>
                  </a:txBody>
                  <a:tcPr/>
                </a:tc>
                <a:tc>
                  <a:txBody>
                    <a:bodyPr/>
                    <a:lstStyle/>
                    <a:p>
                      <a:r>
                        <a:rPr lang="en-US" sz="1400"/>
                        <a:t>AzureActivity</a:t>
                      </a:r>
                    </a:p>
                  </a:txBody>
                  <a:tcPr/>
                </a:tc>
                <a:tc>
                  <a:txBody>
                    <a:bodyPr/>
                    <a:lstStyle/>
                    <a:p>
                      <a:r>
                        <a:rPr lang="en-US" sz="1400"/>
                        <a:t>High</a:t>
                      </a:r>
                    </a:p>
                  </a:txBody>
                  <a:tcPr/>
                </a:tc>
                <a:extLst>
                  <a:ext uri="{0D108BD9-81ED-4DB2-BD59-A6C34878D82A}">
                    <a16:rowId xmlns:a16="http://schemas.microsoft.com/office/drawing/2014/main" val="669074625"/>
                  </a:ext>
                </a:extLst>
              </a:tr>
              <a:tr h="814917">
                <a:tc>
                  <a:txBody>
                    <a:bodyPr/>
                    <a:lstStyle/>
                    <a:p>
                      <a:r>
                        <a:rPr lang="en-US" sz="1400"/>
                        <a:t>SecretBackup operation</a:t>
                      </a:r>
                    </a:p>
                  </a:txBody>
                  <a:tcPr/>
                </a:tc>
                <a:tc>
                  <a:txBody>
                    <a:bodyPr/>
                    <a:lstStyle/>
                    <a:p>
                      <a:r>
                        <a:rPr lang="en-US" sz="1400"/>
                        <a:t>AzureDiagnostics</a:t>
                      </a:r>
                    </a:p>
                  </a:txBody>
                  <a:tcPr/>
                </a:tc>
                <a:tc>
                  <a:txBody>
                    <a:bodyPr/>
                    <a:lstStyle/>
                    <a:p>
                      <a:r>
                        <a:rPr lang="en-US" sz="1400"/>
                        <a:t>Critical</a:t>
                      </a:r>
                    </a:p>
                  </a:txBody>
                  <a:tcPr/>
                </a:tc>
                <a:extLst>
                  <a:ext uri="{0D108BD9-81ED-4DB2-BD59-A6C34878D82A}">
                    <a16:rowId xmlns:a16="http://schemas.microsoft.com/office/drawing/2014/main" val="2647250230"/>
                  </a:ext>
                </a:extLst>
              </a:tr>
            </a:tbl>
          </a:graphicData>
        </a:graphic>
      </p:graphicFrame>
    </p:spTree>
    <p:extLst>
      <p:ext uri="{BB962C8B-B14F-4D97-AF65-F5344CB8AC3E}">
        <p14:creationId xmlns:p14="http://schemas.microsoft.com/office/powerpoint/2010/main" val="95525518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66BD3-AB70-FACB-F02F-04E1EC473D96}"/>
              </a:ext>
            </a:extLst>
          </p:cNvPr>
          <p:cNvSpPr>
            <a:spLocks noGrp="1"/>
          </p:cNvSpPr>
          <p:nvPr>
            <p:ph type="title"/>
          </p:nvPr>
        </p:nvSpPr>
        <p:spPr>
          <a:xfrm>
            <a:off x="588263" y="457200"/>
            <a:ext cx="11018520" cy="1107996"/>
          </a:xfrm>
        </p:spPr>
        <p:txBody>
          <a:bodyPr/>
          <a:lstStyle/>
          <a:p>
            <a:r>
              <a:rPr lang="en-US"/>
              <a:t>Attack Pattern — Secret Enumeration and Extraction (cont.)</a:t>
            </a:r>
          </a:p>
        </p:txBody>
      </p:sp>
      <p:sp>
        <p:nvSpPr>
          <p:cNvPr id="3" name="Content Placeholder 2">
            <a:extLst>
              <a:ext uri="{FF2B5EF4-FFF2-40B4-BE49-F238E27FC236}">
                <a16:creationId xmlns:a16="http://schemas.microsoft.com/office/drawing/2014/main" id="{14ABD995-B44D-5774-F382-EA04CD9CA5AD}"/>
              </a:ext>
            </a:extLst>
          </p:cNvPr>
          <p:cNvSpPr>
            <a:spLocks noGrp="1"/>
          </p:cNvSpPr>
          <p:nvPr>
            <p:ph sz="quarter" idx="10"/>
          </p:nvPr>
        </p:nvSpPr>
        <p:spPr>
          <a:xfrm>
            <a:off x="584200" y="1742996"/>
            <a:ext cx="11018838" cy="4526042"/>
          </a:xfrm>
        </p:spPr>
        <p:txBody>
          <a:bodyPr>
            <a:noAutofit/>
          </a:bodyPr>
          <a:lstStyle/>
          <a:p>
            <a:pPr>
              <a:lnSpc>
                <a:spcPct val="115000"/>
              </a:lnSpc>
              <a:spcBef>
                <a:spcPts val="600"/>
              </a:spcBef>
            </a:pPr>
            <a:r>
              <a:rPr lang="en-US" sz="1600" b="1"/>
              <a:t>Typical attacker sequence:</a:t>
            </a:r>
          </a:p>
          <a:p>
            <a:pPr>
              <a:lnSpc>
                <a:spcPct val="115000"/>
              </a:lnSpc>
              <a:spcBef>
                <a:spcPts val="600"/>
              </a:spcBef>
            </a:pPr>
            <a:r>
              <a:rPr lang="en-US" sz="1600"/>
              <a:t>    Enumerate Key Vaults: az keyvault list</a:t>
            </a:r>
          </a:p>
          <a:p>
            <a:pPr>
              <a:lnSpc>
                <a:spcPct val="115000"/>
              </a:lnSpc>
              <a:spcBef>
                <a:spcPts val="600"/>
              </a:spcBef>
            </a:pPr>
            <a:r>
              <a:rPr lang="en-US" sz="1600"/>
              <a:t>    Check own permissions: az role assignment list --assignee &lt;self&gt;</a:t>
            </a:r>
          </a:p>
          <a:p>
            <a:pPr>
              <a:lnSpc>
                <a:spcPct val="115000"/>
              </a:lnSpc>
              <a:spcBef>
                <a:spcPts val="600"/>
              </a:spcBef>
            </a:pPr>
            <a:r>
              <a:rPr lang="en-US" sz="1600"/>
              <a:t>    List all secrets in vault: SecretList operation</a:t>
            </a:r>
          </a:p>
          <a:p>
            <a:pPr>
              <a:lnSpc>
                <a:spcPct val="115000"/>
              </a:lnSpc>
              <a:spcBef>
                <a:spcPts val="600"/>
              </a:spcBef>
            </a:pPr>
            <a:r>
              <a:rPr lang="en-US" sz="1600"/>
              <a:t>    Read each secret value: SecretGet for each secret</a:t>
            </a:r>
          </a:p>
          <a:p>
            <a:pPr>
              <a:lnSpc>
                <a:spcPct val="115000"/>
              </a:lnSpc>
              <a:spcBef>
                <a:spcPts val="600"/>
              </a:spcBef>
            </a:pPr>
            <a:r>
              <a:rPr lang="en-US" sz="1600"/>
              <a:t>    Export certificates as PFX for lateral movement</a:t>
            </a:r>
          </a:p>
          <a:p>
            <a:pPr>
              <a:lnSpc>
                <a:spcPct val="115000"/>
              </a:lnSpc>
              <a:spcBef>
                <a:spcPts val="600"/>
              </a:spcBef>
            </a:pPr>
            <a:r>
              <a:rPr lang="en-US" sz="1600" b="1"/>
              <a:t>High-signal indicators:</a:t>
            </a:r>
          </a:p>
        </p:txBody>
      </p:sp>
    </p:spTree>
    <p:extLst>
      <p:ext uri="{BB962C8B-B14F-4D97-AF65-F5344CB8AC3E}">
        <p14:creationId xmlns:p14="http://schemas.microsoft.com/office/powerpoint/2010/main" val="2503466748"/>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2BB6A-A5B8-672C-94E9-C1AE4797D073}"/>
              </a:ext>
            </a:extLst>
          </p:cNvPr>
          <p:cNvSpPr>
            <a:spLocks noGrp="1"/>
          </p:cNvSpPr>
          <p:nvPr>
            <p:ph type="title"/>
          </p:nvPr>
        </p:nvSpPr>
        <p:spPr/>
        <p:txBody>
          <a:bodyPr/>
          <a:lstStyle/>
          <a:p>
            <a:r>
              <a:rPr lang="en-US"/>
              <a:t>KQL — Secret Dump Pattern Detection</a:t>
            </a:r>
          </a:p>
        </p:txBody>
      </p:sp>
      <p:sp>
        <p:nvSpPr>
          <p:cNvPr id="3" name="Content Placeholder 2">
            <a:extLst>
              <a:ext uri="{FF2B5EF4-FFF2-40B4-BE49-F238E27FC236}">
                <a16:creationId xmlns:a16="http://schemas.microsoft.com/office/drawing/2014/main" id="{574B9F2C-462B-5D9A-C8EE-D832813CF7BB}"/>
              </a:ext>
            </a:extLst>
          </p:cNvPr>
          <p:cNvSpPr>
            <a:spLocks noGrp="1"/>
          </p:cNvSpPr>
          <p:nvPr>
            <p:ph sz="quarter" idx="10"/>
          </p:nvPr>
        </p:nvSpPr>
        <p:spPr/>
        <p:txBody>
          <a:bodyPr>
            <a:noAutofit/>
          </a:bodyPr>
          <a:lstStyle/>
          <a:p>
            <a:pPr>
              <a:lnSpc>
                <a:spcPct val="115000"/>
              </a:lnSpc>
              <a:spcBef>
                <a:spcPts val="600"/>
              </a:spcBef>
            </a:pPr>
            <a:r>
              <a:rPr lang="en-US"/>
              <a:t>What this detects: SecretList followed by multiple SecretGet operations within 15 minutes - the signature pattern of secret enumeration and extraction.</a:t>
            </a:r>
          </a:p>
        </p:txBody>
      </p:sp>
    </p:spTree>
    <p:extLst>
      <p:ext uri="{BB962C8B-B14F-4D97-AF65-F5344CB8AC3E}">
        <p14:creationId xmlns:p14="http://schemas.microsoft.com/office/powerpoint/2010/main" val="3007743433"/>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DA582-F717-7A55-5A42-F07CA745E242}"/>
              </a:ext>
            </a:extLst>
          </p:cNvPr>
          <p:cNvSpPr>
            <a:spLocks noGrp="1"/>
          </p:cNvSpPr>
          <p:nvPr>
            <p:ph type="title"/>
          </p:nvPr>
        </p:nvSpPr>
        <p:spPr/>
        <p:txBody>
          <a:bodyPr/>
          <a:lstStyle/>
          <a:p>
            <a:r>
              <a:rPr lang="en-US"/>
              <a:t>KQL — Secret Dump Pattern Detection (cont.)</a:t>
            </a:r>
          </a:p>
        </p:txBody>
      </p:sp>
      <p:sp>
        <p:nvSpPr>
          <p:cNvPr id="3" name="Content Placeholder 2">
            <a:extLst>
              <a:ext uri="{FF2B5EF4-FFF2-40B4-BE49-F238E27FC236}">
                <a16:creationId xmlns:a16="http://schemas.microsoft.com/office/drawing/2014/main" id="{4B826B40-E27A-E5A8-8554-69391D94B57B}"/>
              </a:ext>
            </a:extLst>
          </p:cNvPr>
          <p:cNvSpPr>
            <a:spLocks noGrp="1"/>
          </p:cNvSpPr>
          <p:nvPr>
            <p:ph sz="quarter" idx="10"/>
          </p:nvPr>
        </p:nvSpPr>
        <p:spPr/>
        <p:txBody>
          <a:bodyPr>
            <a:noAutofit/>
          </a:bodyPr>
          <a:lstStyle/>
          <a:p>
            <a:pPr>
              <a:lnSpc>
                <a:spcPct val="115000"/>
              </a:lnSpc>
              <a:spcBef>
                <a:spcPts val="600"/>
              </a:spcBef>
            </a:pPr>
            <a:r>
              <a:rPr lang="en-US" sz="1600" b="1"/>
              <a:t>Sample Kusto Query Language (KQL):</a:t>
            </a:r>
          </a:p>
          <a:p>
            <a:pPr>
              <a:lnSpc>
                <a:spcPct val="115000"/>
              </a:lnSpc>
              <a:spcBef>
                <a:spcPts val="600"/>
              </a:spcBef>
            </a:pPr>
            <a:endParaRPr lang="en-US" sz="1600"/>
          </a:p>
          <a:p>
            <a:pPr>
              <a:lnSpc>
                <a:spcPct val="115000"/>
              </a:lnSpc>
              <a:spcBef>
                <a:spcPts val="600"/>
              </a:spcBef>
            </a:pPr>
            <a:r>
              <a:rPr lang="en-US" sz="1600" b="1"/>
              <a:t>Sample Kusto Query Language (KQL):</a:t>
            </a:r>
          </a:p>
        </p:txBody>
      </p:sp>
      <p:sp>
        <p:nvSpPr>
          <p:cNvPr id="4" name="TextBox 3">
            <a:extLst>
              <a:ext uri="{FF2B5EF4-FFF2-40B4-BE49-F238E27FC236}">
                <a16:creationId xmlns:a16="http://schemas.microsoft.com/office/drawing/2014/main" id="{930B088F-97B2-E3DD-7DDD-BBFDC5700357}"/>
              </a:ext>
            </a:extLst>
          </p:cNvPr>
          <p:cNvSpPr txBox="1"/>
          <p:nvPr/>
        </p:nvSpPr>
        <p:spPr>
          <a:xfrm>
            <a:off x="381000" y="3556000"/>
            <a:ext cx="11430000" cy="3139321"/>
          </a:xfrm>
          <a:prstGeom prst="rect">
            <a:avLst/>
          </a:prstGeom>
          <a:noFill/>
        </p:spPr>
        <p:txBody>
          <a:bodyPr vert="horz" wrap="square" lIns="0" tIns="0" rIns="0" bIns="0" rtlCol="0">
            <a:spAutoFit/>
          </a:bodyPr>
          <a:lstStyle/>
          <a:p>
            <a:pPr algn="l"/>
            <a:r>
              <a:rPr lang="en-US" sz="1200">
                <a:latin typeface="Consolas" panose="020B0609020204030204" pitchFamily="49" charset="0"/>
              </a:rPr>
              <a:t>AzureDiagnostics</a:t>
            </a:r>
          </a:p>
          <a:p>
            <a:pPr algn="l"/>
            <a:r>
              <a:rPr lang="en-US" sz="1200">
                <a:latin typeface="Consolas" panose="020B0609020204030204" pitchFamily="49" charset="0"/>
              </a:rPr>
              <a:t>| where ResourceProvider == "MICROSOFT.KEYVAULT"</a:t>
            </a:r>
          </a:p>
          <a:p>
            <a:pPr algn="l"/>
            <a:r>
              <a:rPr lang="en-US" sz="1200">
                <a:latin typeface="Consolas" panose="020B0609020204030204" pitchFamily="49" charset="0"/>
              </a:rPr>
              <a:t>| where TimeGenerated &gt; ago(7d)</a:t>
            </a:r>
          </a:p>
          <a:p>
            <a:pPr algn="l"/>
            <a:r>
              <a:rPr lang="en-US" sz="1200">
                <a:latin typeface="Consolas" panose="020B0609020204030204" pitchFamily="49" charset="0"/>
              </a:rPr>
              <a:t>| where OperationName in (</a:t>
            </a:r>
          </a:p>
          <a:p>
            <a:pPr algn="l"/>
            <a:r>
              <a:rPr lang="en-US" sz="1200">
                <a:latin typeface="Consolas" panose="020B0609020204030204" pitchFamily="49" charset="0"/>
              </a:rPr>
              <a:t>    "SecretList", "SecretGet", "SecretBackup")</a:t>
            </a:r>
          </a:p>
          <a:p>
            <a:pPr algn="l"/>
            <a:r>
              <a:rPr lang="en-US" sz="1200">
                <a:latin typeface="Consolas" panose="020B0609020204030204" pitchFamily="49" charset="0"/>
              </a:rPr>
              <a:t>| where ResultType == "Success"</a:t>
            </a:r>
          </a:p>
          <a:p>
            <a:pPr algn="l"/>
            <a:r>
              <a:rPr lang="en-US" sz="1200">
                <a:latin typeface="Consolas" panose="020B0609020204030204" pitchFamily="49" charset="0"/>
              </a:rPr>
              <a:t>| summarize</a:t>
            </a:r>
          </a:p>
          <a:p>
            <a:pPr algn="l"/>
            <a:r>
              <a:rPr lang="en-US" sz="1200">
                <a:latin typeface="Consolas" panose="020B0609020204030204" pitchFamily="49" charset="0"/>
              </a:rPr>
              <a:t>    Operations = make_set(OperationName),</a:t>
            </a:r>
          </a:p>
          <a:p>
            <a:pPr algn="l"/>
            <a:r>
              <a:rPr lang="en-US" sz="1200">
                <a:latin typeface="Consolas" panose="020B0609020204030204" pitchFamily="49" charset="0"/>
              </a:rPr>
              <a:t>    OpCount = count(),</a:t>
            </a:r>
          </a:p>
          <a:p>
            <a:pPr algn="l"/>
            <a:r>
              <a:rPr lang="en-US" sz="1200">
                <a:latin typeface="Consolas" panose="020B0609020204030204" pitchFamily="49" charset="0"/>
              </a:rPr>
              <a:t>    SecretNames = make_set(id_s),</a:t>
            </a:r>
          </a:p>
          <a:p>
            <a:pPr algn="l"/>
            <a:r>
              <a:rPr lang="en-US" sz="1200">
                <a:latin typeface="Consolas" panose="020B0609020204030204" pitchFamily="49" charset="0"/>
              </a:rPr>
              <a:t>    IPs = make_set(CallerIPAddress)</a:t>
            </a:r>
          </a:p>
          <a:p>
            <a:pPr algn="l"/>
            <a:r>
              <a:rPr lang="en-US" sz="1200">
                <a:latin typeface="Consolas" panose="020B0609020204030204" pitchFamily="49" charset="0"/>
              </a:rPr>
              <a:t>    by identity_claim_upn_s,</a:t>
            </a:r>
          </a:p>
          <a:p>
            <a:pPr algn="l"/>
            <a:r>
              <a:rPr lang="en-US" sz="1200">
                <a:latin typeface="Consolas" panose="020B0609020204030204" pitchFamily="49" charset="0"/>
              </a:rPr>
              <a:t>    Resource, bin(TimeGenerated, 15m)</a:t>
            </a:r>
          </a:p>
          <a:p>
            <a:pPr algn="l"/>
            <a:r>
              <a:rPr lang="en-US" sz="1200">
                <a:latin typeface="Consolas" panose="020B0609020204030204" pitchFamily="49" charset="0"/>
              </a:rPr>
              <a:t>| where OpCount &gt; 5</a:t>
            </a:r>
          </a:p>
          <a:p>
            <a:pPr algn="l"/>
            <a:r>
              <a:rPr lang="en-US" sz="1200">
                <a:latin typeface="Consolas" panose="020B0609020204030204" pitchFamily="49" charset="0"/>
              </a:rPr>
              <a:t>    and Operations has "SecretList"</a:t>
            </a:r>
          </a:p>
          <a:p>
            <a:pPr algn="l"/>
            <a:r>
              <a:rPr lang="en-US" sz="1200">
                <a:latin typeface="Consolas" panose="020B0609020204030204" pitchFamily="49" charset="0"/>
              </a:rPr>
              <a:t>    and Operations has "SecretGet"</a:t>
            </a:r>
          </a:p>
          <a:p>
            <a:pPr algn="l"/>
            <a:r>
              <a:rPr lang="en-US" sz="1200">
                <a:latin typeface="Consolas" panose="020B0609020204030204" pitchFamily="49" charset="0"/>
              </a:rPr>
              <a:t>| order by OpCount desc</a:t>
            </a:r>
            <a:endParaRPr lang="en-US" sz="1200" dirty="0" err="1">
              <a:latin typeface="Consolas" panose="020B0609020204030204" pitchFamily="49" charset="0"/>
            </a:endParaRPr>
          </a:p>
        </p:txBody>
      </p:sp>
    </p:spTree>
    <p:extLst>
      <p:ext uri="{BB962C8B-B14F-4D97-AF65-F5344CB8AC3E}">
        <p14:creationId xmlns:p14="http://schemas.microsoft.com/office/powerpoint/2010/main" val="2283165292"/>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DCDDF-9068-6530-00C5-7B5560BF569D}"/>
              </a:ext>
            </a:extLst>
          </p:cNvPr>
          <p:cNvSpPr>
            <a:spLocks noGrp="1"/>
          </p:cNvSpPr>
          <p:nvPr>
            <p:ph type="title"/>
          </p:nvPr>
        </p:nvSpPr>
        <p:spPr>
          <a:xfrm>
            <a:off x="588263" y="457200"/>
            <a:ext cx="11018520" cy="1107996"/>
          </a:xfrm>
        </p:spPr>
        <p:txBody>
          <a:bodyPr/>
          <a:lstStyle/>
          <a:p>
            <a:r>
              <a:rPr lang="en-US"/>
              <a:t>KQL — Volume Anomaly and Unexpected Caller Detection</a:t>
            </a:r>
          </a:p>
        </p:txBody>
      </p:sp>
      <p:sp>
        <p:nvSpPr>
          <p:cNvPr id="3" name="Content Placeholder 2">
            <a:extLst>
              <a:ext uri="{FF2B5EF4-FFF2-40B4-BE49-F238E27FC236}">
                <a16:creationId xmlns:a16="http://schemas.microsoft.com/office/drawing/2014/main" id="{5BA3D4A9-0050-C163-F874-E5C19C0D97D6}"/>
              </a:ext>
            </a:extLst>
          </p:cNvPr>
          <p:cNvSpPr>
            <a:spLocks noGrp="1"/>
          </p:cNvSpPr>
          <p:nvPr>
            <p:ph sz="quarter" idx="10"/>
          </p:nvPr>
        </p:nvSpPr>
        <p:spPr>
          <a:xfrm>
            <a:off x="584200" y="1742996"/>
            <a:ext cx="11018838" cy="4526042"/>
          </a:xfrm>
        </p:spPr>
        <p:txBody>
          <a:bodyPr>
            <a:noAutofit/>
          </a:bodyPr>
          <a:lstStyle/>
          <a:p>
            <a:pPr>
              <a:lnSpc>
                <a:spcPct val="115000"/>
              </a:lnSpc>
              <a:spcBef>
                <a:spcPts val="600"/>
              </a:spcBef>
            </a:pPr>
            <a:r>
              <a:rPr lang="en-US" b="1"/>
              <a:t>Volume anomaly (baseline comparison):</a:t>
            </a:r>
          </a:p>
          <a:p>
            <a:pPr>
              <a:lnSpc>
                <a:spcPct val="115000"/>
              </a:lnSpc>
              <a:spcBef>
                <a:spcPts val="600"/>
              </a:spcBef>
            </a:pPr>
            <a:r>
              <a:rPr lang="en-US"/>
              <a:t>What this detects: Users or SPs accessing Key Vault secrets for the first time in the last 24 hours compared to a 30-day baseline.</a:t>
            </a:r>
          </a:p>
        </p:txBody>
      </p:sp>
    </p:spTree>
    <p:extLst>
      <p:ext uri="{BB962C8B-B14F-4D97-AF65-F5344CB8AC3E}">
        <p14:creationId xmlns:p14="http://schemas.microsoft.com/office/powerpoint/2010/main" val="338474320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599F5-2B5B-5162-3E90-D48BFD68688F}"/>
              </a:ext>
            </a:extLst>
          </p:cNvPr>
          <p:cNvSpPr>
            <a:spLocks noGrp="1"/>
          </p:cNvSpPr>
          <p:nvPr>
            <p:ph type="title"/>
          </p:nvPr>
        </p:nvSpPr>
        <p:spPr>
          <a:xfrm>
            <a:off x="588263" y="457200"/>
            <a:ext cx="11018520" cy="1107996"/>
          </a:xfrm>
        </p:spPr>
        <p:txBody>
          <a:bodyPr/>
          <a:lstStyle/>
          <a:p>
            <a:r>
              <a:rPr lang="en-US"/>
              <a:t>KQL — Volume Anomaly and Unexpected Caller Detection (cont.)</a:t>
            </a:r>
          </a:p>
        </p:txBody>
      </p:sp>
      <p:sp>
        <p:nvSpPr>
          <p:cNvPr id="3" name="Content Placeholder 2">
            <a:extLst>
              <a:ext uri="{FF2B5EF4-FFF2-40B4-BE49-F238E27FC236}">
                <a16:creationId xmlns:a16="http://schemas.microsoft.com/office/drawing/2014/main" id="{656A3FD2-B08A-0D36-255B-4D5A28F8493F}"/>
              </a:ext>
            </a:extLst>
          </p:cNvPr>
          <p:cNvSpPr>
            <a:spLocks noGrp="1"/>
          </p:cNvSpPr>
          <p:nvPr>
            <p:ph sz="quarter" idx="10"/>
          </p:nvPr>
        </p:nvSpPr>
        <p:spPr>
          <a:xfrm>
            <a:off x="584200" y="1742996"/>
            <a:ext cx="11018838" cy="4526042"/>
          </a:xfrm>
        </p:spPr>
        <p:txBody>
          <a:bodyPr>
            <a:noAutofit/>
          </a:bodyPr>
          <a:lstStyle/>
          <a:p>
            <a:pPr>
              <a:lnSpc>
                <a:spcPct val="115000"/>
              </a:lnSpc>
              <a:spcBef>
                <a:spcPts val="600"/>
              </a:spcBef>
            </a:pPr>
            <a:r>
              <a:rPr lang="en-US" sz="1600" b="1"/>
              <a:t>Sample Kusto Query Language (KQL):</a:t>
            </a:r>
          </a:p>
          <a:p>
            <a:pPr>
              <a:lnSpc>
                <a:spcPct val="115000"/>
              </a:lnSpc>
              <a:spcBef>
                <a:spcPts val="600"/>
              </a:spcBef>
            </a:pPr>
            <a:endParaRPr lang="en-US" sz="1600"/>
          </a:p>
          <a:p>
            <a:pPr>
              <a:lnSpc>
                <a:spcPct val="115000"/>
              </a:lnSpc>
              <a:spcBef>
                <a:spcPts val="600"/>
              </a:spcBef>
            </a:pPr>
            <a:r>
              <a:rPr lang="en-US" sz="1600" b="1"/>
              <a:t>Sample Kusto Query Language (KQL):</a:t>
            </a:r>
          </a:p>
        </p:txBody>
      </p:sp>
      <p:sp>
        <p:nvSpPr>
          <p:cNvPr id="4" name="TextBox 3">
            <a:extLst>
              <a:ext uri="{FF2B5EF4-FFF2-40B4-BE49-F238E27FC236}">
                <a16:creationId xmlns:a16="http://schemas.microsoft.com/office/drawing/2014/main" id="{9988B33F-57F3-6C89-BE81-05B0D463BB62}"/>
              </a:ext>
            </a:extLst>
          </p:cNvPr>
          <p:cNvSpPr txBox="1"/>
          <p:nvPr/>
        </p:nvSpPr>
        <p:spPr>
          <a:xfrm>
            <a:off x="381000" y="3556000"/>
            <a:ext cx="11430000" cy="2769989"/>
          </a:xfrm>
          <a:prstGeom prst="rect">
            <a:avLst/>
          </a:prstGeom>
          <a:noFill/>
        </p:spPr>
        <p:txBody>
          <a:bodyPr vert="horz" wrap="square" lIns="0" tIns="0" rIns="0" bIns="0" rtlCol="0">
            <a:spAutoFit/>
          </a:bodyPr>
          <a:lstStyle/>
          <a:p>
            <a:pPr algn="l"/>
            <a:r>
              <a:rPr lang="en-US" sz="1200">
                <a:latin typeface="Consolas" panose="020B0609020204030204" pitchFamily="49" charset="0"/>
              </a:rPr>
              <a:t>AzureDiagnostics</a:t>
            </a:r>
          </a:p>
          <a:p>
            <a:pPr algn="l"/>
            <a:r>
              <a:rPr lang="en-US" sz="1200">
                <a:latin typeface="Consolas" panose="020B0609020204030204" pitchFamily="49" charset="0"/>
              </a:rPr>
              <a:t>| where ResourceProvider == "MICROSOFT.KEYVAULT"</a:t>
            </a:r>
          </a:p>
          <a:p>
            <a:pPr algn="l"/>
            <a:r>
              <a:rPr lang="en-US" sz="1200">
                <a:latin typeface="Consolas" panose="020B0609020204030204" pitchFamily="49" charset="0"/>
              </a:rPr>
              <a:t>| where TimeGenerated &gt; ago(24h)</a:t>
            </a:r>
          </a:p>
          <a:p>
            <a:pPr algn="l"/>
            <a:r>
              <a:rPr lang="en-US" sz="1200">
                <a:latin typeface="Consolas" panose="020B0609020204030204" pitchFamily="49" charset="0"/>
              </a:rPr>
              <a:t>| where OperationName == "SecretGet"</a:t>
            </a:r>
          </a:p>
          <a:p>
            <a:pPr algn="l"/>
            <a:r>
              <a:rPr lang="en-US" sz="1200">
                <a:latin typeface="Consolas" panose="020B0609020204030204" pitchFamily="49" charset="0"/>
              </a:rPr>
              <a:t>| where ResultType == "Success"</a:t>
            </a:r>
          </a:p>
          <a:p>
            <a:pPr algn="l"/>
            <a:r>
              <a:rPr lang="en-US" sz="1200">
                <a:latin typeface="Consolas" panose="020B0609020204030204" pitchFamily="49" charset="0"/>
              </a:rPr>
              <a:t>| summarize DailyCount = count()</a:t>
            </a:r>
          </a:p>
          <a:p>
            <a:pPr algn="l"/>
            <a:r>
              <a:rPr lang="en-US" sz="1200">
                <a:latin typeface="Consolas" panose="020B0609020204030204" pitchFamily="49" charset="0"/>
              </a:rPr>
              <a:t>    by identity_claim_upn_s, Resource</a:t>
            </a:r>
          </a:p>
          <a:p>
            <a:pPr algn="l"/>
            <a:r>
              <a:rPr lang="en-US" sz="1200">
                <a:latin typeface="Consolas" panose="020B0609020204030204" pitchFamily="49" charset="0"/>
              </a:rPr>
              <a:t>| join kind=leftanti (</a:t>
            </a:r>
          </a:p>
          <a:p>
            <a:pPr algn="l"/>
            <a:r>
              <a:rPr lang="en-US" sz="1200">
                <a:latin typeface="Consolas" panose="020B0609020204030204" pitchFamily="49" charset="0"/>
              </a:rPr>
              <a:t>    AzureDiagnostics</a:t>
            </a:r>
          </a:p>
          <a:p>
            <a:pPr algn="l"/>
            <a:r>
              <a:rPr lang="en-US" sz="1200">
                <a:latin typeface="Consolas" panose="020B0609020204030204" pitchFamily="49" charset="0"/>
              </a:rPr>
              <a:t>    | where ResourceProvider == "MICROSOFT.KEYVAULT"</a:t>
            </a:r>
          </a:p>
          <a:p>
            <a:pPr algn="l"/>
            <a:r>
              <a:rPr lang="en-US" sz="1200">
                <a:latin typeface="Consolas" panose="020B0609020204030204" pitchFamily="49" charset="0"/>
              </a:rPr>
              <a:t>    | where TimeGenerated between(ago(30d)..ago(1d))</a:t>
            </a:r>
          </a:p>
          <a:p>
            <a:pPr algn="l"/>
            <a:r>
              <a:rPr lang="en-US" sz="1200">
                <a:latin typeface="Consolas" panose="020B0609020204030204" pitchFamily="49" charset="0"/>
              </a:rPr>
              <a:t>    | where OperationName == "SecretGet"</a:t>
            </a:r>
          </a:p>
          <a:p>
            <a:pPr algn="l"/>
            <a:r>
              <a:rPr lang="en-US" sz="1200">
                <a:latin typeface="Consolas" panose="020B0609020204030204" pitchFamily="49" charset="0"/>
              </a:rPr>
              <a:t>    | summarize by identity_claim_upn_s, Resource</a:t>
            </a:r>
          </a:p>
          <a:p>
            <a:pPr algn="l"/>
            <a:r>
              <a:rPr lang="en-US" sz="1200">
                <a:latin typeface="Consolas" panose="020B0609020204030204" pitchFamily="49" charset="0"/>
              </a:rPr>
              <a:t>) on identity_claim_upn_s, Resource</a:t>
            </a:r>
          </a:p>
          <a:p>
            <a:pPr algn="l"/>
            <a:r>
              <a:rPr lang="en-US" sz="1200">
                <a:latin typeface="Consolas" panose="020B0609020204030204" pitchFamily="49" charset="0"/>
              </a:rPr>
              <a:t>| order by DailyCount desc</a:t>
            </a:r>
            <a:endParaRPr lang="en-US" sz="1200" dirty="0" err="1">
              <a:latin typeface="Consolas" panose="020B0609020204030204" pitchFamily="49" charset="0"/>
            </a:endParaRPr>
          </a:p>
        </p:txBody>
      </p:sp>
    </p:spTree>
    <p:extLst>
      <p:ext uri="{BB962C8B-B14F-4D97-AF65-F5344CB8AC3E}">
        <p14:creationId xmlns:p14="http://schemas.microsoft.com/office/powerpoint/2010/main" val="2777356044"/>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2AFC9-59E3-B654-E131-907896EF2DB1}"/>
              </a:ext>
            </a:extLst>
          </p:cNvPr>
          <p:cNvSpPr>
            <a:spLocks noGrp="1"/>
          </p:cNvSpPr>
          <p:nvPr>
            <p:ph type="title"/>
          </p:nvPr>
        </p:nvSpPr>
        <p:spPr/>
        <p:txBody>
          <a:bodyPr/>
          <a:lstStyle/>
          <a:p>
            <a:r>
              <a:rPr lang="en-US"/>
              <a:t>KQL — RBAC Escalation to Secret Access</a:t>
            </a:r>
          </a:p>
        </p:txBody>
      </p:sp>
      <p:sp>
        <p:nvSpPr>
          <p:cNvPr id="3" name="Content Placeholder 2">
            <a:extLst>
              <a:ext uri="{FF2B5EF4-FFF2-40B4-BE49-F238E27FC236}">
                <a16:creationId xmlns:a16="http://schemas.microsoft.com/office/drawing/2014/main" id="{7FCB8F9F-255C-0306-86C7-6E8705A2BACD}"/>
              </a:ext>
            </a:extLst>
          </p:cNvPr>
          <p:cNvSpPr>
            <a:spLocks noGrp="1"/>
          </p:cNvSpPr>
          <p:nvPr>
            <p:ph sz="quarter" idx="10"/>
          </p:nvPr>
        </p:nvSpPr>
        <p:spPr/>
        <p:txBody>
          <a:bodyPr>
            <a:noAutofit/>
          </a:bodyPr>
          <a:lstStyle/>
          <a:p>
            <a:pPr>
              <a:lnSpc>
                <a:spcPct val="115000"/>
              </a:lnSpc>
              <a:spcBef>
                <a:spcPts val="600"/>
              </a:spcBef>
            </a:pPr>
            <a:r>
              <a:rPr lang="en-US" b="1"/>
              <a:t>Correlate with subsequent secret access:</a:t>
            </a:r>
          </a:p>
          <a:p>
            <a:pPr>
              <a:lnSpc>
                <a:spcPct val="115000"/>
              </a:lnSpc>
              <a:spcBef>
                <a:spcPts val="600"/>
              </a:spcBef>
            </a:pPr>
            <a:r>
              <a:rPr lang="en-US"/>
              <a:t>Pattern: RBAC grant followed by secret access from the same identity = privilege escalation.</a:t>
            </a:r>
          </a:p>
        </p:txBody>
      </p:sp>
      <p:sp>
        <p:nvSpPr>
          <p:cNvPr id="4" name="TextBox 3">
            <a:extLst>
              <a:ext uri="{FF2B5EF4-FFF2-40B4-BE49-F238E27FC236}">
                <a16:creationId xmlns:a16="http://schemas.microsoft.com/office/drawing/2014/main" id="{8AADB39D-41CE-9465-1678-D524D65FE1FA}"/>
              </a:ext>
            </a:extLst>
          </p:cNvPr>
          <p:cNvSpPr txBox="1"/>
          <p:nvPr/>
        </p:nvSpPr>
        <p:spPr>
          <a:xfrm>
            <a:off x="381000" y="3429000"/>
            <a:ext cx="11430000" cy="1661993"/>
          </a:xfrm>
          <a:prstGeom prst="rect">
            <a:avLst/>
          </a:prstGeom>
          <a:noFill/>
        </p:spPr>
        <p:txBody>
          <a:bodyPr vert="horz" wrap="square" lIns="0" tIns="0" rIns="0" bIns="0" rtlCol="0">
            <a:spAutoFit/>
          </a:bodyPr>
          <a:lstStyle/>
          <a:p>
            <a:pPr algn="l"/>
            <a:r>
              <a:rPr lang="en-US" sz="1200">
                <a:latin typeface="Consolas" panose="020B0609020204030204" pitchFamily="49" charset="0"/>
              </a:rPr>
              <a:t>AzureActivity</a:t>
            </a:r>
          </a:p>
          <a:p>
            <a:pPr algn="l"/>
            <a:r>
              <a:rPr lang="en-US" sz="1200">
                <a:latin typeface="Consolas" panose="020B0609020204030204" pitchFamily="49" charset="0"/>
              </a:rPr>
              <a:t>| where TimeGenerated &gt; ago(7d)</a:t>
            </a:r>
          </a:p>
          <a:p>
            <a:pPr algn="l"/>
            <a:r>
              <a:rPr lang="en-US" sz="1200">
                <a:latin typeface="Consolas" panose="020B0609020204030204" pitchFamily="49" charset="0"/>
              </a:rPr>
              <a:t>| where OperationNameValue ==</a:t>
            </a:r>
          </a:p>
          <a:p>
            <a:pPr algn="l"/>
            <a:r>
              <a:rPr lang="en-US" sz="1200">
                <a:latin typeface="Consolas" panose="020B0609020204030204" pitchFamily="49" charset="0"/>
              </a:rPr>
              <a:t>    "Microsoft.Authorization/roleAssignments/write"</a:t>
            </a:r>
          </a:p>
          <a:p>
            <a:pPr algn="l"/>
            <a:r>
              <a:rPr lang="en-US" sz="1200">
                <a:latin typeface="Consolas" panose="020B0609020204030204" pitchFamily="49" charset="0"/>
              </a:rPr>
              <a:t>| where ActivityStatusValue == "Success"</a:t>
            </a:r>
          </a:p>
          <a:p>
            <a:pPr algn="l"/>
            <a:r>
              <a:rPr lang="en-US" sz="1200">
                <a:latin typeface="Consolas" panose="020B0609020204030204" pitchFamily="49" charset="0"/>
              </a:rPr>
              <a:t>| where _ResourceId has "Microsoft.KeyVault"</a:t>
            </a:r>
          </a:p>
          <a:p>
            <a:pPr algn="l"/>
            <a:r>
              <a:rPr lang="en-US" sz="1200">
                <a:latin typeface="Consolas" panose="020B0609020204030204" pitchFamily="49" charset="0"/>
              </a:rPr>
              <a:t>| project TimeGenerated, Caller, CallerIpAddress,</a:t>
            </a:r>
          </a:p>
          <a:p>
            <a:pPr algn="l"/>
            <a:r>
              <a:rPr lang="en-US" sz="1200">
                <a:latin typeface="Consolas" panose="020B0609020204030204" pitchFamily="49" charset="0"/>
              </a:rPr>
              <a:t>          _ResourceId</a:t>
            </a:r>
          </a:p>
          <a:p>
            <a:pPr algn="l"/>
            <a:r>
              <a:rPr lang="en-US" sz="1200">
                <a:latin typeface="Consolas" panose="020B0609020204030204" pitchFamily="49" charset="0"/>
              </a:rPr>
              <a:t>| order by TimeGenerated desc</a:t>
            </a:r>
            <a:endParaRPr lang="en-US" sz="1200" dirty="0" err="1">
              <a:latin typeface="Consolas" panose="020B0609020204030204" pitchFamily="49" charset="0"/>
            </a:endParaRPr>
          </a:p>
        </p:txBody>
      </p:sp>
    </p:spTree>
    <p:extLst>
      <p:ext uri="{BB962C8B-B14F-4D97-AF65-F5344CB8AC3E}">
        <p14:creationId xmlns:p14="http://schemas.microsoft.com/office/powerpoint/2010/main" val="110485146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3A796-56E4-6B4F-E618-CE990014CA79}"/>
              </a:ext>
            </a:extLst>
          </p:cNvPr>
          <p:cNvSpPr>
            <a:spLocks noGrp="1"/>
          </p:cNvSpPr>
          <p:nvPr>
            <p:ph type="title"/>
          </p:nvPr>
        </p:nvSpPr>
        <p:spPr/>
        <p:txBody>
          <a:bodyPr/>
          <a:lstStyle/>
          <a:p>
            <a:r>
              <a:rPr lang="en-US"/>
              <a:t>Defender for Key Vault Alerts</a:t>
            </a:r>
          </a:p>
        </p:txBody>
      </p:sp>
      <p:graphicFrame>
        <p:nvGraphicFramePr>
          <p:cNvPr id="4" name="Content Placeholder 3">
            <a:extLst>
              <a:ext uri="{FF2B5EF4-FFF2-40B4-BE49-F238E27FC236}">
                <a16:creationId xmlns:a16="http://schemas.microsoft.com/office/drawing/2014/main" id="{54CD7315-6E0D-1C61-D1BD-F580FA0D5E67}"/>
              </a:ext>
            </a:extLst>
          </p:cNvPr>
          <p:cNvGraphicFramePr>
            <a:graphicFrameLocks noGrp="1"/>
          </p:cNvGraphicFramePr>
          <p:nvPr>
            <p:ph sz="quarter" idx="10"/>
            <p:extLst>
              <p:ext uri="{D42A27DB-BD31-4B8C-83A1-F6EECF244321}">
                <p14:modId xmlns:p14="http://schemas.microsoft.com/office/powerpoint/2010/main" val="1010816527"/>
              </p:ext>
            </p:extLst>
          </p:nvPr>
        </p:nvGraphicFramePr>
        <p:xfrm>
          <a:off x="381000" y="1397000"/>
          <a:ext cx="11430000" cy="5016500"/>
        </p:xfrm>
        <a:graphic>
          <a:graphicData uri="http://schemas.openxmlformats.org/drawingml/2006/table">
            <a:tbl>
              <a:tblPr firstRow="1" bandRow="1">
                <a:tableStyleId>{5C22544A-7EE6-4342-B048-85BDC9FD1C3A}</a:tableStyleId>
              </a:tblPr>
              <a:tblGrid>
                <a:gridCol w="3810000">
                  <a:extLst>
                    <a:ext uri="{9D8B030D-6E8A-4147-A177-3AD203B41FA5}">
                      <a16:colId xmlns:a16="http://schemas.microsoft.com/office/drawing/2014/main" val="2496910508"/>
                    </a:ext>
                  </a:extLst>
                </a:gridCol>
                <a:gridCol w="3810000">
                  <a:extLst>
                    <a:ext uri="{9D8B030D-6E8A-4147-A177-3AD203B41FA5}">
                      <a16:colId xmlns:a16="http://schemas.microsoft.com/office/drawing/2014/main" val="1588061968"/>
                    </a:ext>
                  </a:extLst>
                </a:gridCol>
                <a:gridCol w="3810000">
                  <a:extLst>
                    <a:ext uri="{9D8B030D-6E8A-4147-A177-3AD203B41FA5}">
                      <a16:colId xmlns:a16="http://schemas.microsoft.com/office/drawing/2014/main" val="3160533313"/>
                    </a:ext>
                  </a:extLst>
                </a:gridCol>
              </a:tblGrid>
              <a:tr h="627063">
                <a:tc>
                  <a:txBody>
                    <a:bodyPr/>
                    <a:lstStyle/>
                    <a:p>
                      <a:r>
                        <a:rPr lang="en-US" sz="1200" b="1"/>
                        <a:t>Alert</a:t>
                      </a:r>
                    </a:p>
                  </a:txBody>
                  <a:tcPr/>
                </a:tc>
                <a:tc>
                  <a:txBody>
                    <a:bodyPr/>
                    <a:lstStyle/>
                    <a:p>
                      <a:r>
                        <a:rPr lang="en-US" sz="1200" b="1"/>
                        <a:t>Severity</a:t>
                      </a:r>
                    </a:p>
                  </a:txBody>
                  <a:tcPr/>
                </a:tc>
                <a:tc>
                  <a:txBody>
                    <a:bodyPr/>
                    <a:lstStyle/>
                    <a:p>
                      <a:r>
                        <a:rPr lang="en-US" sz="1200" b="1"/>
                        <a:t>What It Detects</a:t>
                      </a:r>
                    </a:p>
                  </a:txBody>
                  <a:tcPr/>
                </a:tc>
                <a:extLst>
                  <a:ext uri="{0D108BD9-81ED-4DB2-BD59-A6C34878D82A}">
                    <a16:rowId xmlns:a16="http://schemas.microsoft.com/office/drawing/2014/main" val="3228651615"/>
                  </a:ext>
                </a:extLst>
              </a:tr>
              <a:tr h="627063">
                <a:tc>
                  <a:txBody>
                    <a:bodyPr/>
                    <a:lstStyle/>
                    <a:p>
                      <a:r>
                        <a:rPr lang="en-US" sz="1200"/>
                        <a:t>Access from suspicious IP</a:t>
                      </a:r>
                    </a:p>
                  </a:txBody>
                  <a:tcPr/>
                </a:tc>
                <a:tc>
                  <a:txBody>
                    <a:bodyPr/>
                    <a:lstStyle/>
                    <a:p>
                      <a:r>
                        <a:rPr lang="en-US" sz="1200"/>
                        <a:t>High</a:t>
                      </a:r>
                    </a:p>
                  </a:txBody>
                  <a:tcPr/>
                </a:tc>
                <a:tc>
                  <a:txBody>
                    <a:bodyPr/>
                    <a:lstStyle/>
                    <a:p>
                      <a:r>
                        <a:rPr lang="en-US" sz="1200"/>
                        <a:t>Key Vault access from known malicious IPs</a:t>
                      </a:r>
                    </a:p>
                  </a:txBody>
                  <a:tcPr/>
                </a:tc>
                <a:extLst>
                  <a:ext uri="{0D108BD9-81ED-4DB2-BD59-A6C34878D82A}">
                    <a16:rowId xmlns:a16="http://schemas.microsoft.com/office/drawing/2014/main" val="426189402"/>
                  </a:ext>
                </a:extLst>
              </a:tr>
              <a:tr h="627063">
                <a:tc>
                  <a:txBody>
                    <a:bodyPr/>
                    <a:lstStyle/>
                    <a:p>
                      <a:r>
                        <a:rPr lang="en-US" sz="1200"/>
                        <a:t>Unusual secret listing</a:t>
                      </a:r>
                    </a:p>
                  </a:txBody>
                  <a:tcPr/>
                </a:tc>
                <a:tc>
                  <a:txBody>
                    <a:bodyPr/>
                    <a:lstStyle/>
                    <a:p>
                      <a:r>
                        <a:rPr lang="en-US" sz="1200"/>
                        <a:t>Medium</a:t>
                      </a:r>
                    </a:p>
                  </a:txBody>
                  <a:tcPr/>
                </a:tc>
                <a:tc>
                  <a:txBody>
                    <a:bodyPr/>
                    <a:lstStyle/>
                    <a:p>
                      <a:r>
                        <a:rPr lang="en-US" sz="1200"/>
                        <a:t>Anomalous SecretList patterns</a:t>
                      </a:r>
                    </a:p>
                  </a:txBody>
                  <a:tcPr/>
                </a:tc>
                <a:extLst>
                  <a:ext uri="{0D108BD9-81ED-4DB2-BD59-A6C34878D82A}">
                    <a16:rowId xmlns:a16="http://schemas.microsoft.com/office/drawing/2014/main" val="626450223"/>
                  </a:ext>
                </a:extLst>
              </a:tr>
              <a:tr h="627063">
                <a:tc>
                  <a:txBody>
                    <a:bodyPr/>
                    <a:lstStyle/>
                    <a:p>
                      <a:r>
                        <a:rPr lang="en-US" sz="1200"/>
                        <a:t>Suspicious secret access volume</a:t>
                      </a:r>
                    </a:p>
                  </a:txBody>
                  <a:tcPr/>
                </a:tc>
                <a:tc>
                  <a:txBody>
                    <a:bodyPr/>
                    <a:lstStyle/>
                    <a:p>
                      <a:r>
                        <a:rPr lang="en-US" sz="1200"/>
                        <a:t>High</a:t>
                      </a:r>
                    </a:p>
                  </a:txBody>
                  <a:tcPr/>
                </a:tc>
                <a:tc>
                  <a:txBody>
                    <a:bodyPr/>
                    <a:lstStyle/>
                    <a:p>
                      <a:r>
                        <a:rPr lang="en-US" sz="1200"/>
                        <a:t>Bulk secret reads in short window</a:t>
                      </a:r>
                    </a:p>
                  </a:txBody>
                  <a:tcPr/>
                </a:tc>
                <a:extLst>
                  <a:ext uri="{0D108BD9-81ED-4DB2-BD59-A6C34878D82A}">
                    <a16:rowId xmlns:a16="http://schemas.microsoft.com/office/drawing/2014/main" val="3930120566"/>
                  </a:ext>
                </a:extLst>
              </a:tr>
              <a:tr h="627063">
                <a:tc>
                  <a:txBody>
                    <a:bodyPr/>
                    <a:lstStyle/>
                    <a:p>
                      <a:r>
                        <a:rPr lang="en-US" sz="1200"/>
                        <a:t>Access policy change</a:t>
                      </a:r>
                    </a:p>
                  </a:txBody>
                  <a:tcPr/>
                </a:tc>
                <a:tc>
                  <a:txBody>
                    <a:bodyPr/>
                    <a:lstStyle/>
                    <a:p>
                      <a:r>
                        <a:rPr lang="en-US" sz="1200"/>
                        <a:t>Medium</a:t>
                      </a:r>
                    </a:p>
                  </a:txBody>
                  <a:tcPr/>
                </a:tc>
                <a:tc>
                  <a:txBody>
                    <a:bodyPr/>
                    <a:lstStyle/>
                    <a:p>
                      <a:r>
                        <a:rPr lang="en-US" sz="1200"/>
                        <a:t>Vault access policy modification</a:t>
                      </a:r>
                    </a:p>
                  </a:txBody>
                  <a:tcPr/>
                </a:tc>
                <a:extLst>
                  <a:ext uri="{0D108BD9-81ED-4DB2-BD59-A6C34878D82A}">
                    <a16:rowId xmlns:a16="http://schemas.microsoft.com/office/drawing/2014/main" val="912443872"/>
                  </a:ext>
                </a:extLst>
              </a:tr>
              <a:tr h="627063">
                <a:tc>
                  <a:txBody>
                    <a:bodyPr/>
                    <a:lstStyle/>
                    <a:p>
                      <a:r>
                        <a:rPr lang="en-US" sz="1200"/>
                        <a:t>Unusual application accessing vault</a:t>
                      </a:r>
                    </a:p>
                  </a:txBody>
                  <a:tcPr/>
                </a:tc>
                <a:tc>
                  <a:txBody>
                    <a:bodyPr/>
                    <a:lstStyle/>
                    <a:p>
                      <a:r>
                        <a:rPr lang="en-US" sz="1200"/>
                        <a:t>Medium</a:t>
                      </a:r>
                    </a:p>
                  </a:txBody>
                  <a:tcPr/>
                </a:tc>
                <a:tc>
                  <a:txBody>
                    <a:bodyPr/>
                    <a:lstStyle/>
                    <a:p>
                      <a:r>
                        <a:rPr lang="en-US" sz="1200"/>
                        <a:t>First-time application access</a:t>
                      </a:r>
                    </a:p>
                  </a:txBody>
                  <a:tcPr/>
                </a:tc>
                <a:extLst>
                  <a:ext uri="{0D108BD9-81ED-4DB2-BD59-A6C34878D82A}">
                    <a16:rowId xmlns:a16="http://schemas.microsoft.com/office/drawing/2014/main" val="554826515"/>
                  </a:ext>
                </a:extLst>
              </a:tr>
              <a:tr h="627063">
                <a:tc>
                  <a:txBody>
                    <a:bodyPr/>
                    <a:lstStyle/>
                    <a:p>
                      <a:r>
                        <a:rPr lang="en-US" sz="1200"/>
                        <a:t>Access from Tor exit node</a:t>
                      </a:r>
                    </a:p>
                  </a:txBody>
                  <a:tcPr/>
                </a:tc>
                <a:tc>
                  <a:txBody>
                    <a:bodyPr/>
                    <a:lstStyle/>
                    <a:p>
                      <a:r>
                        <a:rPr lang="en-US" sz="1200"/>
                        <a:t>High</a:t>
                      </a:r>
                    </a:p>
                  </a:txBody>
                  <a:tcPr/>
                </a:tc>
                <a:tc>
                  <a:txBody>
                    <a:bodyPr/>
                    <a:lstStyle/>
                    <a:p>
                      <a:r>
                        <a:rPr lang="en-US" sz="1200"/>
                        <a:t>Key Vault access via Tor anonymization</a:t>
                      </a:r>
                    </a:p>
                  </a:txBody>
                  <a:tcPr/>
                </a:tc>
                <a:extLst>
                  <a:ext uri="{0D108BD9-81ED-4DB2-BD59-A6C34878D82A}">
                    <a16:rowId xmlns:a16="http://schemas.microsoft.com/office/drawing/2014/main" val="4260061673"/>
                  </a:ext>
                </a:extLst>
              </a:tr>
              <a:tr h="627063">
                <a:tc>
                  <a:txBody>
                    <a:bodyPr/>
                    <a:lstStyle/>
                    <a:p>
                      <a:r>
                        <a:rPr lang="en-US" sz="1200"/>
                        <a:t>Suspicious operation pattern</a:t>
                      </a:r>
                    </a:p>
                  </a:txBody>
                  <a:tcPr/>
                </a:tc>
                <a:tc>
                  <a:txBody>
                    <a:bodyPr/>
                    <a:lstStyle/>
                    <a:p>
                      <a:r>
                        <a:rPr lang="en-US" sz="1200"/>
                        <a:t>High</a:t>
                      </a:r>
                    </a:p>
                  </a:txBody>
                  <a:tcPr/>
                </a:tc>
                <a:tc>
                  <a:txBody>
                    <a:bodyPr/>
                    <a:lstStyle/>
                    <a:p>
                      <a:r>
                        <a:rPr lang="en-US" sz="1200"/>
                        <a:t>Combination of list + get + export operations</a:t>
                      </a:r>
                    </a:p>
                  </a:txBody>
                  <a:tcPr/>
                </a:tc>
                <a:extLst>
                  <a:ext uri="{0D108BD9-81ED-4DB2-BD59-A6C34878D82A}">
                    <a16:rowId xmlns:a16="http://schemas.microsoft.com/office/drawing/2014/main" val="3276007156"/>
                  </a:ext>
                </a:extLst>
              </a:tr>
            </a:tbl>
          </a:graphicData>
        </a:graphic>
      </p:graphicFrame>
    </p:spTree>
    <p:extLst>
      <p:ext uri="{BB962C8B-B14F-4D97-AF65-F5344CB8AC3E}">
        <p14:creationId xmlns:p14="http://schemas.microsoft.com/office/powerpoint/2010/main" val="1212715075"/>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D7D0B-0088-5B9D-352C-A3B72BD75087}"/>
              </a:ext>
            </a:extLst>
          </p:cNvPr>
          <p:cNvSpPr>
            <a:spLocks noGrp="1"/>
          </p:cNvSpPr>
          <p:nvPr>
            <p:ph type="title"/>
          </p:nvPr>
        </p:nvSpPr>
        <p:spPr/>
        <p:txBody>
          <a:bodyPr/>
          <a:lstStyle/>
          <a:p>
            <a:r>
              <a:rPr lang="en-US"/>
              <a:t>Defender for Key Vault Alerts (cont.)</a:t>
            </a:r>
          </a:p>
        </p:txBody>
      </p:sp>
      <p:sp>
        <p:nvSpPr>
          <p:cNvPr id="3" name="Content Placeholder 2">
            <a:extLst>
              <a:ext uri="{FF2B5EF4-FFF2-40B4-BE49-F238E27FC236}">
                <a16:creationId xmlns:a16="http://schemas.microsoft.com/office/drawing/2014/main" id="{9963DDE0-5E56-5100-879C-43B1C5680858}"/>
              </a:ext>
            </a:extLst>
          </p:cNvPr>
          <p:cNvSpPr>
            <a:spLocks noGrp="1"/>
          </p:cNvSpPr>
          <p:nvPr>
            <p:ph sz="quarter" idx="10"/>
          </p:nvPr>
        </p:nvSpPr>
        <p:spPr/>
        <p:txBody>
          <a:bodyPr>
            <a:noAutofit/>
          </a:bodyPr>
          <a:lstStyle/>
          <a:p>
            <a:pPr>
              <a:lnSpc>
                <a:spcPct val="115000"/>
              </a:lnSpc>
              <a:spcBef>
                <a:spcPts val="600"/>
              </a:spcBef>
            </a:pPr>
            <a:r>
              <a:rPr lang="en-US" sz="1600"/>
              <a:t>Enable Defender for Key Vault for automated detection - covers patterns that are difficult to detect with static Kusto Query Language (KQL) rules alone.</a:t>
            </a:r>
          </a:p>
        </p:txBody>
      </p:sp>
    </p:spTree>
    <p:extLst>
      <p:ext uri="{BB962C8B-B14F-4D97-AF65-F5344CB8AC3E}">
        <p14:creationId xmlns:p14="http://schemas.microsoft.com/office/powerpoint/2010/main" val="2370983246"/>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98C01-4B20-36DE-65DC-A1562CAD0349}"/>
              </a:ext>
            </a:extLst>
          </p:cNvPr>
          <p:cNvSpPr>
            <a:spLocks noGrp="1"/>
          </p:cNvSpPr>
          <p:nvPr>
            <p:ph type="title"/>
          </p:nvPr>
        </p:nvSpPr>
        <p:spPr/>
        <p:txBody>
          <a:bodyPr/>
          <a:lstStyle/>
          <a:p>
            <a:r>
              <a:rPr lang="en-US"/>
              <a:t>Incident Response and Hardening</a:t>
            </a:r>
          </a:p>
        </p:txBody>
      </p:sp>
      <p:graphicFrame>
        <p:nvGraphicFramePr>
          <p:cNvPr id="4" name="Content Placeholder 3">
            <a:extLst>
              <a:ext uri="{FF2B5EF4-FFF2-40B4-BE49-F238E27FC236}">
                <a16:creationId xmlns:a16="http://schemas.microsoft.com/office/drawing/2014/main" id="{5F76A1A7-4382-6BA9-33E5-39FEC4E4CD9E}"/>
              </a:ext>
            </a:extLst>
          </p:cNvPr>
          <p:cNvGraphicFramePr>
            <a:graphicFrameLocks noGrp="1"/>
          </p:cNvGraphicFramePr>
          <p:nvPr>
            <p:ph sz="quarter" idx="10"/>
            <p:extLst>
              <p:ext uri="{D42A27DB-BD31-4B8C-83A1-F6EECF244321}">
                <p14:modId xmlns:p14="http://schemas.microsoft.com/office/powerpoint/2010/main" val="3909254447"/>
              </p:ext>
            </p:extLst>
          </p:nvPr>
        </p:nvGraphicFramePr>
        <p:xfrm>
          <a:off x="381000" y="1397000"/>
          <a:ext cx="11430000" cy="5016500"/>
        </p:xfrm>
        <a:graphic>
          <a:graphicData uri="http://schemas.openxmlformats.org/drawingml/2006/table">
            <a:tbl>
              <a:tblPr firstRow="1" bandRow="1">
                <a:tableStyleId>{5C22544A-7EE6-4342-B048-85BDC9FD1C3A}</a:tableStyleId>
              </a:tblPr>
              <a:tblGrid>
                <a:gridCol w="5715000">
                  <a:extLst>
                    <a:ext uri="{9D8B030D-6E8A-4147-A177-3AD203B41FA5}">
                      <a16:colId xmlns:a16="http://schemas.microsoft.com/office/drawing/2014/main" val="380125038"/>
                    </a:ext>
                  </a:extLst>
                </a:gridCol>
                <a:gridCol w="5715000">
                  <a:extLst>
                    <a:ext uri="{9D8B030D-6E8A-4147-A177-3AD203B41FA5}">
                      <a16:colId xmlns:a16="http://schemas.microsoft.com/office/drawing/2014/main" val="2415601126"/>
                    </a:ext>
                  </a:extLst>
                </a:gridCol>
              </a:tblGrid>
              <a:tr h="627063">
                <a:tc>
                  <a:txBody>
                    <a:bodyPr/>
                    <a:lstStyle/>
                    <a:p>
                      <a:r>
                        <a:rPr lang="en-US" sz="1200" b="1"/>
                        <a:t>Control</a:t>
                      </a:r>
                    </a:p>
                  </a:txBody>
                  <a:tcPr/>
                </a:tc>
                <a:tc>
                  <a:txBody>
                    <a:bodyPr/>
                    <a:lstStyle/>
                    <a:p>
                      <a:r>
                        <a:rPr lang="en-US" sz="1200" b="1"/>
                        <a:t>What It Prevents</a:t>
                      </a:r>
                    </a:p>
                  </a:txBody>
                  <a:tcPr/>
                </a:tc>
                <a:extLst>
                  <a:ext uri="{0D108BD9-81ED-4DB2-BD59-A6C34878D82A}">
                    <a16:rowId xmlns:a16="http://schemas.microsoft.com/office/drawing/2014/main" val="399935468"/>
                  </a:ext>
                </a:extLst>
              </a:tr>
              <a:tr h="627063">
                <a:tc>
                  <a:txBody>
                    <a:bodyPr/>
                    <a:lstStyle/>
                    <a:p>
                      <a:r>
                        <a:rPr lang="en-US" sz="1200"/>
                        <a:t>RBAC-based access (not Access Policies)</a:t>
                      </a:r>
                    </a:p>
                  </a:txBody>
                  <a:tcPr/>
                </a:tc>
                <a:tc>
                  <a:txBody>
                    <a:bodyPr/>
                    <a:lstStyle/>
                    <a:p>
                      <a:r>
                        <a:rPr lang="en-US" sz="1200"/>
                        <a:t>Granular, auditable permission management</a:t>
                      </a:r>
                    </a:p>
                  </a:txBody>
                  <a:tcPr/>
                </a:tc>
                <a:extLst>
                  <a:ext uri="{0D108BD9-81ED-4DB2-BD59-A6C34878D82A}">
                    <a16:rowId xmlns:a16="http://schemas.microsoft.com/office/drawing/2014/main" val="3827343630"/>
                  </a:ext>
                </a:extLst>
              </a:tr>
              <a:tr h="627063">
                <a:tc>
                  <a:txBody>
                    <a:bodyPr/>
                    <a:lstStyle/>
                    <a:p>
                      <a:r>
                        <a:rPr lang="en-US" sz="1200"/>
                        <a:t>Private endpoints + firewall</a:t>
                      </a:r>
                    </a:p>
                  </a:txBody>
                  <a:tcPr/>
                </a:tc>
                <a:tc>
                  <a:txBody>
                    <a:bodyPr/>
                    <a:lstStyle/>
                    <a:p>
                      <a:r>
                        <a:rPr lang="en-US" sz="1200"/>
                        <a:t>Network-level vault isolation</a:t>
                      </a:r>
                    </a:p>
                  </a:txBody>
                  <a:tcPr/>
                </a:tc>
                <a:extLst>
                  <a:ext uri="{0D108BD9-81ED-4DB2-BD59-A6C34878D82A}">
                    <a16:rowId xmlns:a16="http://schemas.microsoft.com/office/drawing/2014/main" val="1920978810"/>
                  </a:ext>
                </a:extLst>
              </a:tr>
              <a:tr h="627063">
                <a:tc>
                  <a:txBody>
                    <a:bodyPr/>
                    <a:lstStyle/>
                    <a:p>
                      <a:r>
                        <a:rPr lang="en-US" sz="1200"/>
                        <a:t>Purge protection + soft delete</a:t>
                      </a:r>
                    </a:p>
                  </a:txBody>
                  <a:tcPr/>
                </a:tc>
                <a:tc>
                  <a:txBody>
                    <a:bodyPr/>
                    <a:lstStyle/>
                    <a:p>
                      <a:r>
                        <a:rPr lang="en-US" sz="1200"/>
                        <a:t>Prevents permanent secret destruction</a:t>
                      </a:r>
                    </a:p>
                  </a:txBody>
                  <a:tcPr/>
                </a:tc>
                <a:extLst>
                  <a:ext uri="{0D108BD9-81ED-4DB2-BD59-A6C34878D82A}">
                    <a16:rowId xmlns:a16="http://schemas.microsoft.com/office/drawing/2014/main" val="3469404151"/>
                  </a:ext>
                </a:extLst>
              </a:tr>
              <a:tr h="627063">
                <a:tc>
                  <a:txBody>
                    <a:bodyPr/>
                    <a:lstStyle/>
                    <a:p>
                      <a:r>
                        <a:rPr lang="en-US" sz="1200"/>
                        <a:t>Diagnostic logging enabled</a:t>
                      </a:r>
                    </a:p>
                  </a:txBody>
                  <a:tcPr/>
                </a:tc>
                <a:tc>
                  <a:txBody>
                    <a:bodyPr/>
                    <a:lstStyle/>
                    <a:p>
                      <a:r>
                        <a:rPr lang="en-US" sz="1200"/>
                        <a:t>Ensures data plane visibility</a:t>
                      </a:r>
                    </a:p>
                  </a:txBody>
                  <a:tcPr/>
                </a:tc>
                <a:extLst>
                  <a:ext uri="{0D108BD9-81ED-4DB2-BD59-A6C34878D82A}">
                    <a16:rowId xmlns:a16="http://schemas.microsoft.com/office/drawing/2014/main" val="687077853"/>
                  </a:ext>
                </a:extLst>
              </a:tr>
              <a:tr h="627063">
                <a:tc>
                  <a:txBody>
                    <a:bodyPr/>
                    <a:lstStyle/>
                    <a:p>
                      <a:r>
                        <a:rPr lang="en-US" sz="1200"/>
                        <a:t>Defender for Key Vault</a:t>
                      </a:r>
                    </a:p>
                  </a:txBody>
                  <a:tcPr/>
                </a:tc>
                <a:tc>
                  <a:txBody>
                    <a:bodyPr/>
                    <a:lstStyle/>
                    <a:p>
                      <a:r>
                        <a:rPr lang="en-US" sz="1200"/>
                        <a:t>Automated anomaly detection</a:t>
                      </a:r>
                    </a:p>
                  </a:txBody>
                  <a:tcPr/>
                </a:tc>
                <a:extLst>
                  <a:ext uri="{0D108BD9-81ED-4DB2-BD59-A6C34878D82A}">
                    <a16:rowId xmlns:a16="http://schemas.microsoft.com/office/drawing/2014/main" val="3959882530"/>
                  </a:ext>
                </a:extLst>
              </a:tr>
              <a:tr h="627063">
                <a:tc>
                  <a:txBody>
                    <a:bodyPr/>
                    <a:lstStyle/>
                    <a:p>
                      <a:r>
                        <a:rPr lang="en-US" sz="1200"/>
                        <a:t>Managed identities for secret access</a:t>
                      </a:r>
                    </a:p>
                  </a:txBody>
                  <a:tcPr/>
                </a:tc>
                <a:tc>
                  <a:txBody>
                    <a:bodyPr/>
                    <a:lstStyle/>
                    <a:p>
                      <a:r>
                        <a:rPr lang="en-US" sz="1200"/>
                        <a:t>Eliminates credential-based vault access</a:t>
                      </a:r>
                    </a:p>
                  </a:txBody>
                  <a:tcPr/>
                </a:tc>
                <a:extLst>
                  <a:ext uri="{0D108BD9-81ED-4DB2-BD59-A6C34878D82A}">
                    <a16:rowId xmlns:a16="http://schemas.microsoft.com/office/drawing/2014/main" val="1645863979"/>
                  </a:ext>
                </a:extLst>
              </a:tr>
              <a:tr h="627063">
                <a:tc>
                  <a:txBody>
                    <a:bodyPr/>
                    <a:lstStyle/>
                    <a:p>
                      <a:r>
                        <a:rPr lang="en-US" sz="1200"/>
                        <a:t>Secret rotation automation</a:t>
                      </a:r>
                    </a:p>
                  </a:txBody>
                  <a:tcPr/>
                </a:tc>
                <a:tc>
                  <a:txBody>
                    <a:bodyPr/>
                    <a:lstStyle/>
                    <a:p>
                      <a:r>
                        <a:rPr lang="en-US" sz="1200"/>
                        <a:t>Limits exposure window</a:t>
                      </a:r>
                    </a:p>
                  </a:txBody>
                  <a:tcPr/>
                </a:tc>
                <a:extLst>
                  <a:ext uri="{0D108BD9-81ED-4DB2-BD59-A6C34878D82A}">
                    <a16:rowId xmlns:a16="http://schemas.microsoft.com/office/drawing/2014/main" val="1917690784"/>
                  </a:ext>
                </a:extLst>
              </a:tr>
            </a:tbl>
          </a:graphicData>
        </a:graphic>
      </p:graphicFrame>
    </p:spTree>
    <p:extLst>
      <p:ext uri="{BB962C8B-B14F-4D97-AF65-F5344CB8AC3E}">
        <p14:creationId xmlns:p14="http://schemas.microsoft.com/office/powerpoint/2010/main" val="2968642180"/>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329C7-F310-81E8-6081-C42B604D8771}"/>
              </a:ext>
            </a:extLst>
          </p:cNvPr>
          <p:cNvSpPr>
            <a:spLocks noGrp="1"/>
          </p:cNvSpPr>
          <p:nvPr>
            <p:ph type="title"/>
          </p:nvPr>
        </p:nvSpPr>
        <p:spPr/>
        <p:txBody>
          <a:bodyPr/>
          <a:lstStyle/>
          <a:p>
            <a:r>
              <a:rPr lang="en-US"/>
              <a:t>Incident Response and Hardening (cont.)</a:t>
            </a:r>
          </a:p>
        </p:txBody>
      </p:sp>
      <p:sp>
        <p:nvSpPr>
          <p:cNvPr id="3" name="Content Placeholder 2">
            <a:extLst>
              <a:ext uri="{FF2B5EF4-FFF2-40B4-BE49-F238E27FC236}">
                <a16:creationId xmlns:a16="http://schemas.microsoft.com/office/drawing/2014/main" id="{AB97CE69-65EA-8B3E-B9EB-82C9C5091F04}"/>
              </a:ext>
            </a:extLst>
          </p:cNvPr>
          <p:cNvSpPr>
            <a:spLocks noGrp="1"/>
          </p:cNvSpPr>
          <p:nvPr>
            <p:ph sz="quarter" idx="10"/>
          </p:nvPr>
        </p:nvSpPr>
        <p:spPr/>
        <p:txBody>
          <a:bodyPr>
            <a:noAutofit/>
          </a:bodyPr>
          <a:lstStyle/>
          <a:p>
            <a:pPr>
              <a:lnSpc>
                <a:spcPct val="115000"/>
              </a:lnSpc>
              <a:spcBef>
                <a:spcPts val="600"/>
              </a:spcBef>
            </a:pPr>
            <a:r>
              <a:rPr lang="en-US" sz="1600" b="1"/>
              <a:t>Immediate Response:</a:t>
            </a:r>
          </a:p>
          <a:p>
            <a:pPr>
              <a:lnSpc>
                <a:spcPct val="115000"/>
              </a:lnSpc>
              <a:spcBef>
                <a:spcPts val="600"/>
              </a:spcBef>
            </a:pPr>
            <a:r>
              <a:rPr lang="en-US" sz="1600"/>
              <a:t>    Identify the compromised identity and revoke its access</a:t>
            </a:r>
          </a:p>
          <a:p>
            <a:pPr>
              <a:lnSpc>
                <a:spcPct val="115000"/>
              </a:lnSpc>
              <a:spcBef>
                <a:spcPts val="600"/>
              </a:spcBef>
            </a:pPr>
            <a:r>
              <a:rPr lang="en-US" sz="1600"/>
              <a:t>    Rotate all secrets in affected vault(s)</a:t>
            </a:r>
          </a:p>
          <a:p>
            <a:pPr>
              <a:lnSpc>
                <a:spcPct val="115000"/>
              </a:lnSpc>
              <a:spcBef>
                <a:spcPts val="600"/>
              </a:spcBef>
            </a:pPr>
            <a:r>
              <a:rPr lang="en-US" sz="1600"/>
              <a:t>    Review vault access policies and RBAC assignments</a:t>
            </a:r>
          </a:p>
          <a:p>
            <a:pPr>
              <a:lnSpc>
                <a:spcPct val="115000"/>
              </a:lnSpc>
              <a:spcBef>
                <a:spcPts val="600"/>
              </a:spcBef>
            </a:pPr>
            <a:r>
              <a:rPr lang="en-US" sz="1600"/>
              <a:t>    Check for SecretBackup operations (portable secret export)</a:t>
            </a:r>
          </a:p>
          <a:p>
            <a:pPr>
              <a:lnSpc>
                <a:spcPct val="115000"/>
              </a:lnSpc>
              <a:spcBef>
                <a:spcPts val="600"/>
              </a:spcBef>
            </a:pPr>
            <a:r>
              <a:rPr lang="en-US" sz="1600"/>
              <a:t>    Rotate downstream credentials (connection strings, Application Programming Interface (API) keys stored as secrets)</a:t>
            </a:r>
          </a:p>
          <a:p>
            <a:pPr>
              <a:lnSpc>
                <a:spcPct val="115000"/>
              </a:lnSpc>
              <a:spcBef>
                <a:spcPts val="600"/>
              </a:spcBef>
            </a:pPr>
            <a:r>
              <a:rPr lang="en-US" sz="1600" b="1"/>
              <a:t>Hardening Controls:</a:t>
            </a:r>
          </a:p>
        </p:txBody>
      </p:sp>
    </p:spTree>
    <p:extLst>
      <p:ext uri="{BB962C8B-B14F-4D97-AF65-F5344CB8AC3E}">
        <p14:creationId xmlns:p14="http://schemas.microsoft.com/office/powerpoint/2010/main" val="137552509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50EBA-DCE0-5E8D-59B1-D8ABFCBE787F}"/>
              </a:ext>
            </a:extLst>
          </p:cNvPr>
          <p:cNvSpPr>
            <a:spLocks noGrp="1"/>
          </p:cNvSpPr>
          <p:nvPr>
            <p:ph type="title"/>
          </p:nvPr>
        </p:nvSpPr>
        <p:spPr/>
        <p:txBody>
          <a:bodyPr/>
          <a:lstStyle/>
          <a:p>
            <a:r>
              <a:rPr lang="en-US"/>
              <a:t>Key Takeaways and References</a:t>
            </a:r>
          </a:p>
        </p:txBody>
      </p:sp>
      <p:graphicFrame>
        <p:nvGraphicFramePr>
          <p:cNvPr id="4" name="Content Placeholder 3">
            <a:extLst>
              <a:ext uri="{FF2B5EF4-FFF2-40B4-BE49-F238E27FC236}">
                <a16:creationId xmlns:a16="http://schemas.microsoft.com/office/drawing/2014/main" id="{FC6C504E-52A8-C2A3-FBBE-03675F01AF46}"/>
              </a:ext>
            </a:extLst>
          </p:cNvPr>
          <p:cNvGraphicFramePr>
            <a:graphicFrameLocks noGrp="1"/>
          </p:cNvGraphicFramePr>
          <p:nvPr>
            <p:ph sz="quarter" idx="10"/>
            <p:extLst>
              <p:ext uri="{D42A27DB-BD31-4B8C-83A1-F6EECF244321}">
                <p14:modId xmlns:p14="http://schemas.microsoft.com/office/powerpoint/2010/main" val="3676162592"/>
              </p:ext>
            </p:extLst>
          </p:nvPr>
        </p:nvGraphicFramePr>
        <p:xfrm>
          <a:off x="381000" y="1524000"/>
          <a:ext cx="11430000" cy="4889500"/>
        </p:xfrm>
        <a:graphic>
          <a:graphicData uri="http://schemas.openxmlformats.org/drawingml/2006/table">
            <a:tbl>
              <a:tblPr firstRow="1" bandRow="1">
                <a:tableStyleId>{5C22544A-7EE6-4342-B048-85BDC9FD1C3A}</a:tableStyleId>
              </a:tblPr>
              <a:tblGrid>
                <a:gridCol w="5715000">
                  <a:extLst>
                    <a:ext uri="{9D8B030D-6E8A-4147-A177-3AD203B41FA5}">
                      <a16:colId xmlns:a16="http://schemas.microsoft.com/office/drawing/2014/main" val="3344473464"/>
                    </a:ext>
                  </a:extLst>
                </a:gridCol>
                <a:gridCol w="5715000">
                  <a:extLst>
                    <a:ext uri="{9D8B030D-6E8A-4147-A177-3AD203B41FA5}">
                      <a16:colId xmlns:a16="http://schemas.microsoft.com/office/drawing/2014/main" val="1156346743"/>
                    </a:ext>
                  </a:extLst>
                </a:gridCol>
              </a:tblGrid>
              <a:tr h="814917">
                <a:tc>
                  <a:txBody>
                    <a:bodyPr/>
                    <a:lstStyle/>
                    <a:p>
                      <a:r>
                        <a:rPr lang="en-US" sz="1400" b="1"/>
                        <a:t>Resource</a:t>
                      </a:r>
                    </a:p>
                  </a:txBody>
                  <a:tcPr/>
                </a:tc>
                <a:tc>
                  <a:txBody>
                    <a:bodyPr/>
                    <a:lstStyle/>
                    <a:p>
                      <a:r>
                        <a:rPr lang="en-US" sz="1400" b="1"/>
                        <a:t>Link</a:t>
                      </a:r>
                    </a:p>
                  </a:txBody>
                  <a:tcPr/>
                </a:tc>
                <a:extLst>
                  <a:ext uri="{0D108BD9-81ED-4DB2-BD59-A6C34878D82A}">
                    <a16:rowId xmlns:a16="http://schemas.microsoft.com/office/drawing/2014/main" val="2512671876"/>
                  </a:ext>
                </a:extLst>
              </a:tr>
              <a:tr h="814917">
                <a:tc>
                  <a:txBody>
                    <a:bodyPr/>
                    <a:lstStyle/>
                    <a:p>
                      <a:r>
                        <a:rPr lang="en-US" sz="1400"/>
                        <a:t>Key Vault Security Overview</a:t>
                      </a:r>
                    </a:p>
                  </a:txBody>
                  <a:tcPr/>
                </a:tc>
                <a:tc>
                  <a:txBody>
                    <a:bodyPr/>
                    <a:lstStyle/>
                    <a:p>
                      <a:r>
                        <a:rPr lang="en-US" sz="1400"/>
                        <a:t>learn.microsoft.com/azure/key-vault/general/security-features</a:t>
                      </a:r>
                    </a:p>
                  </a:txBody>
                  <a:tcPr/>
                </a:tc>
                <a:extLst>
                  <a:ext uri="{0D108BD9-81ED-4DB2-BD59-A6C34878D82A}">
                    <a16:rowId xmlns:a16="http://schemas.microsoft.com/office/drawing/2014/main" val="2296058356"/>
                  </a:ext>
                </a:extLst>
              </a:tr>
              <a:tr h="814917">
                <a:tc>
                  <a:txBody>
                    <a:bodyPr/>
                    <a:lstStyle/>
                    <a:p>
                      <a:r>
                        <a:rPr lang="en-US" sz="1400"/>
                        <a:t>Key Vault Monitoring</a:t>
                      </a:r>
                    </a:p>
                  </a:txBody>
                  <a:tcPr/>
                </a:tc>
                <a:tc>
                  <a:txBody>
                    <a:bodyPr/>
                    <a:lstStyle/>
                    <a:p>
                      <a:r>
                        <a:rPr lang="en-US" sz="1400"/>
                        <a:t>learn.microsoft.com/azure/key-vault/general/monitor-key-vault</a:t>
                      </a:r>
                    </a:p>
                  </a:txBody>
                  <a:tcPr/>
                </a:tc>
                <a:extLst>
                  <a:ext uri="{0D108BD9-81ED-4DB2-BD59-A6C34878D82A}">
                    <a16:rowId xmlns:a16="http://schemas.microsoft.com/office/drawing/2014/main" val="3012081839"/>
                  </a:ext>
                </a:extLst>
              </a:tr>
              <a:tr h="814917">
                <a:tc>
                  <a:txBody>
                    <a:bodyPr/>
                    <a:lstStyle/>
                    <a:p>
                      <a:r>
                        <a:rPr lang="en-US" sz="1400"/>
                        <a:t>Defender for Key Vault</a:t>
                      </a:r>
                    </a:p>
                  </a:txBody>
                  <a:tcPr/>
                </a:tc>
                <a:tc>
                  <a:txBody>
                    <a:bodyPr/>
                    <a:lstStyle/>
                    <a:p>
                      <a:r>
                        <a:rPr lang="en-US" sz="1400"/>
                        <a:t>learn.microsoft.com/azure/defender-for-cloud/defender-for-key-vault-introduction</a:t>
                      </a:r>
                    </a:p>
                  </a:txBody>
                  <a:tcPr/>
                </a:tc>
                <a:extLst>
                  <a:ext uri="{0D108BD9-81ED-4DB2-BD59-A6C34878D82A}">
                    <a16:rowId xmlns:a16="http://schemas.microsoft.com/office/drawing/2014/main" val="309522384"/>
                  </a:ext>
                </a:extLst>
              </a:tr>
              <a:tr h="814917">
                <a:tc>
                  <a:txBody>
                    <a:bodyPr/>
                    <a:lstStyle/>
                    <a:p>
                      <a:r>
                        <a:rPr lang="en-US" sz="1400"/>
                        <a:t>AzureDiagnostics Schema</a:t>
                      </a:r>
                    </a:p>
                  </a:txBody>
                  <a:tcPr/>
                </a:tc>
                <a:tc>
                  <a:txBody>
                    <a:bodyPr/>
                    <a:lstStyle/>
                    <a:p>
                      <a:r>
                        <a:rPr lang="en-US" sz="1400"/>
                        <a:t>learn.microsoft.com/azure/azure-monitor/reference/tables/azurediagnostics</a:t>
                      </a:r>
                    </a:p>
                  </a:txBody>
                  <a:tcPr/>
                </a:tc>
                <a:extLst>
                  <a:ext uri="{0D108BD9-81ED-4DB2-BD59-A6C34878D82A}">
                    <a16:rowId xmlns:a16="http://schemas.microsoft.com/office/drawing/2014/main" val="4200422821"/>
                  </a:ext>
                </a:extLst>
              </a:tr>
              <a:tr h="814917">
                <a:tc>
                  <a:txBody>
                    <a:bodyPr/>
                    <a:lstStyle/>
                    <a:p>
                      <a:r>
                        <a:rPr lang="en-US" sz="1400"/>
                        <a:t>Key Vault Best Practices</a:t>
                      </a:r>
                    </a:p>
                  </a:txBody>
                  <a:tcPr/>
                </a:tc>
                <a:tc>
                  <a:txBody>
                    <a:bodyPr/>
                    <a:lstStyle/>
                    <a:p>
                      <a:r>
                        <a:rPr lang="en-US" sz="1400"/>
                        <a:t>learn.microsoft.com/azure/key-vault/general/best-practices</a:t>
                      </a:r>
                    </a:p>
                  </a:txBody>
                  <a:tcPr/>
                </a:tc>
                <a:extLst>
                  <a:ext uri="{0D108BD9-81ED-4DB2-BD59-A6C34878D82A}">
                    <a16:rowId xmlns:a16="http://schemas.microsoft.com/office/drawing/2014/main" val="145977906"/>
                  </a:ext>
                </a:extLst>
              </a:tr>
            </a:tbl>
          </a:graphicData>
        </a:graphic>
      </p:graphicFrame>
    </p:spTree>
    <p:extLst>
      <p:ext uri="{BB962C8B-B14F-4D97-AF65-F5344CB8AC3E}">
        <p14:creationId xmlns:p14="http://schemas.microsoft.com/office/powerpoint/2010/main" val="4117939338"/>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1C343-0543-A8E8-04BB-FF87CCE41CA4}"/>
              </a:ext>
            </a:extLst>
          </p:cNvPr>
          <p:cNvSpPr>
            <a:spLocks noGrp="1"/>
          </p:cNvSpPr>
          <p:nvPr>
            <p:ph type="title"/>
          </p:nvPr>
        </p:nvSpPr>
        <p:spPr/>
        <p:txBody>
          <a:bodyPr/>
          <a:lstStyle/>
          <a:p>
            <a:r>
              <a:rPr lang="en-US"/>
              <a:t>Key Takeaways and References (cont.)</a:t>
            </a:r>
          </a:p>
        </p:txBody>
      </p:sp>
      <p:sp>
        <p:nvSpPr>
          <p:cNvPr id="3" name="Content Placeholder 2">
            <a:extLst>
              <a:ext uri="{FF2B5EF4-FFF2-40B4-BE49-F238E27FC236}">
                <a16:creationId xmlns:a16="http://schemas.microsoft.com/office/drawing/2014/main" id="{65AF3582-FCEC-6842-D92C-90A678B5502B}"/>
              </a:ext>
            </a:extLst>
          </p:cNvPr>
          <p:cNvSpPr>
            <a:spLocks noGrp="1"/>
          </p:cNvSpPr>
          <p:nvPr>
            <p:ph sz="quarter" idx="10"/>
          </p:nvPr>
        </p:nvSpPr>
        <p:spPr/>
        <p:txBody>
          <a:bodyPr>
            <a:noAutofit/>
          </a:bodyPr>
          <a:lstStyle/>
          <a:p>
            <a:pPr>
              <a:lnSpc>
                <a:spcPct val="115000"/>
              </a:lnSpc>
              <a:spcBef>
                <a:spcPts val="600"/>
              </a:spcBef>
            </a:pPr>
            <a:r>
              <a:rPr lang="en-US" sz="1600"/>
              <a:t>Key Vault has control plane (AzureActivity) and data plane (AzureDiagnostics) - both must be monitored</a:t>
            </a:r>
          </a:p>
          <a:p>
            <a:pPr>
              <a:lnSpc>
                <a:spcPct val="115000"/>
              </a:lnSpc>
              <a:spcBef>
                <a:spcPts val="600"/>
              </a:spcBef>
            </a:pPr>
            <a:r>
              <a:rPr lang="en-US" sz="1600"/>
              <a:t>SecretList followed by SecretGet is the signature pattern of secret enumeration</a:t>
            </a:r>
          </a:p>
          <a:p>
            <a:pPr>
              <a:lnSpc>
                <a:spcPct val="115000"/>
              </a:lnSpc>
              <a:spcBef>
                <a:spcPts val="600"/>
              </a:spcBef>
            </a:pPr>
            <a:r>
              <a:rPr lang="en-US" sz="1600"/>
              <a:t>First-time callers accessing secrets are the highest-priority anomaly signal</a:t>
            </a:r>
          </a:p>
          <a:p>
            <a:pPr>
              <a:lnSpc>
                <a:spcPct val="115000"/>
              </a:lnSpc>
              <a:spcBef>
                <a:spcPts val="600"/>
              </a:spcBef>
            </a:pPr>
            <a:r>
              <a:rPr lang="en-US" sz="1600"/>
              <a:t>Contributor can escalate to Key Vault data plane access via RBAC self-assignment</a:t>
            </a:r>
          </a:p>
          <a:p>
            <a:pPr>
              <a:lnSpc>
                <a:spcPct val="115000"/>
              </a:lnSpc>
              <a:spcBef>
                <a:spcPts val="600"/>
              </a:spcBef>
            </a:pPr>
            <a:r>
              <a:rPr lang="en-US" sz="1600"/>
              <a:t>Rotate ALL secrets after a confirmed vault compromise - assume everything was read</a:t>
            </a:r>
          </a:p>
          <a:p>
            <a:pPr>
              <a:lnSpc>
                <a:spcPct val="115000"/>
              </a:lnSpc>
              <a:spcBef>
                <a:spcPts val="600"/>
              </a:spcBef>
            </a:pPr>
            <a:r>
              <a:rPr lang="en-US" sz="1600" b="1"/>
              <a:t>References:</a:t>
            </a:r>
          </a:p>
        </p:txBody>
      </p:sp>
    </p:spTree>
    <p:extLst>
      <p:ext uri="{BB962C8B-B14F-4D97-AF65-F5344CB8AC3E}">
        <p14:creationId xmlns:p14="http://schemas.microsoft.com/office/powerpoint/2010/main" val="769464587"/>
      </p:ext>
    </p:extLst>
  </p:cSld>
  <p:clrMapOvr>
    <a:masterClrMapping/>
  </p:clrMapOvr>
  <p:transition>
    <p:fade/>
  </p:transition>
</p:sld>
</file>

<file path=ppt/theme/theme1.xml><?xml version="1.0" encoding="utf-8"?>
<a:theme xmlns:a="http://schemas.openxmlformats.org/drawingml/2006/main" name="Microsoft Security template">
  <a:themeElements>
    <a:clrScheme name="Microsoft Security">
      <a:dk1>
        <a:srgbClr val="000000"/>
      </a:dk1>
      <a:lt1>
        <a:srgbClr val="FFFFFF"/>
      </a:lt1>
      <a:dk2>
        <a:srgbClr val="243A5E"/>
      </a:dk2>
      <a:lt2>
        <a:srgbClr val="E6E6E6"/>
      </a:lt2>
      <a:accent1>
        <a:srgbClr val="0078D4"/>
      </a:accent1>
      <a:accent2>
        <a:srgbClr val="FFB900"/>
      </a:accent2>
      <a:accent3>
        <a:srgbClr val="107C10"/>
      </a:accent3>
      <a:accent4>
        <a:srgbClr val="737373"/>
      </a:accent4>
      <a:accent5>
        <a:srgbClr val="9BF00B"/>
      </a:accent5>
      <a:accent6>
        <a:srgbClr val="50E6FF"/>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Microsoft Security brand template.potx" id="{C2238F5F-88FF-42D2-B2B7-0AA68068F996}" vid="{6D1610A7-A963-40D5-9923-AA1928F2CAE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Microsoft Security brand template</Template>
  <TotalTime>0</TotalTime>
  <Words>3175</Words>
  <Application>Microsoft Office PowerPoint</Application>
  <PresentationFormat>Widescreen</PresentationFormat>
  <Paragraphs>278</Paragraphs>
  <Slides>22</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Aptos</vt:lpstr>
      <vt:lpstr>Arial</vt:lpstr>
      <vt:lpstr>Consolas</vt:lpstr>
      <vt:lpstr>Segoe UI</vt:lpstr>
      <vt:lpstr>Segoe UI Semibold</vt:lpstr>
      <vt:lpstr>Wingdings</vt:lpstr>
      <vt:lpstr>Microsoft Security template</vt:lpstr>
      <vt:lpstr>Azure Key Vault Abuse</vt:lpstr>
      <vt:lpstr>Agenda</vt:lpstr>
      <vt:lpstr>Agenda (cont. 2)</vt:lpstr>
      <vt:lpstr>Objective and MITRE Mapping</vt:lpstr>
      <vt:lpstr>Objective and MITRE Mapping (cont.)</vt:lpstr>
      <vt:lpstr>Control Plane vs. Data Plane</vt:lpstr>
      <vt:lpstr>Control Plane vs. Data Plane (cont. 2)</vt:lpstr>
      <vt:lpstr>RBAC Roles Attackers Abuse</vt:lpstr>
      <vt:lpstr>RBAC Roles Attackers Abuse (cont.)</vt:lpstr>
      <vt:lpstr>Attack Pattern — Secret Enumeration and Extraction</vt:lpstr>
      <vt:lpstr>Attack Pattern — Secret Enumeration and Extraction (cont.)</vt:lpstr>
      <vt:lpstr>KQL — Secret Dump Pattern Detection</vt:lpstr>
      <vt:lpstr>KQL — Secret Dump Pattern Detection (cont.)</vt:lpstr>
      <vt:lpstr>KQL — Volume Anomaly and Unexpected Caller Detection</vt:lpstr>
      <vt:lpstr>KQL — Volume Anomaly and Unexpected Caller Detection (cont.)</vt:lpstr>
      <vt:lpstr>KQL — RBAC Escalation to Secret Access</vt:lpstr>
      <vt:lpstr>Defender for Key Vault Alerts</vt:lpstr>
      <vt:lpstr>Defender for Key Vault Alerts (cont.)</vt:lpstr>
      <vt:lpstr>Incident Response and Hardening</vt:lpstr>
      <vt:lpstr>Incident Response and Hardening (cont.)</vt:lpstr>
      <vt:lpstr>Key Takeaways and References</vt:lpstr>
      <vt:lpstr>Key Takeaways and References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Jacob Hall</dc:creator>
  <cp:lastModifiedBy>Jacob Hall</cp:lastModifiedBy>
  <cp:revision>1</cp:revision>
  <dcterms:created xsi:type="dcterms:W3CDTF">2026-04-22T00:03:11Z</dcterms:created>
  <dcterms:modified xsi:type="dcterms:W3CDTF">2026-04-22T00:03:18Z</dcterms:modified>
</cp:coreProperties>
</file>