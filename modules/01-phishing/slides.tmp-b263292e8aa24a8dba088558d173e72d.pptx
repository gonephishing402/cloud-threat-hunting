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8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91AF29-04BD-4AB0-9769-06A945DDA6CA}" type="datetimeFigureOut">
              <a:rPr lang="en-US" smtClean="0"/>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72D949-62BC-4112-8CDE-DEE275133A2C}" type="slidenum">
              <a:rPr lang="en-US" smtClean="0"/>
              <a:t>‹#›</a:t>
            </a:fld>
            <a:endParaRPr lang="en-US"/>
          </a:p>
        </p:txBody>
      </p:sp>
    </p:spTree>
    <p:extLst>
      <p:ext uri="{BB962C8B-B14F-4D97-AF65-F5344CB8AC3E}">
        <p14:creationId xmlns:p14="http://schemas.microsoft.com/office/powerpoint/2010/main" val="4271470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to Module 01. Modern cloud identity phishing bypasses traditional password theft. Attackers target tokens, sessions, and OAuth consent - meaning Multi-Factor Authentication (MFA) alone is not a sufficient defense. This module covers three primary techniques used against Microsoft 365 and Entra ID environments: device code phishing, adversary-in-the-middle (AiTM), and illicit consent grants. We'll learn how each attack works, how to detect it in Sentinel and Defender XDR, and how to respond.</a:t>
            </a:r>
          </a:p>
        </p:txBody>
      </p:sp>
      <p:sp>
        <p:nvSpPr>
          <p:cNvPr id="4" name="Slide Number Placeholder 3"/>
          <p:cNvSpPr>
            <a:spLocks noGrp="1"/>
          </p:cNvSpPr>
          <p:nvPr>
            <p:ph type="sldNum" sz="quarter" idx="5"/>
          </p:nvPr>
        </p:nvSpPr>
        <p:spPr/>
        <p:txBody>
          <a:bodyPr/>
          <a:lstStyle/>
          <a:p>
            <a:fld id="{4872D949-62BC-4112-8CDE-DEE275133A2C}" type="slidenum">
              <a:rPr lang="en-US" smtClean="0"/>
              <a:t>1</a:t>
            </a:fld>
            <a:endParaRPr lang="en-US"/>
          </a:p>
        </p:txBody>
      </p:sp>
    </p:spTree>
    <p:extLst>
      <p:ext uri="{BB962C8B-B14F-4D97-AF65-F5344CB8AC3E}">
        <p14:creationId xmlns:p14="http://schemas.microsoft.com/office/powerpoint/2010/main" val="33599676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module is structured around three distinct attack techniques. For each one, we'll follow the same pattern: understand the attack mechanics, learn the detection queries, and walk through the incident response steps. Then we'll cover email-layer detection using the Defender for Office 365 tables - EmailEvents, EmailUrlInfo, and UrlClickEvents. We'll finish with hardening recommendations and a post-incident checklist that applies to all three techniques.</a:t>
            </a:r>
          </a:p>
        </p:txBody>
      </p:sp>
      <p:sp>
        <p:nvSpPr>
          <p:cNvPr id="4" name="Slide Number Placeholder 3"/>
          <p:cNvSpPr>
            <a:spLocks noGrp="1"/>
          </p:cNvSpPr>
          <p:nvPr>
            <p:ph type="sldNum" sz="quarter" idx="5"/>
          </p:nvPr>
        </p:nvSpPr>
        <p:spPr/>
        <p:txBody>
          <a:bodyPr/>
          <a:lstStyle/>
          <a:p>
            <a:fld id="{4872D949-62BC-4112-8CDE-DEE275133A2C}" type="slidenum">
              <a:rPr lang="en-US" smtClean="0"/>
              <a:t>2</a:t>
            </a:fld>
            <a:endParaRPr lang="en-US"/>
          </a:p>
        </p:txBody>
      </p:sp>
    </p:spTree>
    <p:extLst>
      <p:ext uri="{BB962C8B-B14F-4D97-AF65-F5344CB8AC3E}">
        <p14:creationId xmlns:p14="http://schemas.microsoft.com/office/powerpoint/2010/main" val="1123653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This module is structured around three distinct attack techniques. For each one, we'll follow the same pattern: understand the attack mechanics, learn the detection queries, and walk through the incident response steps. Then we'll cover email-layer detection using the Defender for Office 365 tables - EmailEvents, EmailUrlInfo, and UrlClickEvents. We'll finish with hardening recommendations and a post-incident checklist that applies to all three techniques.</a:t>
            </a:r>
          </a:p>
        </p:txBody>
      </p:sp>
      <p:sp>
        <p:nvSpPr>
          <p:cNvPr id="4" name="Slide Number Placeholder 3"/>
          <p:cNvSpPr>
            <a:spLocks noGrp="1"/>
          </p:cNvSpPr>
          <p:nvPr>
            <p:ph type="sldNum" sz="quarter" idx="5"/>
          </p:nvPr>
        </p:nvSpPr>
        <p:spPr/>
        <p:txBody>
          <a:bodyPr/>
          <a:lstStyle/>
          <a:p>
            <a:fld id="{4872D949-62BC-4112-8CDE-DEE275133A2C}" type="slidenum">
              <a:rPr lang="en-US" smtClean="0"/>
              <a:t>3</a:t>
            </a:fld>
            <a:endParaRPr lang="en-US"/>
          </a:p>
        </p:txBody>
      </p:sp>
    </p:spTree>
    <p:extLst>
      <p:ext uri="{BB962C8B-B14F-4D97-AF65-F5344CB8AC3E}">
        <p14:creationId xmlns:p14="http://schemas.microsoft.com/office/powerpoint/2010/main" val="35044832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module maps to six MITRE ATT&amp;CK techniques. The critical insight is that all three techniques bypass Multi-Factor Authentication (MFA) - they don't steal the password, they steal the token or session that was issued after Multi-Factor Authentication (MFA) completed. T1528 (Steal Application Access Token) applies to both device code phishing and illicit consent grants. T1557 and T1606.001 are specific to Adversary-in-the-Middle (AiTM) attacks where session cookies are intercepted and replayed. T1078.004 covers the attacker's use of stolen tokens to authenticate as the victim.</a:t>
            </a:r>
          </a:p>
        </p:txBody>
      </p:sp>
      <p:sp>
        <p:nvSpPr>
          <p:cNvPr id="4" name="Slide Number Placeholder 3"/>
          <p:cNvSpPr>
            <a:spLocks noGrp="1"/>
          </p:cNvSpPr>
          <p:nvPr>
            <p:ph type="sldNum" sz="quarter" idx="5"/>
          </p:nvPr>
        </p:nvSpPr>
        <p:spPr/>
        <p:txBody>
          <a:bodyPr/>
          <a:lstStyle/>
          <a:p>
            <a:fld id="{4872D949-62BC-4112-8CDE-DEE275133A2C}" type="slidenum">
              <a:rPr lang="en-US" smtClean="0"/>
              <a:t>4</a:t>
            </a:fld>
            <a:endParaRPr lang="en-US"/>
          </a:p>
        </p:txBody>
      </p:sp>
    </p:spTree>
    <p:extLst>
      <p:ext uri="{BB962C8B-B14F-4D97-AF65-F5344CB8AC3E}">
        <p14:creationId xmlns:p14="http://schemas.microsoft.com/office/powerpoint/2010/main" val="2915333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module maps to six MITRE ATT&amp;CK techniques. The critical insight is that all three techniques bypass Multi-Factor Authentication (MFA) - they don't steal the password, they steal the token or session that was issued after Multi-Factor Authentication (MFA) completed. T1528 (Steal Application Access Token) applies to both device code phishing and illicit consent grants. T1557 and T1606.001 are specific to Adversary-in-the-Middle (AiTM) attacks where session cookies are intercepted and replayed. T1078.004 covers the attacker's use of stolen tokens to authenticate as the victim.</a:t>
            </a:r>
          </a:p>
        </p:txBody>
      </p:sp>
      <p:sp>
        <p:nvSpPr>
          <p:cNvPr id="4" name="Slide Number Placeholder 3"/>
          <p:cNvSpPr>
            <a:spLocks noGrp="1"/>
          </p:cNvSpPr>
          <p:nvPr>
            <p:ph type="sldNum" sz="quarter" idx="5"/>
          </p:nvPr>
        </p:nvSpPr>
        <p:spPr/>
        <p:txBody>
          <a:bodyPr/>
          <a:lstStyle/>
          <a:p>
            <a:fld id="{4872D949-62BC-4112-8CDE-DEE275133A2C}" type="slidenum">
              <a:rPr lang="en-US" smtClean="0"/>
              <a:t>5</a:t>
            </a:fld>
            <a:endParaRPr lang="en-US"/>
          </a:p>
        </p:txBody>
      </p:sp>
    </p:spTree>
    <p:extLst>
      <p:ext uri="{BB962C8B-B14F-4D97-AF65-F5344CB8AC3E}">
        <p14:creationId xmlns:p14="http://schemas.microsoft.com/office/powerpoint/2010/main" val="2199273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comparison table is essential. Each technique has a different theft target and persistence model. Device code phishing gives the attacker durable refresh tokens. Adversary-in-the-Middle (AiTM) gives them a session cookie and typically leads to BEC. Illicit consent grants are the most persistent - they survive password resets, Multi-Factor Authentication (MFA) changes, and session revocations because the authorization is at the application level, not the user session level. Ask the class: which technique do they think is most common in their environment? Most will say Adversary-in-the-Middle (AiTM) - it's the dominant technique according to the 2024 Microsoft Digital Defense Report.</a:t>
            </a:r>
          </a:p>
        </p:txBody>
      </p:sp>
      <p:sp>
        <p:nvSpPr>
          <p:cNvPr id="4" name="Slide Number Placeholder 3"/>
          <p:cNvSpPr>
            <a:spLocks noGrp="1"/>
          </p:cNvSpPr>
          <p:nvPr>
            <p:ph type="sldNum" sz="quarter" idx="5"/>
          </p:nvPr>
        </p:nvSpPr>
        <p:spPr/>
        <p:txBody>
          <a:bodyPr/>
          <a:lstStyle/>
          <a:p>
            <a:fld id="{4872D949-62BC-4112-8CDE-DEE275133A2C}" type="slidenum">
              <a:rPr lang="en-US" smtClean="0"/>
              <a:t>6</a:t>
            </a:fld>
            <a:endParaRPr lang="en-US"/>
          </a:p>
        </p:txBody>
      </p:sp>
    </p:spTree>
    <p:extLst>
      <p:ext uri="{BB962C8B-B14F-4D97-AF65-F5344CB8AC3E}">
        <p14:creationId xmlns:p14="http://schemas.microsoft.com/office/powerpoint/2010/main" val="2332717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module uses more tables than any other because phishing spans identity, email, and application layers. AADSignInEventsBeta is the Advanced Hunting equivalent of SigninLogs with additional fields like AuthenticationProtocol and DetectedRiskTypes. CloudAppEvents captures application-level events like consent grants and inbox rule creation. The email tables - EmailEvents, EmailUrlInfo, and UrlClickEvents - are specific to Defender for Office 365 Advanced Hunting. All email tables are joined using NetworkMessageId, which we covered in Module 00.</a:t>
            </a:r>
          </a:p>
        </p:txBody>
      </p:sp>
      <p:sp>
        <p:nvSpPr>
          <p:cNvPr id="4" name="Slide Number Placeholder 3"/>
          <p:cNvSpPr>
            <a:spLocks noGrp="1"/>
          </p:cNvSpPr>
          <p:nvPr>
            <p:ph type="sldNum" sz="quarter" idx="5"/>
          </p:nvPr>
        </p:nvSpPr>
        <p:spPr/>
        <p:txBody>
          <a:bodyPr/>
          <a:lstStyle/>
          <a:p>
            <a:fld id="{4872D949-62BC-4112-8CDE-DEE275133A2C}" type="slidenum">
              <a:rPr lang="en-US" smtClean="0"/>
              <a:t>7</a:t>
            </a:fld>
            <a:endParaRPr lang="en-US"/>
          </a:p>
        </p:txBody>
      </p:sp>
    </p:spTree>
    <p:extLst>
      <p:ext uri="{BB962C8B-B14F-4D97-AF65-F5344CB8AC3E}">
        <p14:creationId xmlns:p14="http://schemas.microsoft.com/office/powerpoint/2010/main" val="10390441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key deception is that the victim is on a legitimate Microsoft URL - microsoft.com/devicelogin is real. The victim completes real Multi-Factor Authentication (MFA). From Microsoft's perspective, the authentication was valid. The attacker doesn't need malware or a proxy - just a valid client ID of any Microsoft first-party or public app like Azure CLI or Microsoft Teams. This is why it's so effective and why many organizations don't even know this flow exists. Walk through the attack flow slowly and emphasize that the attacker never touches the victim's device.</a:t>
            </a:r>
          </a:p>
        </p:txBody>
      </p:sp>
      <p:sp>
        <p:nvSpPr>
          <p:cNvPr id="4" name="Slide Number Placeholder 3"/>
          <p:cNvSpPr>
            <a:spLocks noGrp="1"/>
          </p:cNvSpPr>
          <p:nvPr>
            <p:ph type="sldNum" sz="quarter" idx="5"/>
          </p:nvPr>
        </p:nvSpPr>
        <p:spPr/>
        <p:txBody>
          <a:bodyPr/>
          <a:lstStyle/>
          <a:p>
            <a:fld id="{4872D949-62BC-4112-8CDE-DEE275133A2C}" type="slidenum">
              <a:rPr lang="en-US" smtClean="0"/>
              <a:t>8</a:t>
            </a:fld>
            <a:endParaRPr lang="en-US"/>
          </a:p>
        </p:txBody>
      </p:sp>
    </p:spTree>
    <p:extLst>
      <p:ext uri="{BB962C8B-B14F-4D97-AF65-F5344CB8AC3E}">
        <p14:creationId xmlns:p14="http://schemas.microsoft.com/office/powerpoint/2010/main" val="24825985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The key deception is that the victim is on a legitimate Microsoft URL - microsoft.com/devicelogin is real. The victim completes real Multi-Factor Authentication (MFA). From Microsoft's perspective, the authentication was valid. The attacker doesn't need malware or a proxy - just a valid client ID of any Microsoft first-party or public app like Azure CLI or Microsoft Teams. This is why it's so effective and why many organizations don't even know this flow exists. Walk through the attack flow slowly and emphasize that the attacker never touches the victim's device.</a:t>
            </a:r>
          </a:p>
        </p:txBody>
      </p:sp>
      <p:sp>
        <p:nvSpPr>
          <p:cNvPr id="4" name="Slide Number Placeholder 3"/>
          <p:cNvSpPr>
            <a:spLocks noGrp="1"/>
          </p:cNvSpPr>
          <p:nvPr>
            <p:ph type="sldNum" sz="quarter" idx="5"/>
          </p:nvPr>
        </p:nvSpPr>
        <p:spPr/>
        <p:txBody>
          <a:bodyPr/>
          <a:lstStyle/>
          <a:p>
            <a:fld id="{4872D949-62BC-4112-8CDE-DEE275133A2C}" type="slidenum">
              <a:rPr lang="en-US" smtClean="0"/>
              <a:t>9</a:t>
            </a:fld>
            <a:endParaRPr lang="en-US"/>
          </a:p>
        </p:txBody>
      </p:sp>
    </p:spTree>
    <p:extLst>
      <p:ext uri="{BB962C8B-B14F-4D97-AF65-F5344CB8AC3E}">
        <p14:creationId xmlns:p14="http://schemas.microsoft.com/office/powerpoint/2010/main" val="42173609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most reliable detection signal is AuthenticationProtocol == "deviceCode" in the sign-in logs. Most corporate users never use device code flow - it's designed for headless devices. If you see a finance team member or executive authenticating via device code, that's immediately suspicious. The IP mismatch between initial auth and subsequent token use is the second signal - the victim enters the code from their corporate network, but the attacker redeems the token from their own infrastructure. We'll look at both detection queries next.</a:t>
            </a:r>
          </a:p>
        </p:txBody>
      </p:sp>
      <p:sp>
        <p:nvSpPr>
          <p:cNvPr id="4" name="Slide Number Placeholder 3"/>
          <p:cNvSpPr>
            <a:spLocks noGrp="1"/>
          </p:cNvSpPr>
          <p:nvPr>
            <p:ph type="sldNum" sz="quarter" idx="5"/>
          </p:nvPr>
        </p:nvSpPr>
        <p:spPr/>
        <p:txBody>
          <a:bodyPr/>
          <a:lstStyle/>
          <a:p>
            <a:fld id="{4872D949-62BC-4112-8CDE-DEE275133A2C}" type="slidenum">
              <a:rPr lang="en-US" smtClean="0"/>
              <a:t>10</a:t>
            </a:fld>
            <a:endParaRPr lang="en-US"/>
          </a:p>
        </p:txBody>
      </p:sp>
    </p:spTree>
    <p:extLst>
      <p:ext uri="{BB962C8B-B14F-4D97-AF65-F5344CB8AC3E}">
        <p14:creationId xmlns:p14="http://schemas.microsoft.com/office/powerpoint/2010/main" val="34775802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The most reliable detection signal is AuthenticationProtocol == "deviceCode" in the sign-in logs. Most corporate users never use device code flow - it's designed for headless devices. If you see a finance team member or executive authenticating via device code, that's immediately suspicious. The IP mismatch between initial auth and subsequent token use is the second signal - the victim enters the code from their corporate network, but the attacker redeems the token from their own infrastructure. We'll look at both detection queries next.</a:t>
            </a:r>
          </a:p>
        </p:txBody>
      </p:sp>
      <p:sp>
        <p:nvSpPr>
          <p:cNvPr id="4" name="Slide Number Placeholder 3"/>
          <p:cNvSpPr>
            <a:spLocks noGrp="1"/>
          </p:cNvSpPr>
          <p:nvPr>
            <p:ph type="sldNum" sz="quarter" idx="5"/>
          </p:nvPr>
        </p:nvSpPr>
        <p:spPr/>
        <p:txBody>
          <a:bodyPr/>
          <a:lstStyle/>
          <a:p>
            <a:fld id="{4872D949-62BC-4112-8CDE-DEE275133A2C}" type="slidenum">
              <a:rPr lang="en-US" smtClean="0"/>
              <a:t>11</a:t>
            </a:fld>
            <a:endParaRPr lang="en-US"/>
          </a:p>
        </p:txBody>
      </p:sp>
    </p:spTree>
    <p:extLst>
      <p:ext uri="{BB962C8B-B14F-4D97-AF65-F5344CB8AC3E}">
        <p14:creationId xmlns:p14="http://schemas.microsoft.com/office/powerpoint/2010/main" val="39229864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your primary detection query for device code phishing. Run this weekly as a scheduled hunt. In most corporate environments, the result set should be very small or zero. Any result warrants investigation. The DeviceName field helps distinguish legitimate device code usage (managed IoT devices will have a known device name) from phishing (typically null or unknown device). Demo this query in the lab environment and show students what a legitimate vs. suspicious result looks like.</a:t>
            </a:r>
          </a:p>
        </p:txBody>
      </p:sp>
      <p:sp>
        <p:nvSpPr>
          <p:cNvPr id="4" name="Slide Number Placeholder 3"/>
          <p:cNvSpPr>
            <a:spLocks noGrp="1"/>
          </p:cNvSpPr>
          <p:nvPr>
            <p:ph type="sldNum" sz="quarter" idx="5"/>
          </p:nvPr>
        </p:nvSpPr>
        <p:spPr/>
        <p:txBody>
          <a:bodyPr/>
          <a:lstStyle/>
          <a:p>
            <a:fld id="{4872D949-62BC-4112-8CDE-DEE275133A2C}" type="slidenum">
              <a:rPr lang="en-US" smtClean="0"/>
              <a:t>12</a:t>
            </a:fld>
            <a:endParaRPr lang="en-US"/>
          </a:p>
        </p:txBody>
      </p:sp>
    </p:spTree>
    <p:extLst>
      <p:ext uri="{BB962C8B-B14F-4D97-AF65-F5344CB8AC3E}">
        <p14:creationId xmlns:p14="http://schemas.microsoft.com/office/powerpoint/2010/main" val="7640635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correlation query that confirms device code phishing. It finds cases where a user completed device code authentication from one IP, then the resulting token was used from a different IP within one hour. The SignInIP is where the victim entered the code. The AccessIP is where the attacker used the stolen token. If these are different - especially different countries - you have a confirmed device code phishing event. This query is highly specific and low false-positive.</a:t>
            </a:r>
          </a:p>
        </p:txBody>
      </p:sp>
      <p:sp>
        <p:nvSpPr>
          <p:cNvPr id="4" name="Slide Number Placeholder 3"/>
          <p:cNvSpPr>
            <a:spLocks noGrp="1"/>
          </p:cNvSpPr>
          <p:nvPr>
            <p:ph type="sldNum" sz="quarter" idx="5"/>
          </p:nvPr>
        </p:nvSpPr>
        <p:spPr/>
        <p:txBody>
          <a:bodyPr/>
          <a:lstStyle/>
          <a:p>
            <a:fld id="{4872D949-62BC-4112-8CDE-DEE275133A2C}" type="slidenum">
              <a:rPr lang="en-US" smtClean="0"/>
              <a:t>13</a:t>
            </a:fld>
            <a:endParaRPr lang="en-US"/>
          </a:p>
        </p:txBody>
      </p:sp>
    </p:spTree>
    <p:extLst>
      <p:ext uri="{BB962C8B-B14F-4D97-AF65-F5344CB8AC3E}">
        <p14:creationId xmlns:p14="http://schemas.microsoft.com/office/powerpoint/2010/main" val="9572380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Adversary-in-the-Middle (AiTM) is the highest-impact phishing technique and the most common in the wild today. Evilginx is the most popular open-source framework for this. The critical point is that Multi-Factor Authentication (MFA) provides NO protection because the attacker steals the post-authentication session token, not the password or Multi-Factor Authentication (MFA) factor. From Microsoft's perspective, the authentication was completely valid. The attacker's browser session is indistinguishable from the victim's except for the IP address. This is why phishing-resistant Multi-Factor Authentication (MFA) like FIDO2 passkeys and certificate-based authentication are essential - they bind to the device and domain, preventing proxy-based theft.</a:t>
            </a:r>
          </a:p>
        </p:txBody>
      </p:sp>
      <p:sp>
        <p:nvSpPr>
          <p:cNvPr id="4" name="Slide Number Placeholder 3"/>
          <p:cNvSpPr>
            <a:spLocks noGrp="1"/>
          </p:cNvSpPr>
          <p:nvPr>
            <p:ph type="sldNum" sz="quarter" idx="5"/>
          </p:nvPr>
        </p:nvSpPr>
        <p:spPr/>
        <p:txBody>
          <a:bodyPr/>
          <a:lstStyle/>
          <a:p>
            <a:fld id="{4872D949-62BC-4112-8CDE-DEE275133A2C}" type="slidenum">
              <a:rPr lang="en-US" smtClean="0"/>
              <a:t>14</a:t>
            </a:fld>
            <a:endParaRPr lang="en-US"/>
          </a:p>
        </p:txBody>
      </p:sp>
    </p:spTree>
    <p:extLst>
      <p:ext uri="{BB962C8B-B14F-4D97-AF65-F5344CB8AC3E}">
        <p14:creationId xmlns:p14="http://schemas.microsoft.com/office/powerpoint/2010/main" val="2404717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Adversary-in-the-Middle (AiTM) is the highest-impact phishing technique and the most common in the wild today. Evilginx is the most popular open-source framework for this. The critical point is that Multi-Factor Authentication (MFA) provides NO protection because the attacker steals the post-authentication session token, not the password or Multi-Factor Authentication (MFA) factor. From Microsoft's perspective, the authentication was completely valid. The attacker's browser session is indistinguishable from the victim's except for the IP address. This is why phishing-resistant Multi-Factor Authentication (MFA) like FIDO2 passkeys and certificate-based authentication are essential - they bind to the device and domain, preventing proxy-based theft.</a:t>
            </a:r>
          </a:p>
        </p:txBody>
      </p:sp>
      <p:sp>
        <p:nvSpPr>
          <p:cNvPr id="4" name="Slide Number Placeholder 3"/>
          <p:cNvSpPr>
            <a:spLocks noGrp="1"/>
          </p:cNvSpPr>
          <p:nvPr>
            <p:ph type="sldNum" sz="quarter" idx="5"/>
          </p:nvPr>
        </p:nvSpPr>
        <p:spPr/>
        <p:txBody>
          <a:bodyPr/>
          <a:lstStyle/>
          <a:p>
            <a:fld id="{4872D949-62BC-4112-8CDE-DEE275133A2C}" type="slidenum">
              <a:rPr lang="en-US" smtClean="0"/>
              <a:t>15</a:t>
            </a:fld>
            <a:endParaRPr lang="en-US"/>
          </a:p>
        </p:txBody>
      </p:sp>
    </p:spTree>
    <p:extLst>
      <p:ext uri="{BB962C8B-B14F-4D97-AF65-F5344CB8AC3E}">
        <p14:creationId xmlns:p14="http://schemas.microsoft.com/office/powerpoint/2010/main" val="14831855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Adversary-in-the-Middle (AiTM) is the highest-impact phishing technique and the most common in the wild today. Evilginx is the most popular open-source framework for this. The critical point is that Multi-Factor Authentication (MFA) provides NO protection because the attacker steals the post-authentication session token, not the password or Multi-Factor Authentication (MFA) factor. From Microsoft's perspective, the authentication was completely valid. The attacker's browser session is indistinguishable from the victim's except for the IP address. This is why phishing-resistant Multi-Factor Authentication (MFA) like FIDO2 passkeys and certificate-based authentication are essential - they bind to the device and domain, preventing proxy-based theft.</a:t>
            </a:r>
          </a:p>
        </p:txBody>
      </p:sp>
      <p:sp>
        <p:nvSpPr>
          <p:cNvPr id="4" name="Slide Number Placeholder 3"/>
          <p:cNvSpPr>
            <a:spLocks noGrp="1"/>
          </p:cNvSpPr>
          <p:nvPr>
            <p:ph type="sldNum" sz="quarter" idx="5"/>
          </p:nvPr>
        </p:nvSpPr>
        <p:spPr/>
        <p:txBody>
          <a:bodyPr/>
          <a:lstStyle/>
          <a:p>
            <a:fld id="{4872D949-62BC-4112-8CDE-DEE275133A2C}" type="slidenum">
              <a:rPr lang="en-US" smtClean="0"/>
              <a:t>16</a:t>
            </a:fld>
            <a:endParaRPr lang="en-US"/>
          </a:p>
        </p:txBody>
      </p:sp>
    </p:spTree>
    <p:extLst>
      <p:ext uri="{BB962C8B-B14F-4D97-AF65-F5344CB8AC3E}">
        <p14:creationId xmlns:p14="http://schemas.microsoft.com/office/powerpoint/2010/main" val="18288812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BEC is the most financially impactful follow-on to Adversary-in-the-Middle (AiTM). Attackers look for active invoice or payment threads, create inbox rules to hide their activity from the victim, and then send emails redirecting payments to attacker-controlled accounts. The inbox rule creation is a critical detection signal - we have a Kusto Query Language (KQL) query for that. Multi-Factor Authentication (MFA) factor registration by the attacker is also common and is how they maintain access even after the session cookie expires. Emphasize to students that Adversary-in-the-Middle (AiTM) is not the end goal - it's the initial access that enables BEC, data theft, and lateral movement.</a:t>
            </a:r>
          </a:p>
        </p:txBody>
      </p:sp>
      <p:sp>
        <p:nvSpPr>
          <p:cNvPr id="4" name="Slide Number Placeholder 3"/>
          <p:cNvSpPr>
            <a:spLocks noGrp="1"/>
          </p:cNvSpPr>
          <p:nvPr>
            <p:ph type="sldNum" sz="quarter" idx="5"/>
          </p:nvPr>
        </p:nvSpPr>
        <p:spPr/>
        <p:txBody>
          <a:bodyPr/>
          <a:lstStyle/>
          <a:p>
            <a:fld id="{4872D949-62BC-4112-8CDE-DEE275133A2C}" type="slidenum">
              <a:rPr lang="en-US" smtClean="0"/>
              <a:t>17</a:t>
            </a:fld>
            <a:endParaRPr lang="en-US"/>
          </a:p>
        </p:txBody>
      </p:sp>
    </p:spTree>
    <p:extLst>
      <p:ext uri="{BB962C8B-B14F-4D97-AF65-F5344CB8AC3E}">
        <p14:creationId xmlns:p14="http://schemas.microsoft.com/office/powerpoint/2010/main" val="14952594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BEC is the most financially impactful follow-on to Adversary-in-the-Middle (AiTM). Attackers look for active invoice or payment threads, create inbox rules to hide their activity from the victim, and then send emails redirecting payments to attacker-controlled accounts. The inbox rule creation is a critical detection signal - we have a Kusto Query Language (KQL) query for that. Multi-Factor Authentication (MFA) factor registration by the attacker is also common and is how they maintain access even after the session cookie expires. Emphasize to students that Adversary-in-the-Middle (AiTM) is not the end goal - it's the initial access that enables BEC, data theft, and lateral movement.</a:t>
            </a:r>
          </a:p>
        </p:txBody>
      </p:sp>
      <p:sp>
        <p:nvSpPr>
          <p:cNvPr id="4" name="Slide Number Placeholder 3"/>
          <p:cNvSpPr>
            <a:spLocks noGrp="1"/>
          </p:cNvSpPr>
          <p:nvPr>
            <p:ph type="sldNum" sz="quarter" idx="5"/>
          </p:nvPr>
        </p:nvSpPr>
        <p:spPr/>
        <p:txBody>
          <a:bodyPr/>
          <a:lstStyle/>
          <a:p>
            <a:fld id="{4872D949-62BC-4112-8CDE-DEE275133A2C}" type="slidenum">
              <a:rPr lang="en-US" smtClean="0"/>
              <a:t>18</a:t>
            </a:fld>
            <a:endParaRPr lang="en-US"/>
          </a:p>
        </p:txBody>
      </p:sp>
    </p:spTree>
    <p:extLst>
      <p:ext uri="{BB962C8B-B14F-4D97-AF65-F5344CB8AC3E}">
        <p14:creationId xmlns:p14="http://schemas.microsoft.com/office/powerpoint/2010/main" val="28680159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all built-in alerts you should have enabled. The most important are AnomalousToken and AttackerInTheMiddle from Entra ID Protection - these require P2 licensing. The "Stolen session cookie was used" alert from Defender XDR is high-confidence and should always trigger investigation. Impossible travel from Defender for Cloud Apps catches the geographic anomaly when the attacker replays the cookie from a different location. The Safe Links click-through alert catches the phishing email click, which is earlier in the kill chain. Make sure students validate all these alerts are enabled in their environment.</a:t>
            </a:r>
          </a:p>
        </p:txBody>
      </p:sp>
      <p:sp>
        <p:nvSpPr>
          <p:cNvPr id="4" name="Slide Number Placeholder 3"/>
          <p:cNvSpPr>
            <a:spLocks noGrp="1"/>
          </p:cNvSpPr>
          <p:nvPr>
            <p:ph type="sldNum" sz="quarter" idx="5"/>
          </p:nvPr>
        </p:nvSpPr>
        <p:spPr/>
        <p:txBody>
          <a:bodyPr/>
          <a:lstStyle/>
          <a:p>
            <a:fld id="{4872D949-62BC-4112-8CDE-DEE275133A2C}" type="slidenum">
              <a:rPr lang="en-US" smtClean="0"/>
              <a:t>19</a:t>
            </a:fld>
            <a:endParaRPr lang="en-US"/>
          </a:p>
        </p:txBody>
      </p:sp>
    </p:spTree>
    <p:extLst>
      <p:ext uri="{BB962C8B-B14F-4D97-AF65-F5344CB8AC3E}">
        <p14:creationId xmlns:p14="http://schemas.microsoft.com/office/powerpoint/2010/main" val="15377767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query surfaces sign-ins flagged by Entra ID Protection's machine learning models. DetectedRiskTypes is the field that contains the specific risk type. For Adversary-in-the-Middle (AiTM), the three most relevant are anomalousToken, attackerInTheMiddle, and unfamiliarFeatures. These detections require Entra ID Protection P2 licensing. If your environment doesn't have P2, you'll need to rely on the manual detection patterns like IP mismatch and impossible travel, which we'll cover in the lab. Run this query in the demo environment and show the results.</a:t>
            </a:r>
          </a:p>
        </p:txBody>
      </p:sp>
      <p:sp>
        <p:nvSpPr>
          <p:cNvPr id="4" name="Slide Number Placeholder 3"/>
          <p:cNvSpPr>
            <a:spLocks noGrp="1"/>
          </p:cNvSpPr>
          <p:nvPr>
            <p:ph type="sldNum" sz="quarter" idx="5"/>
          </p:nvPr>
        </p:nvSpPr>
        <p:spPr/>
        <p:txBody>
          <a:bodyPr/>
          <a:lstStyle/>
          <a:p>
            <a:fld id="{4872D949-62BC-4112-8CDE-DEE275133A2C}" type="slidenum">
              <a:rPr lang="en-US" smtClean="0"/>
              <a:t>20</a:t>
            </a:fld>
            <a:endParaRPr lang="en-US"/>
          </a:p>
        </p:txBody>
      </p:sp>
    </p:spTree>
    <p:extLst>
      <p:ext uri="{BB962C8B-B14F-4D97-AF65-F5344CB8AC3E}">
        <p14:creationId xmlns:p14="http://schemas.microsoft.com/office/powerpoint/2010/main" val="42743306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one of the most powerful correlation queries in this module. It joins the email layer (UrlClickEvents - when did the user click the phishing link?) with the identity layer (AADSignInEventsBeta - when did a sign-in occur?). If a user clicked a phishing URL and then had a sign-in within 30 minutes, they likely authenticated through the Adversary-in-the-Middle (AiTM) proxy. The PhishUrl shows which domain they visited, and SignInIP shows where the subsequent sign-in came from. If SignInIP doesn't match the user's normal IP, the attacker likely has the session cookie. This query is the bridge between email detection and identity compromise.</a:t>
            </a:r>
          </a:p>
        </p:txBody>
      </p:sp>
      <p:sp>
        <p:nvSpPr>
          <p:cNvPr id="4" name="Slide Number Placeholder 3"/>
          <p:cNvSpPr>
            <a:spLocks noGrp="1"/>
          </p:cNvSpPr>
          <p:nvPr>
            <p:ph type="sldNum" sz="quarter" idx="5"/>
          </p:nvPr>
        </p:nvSpPr>
        <p:spPr/>
        <p:txBody>
          <a:bodyPr/>
          <a:lstStyle/>
          <a:p>
            <a:fld id="{4872D949-62BC-4112-8CDE-DEE275133A2C}" type="slidenum">
              <a:rPr lang="en-US" smtClean="0"/>
              <a:t>21</a:t>
            </a:fld>
            <a:endParaRPr lang="en-US"/>
          </a:p>
        </p:txBody>
      </p:sp>
    </p:spTree>
    <p:extLst>
      <p:ext uri="{BB962C8B-B14F-4D97-AF65-F5344CB8AC3E}">
        <p14:creationId xmlns:p14="http://schemas.microsoft.com/office/powerpoint/2010/main" val="21105382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one of the most powerful correlation queries in this module. It joins the email layer (UrlClickEvents - when did the user click the phishing link?) with the identity layer (AADSignInEventsBeta - when did a sign-in occur?). If a user clicked a phishing URL and then had a sign-in within 30 minutes, they likely authenticated through the Adversary-in-the-Middle (AiTM) proxy. The PhishUrl shows which domain they visited, and SignInIP shows where the subsequent sign-in came from. If SignInIP doesn't match the user's normal IP, the attacker likely has the session cookie. This query is the bridge between email detection and identity compromise.</a:t>
            </a:r>
          </a:p>
        </p:txBody>
      </p:sp>
      <p:sp>
        <p:nvSpPr>
          <p:cNvPr id="4" name="Slide Number Placeholder 3"/>
          <p:cNvSpPr>
            <a:spLocks noGrp="1"/>
          </p:cNvSpPr>
          <p:nvPr>
            <p:ph type="sldNum" sz="quarter" idx="5"/>
          </p:nvPr>
        </p:nvSpPr>
        <p:spPr/>
        <p:txBody>
          <a:bodyPr/>
          <a:lstStyle/>
          <a:p>
            <a:fld id="{4872D949-62BC-4112-8CDE-DEE275133A2C}" type="slidenum">
              <a:rPr lang="en-US" smtClean="0"/>
              <a:t>22</a:t>
            </a:fld>
            <a:endParaRPr lang="en-US"/>
          </a:p>
        </p:txBody>
      </p:sp>
    </p:spTree>
    <p:extLst>
      <p:ext uri="{BB962C8B-B14F-4D97-AF65-F5344CB8AC3E}">
        <p14:creationId xmlns:p14="http://schemas.microsoft.com/office/powerpoint/2010/main" val="29008624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After an attacker compromises an account via Adversary-in-the-Middle (AiTM), the first thing they typically do is create inbox rules to control the victim's mailbox. The most dangerous rules forward emails to external addresses or delete specific messages. Check the RawEventData for the rule parameters - look for ForwardTo with external domains, or DeleteMessage set to true. This query should be run as part of any Adversary-in-the-Middle (AiTM) investigation. If you find inbox rules created from an unfamiliar IP shortly after a risky sign-in, you've confirmed BEC activity. In the lab, we'll look at real inbox rule creation events and parse the rule parameters.</a:t>
            </a:r>
          </a:p>
        </p:txBody>
      </p:sp>
      <p:sp>
        <p:nvSpPr>
          <p:cNvPr id="4" name="Slide Number Placeholder 3"/>
          <p:cNvSpPr>
            <a:spLocks noGrp="1"/>
          </p:cNvSpPr>
          <p:nvPr>
            <p:ph type="sldNum" sz="quarter" idx="5"/>
          </p:nvPr>
        </p:nvSpPr>
        <p:spPr/>
        <p:txBody>
          <a:bodyPr/>
          <a:lstStyle/>
          <a:p>
            <a:fld id="{4872D949-62BC-4112-8CDE-DEE275133A2C}" type="slidenum">
              <a:rPr lang="en-US" smtClean="0"/>
              <a:t>23</a:t>
            </a:fld>
            <a:endParaRPr lang="en-US"/>
          </a:p>
        </p:txBody>
      </p:sp>
    </p:spTree>
    <p:extLst>
      <p:ext uri="{BB962C8B-B14F-4D97-AF65-F5344CB8AC3E}">
        <p14:creationId xmlns:p14="http://schemas.microsoft.com/office/powerpoint/2010/main" val="31397277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Illicit consent grants are the most persistent of the three techniques. The consent URL points to a legitimate Microsoft domain - login.microsoftonline.com/common/oauth2/authorize - which makes it hard for users to recognize as phishing. The consent prompt looks legitimate because it IS legitimate - Microsoft is genuinely asking the user to approve the permissions. The critical remediation point is that resetting passwords and revoking sessions does NOT remove the consent grant. An admin must explicitly revoke the OAuth permission grant. This is a common oversight in incident response.</a:t>
            </a:r>
          </a:p>
        </p:txBody>
      </p:sp>
      <p:sp>
        <p:nvSpPr>
          <p:cNvPr id="4" name="Slide Number Placeholder 3"/>
          <p:cNvSpPr>
            <a:spLocks noGrp="1"/>
          </p:cNvSpPr>
          <p:nvPr>
            <p:ph type="sldNum" sz="quarter" idx="5"/>
          </p:nvPr>
        </p:nvSpPr>
        <p:spPr/>
        <p:txBody>
          <a:bodyPr/>
          <a:lstStyle/>
          <a:p>
            <a:fld id="{4872D949-62BC-4112-8CDE-DEE275133A2C}" type="slidenum">
              <a:rPr lang="en-US" smtClean="0"/>
              <a:t>24</a:t>
            </a:fld>
            <a:endParaRPr lang="en-US"/>
          </a:p>
        </p:txBody>
      </p:sp>
    </p:spTree>
    <p:extLst>
      <p:ext uri="{BB962C8B-B14F-4D97-AF65-F5344CB8AC3E}">
        <p14:creationId xmlns:p14="http://schemas.microsoft.com/office/powerpoint/2010/main" val="9475583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Illicit consent grants are the most persistent of the three techniques. The consent URL points to a legitimate Microsoft domain - login.microsoftonline.com/common/oauth2/authorize - which makes it hard for users to recognize as phishing. The consent prompt looks legitimate because it IS legitimate - Microsoft is genuinely asking the user to approve the permissions. The critical remediation point is that resetting passwords and revoking sessions does NOT remove the consent grant. An admin must explicitly revoke the OAuth permission grant. This is a common oversight in incident response.</a:t>
            </a:r>
          </a:p>
        </p:txBody>
      </p:sp>
      <p:sp>
        <p:nvSpPr>
          <p:cNvPr id="4" name="Slide Number Placeholder 3"/>
          <p:cNvSpPr>
            <a:spLocks noGrp="1"/>
          </p:cNvSpPr>
          <p:nvPr>
            <p:ph type="sldNum" sz="quarter" idx="5"/>
          </p:nvPr>
        </p:nvSpPr>
        <p:spPr/>
        <p:txBody>
          <a:bodyPr/>
          <a:lstStyle/>
          <a:p>
            <a:fld id="{4872D949-62BC-4112-8CDE-DEE275133A2C}" type="slidenum">
              <a:rPr lang="en-US" smtClean="0"/>
              <a:t>25</a:t>
            </a:fld>
            <a:endParaRPr lang="en-US"/>
          </a:p>
        </p:txBody>
      </p:sp>
    </p:spTree>
    <p:extLst>
      <p:ext uri="{BB962C8B-B14F-4D97-AF65-F5344CB8AC3E}">
        <p14:creationId xmlns:p14="http://schemas.microsoft.com/office/powerpoint/2010/main" val="40408676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Mail.ReadWrite combined with offline_access is the most common dangerous combination - it gives the attacker persistent access to read and modify emails. offline_access means the refresh token doesn't expire, so the attacker maintains access indefinitely until the grant is revoked. Files.ReadWrite.All gives full access to SharePoint and OneDrive. AllPrincipals scope means admin consent was granted for the entire tenant, not just one user. If you find this in your audit logs from a non-admin user, it's a strong indicator of privilege escalation. The inventory script mentioned in the Attack module - Get-AzureADPSPermissions.ps1 - should be run periodically to audit all consent grants in your tenant.</a:t>
            </a:r>
          </a:p>
        </p:txBody>
      </p:sp>
      <p:sp>
        <p:nvSpPr>
          <p:cNvPr id="4" name="Slide Number Placeholder 3"/>
          <p:cNvSpPr>
            <a:spLocks noGrp="1"/>
          </p:cNvSpPr>
          <p:nvPr>
            <p:ph type="sldNum" sz="quarter" idx="5"/>
          </p:nvPr>
        </p:nvSpPr>
        <p:spPr/>
        <p:txBody>
          <a:bodyPr/>
          <a:lstStyle/>
          <a:p>
            <a:fld id="{4872D949-62BC-4112-8CDE-DEE275133A2C}" type="slidenum">
              <a:rPr lang="en-US" smtClean="0"/>
              <a:t>26</a:t>
            </a:fld>
            <a:endParaRPr lang="en-US"/>
          </a:p>
        </p:txBody>
      </p:sp>
    </p:spTree>
    <p:extLst>
      <p:ext uri="{BB962C8B-B14F-4D97-AF65-F5344CB8AC3E}">
        <p14:creationId xmlns:p14="http://schemas.microsoft.com/office/powerpoint/2010/main" val="3242335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Mail.ReadWrite combined with offline_access is the most common dangerous combination - it gives the attacker persistent access to read and modify emails. offline_access means the refresh token doesn't expire, so the attacker maintains access indefinitely until the grant is revoked. Files.ReadWrite.All gives full access to SharePoint and OneDrive. AllPrincipals scope means admin consent was granted for the entire tenant, not just one user. If you find this in your audit logs from a non-admin user, it's a strong indicator of privilege escalation. The inventory script mentioned in the Attack module - Get-AzureADPSPermissions.ps1 - should be run periodically to audit all consent grants in your tenant.</a:t>
            </a:r>
          </a:p>
        </p:txBody>
      </p:sp>
      <p:sp>
        <p:nvSpPr>
          <p:cNvPr id="4" name="Slide Number Placeholder 3"/>
          <p:cNvSpPr>
            <a:spLocks noGrp="1"/>
          </p:cNvSpPr>
          <p:nvPr>
            <p:ph type="sldNum" sz="quarter" idx="5"/>
          </p:nvPr>
        </p:nvSpPr>
        <p:spPr/>
        <p:txBody>
          <a:bodyPr/>
          <a:lstStyle/>
          <a:p>
            <a:fld id="{4872D949-62BC-4112-8CDE-DEE275133A2C}" type="slidenum">
              <a:rPr lang="en-US" smtClean="0"/>
              <a:t>27</a:t>
            </a:fld>
            <a:endParaRPr lang="en-US"/>
          </a:p>
        </p:txBody>
      </p:sp>
    </p:spTree>
    <p:extLst>
      <p:ext uri="{BB962C8B-B14F-4D97-AF65-F5344CB8AC3E}">
        <p14:creationId xmlns:p14="http://schemas.microsoft.com/office/powerpoint/2010/main" val="17498136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query surfaces all consent grant events in the last 30 days. The extended time window is important because consent grant attacks often have a long dwell time - the attacker may wait days or weeks before actively abusing the permissions. The AppName from RawEventData tells you which application received the consent. Cross-reference this against your approved app inventory. Any unfamiliar app name warrants immediate investigation. Also check the IPAddress - if consent was granted from an IP that doesn't match the user's normal location, it may have been granted via a phishing link.</a:t>
            </a:r>
          </a:p>
        </p:txBody>
      </p:sp>
      <p:sp>
        <p:nvSpPr>
          <p:cNvPr id="4" name="Slide Number Placeholder 3"/>
          <p:cNvSpPr>
            <a:spLocks noGrp="1"/>
          </p:cNvSpPr>
          <p:nvPr>
            <p:ph type="sldNum" sz="quarter" idx="5"/>
          </p:nvPr>
        </p:nvSpPr>
        <p:spPr/>
        <p:txBody>
          <a:bodyPr/>
          <a:lstStyle/>
          <a:p>
            <a:fld id="{4872D949-62BC-4112-8CDE-DEE275133A2C}" type="slidenum">
              <a:rPr lang="en-US" smtClean="0"/>
              <a:t>28</a:t>
            </a:fld>
            <a:endParaRPr lang="en-US"/>
          </a:p>
        </p:txBody>
      </p:sp>
    </p:spTree>
    <p:extLst>
      <p:ext uri="{BB962C8B-B14F-4D97-AF65-F5344CB8AC3E}">
        <p14:creationId xmlns:p14="http://schemas.microsoft.com/office/powerpoint/2010/main" val="12497697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subtle but critical detection pattern. Normal email access happens through the user's browser or Outlook client. After an illicit consent grant, the attacker reads email through the malicious application's Application Programming Interface (API) access. The ApplicationId field being populated indicates it was an app-based access, not a user-interactive session. If you see MailItemsAccessed with an ApplicationId that doesn't match Microsoft Outlook, Exchange Online, or another legitimate mail client, investigate immediately. In the lab, you'll see the difference between user-interactive mail access and application-based access.</a:t>
            </a:r>
          </a:p>
        </p:txBody>
      </p:sp>
      <p:sp>
        <p:nvSpPr>
          <p:cNvPr id="4" name="Slide Number Placeholder 3"/>
          <p:cNvSpPr>
            <a:spLocks noGrp="1"/>
          </p:cNvSpPr>
          <p:nvPr>
            <p:ph type="sldNum" sz="quarter" idx="5"/>
          </p:nvPr>
        </p:nvSpPr>
        <p:spPr/>
        <p:txBody>
          <a:bodyPr/>
          <a:lstStyle/>
          <a:p>
            <a:fld id="{4872D949-62BC-4112-8CDE-DEE275133A2C}" type="slidenum">
              <a:rPr lang="en-US" smtClean="0"/>
              <a:t>29</a:t>
            </a:fld>
            <a:endParaRPr lang="en-US"/>
          </a:p>
        </p:txBody>
      </p:sp>
    </p:spTree>
    <p:extLst>
      <p:ext uri="{BB962C8B-B14F-4D97-AF65-F5344CB8AC3E}">
        <p14:creationId xmlns:p14="http://schemas.microsoft.com/office/powerpoint/2010/main" val="288848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tables are from the Defender for Office 365 Advanced Hunting schema. They provide visibility into the email delivery pipeline that Sentinel tables don't have. EmailEvents is your starting point - it shows what was delivered, what was blocked, and what verdict was applied. EmailUrlInfo extracts every URL including those embedded in QR codes. UrlClickEvents is the confirmation layer - it shows whether a user actually clicked a phishing link. The join key across all tables is NetworkMessageId, which we learned in Module 00.</a:t>
            </a:r>
          </a:p>
        </p:txBody>
      </p:sp>
      <p:sp>
        <p:nvSpPr>
          <p:cNvPr id="4" name="Slide Number Placeholder 3"/>
          <p:cNvSpPr>
            <a:spLocks noGrp="1"/>
          </p:cNvSpPr>
          <p:nvPr>
            <p:ph type="sldNum" sz="quarter" idx="5"/>
          </p:nvPr>
        </p:nvSpPr>
        <p:spPr/>
        <p:txBody>
          <a:bodyPr/>
          <a:lstStyle/>
          <a:p>
            <a:fld id="{4872D949-62BC-4112-8CDE-DEE275133A2C}" type="slidenum">
              <a:rPr lang="en-US" smtClean="0"/>
              <a:t>30</a:t>
            </a:fld>
            <a:endParaRPr lang="en-US"/>
          </a:p>
        </p:txBody>
      </p:sp>
    </p:spTree>
    <p:extLst>
      <p:ext uri="{BB962C8B-B14F-4D97-AF65-F5344CB8AC3E}">
        <p14:creationId xmlns:p14="http://schemas.microsoft.com/office/powerpoint/2010/main" val="20543707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tables are from the Defender for Office 365 Advanced Hunting schema. They provide visibility into the email delivery pipeline that Sentinel tables don't have. EmailEvents is your starting point - it shows what was delivered, what was blocked, and what verdict was applied. EmailUrlInfo extracts every URL including those embedded in QR codes. UrlClickEvents is the confirmation layer - it shows whether a user actually clicked a phishing link. The join key across all tables is NetworkMessageId, which we learned in Module 00.</a:t>
            </a:r>
          </a:p>
        </p:txBody>
      </p:sp>
      <p:sp>
        <p:nvSpPr>
          <p:cNvPr id="4" name="Slide Number Placeholder 3"/>
          <p:cNvSpPr>
            <a:spLocks noGrp="1"/>
          </p:cNvSpPr>
          <p:nvPr>
            <p:ph type="sldNum" sz="quarter" idx="5"/>
          </p:nvPr>
        </p:nvSpPr>
        <p:spPr/>
        <p:txBody>
          <a:bodyPr/>
          <a:lstStyle/>
          <a:p>
            <a:fld id="{4872D949-62BC-4112-8CDE-DEE275133A2C}" type="slidenum">
              <a:rPr lang="en-US" smtClean="0"/>
              <a:t>31</a:t>
            </a:fld>
            <a:endParaRPr lang="en-US"/>
          </a:p>
        </p:txBody>
      </p:sp>
    </p:spTree>
    <p:extLst>
      <p:ext uri="{BB962C8B-B14F-4D97-AF65-F5344CB8AC3E}">
        <p14:creationId xmlns:p14="http://schemas.microsoft.com/office/powerpoint/2010/main" val="31454510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query finds the gap in your defenses - phishing emails that were correctly classified but still delivered to the inbox. DeliveryAction == "Delivered" with DeliveryLocation == "Inbox/Folder" means the user has the email in front of them. Check LatestDeliveryAction to see if ZAP moved it after initial delivery. The UrlCount and AttachmentCount fields tell you whether to pivot to EmailUrlInfo or EmailAttachmentInfo for additional context. DetectionMethods shows which detection technology flagged it. This query should be run weekly as a minimum hunting cadence.</a:t>
            </a:r>
          </a:p>
        </p:txBody>
      </p:sp>
      <p:sp>
        <p:nvSpPr>
          <p:cNvPr id="4" name="Slide Number Placeholder 3"/>
          <p:cNvSpPr>
            <a:spLocks noGrp="1"/>
          </p:cNvSpPr>
          <p:nvPr>
            <p:ph type="sldNum" sz="quarter" idx="5"/>
          </p:nvPr>
        </p:nvSpPr>
        <p:spPr/>
        <p:txBody>
          <a:bodyPr/>
          <a:lstStyle/>
          <a:p>
            <a:fld id="{4872D949-62BC-4112-8CDE-DEE275133A2C}" type="slidenum">
              <a:rPr lang="en-US" smtClean="0"/>
              <a:t>32</a:t>
            </a:fld>
            <a:endParaRPr lang="en-US"/>
          </a:p>
        </p:txBody>
      </p:sp>
    </p:spTree>
    <p:extLst>
      <p:ext uri="{BB962C8B-B14F-4D97-AF65-F5344CB8AC3E}">
        <p14:creationId xmlns:p14="http://schemas.microsoft.com/office/powerpoint/2010/main" val="4891812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most complete phishing detection query in the module. It reconstructs the full kill chain: the email arrived, the URL was extracted and analyzed, and the user clicked it. The IsClickedThrough field is the highest severity signal - it means the user clicked past a Safe Links warning. This query gives you everything you need to start an incident: who received the email, who sent it, what URL it contained, whether the user clicked, and from which IP. In the lab, students will run this query and trace a complete phishing attack from email delivery to user interaction.</a:t>
            </a:r>
          </a:p>
        </p:txBody>
      </p:sp>
      <p:sp>
        <p:nvSpPr>
          <p:cNvPr id="4" name="Slide Number Placeholder 3"/>
          <p:cNvSpPr>
            <a:spLocks noGrp="1"/>
          </p:cNvSpPr>
          <p:nvPr>
            <p:ph type="sldNum" sz="quarter" idx="5"/>
          </p:nvPr>
        </p:nvSpPr>
        <p:spPr/>
        <p:txBody>
          <a:bodyPr/>
          <a:lstStyle/>
          <a:p>
            <a:fld id="{4872D949-62BC-4112-8CDE-DEE275133A2C}" type="slidenum">
              <a:rPr lang="en-US" smtClean="0"/>
              <a:t>33</a:t>
            </a:fld>
            <a:endParaRPr lang="en-US"/>
          </a:p>
        </p:txBody>
      </p:sp>
    </p:spTree>
    <p:extLst>
      <p:ext uri="{BB962C8B-B14F-4D97-AF65-F5344CB8AC3E}">
        <p14:creationId xmlns:p14="http://schemas.microsoft.com/office/powerpoint/2010/main" val="7991766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most complete phishing detection query in the module. It reconstructs the full kill chain: the email arrived, the URL was extracted and analyzed, and the user clicked it. The IsClickedThrough field is the highest severity signal - it means the user clicked past a Safe Links warning. This query gives you everything you need to start an incident: who received the email, who sent it, what URL it contained, whether the user clicked, and from which IP. In the lab, students will run this query and trace a complete phishing attack from email delivery to user interaction.</a:t>
            </a:r>
          </a:p>
        </p:txBody>
      </p:sp>
      <p:sp>
        <p:nvSpPr>
          <p:cNvPr id="4" name="Slide Number Placeholder 3"/>
          <p:cNvSpPr>
            <a:spLocks noGrp="1"/>
          </p:cNvSpPr>
          <p:nvPr>
            <p:ph type="sldNum" sz="quarter" idx="5"/>
          </p:nvPr>
        </p:nvSpPr>
        <p:spPr/>
        <p:txBody>
          <a:bodyPr/>
          <a:lstStyle/>
          <a:p>
            <a:fld id="{4872D949-62BC-4112-8CDE-DEE275133A2C}" type="slidenum">
              <a:rPr lang="en-US" smtClean="0"/>
              <a:t>34</a:t>
            </a:fld>
            <a:endParaRPr lang="en-US"/>
          </a:p>
        </p:txBody>
      </p:sp>
    </p:spTree>
    <p:extLst>
      <p:ext uri="{BB962C8B-B14F-4D97-AF65-F5344CB8AC3E}">
        <p14:creationId xmlns:p14="http://schemas.microsoft.com/office/powerpoint/2010/main" val="42735114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QR code phishing - sometimes called "quishing" - is a rapidly growing technique. The URL is encoded in a QR code image in the email body. Users scan with their personal phone camera, which takes them to the phishing page outside of any corporate security controls. The UrlLocation == "QRCode" filter in EmailUrlInfo is a relatively new capability in Defender for Office 365. If you find delivered emails with QR code URLs, these are high priority because users who scan them are completely unprotected by Safe Links.</a:t>
            </a:r>
          </a:p>
        </p:txBody>
      </p:sp>
      <p:sp>
        <p:nvSpPr>
          <p:cNvPr id="4" name="Slide Number Placeholder 3"/>
          <p:cNvSpPr>
            <a:spLocks noGrp="1"/>
          </p:cNvSpPr>
          <p:nvPr>
            <p:ph type="sldNum" sz="quarter" idx="5"/>
          </p:nvPr>
        </p:nvSpPr>
        <p:spPr/>
        <p:txBody>
          <a:bodyPr/>
          <a:lstStyle/>
          <a:p>
            <a:fld id="{4872D949-62BC-4112-8CDE-DEE275133A2C}" type="slidenum">
              <a:rPr lang="en-US" smtClean="0"/>
              <a:t>35</a:t>
            </a:fld>
            <a:endParaRPr lang="en-US"/>
          </a:p>
        </p:txBody>
      </p:sp>
    </p:spTree>
    <p:extLst>
      <p:ext uri="{BB962C8B-B14F-4D97-AF65-F5344CB8AC3E}">
        <p14:creationId xmlns:p14="http://schemas.microsoft.com/office/powerpoint/2010/main" val="42001916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QR code phishing - sometimes called "quishing" - is a rapidly growing technique. The URL is encoded in a QR code image in the email body. Users scan with their personal phone camera, which takes them to the phishing page outside of any corporate security controls. The UrlLocation == "QRCode" filter in EmailUrlInfo is a relatively new capability in Defender for Office 365. If you find delivered emails with QR code URLs, these are high priority because users who scan them are completely unprotected by Safe Links.</a:t>
            </a:r>
          </a:p>
        </p:txBody>
      </p:sp>
      <p:sp>
        <p:nvSpPr>
          <p:cNvPr id="4" name="Slide Number Placeholder 3"/>
          <p:cNvSpPr>
            <a:spLocks noGrp="1"/>
          </p:cNvSpPr>
          <p:nvPr>
            <p:ph type="sldNum" sz="quarter" idx="5"/>
          </p:nvPr>
        </p:nvSpPr>
        <p:spPr/>
        <p:txBody>
          <a:bodyPr/>
          <a:lstStyle/>
          <a:p>
            <a:fld id="{4872D949-62BC-4112-8CDE-DEE275133A2C}" type="slidenum">
              <a:rPr lang="en-US" smtClean="0"/>
              <a:t>36</a:t>
            </a:fld>
            <a:endParaRPr lang="en-US"/>
          </a:p>
        </p:txBody>
      </p:sp>
    </p:spTree>
    <p:extLst>
      <p:ext uri="{BB962C8B-B14F-4D97-AF65-F5344CB8AC3E}">
        <p14:creationId xmlns:p14="http://schemas.microsoft.com/office/powerpoint/2010/main" val="41208831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query catches the phishing email BEFORE the user acts on it. It looks for delivered emails containing URLs that point to OAuth consent endpoints or the device login page. These are the lure emails for device code phishing and illicit consent grant attacks. The URL patterns are specific: microsoft.com/devicelogin for device code, and login.microsoftonline.com with oauth2/authorize and client_id for consent grants. If you find these, immediately check whether any recipients clicked through using UrlClickEvents. This query can also be converted into an analytics rule for continuous monitoring.</a:t>
            </a:r>
          </a:p>
        </p:txBody>
      </p:sp>
      <p:sp>
        <p:nvSpPr>
          <p:cNvPr id="4" name="Slide Number Placeholder 3"/>
          <p:cNvSpPr>
            <a:spLocks noGrp="1"/>
          </p:cNvSpPr>
          <p:nvPr>
            <p:ph type="sldNum" sz="quarter" idx="5"/>
          </p:nvPr>
        </p:nvSpPr>
        <p:spPr/>
        <p:txBody>
          <a:bodyPr/>
          <a:lstStyle/>
          <a:p>
            <a:fld id="{4872D949-62BC-4112-8CDE-DEE275133A2C}" type="slidenum">
              <a:rPr lang="en-US" smtClean="0"/>
              <a:t>37</a:t>
            </a:fld>
            <a:endParaRPr lang="en-US"/>
          </a:p>
        </p:txBody>
      </p:sp>
    </p:spTree>
    <p:extLst>
      <p:ext uri="{BB962C8B-B14F-4D97-AF65-F5344CB8AC3E}">
        <p14:creationId xmlns:p14="http://schemas.microsoft.com/office/powerpoint/2010/main" val="19177279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query catches the phishing email BEFORE the user acts on it. It looks for delivered emails containing URLs that point to OAuth consent endpoints or the device login page. These are the lure emails for device code phishing and illicit consent grant attacks. The URL patterns are specific: microsoft.com/devicelogin for device code, and login.microsoftonline.com with oauth2/authorize and client_id for consent grants. If you find these, immediately check whether any recipients clicked through using UrlClickEvents. This query can also be converted into an analytics rule for continuous monitoring.</a:t>
            </a:r>
          </a:p>
        </p:txBody>
      </p:sp>
      <p:sp>
        <p:nvSpPr>
          <p:cNvPr id="4" name="Slide Number Placeholder 3"/>
          <p:cNvSpPr>
            <a:spLocks noGrp="1"/>
          </p:cNvSpPr>
          <p:nvPr>
            <p:ph type="sldNum" sz="quarter" idx="5"/>
          </p:nvPr>
        </p:nvSpPr>
        <p:spPr/>
        <p:txBody>
          <a:bodyPr/>
          <a:lstStyle/>
          <a:p>
            <a:fld id="{4872D949-62BC-4112-8CDE-DEE275133A2C}" type="slidenum">
              <a:rPr lang="en-US" smtClean="0"/>
              <a:t>38</a:t>
            </a:fld>
            <a:endParaRPr lang="en-US"/>
          </a:p>
        </p:txBody>
      </p:sp>
    </p:spTree>
    <p:extLst>
      <p:ext uri="{BB962C8B-B14F-4D97-AF65-F5344CB8AC3E}">
        <p14:creationId xmlns:p14="http://schemas.microsoft.com/office/powerpoint/2010/main" val="13388810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seven alert rules cover all three attack techniques. Every one should be configured as at minimum a High severity analytics rule or NRT rule in Sentinel. The device code sign-in alert should fire on any occurrence since most corporate users never use device code flow. The Adversary-in-the-Middle (AiTM) alerts leverage built-in detections from Entra ID Protection and Defender XDR. The consent grant and inbox rule alerts cover the persistence and BEC phases. Walk students through how to create at least one of these as an analytics rule in the lab.</a:t>
            </a:r>
          </a:p>
        </p:txBody>
      </p:sp>
      <p:sp>
        <p:nvSpPr>
          <p:cNvPr id="4" name="Slide Number Placeholder 3"/>
          <p:cNvSpPr>
            <a:spLocks noGrp="1"/>
          </p:cNvSpPr>
          <p:nvPr>
            <p:ph type="sldNum" sz="quarter" idx="5"/>
          </p:nvPr>
        </p:nvSpPr>
        <p:spPr/>
        <p:txBody>
          <a:bodyPr/>
          <a:lstStyle/>
          <a:p>
            <a:fld id="{4872D949-62BC-4112-8CDE-DEE275133A2C}" type="slidenum">
              <a:rPr lang="en-US" smtClean="0"/>
              <a:t>39</a:t>
            </a:fld>
            <a:endParaRPr lang="en-US"/>
          </a:p>
        </p:txBody>
      </p:sp>
    </p:spTree>
    <p:extLst>
      <p:ext uri="{BB962C8B-B14F-4D97-AF65-F5344CB8AC3E}">
        <p14:creationId xmlns:p14="http://schemas.microsoft.com/office/powerpoint/2010/main" val="38492556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most critical immediate action is revoking refresh tokens. Device code phishing gives the attacker a long-lived refresh token that can persist for 90 days. Disabling the account and revoking tokens cuts off the attacker's access immediately. Setting the user risk to HIGH in Entra ID Protection triggers any risk-based Conditional Access policies, which provides additional protection if you have policies configured for high-risk sign-ins. After containment, investigate what the attacker accessed - check MicrosoftGraphActivityLogs and CloudAppEvents for the attacker's IP.</a:t>
            </a:r>
          </a:p>
        </p:txBody>
      </p:sp>
      <p:sp>
        <p:nvSpPr>
          <p:cNvPr id="4" name="Slide Number Placeholder 3"/>
          <p:cNvSpPr>
            <a:spLocks noGrp="1"/>
          </p:cNvSpPr>
          <p:nvPr>
            <p:ph type="sldNum" sz="quarter" idx="5"/>
          </p:nvPr>
        </p:nvSpPr>
        <p:spPr/>
        <p:txBody>
          <a:bodyPr/>
          <a:lstStyle/>
          <a:p>
            <a:fld id="{4872D949-62BC-4112-8CDE-DEE275133A2C}" type="slidenum">
              <a:rPr lang="en-US" smtClean="0"/>
              <a:t>40</a:t>
            </a:fld>
            <a:endParaRPr lang="en-US"/>
          </a:p>
        </p:txBody>
      </p:sp>
    </p:spTree>
    <p:extLst>
      <p:ext uri="{BB962C8B-B14F-4D97-AF65-F5344CB8AC3E}">
        <p14:creationId xmlns:p14="http://schemas.microsoft.com/office/powerpoint/2010/main" val="42424083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The most critical immediate action is revoking refresh tokens. Device code phishing gives the attacker a long-lived refresh token that can persist for 90 days. Disabling the account and revoking tokens cuts off the attacker's access immediately. Setting the user risk to HIGH in Entra ID Protection triggers any risk-based Conditional Access policies, which provides additional protection if you have policies configured for high-risk sign-ins. After containment, investigate what the attacker accessed - check MicrosoftGraphActivityLogs and CloudAppEvents for the attacker's IP.</a:t>
            </a:r>
          </a:p>
        </p:txBody>
      </p:sp>
      <p:sp>
        <p:nvSpPr>
          <p:cNvPr id="4" name="Slide Number Placeholder 3"/>
          <p:cNvSpPr>
            <a:spLocks noGrp="1"/>
          </p:cNvSpPr>
          <p:nvPr>
            <p:ph type="sldNum" sz="quarter" idx="5"/>
          </p:nvPr>
        </p:nvSpPr>
        <p:spPr/>
        <p:txBody>
          <a:bodyPr/>
          <a:lstStyle/>
          <a:p>
            <a:fld id="{4872D949-62BC-4112-8CDE-DEE275133A2C}" type="slidenum">
              <a:rPr lang="en-US" smtClean="0"/>
              <a:t>41</a:t>
            </a:fld>
            <a:endParaRPr lang="en-US"/>
          </a:p>
        </p:txBody>
      </p:sp>
    </p:spTree>
    <p:extLst>
      <p:ext uri="{BB962C8B-B14F-4D97-AF65-F5344CB8AC3E}">
        <p14:creationId xmlns:p14="http://schemas.microsoft.com/office/powerpoint/2010/main" val="32054924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Adversary-in-the-Middle (AiTM) remediation is more complex than device code because of the BEC follow-on activity. You must check for attacker-registered Multi-Factor Authentication (MFA) methods - the attacker may have added a phone number or authenticator app during the session. Inbox rules are critical - the attacker may have created rules to forward all incoming email to an external address, or to delete messages from specific senders. Use Get-InboxRule to enumerate all rules and look for anything created during or after the attack window. Also check Registered Devices in Entra ID - the attacker may have registered their device to maintain access.</a:t>
            </a:r>
          </a:p>
        </p:txBody>
      </p:sp>
      <p:sp>
        <p:nvSpPr>
          <p:cNvPr id="4" name="Slide Number Placeholder 3"/>
          <p:cNvSpPr>
            <a:spLocks noGrp="1"/>
          </p:cNvSpPr>
          <p:nvPr>
            <p:ph type="sldNum" sz="quarter" idx="5"/>
          </p:nvPr>
        </p:nvSpPr>
        <p:spPr/>
        <p:txBody>
          <a:bodyPr/>
          <a:lstStyle/>
          <a:p>
            <a:fld id="{4872D949-62BC-4112-8CDE-DEE275133A2C}" type="slidenum">
              <a:rPr lang="en-US" smtClean="0"/>
              <a:t>42</a:t>
            </a:fld>
            <a:endParaRPr lang="en-US"/>
          </a:p>
        </p:txBody>
      </p:sp>
    </p:spTree>
    <p:extLst>
      <p:ext uri="{BB962C8B-B14F-4D97-AF65-F5344CB8AC3E}">
        <p14:creationId xmlns:p14="http://schemas.microsoft.com/office/powerpoint/2010/main" val="844037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Adversary-in-the-Middle (AiTM) remediation is more complex than device code because of the BEC follow-on activity. You must check for attacker-registered Multi-Factor Authentication (MFA) methods - the attacker may have added a phone number or authenticator app during the session. Inbox rules are critical - the attacker may have created rules to forward all incoming email to an external address, or to delete messages from specific senders. Use Get-InboxRule to enumerate all rules and look for anything created during or after the attack window. Also check Registered Devices in Entra ID - the attacker may have registered their device to maintain access.</a:t>
            </a:r>
          </a:p>
        </p:txBody>
      </p:sp>
      <p:sp>
        <p:nvSpPr>
          <p:cNvPr id="4" name="Slide Number Placeholder 3"/>
          <p:cNvSpPr>
            <a:spLocks noGrp="1"/>
          </p:cNvSpPr>
          <p:nvPr>
            <p:ph type="sldNum" sz="quarter" idx="5"/>
          </p:nvPr>
        </p:nvSpPr>
        <p:spPr/>
        <p:txBody>
          <a:bodyPr/>
          <a:lstStyle/>
          <a:p>
            <a:fld id="{4872D949-62BC-4112-8CDE-DEE275133A2C}" type="slidenum">
              <a:rPr lang="en-US" smtClean="0"/>
              <a:t>43</a:t>
            </a:fld>
            <a:endParaRPr lang="en-US"/>
          </a:p>
        </p:txBody>
      </p:sp>
    </p:spTree>
    <p:extLst>
      <p:ext uri="{BB962C8B-B14F-4D97-AF65-F5344CB8AC3E}">
        <p14:creationId xmlns:p14="http://schemas.microsoft.com/office/powerpoint/2010/main" val="18093885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most important remediation point in the entire module. Many incident responders will reset the password, revoke sessions, and close the incident - but the consent grant is still active. The attacker's application still has delegated access to the victim's data. You must explicitly revoke the OAuth permission grant using Remove-MgOauth2PermissionGrant. Do NOT delete the malicious application - disabling it is sufficient. If you delete it, the attacker can re-register it with the same client ID and the consent grant may be re-established. Disable the app via Entra admin center: Enterprise Applications &gt; Properties &gt; Enabled for sign-in: No.</a:t>
            </a:r>
          </a:p>
        </p:txBody>
      </p:sp>
      <p:sp>
        <p:nvSpPr>
          <p:cNvPr id="4" name="Slide Number Placeholder 3"/>
          <p:cNvSpPr>
            <a:spLocks noGrp="1"/>
          </p:cNvSpPr>
          <p:nvPr>
            <p:ph type="sldNum" sz="quarter" idx="5"/>
          </p:nvPr>
        </p:nvSpPr>
        <p:spPr/>
        <p:txBody>
          <a:bodyPr/>
          <a:lstStyle/>
          <a:p>
            <a:fld id="{4872D949-62BC-4112-8CDE-DEE275133A2C}" type="slidenum">
              <a:rPr lang="en-US" smtClean="0"/>
              <a:t>44</a:t>
            </a:fld>
            <a:endParaRPr lang="en-US"/>
          </a:p>
        </p:txBody>
      </p:sp>
    </p:spTree>
    <p:extLst>
      <p:ext uri="{BB962C8B-B14F-4D97-AF65-F5344CB8AC3E}">
        <p14:creationId xmlns:p14="http://schemas.microsoft.com/office/powerpoint/2010/main" val="22751854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single most effective control against device code phishing. If you block the device code flow at the Conditional Access level, the attack is completely prevented - the attacker can't even initiate the flow. The Conditional Access Authentication Flows policy was introduced specifically to address this threat. For organizations that need device code flow for legitimate purposes (Azure CLI, IoT devices), create a narrowly scoped exception and monitor it. Ask students: has anyone configured this policy in their environment? Walk through the configuration in the Entra admin center.</a:t>
            </a:r>
          </a:p>
        </p:txBody>
      </p:sp>
      <p:sp>
        <p:nvSpPr>
          <p:cNvPr id="4" name="Slide Number Placeholder 3"/>
          <p:cNvSpPr>
            <a:spLocks noGrp="1"/>
          </p:cNvSpPr>
          <p:nvPr>
            <p:ph type="sldNum" sz="quarter" idx="5"/>
          </p:nvPr>
        </p:nvSpPr>
        <p:spPr/>
        <p:txBody>
          <a:bodyPr/>
          <a:lstStyle/>
          <a:p>
            <a:fld id="{4872D949-62BC-4112-8CDE-DEE275133A2C}" type="slidenum">
              <a:rPr lang="en-US" smtClean="0"/>
              <a:t>45</a:t>
            </a:fld>
            <a:endParaRPr lang="en-US"/>
          </a:p>
        </p:txBody>
      </p:sp>
    </p:spTree>
    <p:extLst>
      <p:ext uri="{BB962C8B-B14F-4D97-AF65-F5344CB8AC3E}">
        <p14:creationId xmlns:p14="http://schemas.microsoft.com/office/powerpoint/2010/main" val="12939442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This is the single most effective control against device code phishing. If you block the device code flow at the Conditional Access level, the attack is completely prevented - the attacker can't even initiate the flow. The Conditional Access Authentication Flows policy was introduced specifically to address this threat. For organizations that need device code flow for legitimate purposes (Azure CLI, IoT devices), create a narrowly scoped exception and monitor it. Ask students: has anyone configured this policy in their environment? Walk through the configuration in the Entra admin center.</a:t>
            </a:r>
          </a:p>
        </p:txBody>
      </p:sp>
      <p:sp>
        <p:nvSpPr>
          <p:cNvPr id="4" name="Slide Number Placeholder 3"/>
          <p:cNvSpPr>
            <a:spLocks noGrp="1"/>
          </p:cNvSpPr>
          <p:nvPr>
            <p:ph type="sldNum" sz="quarter" idx="5"/>
          </p:nvPr>
        </p:nvSpPr>
        <p:spPr/>
        <p:txBody>
          <a:bodyPr/>
          <a:lstStyle/>
          <a:p>
            <a:fld id="{4872D949-62BC-4112-8CDE-DEE275133A2C}" type="slidenum">
              <a:rPr lang="en-US" smtClean="0"/>
              <a:t>46</a:t>
            </a:fld>
            <a:endParaRPr lang="en-US"/>
          </a:p>
        </p:txBody>
      </p:sp>
    </p:spTree>
    <p:extLst>
      <p:ext uri="{BB962C8B-B14F-4D97-AF65-F5344CB8AC3E}">
        <p14:creationId xmlns:p14="http://schemas.microsoft.com/office/powerpoint/2010/main" val="198004771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Adversary-in-the-Middle (AiTM), phishing-resistant Multi-Factor Authentication (MFA) is the definitive control. FIDO2 passkeys and certificate-based authentication bind the authentication to the specific device and domain - they cannot be proxied through an Adversary-in-the-Middle (AiTM) reverse proxy. CAE and Token Protection provide additional layers. For consent grants, the most effective control is disabling user consent entirely and requiring admin approval for all third-party apps. This eliminates the attack vector completely. Organizations that can't disable user consent should restrict it to verified publishers with low-risk permissions only.</a:t>
            </a:r>
          </a:p>
        </p:txBody>
      </p:sp>
      <p:sp>
        <p:nvSpPr>
          <p:cNvPr id="4" name="Slide Number Placeholder 3"/>
          <p:cNvSpPr>
            <a:spLocks noGrp="1"/>
          </p:cNvSpPr>
          <p:nvPr>
            <p:ph type="sldNum" sz="quarter" idx="5"/>
          </p:nvPr>
        </p:nvSpPr>
        <p:spPr/>
        <p:txBody>
          <a:bodyPr/>
          <a:lstStyle/>
          <a:p>
            <a:fld id="{4872D949-62BC-4112-8CDE-DEE275133A2C}" type="slidenum">
              <a:rPr lang="en-US" smtClean="0"/>
              <a:t>47</a:t>
            </a:fld>
            <a:endParaRPr lang="en-US"/>
          </a:p>
        </p:txBody>
      </p:sp>
    </p:spTree>
    <p:extLst>
      <p:ext uri="{BB962C8B-B14F-4D97-AF65-F5344CB8AC3E}">
        <p14:creationId xmlns:p14="http://schemas.microsoft.com/office/powerpoint/2010/main" val="114612109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For Adversary-in-the-Middle (AiTM), phishing-resistant Multi-Factor Authentication (MFA) is the definitive control. FIDO2 passkeys and certificate-based authentication bind the authentication to the specific device and domain - they cannot be proxied through an Adversary-in-the-Middle (AiTM) reverse proxy. CAE and Token Protection provide additional layers. For consent grants, the most effective control is disabling user consent entirely and requiring admin approval for all third-party apps. This eliminates the attack vector completely. Organizations that can't disable user consent should restrict it to verified publishers with low-risk permissions only.</a:t>
            </a:r>
          </a:p>
        </p:txBody>
      </p:sp>
      <p:sp>
        <p:nvSpPr>
          <p:cNvPr id="4" name="Slide Number Placeholder 3"/>
          <p:cNvSpPr>
            <a:spLocks noGrp="1"/>
          </p:cNvSpPr>
          <p:nvPr>
            <p:ph type="sldNum" sz="quarter" idx="5"/>
          </p:nvPr>
        </p:nvSpPr>
        <p:spPr/>
        <p:txBody>
          <a:bodyPr/>
          <a:lstStyle/>
          <a:p>
            <a:fld id="{4872D949-62BC-4112-8CDE-DEE275133A2C}" type="slidenum">
              <a:rPr lang="en-US" smtClean="0"/>
              <a:t>48</a:t>
            </a:fld>
            <a:endParaRPr lang="en-US"/>
          </a:p>
        </p:txBody>
      </p:sp>
    </p:spTree>
    <p:extLst>
      <p:ext uri="{BB962C8B-B14F-4D97-AF65-F5344CB8AC3E}">
        <p14:creationId xmlns:p14="http://schemas.microsoft.com/office/powerpoint/2010/main" val="23535066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checklist should be completed for every phishing compromise. The most commonly missed step is auditing all OAuth consent grants - not just the affected user, but tenant-wide. The attacker may have phished multiple users in the same campaign. Document the IOCs - Adversary-in-the-Middle (AiTM) proxy domains should be added to your Tenant Allow/Block List, and malicious app client IDs should be blocked at the app governance level. The lessons-learned document should be completed within 72 hours while the details are fresh. This feeds back into the hunt loop - confirmed findings become analytics rules and hardening improvements.</a:t>
            </a:r>
          </a:p>
        </p:txBody>
      </p:sp>
      <p:sp>
        <p:nvSpPr>
          <p:cNvPr id="4" name="Slide Number Placeholder 3"/>
          <p:cNvSpPr>
            <a:spLocks noGrp="1"/>
          </p:cNvSpPr>
          <p:nvPr>
            <p:ph type="sldNum" sz="quarter" idx="5"/>
          </p:nvPr>
        </p:nvSpPr>
        <p:spPr/>
        <p:txBody>
          <a:bodyPr/>
          <a:lstStyle/>
          <a:p>
            <a:fld id="{4872D949-62BC-4112-8CDE-DEE275133A2C}" type="slidenum">
              <a:rPr lang="en-US" smtClean="0"/>
              <a:t>49</a:t>
            </a:fld>
            <a:endParaRPr lang="en-US"/>
          </a:p>
        </p:txBody>
      </p:sp>
    </p:spTree>
    <p:extLst>
      <p:ext uri="{BB962C8B-B14F-4D97-AF65-F5344CB8AC3E}">
        <p14:creationId xmlns:p14="http://schemas.microsoft.com/office/powerpoint/2010/main" val="202428253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checklist should be completed for every phishing compromise. The most commonly missed step is auditing all OAuth consent grants - not just the affected user, but tenant-wide. The attacker may have phished multiple users in the same campaign. Document the IOCs - Adversary-in-the-Middle (AiTM) proxy domains should be added to your Tenant Allow/Block List, and malicious app client IDs should be blocked at the app governance level. The lessons-learned document should be completed within 72 hours while the details are fresh. This feeds back into the hunt loop - confirmed findings become analytics rules and hardening improvements.</a:t>
            </a:r>
          </a:p>
        </p:txBody>
      </p:sp>
      <p:sp>
        <p:nvSpPr>
          <p:cNvPr id="4" name="Slide Number Placeholder 3"/>
          <p:cNvSpPr>
            <a:spLocks noGrp="1"/>
          </p:cNvSpPr>
          <p:nvPr>
            <p:ph type="sldNum" sz="quarter" idx="5"/>
          </p:nvPr>
        </p:nvSpPr>
        <p:spPr/>
        <p:txBody>
          <a:bodyPr/>
          <a:lstStyle/>
          <a:p>
            <a:fld id="{4872D949-62BC-4112-8CDE-DEE275133A2C}" type="slidenum">
              <a:rPr lang="en-US" smtClean="0"/>
              <a:t>50</a:t>
            </a:fld>
            <a:endParaRPr lang="en-US"/>
          </a:p>
        </p:txBody>
      </p:sp>
    </p:spTree>
    <p:extLst>
      <p:ext uri="{BB962C8B-B14F-4D97-AF65-F5344CB8AC3E}">
        <p14:creationId xmlns:p14="http://schemas.microsoft.com/office/powerpoint/2010/main" val="210062458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the official Microsoft resources for deep reference. The three investigation playbooks - Phishing, Token Theft, and App Consent Grant - are the gold standard for incident response procedures. The Conditional Access Authentication Flows documentation shows exactly how to block device code flow. Encourage students to bookmark these and review them before running the lab exercises.</a:t>
            </a:r>
          </a:p>
        </p:txBody>
      </p:sp>
      <p:sp>
        <p:nvSpPr>
          <p:cNvPr id="4" name="Slide Number Placeholder 3"/>
          <p:cNvSpPr>
            <a:spLocks noGrp="1"/>
          </p:cNvSpPr>
          <p:nvPr>
            <p:ph type="sldNum" sz="quarter" idx="5"/>
          </p:nvPr>
        </p:nvSpPr>
        <p:spPr/>
        <p:txBody>
          <a:bodyPr/>
          <a:lstStyle/>
          <a:p>
            <a:fld id="{4872D949-62BC-4112-8CDE-DEE275133A2C}" type="slidenum">
              <a:rPr lang="en-US" smtClean="0"/>
              <a:t>51</a:t>
            </a:fld>
            <a:endParaRPr lang="en-US"/>
          </a:p>
        </p:txBody>
      </p:sp>
    </p:spTree>
    <p:extLst>
      <p:ext uri="{BB962C8B-B14F-4D97-AF65-F5344CB8AC3E}">
        <p14:creationId xmlns:p14="http://schemas.microsoft.com/office/powerpoint/2010/main" val="34207032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7.jpe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23.jpe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Master" Target="../slideMasters/slideMaster1.xml"/><Relationship Id="rId5" Type="http://schemas.openxmlformats.org/officeDocument/2006/relationships/image" Target="../media/image27.jpeg"/><Relationship Id="rId4" Type="http://schemas.openxmlformats.org/officeDocument/2006/relationships/image" Target="../media/image26.jpe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28.jpeg"/><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7.jpe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28.jpeg"/><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 Title">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B483D14-DC3C-45F3-855E-02B5FD4CDF8D}"/>
              </a:ext>
            </a:extLst>
          </p:cNvPr>
          <p:cNvPicPr>
            <a:picLocks noChangeAspect="1"/>
          </p:cNvPicPr>
          <p:nvPr/>
        </p:nvPicPr>
        <p:blipFill>
          <a:blip r:embed="rId2"/>
          <a:stretch>
            <a:fillRect/>
          </a:stretch>
        </p:blipFill>
        <p:spPr>
          <a:xfrm>
            <a:off x="582043" y="585788"/>
            <a:ext cx="2308795" cy="294139"/>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9" name="Picture 8" descr="Icon&#10;&#10;Description automatically generated">
            <a:extLst>
              <a:ext uri="{FF2B5EF4-FFF2-40B4-BE49-F238E27FC236}">
                <a16:creationId xmlns:a16="http://schemas.microsoft.com/office/drawing/2014/main" id="{CB6D3FA3-C210-4270-964A-C6A0069D59E2}"/>
              </a:ext>
            </a:extLst>
          </p:cNvPr>
          <p:cNvPicPr>
            <a:picLocks noChangeAspect="1"/>
          </p:cNvPicPr>
          <p:nvPr/>
        </p:nvPicPr>
        <p:blipFill>
          <a:blip r:embed="rId3"/>
          <a:stretch>
            <a:fillRect/>
          </a:stretch>
        </p:blipFill>
        <p:spPr bwMode="invGray">
          <a:xfrm>
            <a:off x="4671100" y="0"/>
            <a:ext cx="7520900" cy="6858000"/>
          </a:xfrm>
          <a:prstGeom prst="rect">
            <a:avLst/>
          </a:prstGeom>
        </p:spPr>
      </p:pic>
    </p:spTree>
    <p:extLst>
      <p:ext uri="{BB962C8B-B14F-4D97-AF65-F5344CB8AC3E}">
        <p14:creationId xmlns:p14="http://schemas.microsoft.com/office/powerpoint/2010/main" val="35825669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mprehensiveness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10" name="Graphic 9">
            <a:extLst>
              <a:ext uri="{FF2B5EF4-FFF2-40B4-BE49-F238E27FC236}">
                <a16:creationId xmlns:a16="http://schemas.microsoft.com/office/drawing/2014/main" id="{4586D2A5-469B-42D5-B926-C4EE6716E87F}"/>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137839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I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6" name="Graphic 5">
            <a:extLst>
              <a:ext uri="{FF2B5EF4-FFF2-40B4-BE49-F238E27FC236}">
                <a16:creationId xmlns:a16="http://schemas.microsoft.com/office/drawing/2014/main" id="{F7A52431-DCFD-473D-980B-E667BAC2F19B}"/>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34909867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icity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3" name="Graphic 2">
            <a:extLst>
              <a:ext uri="{FF2B5EF4-FFF2-40B4-BE49-F238E27FC236}">
                <a16:creationId xmlns:a16="http://schemas.microsoft.com/office/drawing/2014/main" id="{AAD66E76-E933-412A-9841-907EA7843332}"/>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bwMode="invGray">
          <a:xfrm>
            <a:off x="6731000" y="0"/>
            <a:ext cx="5461000" cy="6858000"/>
          </a:xfrm>
          <a:prstGeom prst="rect">
            <a:avLst/>
          </a:prstGeom>
        </p:spPr>
      </p:pic>
    </p:spTree>
    <p:extLst>
      <p:ext uri="{BB962C8B-B14F-4D97-AF65-F5344CB8AC3E}">
        <p14:creationId xmlns:p14="http://schemas.microsoft.com/office/powerpoint/2010/main" val="17455043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urity 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2240"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224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10" name="Graphic 9">
            <a:extLst>
              <a:ext uri="{FF2B5EF4-FFF2-40B4-BE49-F238E27FC236}">
                <a16:creationId xmlns:a16="http://schemas.microsoft.com/office/drawing/2014/main" id="{0D5D4CBA-07EB-4CCF-BEB7-6F3185DCC670}"/>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17220476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B483D14-DC3C-45F3-855E-02B5FD4CDF8D}"/>
              </a:ext>
            </a:extLst>
          </p:cNvPr>
          <p:cNvPicPr>
            <a:picLocks noChangeAspect="1"/>
          </p:cNvPicPr>
          <p:nvPr/>
        </p:nvPicPr>
        <p:blipFill>
          <a:blip r:embed="rId2"/>
          <a:stretch>
            <a:fillRect/>
          </a:stretch>
        </p:blipFill>
        <p:spPr>
          <a:xfrm>
            <a:off x="582043" y="585788"/>
            <a:ext cx="2308795" cy="294139"/>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19" name="Graphic 18">
            <a:extLst>
              <a:ext uri="{FF2B5EF4-FFF2-40B4-BE49-F238E27FC236}">
                <a16:creationId xmlns:a16="http://schemas.microsoft.com/office/drawing/2014/main" id="{3FBDEDB6-A84F-40BC-B54B-238AED6B04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invGray">
          <a:xfrm>
            <a:off x="4393915" y="0"/>
            <a:ext cx="7798085" cy="6858000"/>
          </a:xfrm>
          <a:prstGeom prst="rect">
            <a:avLst/>
          </a:prstGeom>
        </p:spPr>
      </p:pic>
      <p:sp>
        <p:nvSpPr>
          <p:cNvPr id="25" name="Freeform: Shape 24">
            <a:extLst>
              <a:ext uri="{FF2B5EF4-FFF2-40B4-BE49-F238E27FC236}">
                <a16:creationId xmlns:a16="http://schemas.microsoft.com/office/drawing/2014/main" id="{72B44542-6FEA-4633-9FA4-2E7E2381276D}"/>
              </a:ext>
            </a:extLst>
          </p:cNvPr>
          <p:cNvSpPr/>
          <p:nvPr/>
        </p:nvSpPr>
        <p:spPr bwMode="auto">
          <a:xfrm rot="17674506">
            <a:off x="10794396" y="4611776"/>
            <a:ext cx="635802" cy="2665253"/>
          </a:xfrm>
          <a:custGeom>
            <a:avLst/>
            <a:gdLst>
              <a:gd name="connsiteX0" fmla="*/ 610820 w 635802"/>
              <a:gd name="connsiteY0" fmla="*/ 194160 h 2665253"/>
              <a:gd name="connsiteX1" fmla="*/ 635802 w 635802"/>
              <a:gd name="connsiteY1" fmla="*/ 317901 h 2665253"/>
              <a:gd name="connsiteX2" fmla="*/ 635802 w 635802"/>
              <a:gd name="connsiteY2" fmla="*/ 2374494 h 2665253"/>
              <a:gd name="connsiteX3" fmla="*/ 0 w 635802"/>
              <a:gd name="connsiteY3" fmla="*/ 2665253 h 2665253"/>
              <a:gd name="connsiteX4" fmla="*/ 0 w 635802"/>
              <a:gd name="connsiteY4" fmla="*/ 317901 h 2665253"/>
              <a:gd name="connsiteX5" fmla="*/ 317901 w 635802"/>
              <a:gd name="connsiteY5" fmla="*/ 0 h 2665253"/>
              <a:gd name="connsiteX6" fmla="*/ 610820 w 635802"/>
              <a:gd name="connsiteY6" fmla="*/ 194160 h 266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802" h="2665253">
                <a:moveTo>
                  <a:pt x="610820" y="194160"/>
                </a:moveTo>
                <a:cubicBezTo>
                  <a:pt x="626906" y="232193"/>
                  <a:pt x="635802" y="274008"/>
                  <a:pt x="635802" y="317901"/>
                </a:cubicBezTo>
                <a:lnTo>
                  <a:pt x="635802" y="2374494"/>
                </a:lnTo>
                <a:lnTo>
                  <a:pt x="0" y="2665253"/>
                </a:lnTo>
                <a:lnTo>
                  <a:pt x="0" y="317901"/>
                </a:lnTo>
                <a:cubicBezTo>
                  <a:pt x="-1" y="142329"/>
                  <a:pt x="142328" y="0"/>
                  <a:pt x="317901" y="0"/>
                </a:cubicBezTo>
                <a:cubicBezTo>
                  <a:pt x="449580" y="0"/>
                  <a:pt x="562559" y="80060"/>
                  <a:pt x="610820" y="194160"/>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1" name="Freeform: Shape 20">
            <a:extLst>
              <a:ext uri="{FF2B5EF4-FFF2-40B4-BE49-F238E27FC236}">
                <a16:creationId xmlns:a16="http://schemas.microsoft.com/office/drawing/2014/main" id="{F3335884-C023-4224-A943-917B878BC8D4}"/>
              </a:ext>
            </a:extLst>
          </p:cNvPr>
          <p:cNvSpPr/>
          <p:nvPr/>
        </p:nvSpPr>
        <p:spPr bwMode="auto">
          <a:xfrm>
            <a:off x="4410930" y="0"/>
            <a:ext cx="3165243" cy="1270495"/>
          </a:xfrm>
          <a:custGeom>
            <a:avLst/>
            <a:gdLst>
              <a:gd name="connsiteX0" fmla="*/ 0 w 3165243"/>
              <a:gd name="connsiteY0" fmla="*/ 0 h 1270495"/>
              <a:gd name="connsiteX1" fmla="*/ 1528791 w 3165243"/>
              <a:gd name="connsiteY1" fmla="*/ 0 h 1270495"/>
              <a:gd name="connsiteX2" fmla="*/ 2979476 w 3165243"/>
              <a:gd name="connsiteY2" fmla="*/ 663413 h 1270495"/>
              <a:gd name="connsiteX3" fmla="*/ 3136370 w 3165243"/>
              <a:gd name="connsiteY3" fmla="*/ 1084728 h 1270495"/>
              <a:gd name="connsiteX4" fmla="*/ 2715055 w 3165243"/>
              <a:gd name="connsiteY4" fmla="*/ 1241622 h 1270495"/>
              <a:gd name="connsiteX5" fmla="*/ 0 w 3165243"/>
              <a:gd name="connsiteY5" fmla="*/ 0 h 1270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65243" h="1270495">
                <a:moveTo>
                  <a:pt x="0" y="0"/>
                </a:moveTo>
                <a:lnTo>
                  <a:pt x="1528791" y="0"/>
                </a:lnTo>
                <a:lnTo>
                  <a:pt x="2979476" y="663413"/>
                </a:lnTo>
                <a:cubicBezTo>
                  <a:pt x="3139144" y="736431"/>
                  <a:pt x="3209388" y="925060"/>
                  <a:pt x="3136370" y="1084728"/>
                </a:cubicBezTo>
                <a:cubicBezTo>
                  <a:pt x="3063352" y="1244396"/>
                  <a:pt x="2874723" y="1314640"/>
                  <a:pt x="2715055" y="1241622"/>
                </a:cubicBezTo>
                <a:lnTo>
                  <a:pt x="0" y="0"/>
                </a:lnTo>
                <a:close/>
              </a:path>
            </a:pathLst>
          </a:cu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762136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Identity and Access Management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6" name="Graphic 5">
            <a:extLst>
              <a:ext uri="{FF2B5EF4-FFF2-40B4-BE49-F238E27FC236}">
                <a16:creationId xmlns:a16="http://schemas.microsoft.com/office/drawing/2014/main" id="{E8C58369-026C-4974-B869-BE8D4ADCB870}"/>
              </a:ext>
              <a:ext uri="{C183D7F6-B498-43B3-948B-1728B52AA6E4}">
                <adec:decorative xmlns:adec="http://schemas.microsoft.com/office/drawing/2017/decorative" val="1"/>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75" r="-18"/>
          <a:stretch/>
        </p:blipFill>
        <p:spPr bwMode="invGray">
          <a:xfrm>
            <a:off x="7076792" y="0"/>
            <a:ext cx="5115208" cy="6858000"/>
          </a:xfrm>
          <a:prstGeom prst="rect">
            <a:avLst/>
          </a:prstGeom>
        </p:spPr>
      </p:pic>
    </p:spTree>
    <p:extLst>
      <p:ext uri="{BB962C8B-B14F-4D97-AF65-F5344CB8AC3E}">
        <p14:creationId xmlns:p14="http://schemas.microsoft.com/office/powerpoint/2010/main" val="9556474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 Title square photo placeholder">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9861522-4B83-496F-B783-60079A7F201B}"/>
              </a:ext>
            </a:extLst>
          </p:cNvPr>
          <p:cNvSpPr/>
          <p:nvPr/>
        </p:nvSpPr>
        <p:spPr bwMode="auto">
          <a:xfrm>
            <a:off x="5334000" y="0"/>
            <a:ext cx="685800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13" name="Picture 12">
            <a:extLst>
              <a:ext uri="{FF2B5EF4-FFF2-40B4-BE49-F238E27FC236}">
                <a16:creationId xmlns:a16="http://schemas.microsoft.com/office/drawing/2014/main" id="{ED2EF16D-D401-4DD1-BD2B-1417889AD2A5}"/>
              </a:ext>
            </a:extLst>
          </p:cNvPr>
          <p:cNvPicPr>
            <a:picLocks noChangeAspect="1"/>
          </p:cNvPicPr>
          <p:nvPr/>
        </p:nvPicPr>
        <p:blipFill>
          <a:blip r:embed="rId2"/>
          <a:stretch>
            <a:fillRect/>
          </a:stretch>
        </p:blipFill>
        <p:spPr>
          <a:xfrm>
            <a:off x="582043" y="585788"/>
            <a:ext cx="2308795" cy="294139"/>
          </a:xfrm>
          <a:prstGeom prst="rect">
            <a:avLst/>
          </a:prstGeom>
        </p:spPr>
      </p:pic>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1F9ED9A-FBBB-45FF-A5CF-ED4786662DCE}"/>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8530478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quare photo placeholder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8" name="Group 7">
            <a:extLst>
              <a:ext uri="{FF2B5EF4-FFF2-40B4-BE49-F238E27FC236}">
                <a16:creationId xmlns:a16="http://schemas.microsoft.com/office/drawing/2014/main" id="{64913CEA-C43B-4E3B-AE2A-5F44288BCBBB}"/>
              </a:ext>
            </a:extLst>
          </p:cNvPr>
          <p:cNvGrpSpPr/>
          <p:nvPr/>
        </p:nvGrpSpPr>
        <p:grpSpPr bwMode="black">
          <a:xfrm>
            <a:off x="582043" y="585788"/>
            <a:ext cx="2308795" cy="294139"/>
            <a:chOff x="582043" y="585788"/>
            <a:chExt cx="2308795" cy="294139"/>
          </a:xfrm>
        </p:grpSpPr>
        <p:pic>
          <p:nvPicPr>
            <p:cNvPr id="9" name="Picture 8">
              <a:extLst>
                <a:ext uri="{FF2B5EF4-FFF2-40B4-BE49-F238E27FC236}">
                  <a16:creationId xmlns:a16="http://schemas.microsoft.com/office/drawing/2014/main" id="{323B6B2C-935A-48E1-9234-20A9CF488160}"/>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10" name="Picture 9">
              <a:extLst>
                <a:ext uri="{FF2B5EF4-FFF2-40B4-BE49-F238E27FC236}">
                  <a16:creationId xmlns:a16="http://schemas.microsoft.com/office/drawing/2014/main" id="{BB5C68CB-B9DE-4230-A702-903A205A042A}"/>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1" name="Rectangle 10">
            <a:extLst>
              <a:ext uri="{FF2B5EF4-FFF2-40B4-BE49-F238E27FC236}">
                <a16:creationId xmlns:a16="http://schemas.microsoft.com/office/drawing/2014/main" id="{7F05E9DA-E8D1-4172-820D-CEE3065C0EFC}"/>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2A3946FB-3CEF-4A23-BE32-5CA90CBB4988}"/>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89651268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quare photo placeholder Yellow">
    <p:bg>
      <p:bgPr>
        <a:solidFill>
          <a:srgbClr val="FFB9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3" name="Picture 2">
            <a:extLst>
              <a:ext uri="{FF2B5EF4-FFF2-40B4-BE49-F238E27FC236}">
                <a16:creationId xmlns:a16="http://schemas.microsoft.com/office/drawing/2014/main" id="{2B7938B8-F298-4772-A6EC-8F59C02C0B8A}"/>
              </a:ext>
            </a:extLst>
          </p:cNvPr>
          <p:cNvPicPr>
            <a:picLocks noChangeAspect="1"/>
          </p:cNvPicPr>
          <p:nvPr/>
        </p:nvPicPr>
        <p:blipFill>
          <a:blip r:embed="rId2"/>
          <a:stretch>
            <a:fillRect/>
          </a:stretch>
        </p:blipFill>
        <p:spPr>
          <a:xfrm>
            <a:off x="581337" y="585788"/>
            <a:ext cx="2308796" cy="294587"/>
          </a:xfrm>
          <a:prstGeom prst="rect">
            <a:avLst/>
          </a:prstGeom>
        </p:spPr>
      </p:pic>
      <p:sp>
        <p:nvSpPr>
          <p:cNvPr id="7" name="Rectangle 6">
            <a:extLst>
              <a:ext uri="{FF2B5EF4-FFF2-40B4-BE49-F238E27FC236}">
                <a16:creationId xmlns:a16="http://schemas.microsoft.com/office/drawing/2014/main" id="{C9B633B0-40F9-4729-84DB-771120F5D70D}"/>
              </a:ext>
            </a:extLst>
          </p:cNvPr>
          <p:cNvSpPr/>
          <p:nvPr/>
        </p:nvSpPr>
        <p:spPr bwMode="auto">
          <a:xfrm>
            <a:off x="5334000" y="0"/>
            <a:ext cx="685800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E0F96359-EC4C-4CE6-BA65-F486272055DA}"/>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1070360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quare photo placeholder Green">
    <p:bg>
      <p:bgPr>
        <a:solidFill>
          <a:srgbClr val="107C1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7" name="Group 6">
            <a:extLst>
              <a:ext uri="{FF2B5EF4-FFF2-40B4-BE49-F238E27FC236}">
                <a16:creationId xmlns:a16="http://schemas.microsoft.com/office/drawing/2014/main" id="{79F73AF8-146B-42CD-B541-F752F139986C}"/>
              </a:ext>
            </a:extLst>
          </p:cNvPr>
          <p:cNvGrpSpPr/>
          <p:nvPr/>
        </p:nvGrpSpPr>
        <p:grpSpPr bwMode="black">
          <a:xfrm>
            <a:off x="582043" y="585788"/>
            <a:ext cx="2308795" cy="294139"/>
            <a:chOff x="582043" y="585788"/>
            <a:chExt cx="2308795" cy="294139"/>
          </a:xfrm>
        </p:grpSpPr>
        <p:pic>
          <p:nvPicPr>
            <p:cNvPr id="8" name="Picture 7">
              <a:extLst>
                <a:ext uri="{FF2B5EF4-FFF2-40B4-BE49-F238E27FC236}">
                  <a16:creationId xmlns:a16="http://schemas.microsoft.com/office/drawing/2014/main" id="{50DF95CC-AC64-474E-B72E-33CFB9D831F3}"/>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9" name="Picture 8">
              <a:extLst>
                <a:ext uri="{FF2B5EF4-FFF2-40B4-BE49-F238E27FC236}">
                  <a16:creationId xmlns:a16="http://schemas.microsoft.com/office/drawing/2014/main" id="{07DB53AF-4CA8-4329-BFA8-2FDDBB8D4982}"/>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0" name="Rectangle 9">
            <a:extLst>
              <a:ext uri="{FF2B5EF4-FFF2-40B4-BE49-F238E27FC236}">
                <a16:creationId xmlns:a16="http://schemas.microsoft.com/office/drawing/2014/main" id="{E4B197E9-B625-4BCE-AA2E-ACB5788815C5}"/>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59E3F35-E30F-4CC7-B067-A26A900A106C}"/>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4735062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quare Photo placeholder Dk Blu">
    <p:bg>
      <p:bgPr>
        <a:solidFill>
          <a:srgbClr val="243A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7" name="Group 6">
            <a:extLst>
              <a:ext uri="{FF2B5EF4-FFF2-40B4-BE49-F238E27FC236}">
                <a16:creationId xmlns:a16="http://schemas.microsoft.com/office/drawing/2014/main" id="{79F73AF8-146B-42CD-B541-F752F139986C}"/>
              </a:ext>
            </a:extLst>
          </p:cNvPr>
          <p:cNvGrpSpPr/>
          <p:nvPr/>
        </p:nvGrpSpPr>
        <p:grpSpPr bwMode="black">
          <a:xfrm>
            <a:off x="582043" y="585788"/>
            <a:ext cx="2308795" cy="294139"/>
            <a:chOff x="582043" y="585788"/>
            <a:chExt cx="2308795" cy="294139"/>
          </a:xfrm>
        </p:grpSpPr>
        <p:pic>
          <p:nvPicPr>
            <p:cNvPr id="8" name="Picture 7">
              <a:extLst>
                <a:ext uri="{FF2B5EF4-FFF2-40B4-BE49-F238E27FC236}">
                  <a16:creationId xmlns:a16="http://schemas.microsoft.com/office/drawing/2014/main" id="{50DF95CC-AC64-474E-B72E-33CFB9D831F3}"/>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9" name="Picture 8">
              <a:extLst>
                <a:ext uri="{FF2B5EF4-FFF2-40B4-BE49-F238E27FC236}">
                  <a16:creationId xmlns:a16="http://schemas.microsoft.com/office/drawing/2014/main" id="{07DB53AF-4CA8-4329-BFA8-2FDDBB8D4982}"/>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0" name="Rectangle 9">
            <a:extLst>
              <a:ext uri="{FF2B5EF4-FFF2-40B4-BE49-F238E27FC236}">
                <a16:creationId xmlns:a16="http://schemas.microsoft.com/office/drawing/2014/main" id="{E4B197E9-B625-4BCE-AA2E-ACB5788815C5}"/>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59E3F35-E30F-4CC7-B067-A26A900A106C}"/>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8233814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quare photo placeholder Dk Green">
    <p:bg>
      <p:bgPr>
        <a:solidFill>
          <a:srgbClr val="054B1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7" name="Group 6">
            <a:extLst>
              <a:ext uri="{FF2B5EF4-FFF2-40B4-BE49-F238E27FC236}">
                <a16:creationId xmlns:a16="http://schemas.microsoft.com/office/drawing/2014/main" id="{79F73AF8-146B-42CD-B541-F752F139986C}"/>
              </a:ext>
            </a:extLst>
          </p:cNvPr>
          <p:cNvGrpSpPr/>
          <p:nvPr/>
        </p:nvGrpSpPr>
        <p:grpSpPr bwMode="black">
          <a:xfrm>
            <a:off x="582043" y="585788"/>
            <a:ext cx="2308795" cy="294139"/>
            <a:chOff x="582043" y="585788"/>
            <a:chExt cx="2308795" cy="294139"/>
          </a:xfrm>
        </p:grpSpPr>
        <p:pic>
          <p:nvPicPr>
            <p:cNvPr id="8" name="Picture 7">
              <a:extLst>
                <a:ext uri="{FF2B5EF4-FFF2-40B4-BE49-F238E27FC236}">
                  <a16:creationId xmlns:a16="http://schemas.microsoft.com/office/drawing/2014/main" id="{50DF95CC-AC64-474E-B72E-33CFB9D831F3}"/>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9" name="Picture 8">
              <a:extLst>
                <a:ext uri="{FF2B5EF4-FFF2-40B4-BE49-F238E27FC236}">
                  <a16:creationId xmlns:a16="http://schemas.microsoft.com/office/drawing/2014/main" id="{07DB53AF-4CA8-4329-BFA8-2FDDBB8D4982}"/>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0" name="Rectangle 9">
            <a:extLst>
              <a:ext uri="{FF2B5EF4-FFF2-40B4-BE49-F238E27FC236}">
                <a16:creationId xmlns:a16="http://schemas.microsoft.com/office/drawing/2014/main" id="{E4B197E9-B625-4BCE-AA2E-ACB5788815C5}"/>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59E3F35-E30F-4CC7-B067-A26A900A106C}"/>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0691391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3" y="585788"/>
            <a:ext cx="2308795" cy="294139"/>
          </a:xfrm>
          <a:prstGeom prst="rect">
            <a:avLst/>
          </a:prstGeom>
        </p:spPr>
      </p:pic>
    </p:spTree>
    <p:extLst>
      <p:ext uri="{BB962C8B-B14F-4D97-AF65-F5344CB8AC3E}">
        <p14:creationId xmlns:p14="http://schemas.microsoft.com/office/powerpoint/2010/main" val="29762041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5215637" cy="553998"/>
          </a:xfrm>
        </p:spPr>
        <p:txBody>
          <a:bodyPr/>
          <a:lstStyle>
            <a:lvl1pPr>
              <a:defRPr/>
            </a:lvl1pPr>
          </a:lstStyle>
          <a:p>
            <a:r>
              <a:rPr lang="en-US"/>
              <a:t>Agenda</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0614E108-2258-4959-A182-798030A0C286}"/>
              </a:ext>
            </a:extLst>
          </p:cNvPr>
          <p:cNvSpPr/>
          <p:nvPr/>
        </p:nvSpPr>
        <p:spPr bwMode="auto">
          <a:xfrm>
            <a:off x="6395722" y="0"/>
            <a:ext cx="5796278"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32" name="Group 31">
            <a:extLst>
              <a:ext uri="{FF2B5EF4-FFF2-40B4-BE49-F238E27FC236}">
                <a16:creationId xmlns:a16="http://schemas.microsoft.com/office/drawing/2014/main" id="{22E07E8F-16B4-4F77-8278-6A843F1B9F57}"/>
              </a:ext>
            </a:extLst>
          </p:cNvPr>
          <p:cNvGrpSpPr/>
          <p:nvPr/>
        </p:nvGrpSpPr>
        <p:grpSpPr>
          <a:xfrm rot="16200000">
            <a:off x="7643952" y="2603639"/>
            <a:ext cx="5424211" cy="3084509"/>
            <a:chOff x="6395721" y="4420906"/>
            <a:chExt cx="3250001" cy="1848132"/>
          </a:xfrm>
        </p:grpSpPr>
        <p:sp>
          <p:nvSpPr>
            <p:cNvPr id="27" name="Rectangle: Top Corners Rounded 26">
              <a:extLst>
                <a:ext uri="{FF2B5EF4-FFF2-40B4-BE49-F238E27FC236}">
                  <a16:creationId xmlns:a16="http://schemas.microsoft.com/office/drawing/2014/main" id="{B26B5DC7-3928-4E30-95C7-101CC42758F9}"/>
                </a:ext>
              </a:extLst>
            </p:cNvPr>
            <p:cNvSpPr/>
            <p:nvPr userDrawn="1"/>
          </p:nvSpPr>
          <p:spPr bwMode="auto">
            <a:xfrm rot="5400000">
              <a:off x="6879140" y="3937487"/>
              <a:ext cx="501648" cy="1468485"/>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5" name="Oval 24">
              <a:extLst>
                <a:ext uri="{FF2B5EF4-FFF2-40B4-BE49-F238E27FC236}">
                  <a16:creationId xmlns:a16="http://schemas.microsoft.com/office/drawing/2014/main" id="{6F2E0A55-6A95-45A9-9988-FD4377975EAD}"/>
                </a:ext>
              </a:extLst>
            </p:cNvPr>
            <p:cNvSpPr/>
            <p:nvPr userDrawn="1"/>
          </p:nvSpPr>
          <p:spPr bwMode="auto">
            <a:xfrm>
              <a:off x="7407431" y="4471065"/>
              <a:ext cx="401326" cy="401326"/>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8" name="Rectangle: Top Corners Rounded 27">
              <a:extLst>
                <a:ext uri="{FF2B5EF4-FFF2-40B4-BE49-F238E27FC236}">
                  <a16:creationId xmlns:a16="http://schemas.microsoft.com/office/drawing/2014/main" id="{EA3F14D9-33C3-411A-8D84-8E8E15E9381B}"/>
                </a:ext>
              </a:extLst>
            </p:cNvPr>
            <p:cNvSpPr/>
            <p:nvPr userDrawn="1"/>
          </p:nvSpPr>
          <p:spPr bwMode="auto">
            <a:xfrm rot="5400000">
              <a:off x="7246261" y="4243608"/>
              <a:ext cx="501648" cy="2202728"/>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9" name="Oval 28">
              <a:extLst>
                <a:ext uri="{FF2B5EF4-FFF2-40B4-BE49-F238E27FC236}">
                  <a16:creationId xmlns:a16="http://schemas.microsoft.com/office/drawing/2014/main" id="{4A285CB0-5ABD-4C59-98FE-F25F8026D321}"/>
                </a:ext>
              </a:extLst>
            </p:cNvPr>
            <p:cNvSpPr/>
            <p:nvPr userDrawn="1"/>
          </p:nvSpPr>
          <p:spPr bwMode="auto">
            <a:xfrm>
              <a:off x="8141673" y="5144307"/>
              <a:ext cx="401326" cy="401326"/>
            </a:xfrm>
            <a:prstGeom prst="ellipse">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0" name="Rectangle: Top Corners Rounded 29">
              <a:extLst>
                <a:ext uri="{FF2B5EF4-FFF2-40B4-BE49-F238E27FC236}">
                  <a16:creationId xmlns:a16="http://schemas.microsoft.com/office/drawing/2014/main" id="{6EC31BC0-C04D-4163-9ECB-371CBCE34ADB}"/>
                </a:ext>
              </a:extLst>
            </p:cNvPr>
            <p:cNvSpPr/>
            <p:nvPr userDrawn="1"/>
          </p:nvSpPr>
          <p:spPr bwMode="auto">
            <a:xfrm rot="5400000">
              <a:off x="7769898" y="4393213"/>
              <a:ext cx="501648" cy="3250001"/>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1" name="Oval 30">
              <a:extLst>
                <a:ext uri="{FF2B5EF4-FFF2-40B4-BE49-F238E27FC236}">
                  <a16:creationId xmlns:a16="http://schemas.microsoft.com/office/drawing/2014/main" id="{E691BBA6-17F1-4715-BBD9-9570E0AF6EBF}"/>
                </a:ext>
              </a:extLst>
            </p:cNvPr>
            <p:cNvSpPr/>
            <p:nvPr userDrawn="1"/>
          </p:nvSpPr>
          <p:spPr bwMode="auto">
            <a:xfrm>
              <a:off x="9188946" y="5817549"/>
              <a:ext cx="401326" cy="401326"/>
            </a:xfrm>
            <a:prstGeom prst="ellipse">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spTree>
    <p:extLst>
      <p:ext uri="{BB962C8B-B14F-4D97-AF65-F5344CB8AC3E}">
        <p14:creationId xmlns:p14="http://schemas.microsoft.com/office/powerpoint/2010/main" val="37546937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B3FA96-19FC-48A6-A985-267EB2138E23}"/>
              </a:ext>
            </a:extLst>
          </p:cNvPr>
          <p:cNvSpPr/>
          <p:nvPr/>
        </p:nvSpPr>
        <p:spPr bwMode="auto">
          <a:xfrm>
            <a:off x="0" y="0"/>
            <a:ext cx="12192000" cy="120898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lvl1pPr>
              <a:defRPr>
                <a:solidFill>
                  <a:schemeClr val="bg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66618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51102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66618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50438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66618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51102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66618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50438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CCCF4131-8CCF-4171-B985-EAF865CC55EF}"/>
              </a:ext>
            </a:extLst>
          </p:cNvPr>
          <p:cNvGrpSpPr/>
          <p:nvPr/>
        </p:nvGrpSpPr>
        <p:grpSpPr>
          <a:xfrm>
            <a:off x="10798157" y="457199"/>
            <a:ext cx="1100156" cy="564349"/>
            <a:chOff x="9946913" y="171645"/>
            <a:chExt cx="1656824" cy="849904"/>
          </a:xfrm>
        </p:grpSpPr>
        <p:sp>
          <p:nvSpPr>
            <p:cNvPr id="6" name="Graphic 4">
              <a:extLst>
                <a:ext uri="{FF2B5EF4-FFF2-40B4-BE49-F238E27FC236}">
                  <a16:creationId xmlns:a16="http://schemas.microsoft.com/office/drawing/2014/main" id="{494D7464-294F-4164-ACF7-0EDEA0812105}"/>
                </a:ext>
              </a:extLst>
            </p:cNvPr>
            <p:cNvSpPr/>
            <p:nvPr/>
          </p:nvSpPr>
          <p:spPr>
            <a:xfrm>
              <a:off x="9946913" y="171645"/>
              <a:ext cx="521444"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sp>
          <p:nvSpPr>
            <p:cNvPr id="15" name="Graphic 4">
              <a:extLst>
                <a:ext uri="{FF2B5EF4-FFF2-40B4-BE49-F238E27FC236}">
                  <a16:creationId xmlns:a16="http://schemas.microsoft.com/office/drawing/2014/main" id="{8773D37F-9426-48AF-9E30-19EA4A3E4F07}"/>
                </a:ext>
              </a:extLst>
            </p:cNvPr>
            <p:cNvSpPr/>
            <p:nvPr userDrawn="1"/>
          </p:nvSpPr>
          <p:spPr>
            <a:xfrm>
              <a:off x="10689786" y="171645"/>
              <a:ext cx="521445"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sp>
          <p:nvSpPr>
            <p:cNvPr id="16" name="Graphic 4">
              <a:extLst>
                <a:ext uri="{FF2B5EF4-FFF2-40B4-BE49-F238E27FC236}">
                  <a16:creationId xmlns:a16="http://schemas.microsoft.com/office/drawing/2014/main" id="{26D5F151-C3B9-4DC3-A552-E8B16BA82E44}"/>
                </a:ext>
              </a:extLst>
            </p:cNvPr>
            <p:cNvSpPr/>
            <p:nvPr userDrawn="1"/>
          </p:nvSpPr>
          <p:spPr>
            <a:xfrm>
              <a:off x="11082293" y="171645"/>
              <a:ext cx="521444"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7099832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3212032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3476036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0037558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500118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141756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93915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93719871"/>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497662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501951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1738915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2021029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66754662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5101599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2864183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0366967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13095770"/>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41467262"/>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61500366"/>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1145976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75545475"/>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8919739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4809496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44804455"/>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0222836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0632031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8322510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7329259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3347647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3386992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8659098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739164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0404238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03189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102025540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327078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18919719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78347829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69663827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6972"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7" name="Picture 6">
            <a:extLst>
              <a:ext uri="{FF2B5EF4-FFF2-40B4-BE49-F238E27FC236}">
                <a16:creationId xmlns:a16="http://schemas.microsoft.com/office/drawing/2014/main" id="{8EF7F8A9-CB63-4BA7-8A0E-637BFA251A89}"/>
              </a:ext>
            </a:extLst>
          </p:cNvPr>
          <p:cNvPicPr>
            <a:picLocks noChangeAspect="1"/>
          </p:cNvPicPr>
          <p:nvPr/>
        </p:nvPicPr>
        <p:blipFill>
          <a:blip r:embed="rId2"/>
          <a:stretch>
            <a:fillRect/>
          </a:stretch>
        </p:blipFill>
        <p:spPr bwMode="black">
          <a:xfrm>
            <a:off x="549201" y="1177602"/>
            <a:ext cx="2514666" cy="2251398"/>
          </a:xfrm>
          <a:prstGeom prst="rect">
            <a:avLst/>
          </a:prstGeom>
        </p:spPr>
      </p:pic>
    </p:spTree>
    <p:extLst>
      <p:ext uri="{BB962C8B-B14F-4D97-AF65-F5344CB8AC3E}">
        <p14:creationId xmlns:p14="http://schemas.microsoft.com/office/powerpoint/2010/main" val="21422279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ote yellow">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5384"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5384"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5384"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6" name="Picture 5">
            <a:extLst>
              <a:ext uri="{FF2B5EF4-FFF2-40B4-BE49-F238E27FC236}">
                <a16:creationId xmlns:a16="http://schemas.microsoft.com/office/drawing/2014/main" id="{DD6A131B-0EEE-4C13-90D1-99AA5B3DC4ED}"/>
              </a:ext>
              <a:ext uri="{C183D7F6-B498-43B3-948B-1728B52AA6E4}">
                <adec:decorative xmlns:adec="http://schemas.microsoft.com/office/drawing/2017/decorative" val="1"/>
              </a:ext>
            </a:extLst>
          </p:cNvPr>
          <p:cNvPicPr>
            <a:picLocks noChangeAspect="1"/>
          </p:cNvPicPr>
          <p:nvPr/>
        </p:nvPicPr>
        <p:blipFill>
          <a:blip r:embed="rId2"/>
          <a:srcRect/>
          <a:stretch/>
        </p:blipFill>
        <p:spPr>
          <a:xfrm>
            <a:off x="584200" y="1201415"/>
            <a:ext cx="2062492" cy="1842493"/>
          </a:xfrm>
          <a:prstGeom prst="rect">
            <a:avLst/>
          </a:prstGeom>
        </p:spPr>
      </p:pic>
    </p:spTree>
    <p:extLst>
      <p:ext uri="{BB962C8B-B14F-4D97-AF65-F5344CB8AC3E}">
        <p14:creationId xmlns:p14="http://schemas.microsoft.com/office/powerpoint/2010/main" val="26057383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Quote green">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6972"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7" name="Picture 6">
            <a:extLst>
              <a:ext uri="{FF2B5EF4-FFF2-40B4-BE49-F238E27FC236}">
                <a16:creationId xmlns:a16="http://schemas.microsoft.com/office/drawing/2014/main" id="{8EF7F8A9-CB63-4BA7-8A0E-637BFA251A89}"/>
              </a:ext>
            </a:extLst>
          </p:cNvPr>
          <p:cNvPicPr>
            <a:picLocks noChangeAspect="1"/>
          </p:cNvPicPr>
          <p:nvPr/>
        </p:nvPicPr>
        <p:blipFill>
          <a:blip r:embed="rId2"/>
          <a:stretch>
            <a:fillRect/>
          </a:stretch>
        </p:blipFill>
        <p:spPr bwMode="black">
          <a:xfrm>
            <a:off x="549201" y="1177602"/>
            <a:ext cx="2514666" cy="2251398"/>
          </a:xfrm>
          <a:prstGeom prst="rect">
            <a:avLst/>
          </a:prstGeom>
        </p:spPr>
      </p:pic>
    </p:spTree>
    <p:extLst>
      <p:ext uri="{BB962C8B-B14F-4D97-AF65-F5344CB8AC3E}">
        <p14:creationId xmlns:p14="http://schemas.microsoft.com/office/powerpoint/2010/main" val="3299433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emo slid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0582459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Demo slide yellow">
    <p:bg>
      <p:bgPr>
        <a:solidFill>
          <a:srgbClr val="FFB9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216716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Demo slide green">
    <p:bg>
      <p:bgPr>
        <a:solidFill>
          <a:srgbClr val="107C1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9580222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_Demo slide Dk Blue">
    <p:bg>
      <p:bgPr>
        <a:solidFill>
          <a:srgbClr val="243A5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26485058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2_Demo slide Dk Green">
    <p:bg>
      <p:bgPr>
        <a:solidFill>
          <a:srgbClr val="054B1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3419738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Section Titl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6595894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1_Section Title blue">
    <p:bg>
      <p:bgPr>
        <a:solidFill>
          <a:srgbClr val="243A5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4311457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2_Section Title blue">
    <p:bg>
      <p:bgPr>
        <a:solidFill>
          <a:srgbClr val="054B1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2470451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Section Title yellow">
    <p:bg>
      <p:bgPr>
        <a:solidFill>
          <a:srgbClr val="FFB9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511841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Section Title green">
    <p:bg>
      <p:bgPr>
        <a:solidFill>
          <a:srgbClr val="107C1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8175675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1_Section Title DkBlue">
    <p:bg>
      <p:bgPr>
        <a:solidFill>
          <a:srgbClr val="243A5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969757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2_Section Title Dk Green">
    <p:bg>
      <p:bgPr>
        <a:solidFill>
          <a:srgbClr val="054B1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1578573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Section title - Threat detec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E1B2F99-8E84-6040-8D67-9859BF2580C4}"/>
              </a:ext>
            </a:extLst>
          </p:cNvPr>
          <p:cNvSpPr/>
          <p:nvPr/>
        </p:nvSpPr>
        <p:spPr bwMode="auto">
          <a:xfrm>
            <a:off x="5270500" y="0"/>
            <a:ext cx="6921500"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5" name="Picture 4">
            <a:extLst>
              <a:ext uri="{FF2B5EF4-FFF2-40B4-BE49-F238E27FC236}">
                <a16:creationId xmlns:a16="http://schemas.microsoft.com/office/drawing/2014/main" id="{57AA630A-F1CE-3240-9874-C76F0B95FC3C}"/>
              </a:ext>
            </a:extLst>
          </p:cNvPr>
          <p:cNvPicPr>
            <a:picLocks noChangeAspect="1"/>
          </p:cNvPicPr>
          <p:nvPr/>
        </p:nvPicPr>
        <p:blipFill>
          <a:blip r:embed="rId2"/>
          <a:stretch>
            <a:fillRect/>
          </a:stretch>
        </p:blipFill>
        <p:spPr>
          <a:xfrm>
            <a:off x="6197533" y="1064712"/>
            <a:ext cx="5024048" cy="4379659"/>
          </a:xfrm>
          <a:prstGeom prst="rect">
            <a:avLst/>
          </a:prstGeom>
        </p:spPr>
      </p:pic>
    </p:spTree>
    <p:extLst>
      <p:ext uri="{BB962C8B-B14F-4D97-AF65-F5344CB8AC3E}">
        <p14:creationId xmlns:p14="http://schemas.microsoft.com/office/powerpoint/2010/main" val="4202615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Section title - Comprehensive securit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85634B7-7348-3D4C-884C-574DBB5ACD92}"/>
              </a:ext>
            </a:extLst>
          </p:cNvPr>
          <p:cNvSpPr/>
          <p:nvPr/>
        </p:nvSpPr>
        <p:spPr bwMode="auto">
          <a:xfrm>
            <a:off x="5270500" y="0"/>
            <a:ext cx="6921500" cy="6858000"/>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3" name="Picture 2">
            <a:extLst>
              <a:ext uri="{FF2B5EF4-FFF2-40B4-BE49-F238E27FC236}">
                <a16:creationId xmlns:a16="http://schemas.microsoft.com/office/drawing/2014/main" id="{44097A09-7943-5649-B860-0C242F6430E1}"/>
              </a:ext>
            </a:extLst>
          </p:cNvPr>
          <p:cNvPicPr>
            <a:picLocks noChangeAspect="1"/>
          </p:cNvPicPr>
          <p:nvPr/>
        </p:nvPicPr>
        <p:blipFill rotWithShape="1">
          <a:blip r:embed="rId2"/>
          <a:srcRect l="12404" r="9346"/>
          <a:stretch/>
        </p:blipFill>
        <p:spPr>
          <a:xfrm>
            <a:off x="5270501" y="1315232"/>
            <a:ext cx="6921500" cy="4238669"/>
          </a:xfrm>
          <a:prstGeom prst="rect">
            <a:avLst/>
          </a:prstGeom>
        </p:spPr>
      </p:pic>
    </p:spTree>
    <p:extLst>
      <p:ext uri="{BB962C8B-B14F-4D97-AF65-F5344CB8AC3E}">
        <p14:creationId xmlns:p14="http://schemas.microsoft.com/office/powerpoint/2010/main" val="14706351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Section title - End-to-end security visibilit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6E5BB7F-3132-5D4C-AB53-07BD308F7C71}"/>
              </a:ext>
            </a:extLst>
          </p:cNvPr>
          <p:cNvSpPr/>
          <p:nvPr/>
        </p:nvSpPr>
        <p:spPr bwMode="auto">
          <a:xfrm>
            <a:off x="5270500" y="0"/>
            <a:ext cx="6921500" cy="6858000"/>
          </a:xfrm>
          <a:prstGeom prst="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8" name="Picture 7">
            <a:extLst>
              <a:ext uri="{FF2B5EF4-FFF2-40B4-BE49-F238E27FC236}">
                <a16:creationId xmlns:a16="http://schemas.microsoft.com/office/drawing/2014/main" id="{1AC60BDD-CABB-8B4F-BFDB-1AAA8A20164C}"/>
              </a:ext>
            </a:extLst>
          </p:cNvPr>
          <p:cNvPicPr>
            <a:picLocks noChangeAspect="1"/>
          </p:cNvPicPr>
          <p:nvPr/>
        </p:nvPicPr>
        <p:blipFill rotWithShape="1">
          <a:blip r:embed="rId2"/>
          <a:srcRect l="8828" r="8209"/>
          <a:stretch/>
        </p:blipFill>
        <p:spPr>
          <a:xfrm>
            <a:off x="5270500" y="2322164"/>
            <a:ext cx="6921500" cy="2294285"/>
          </a:xfrm>
          <a:prstGeom prst="rect">
            <a:avLst/>
          </a:prstGeom>
        </p:spPr>
      </p:pic>
    </p:spTree>
    <p:extLst>
      <p:ext uri="{BB962C8B-B14F-4D97-AF65-F5344CB8AC3E}">
        <p14:creationId xmlns:p14="http://schemas.microsoft.com/office/powerpoint/2010/main" val="21773089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ection title - Risk managem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D46BD20-84B7-474B-8759-CD81E4655A25}"/>
              </a:ext>
            </a:extLst>
          </p:cNvPr>
          <p:cNvSpPr/>
          <p:nvPr/>
        </p:nvSpPr>
        <p:spPr bwMode="auto">
          <a:xfrm>
            <a:off x="5270500" y="0"/>
            <a:ext cx="6921500" cy="6858000"/>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10" name="Picture 9">
            <a:extLst>
              <a:ext uri="{FF2B5EF4-FFF2-40B4-BE49-F238E27FC236}">
                <a16:creationId xmlns:a16="http://schemas.microsoft.com/office/drawing/2014/main" id="{B1DAC3B3-181F-5149-B531-D73282A25D15}"/>
              </a:ext>
            </a:extLst>
          </p:cNvPr>
          <p:cNvPicPr>
            <a:picLocks noChangeAspect="1"/>
          </p:cNvPicPr>
          <p:nvPr/>
        </p:nvPicPr>
        <p:blipFill rotWithShape="1">
          <a:blip r:embed="rId2"/>
          <a:srcRect l="7666" t="4539" r="7270" b="6936"/>
          <a:stretch/>
        </p:blipFill>
        <p:spPr>
          <a:xfrm>
            <a:off x="5270499" y="-1"/>
            <a:ext cx="6921501" cy="6858001"/>
          </a:xfrm>
          <a:prstGeom prst="rect">
            <a:avLst/>
          </a:prstGeom>
        </p:spPr>
      </p:pic>
    </p:spTree>
    <p:extLst>
      <p:ext uri="{BB962C8B-B14F-4D97-AF65-F5344CB8AC3E}">
        <p14:creationId xmlns:p14="http://schemas.microsoft.com/office/powerpoint/2010/main" val="26086349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ection title - Secure identit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C11EAE-3A22-E84A-8BC8-11A0D824AB2E}"/>
              </a:ext>
            </a:extLst>
          </p:cNvPr>
          <p:cNvSpPr/>
          <p:nvPr/>
        </p:nvSpPr>
        <p:spPr bwMode="auto">
          <a:xfrm>
            <a:off x="5270500" y="0"/>
            <a:ext cx="69215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3" name="Picture 2">
            <a:extLst>
              <a:ext uri="{FF2B5EF4-FFF2-40B4-BE49-F238E27FC236}">
                <a16:creationId xmlns:a16="http://schemas.microsoft.com/office/drawing/2014/main" id="{F1130DED-49F2-7F4A-A1D8-D5BEF2F4F110}"/>
              </a:ext>
            </a:extLst>
          </p:cNvPr>
          <p:cNvPicPr>
            <a:picLocks noChangeAspect="1"/>
          </p:cNvPicPr>
          <p:nvPr/>
        </p:nvPicPr>
        <p:blipFill>
          <a:blip r:embed="rId2"/>
          <a:stretch>
            <a:fillRect/>
          </a:stretch>
        </p:blipFill>
        <p:spPr>
          <a:xfrm>
            <a:off x="5692066" y="901699"/>
            <a:ext cx="6245934" cy="4735013"/>
          </a:xfrm>
          <a:prstGeom prst="rect">
            <a:avLst/>
          </a:prstGeom>
        </p:spPr>
      </p:pic>
    </p:spTree>
    <p:extLst>
      <p:ext uri="{BB962C8B-B14F-4D97-AF65-F5344CB8AC3E}">
        <p14:creationId xmlns:p14="http://schemas.microsoft.com/office/powerpoint/2010/main" val="13633559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ection title - Risk mitiga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70D265D-AA9F-1B4D-9271-7954CC4C5428}"/>
              </a:ext>
            </a:extLst>
          </p:cNvPr>
          <p:cNvSpPr/>
          <p:nvPr/>
        </p:nvSpPr>
        <p:spPr bwMode="auto">
          <a:xfrm>
            <a:off x="5270500" y="0"/>
            <a:ext cx="6921500" cy="6858000"/>
          </a:xfrm>
          <a:prstGeom prst="rect">
            <a:avLst/>
          </a:prstGeom>
          <a:solidFill>
            <a:srgbClr val="054B1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7" name="Graphic 6">
            <a:extLst>
              <a:ext uri="{FF2B5EF4-FFF2-40B4-BE49-F238E27FC236}">
                <a16:creationId xmlns:a16="http://schemas.microsoft.com/office/drawing/2014/main" id="{B55BBCEC-22DB-8F44-AC0C-CED390E2A832}"/>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19922520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599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Blank 2">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053221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hank you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Thank you</a:t>
            </a:r>
          </a:p>
        </p:txBody>
      </p:sp>
    </p:spTree>
    <p:extLst>
      <p:ext uri="{BB962C8B-B14F-4D97-AF65-F5344CB8AC3E}">
        <p14:creationId xmlns:p14="http://schemas.microsoft.com/office/powerpoint/2010/main" val="32506932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hank you photo">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5" y="3035808"/>
            <a:ext cx="3948683"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Thank you</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C1D8EF4-A5A1-4D2B-9918-9B027853453F}"/>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7615424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Picture 4">
            <a:extLst>
              <a:ext uri="{FF2B5EF4-FFF2-40B4-BE49-F238E27FC236}">
                <a16:creationId xmlns:a16="http://schemas.microsoft.com/office/drawing/2014/main" id="{2DB3C5CC-AE72-496D-8E0F-9DEC4A52D5F7}"/>
              </a:ext>
            </a:extLst>
          </p:cNvPr>
          <p:cNvPicPr>
            <a:picLocks noChangeAspect="1"/>
          </p:cNvPicPr>
          <p:nvPr/>
        </p:nvPicPr>
        <p:blipFill>
          <a:blip r:embed="rId2"/>
          <a:stretch>
            <a:fillRect/>
          </a:stretch>
        </p:blipFill>
        <p:spPr>
          <a:xfrm>
            <a:off x="582043" y="585788"/>
            <a:ext cx="2308795" cy="294139"/>
          </a:xfrm>
          <a:prstGeom prst="rect">
            <a:avLst/>
          </a:prstGeom>
        </p:spPr>
      </p:pic>
    </p:spTree>
    <p:extLst>
      <p:ext uri="{BB962C8B-B14F-4D97-AF65-F5344CB8AC3E}">
        <p14:creationId xmlns:p14="http://schemas.microsoft.com/office/powerpoint/2010/main" val="163240594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00982243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p:nvPicPr>
        <p:blipFill rotWithShape="1">
          <a:blip r:embed="rId83"/>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9071612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Lst>
  <p:transition>
    <p:fade/>
  </p:transition>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FEEF5-B700-EDF5-5F82-C03F7BDDA426}"/>
              </a:ext>
            </a:extLst>
          </p:cNvPr>
          <p:cNvSpPr>
            <a:spLocks noGrp="1"/>
          </p:cNvSpPr>
          <p:nvPr>
            <p:ph type="title"/>
          </p:nvPr>
        </p:nvSpPr>
        <p:spPr/>
        <p:txBody>
          <a:bodyPr/>
          <a:lstStyle/>
          <a:p>
            <a:r>
              <a:rPr lang="en-US"/>
              <a:t>Cloud Identity Phishing</a:t>
            </a:r>
          </a:p>
        </p:txBody>
      </p:sp>
      <p:sp>
        <p:nvSpPr>
          <p:cNvPr id="3" name="Text Placeholder 2">
            <a:extLst>
              <a:ext uri="{FF2B5EF4-FFF2-40B4-BE49-F238E27FC236}">
                <a16:creationId xmlns:a16="http://schemas.microsoft.com/office/drawing/2014/main" id="{E7DBE3CA-AC81-ED6B-C62F-69B7E63EACBE}"/>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3003358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25486-D9CD-607E-D919-9E90813B2FA8}"/>
              </a:ext>
            </a:extLst>
          </p:cNvPr>
          <p:cNvSpPr>
            <a:spLocks noGrp="1"/>
          </p:cNvSpPr>
          <p:nvPr>
            <p:ph type="title"/>
          </p:nvPr>
        </p:nvSpPr>
        <p:spPr/>
        <p:txBody>
          <a:bodyPr/>
          <a:lstStyle/>
          <a:p>
            <a:r>
              <a:rPr lang="en-US"/>
              <a:t>Agenda</a:t>
            </a:r>
          </a:p>
        </p:txBody>
      </p:sp>
      <p:sp>
        <p:nvSpPr>
          <p:cNvPr id="3" name="Text Placeholder 2">
            <a:extLst>
              <a:ext uri="{FF2B5EF4-FFF2-40B4-BE49-F238E27FC236}">
                <a16:creationId xmlns:a16="http://schemas.microsoft.com/office/drawing/2014/main" id="{F49CF650-22F8-29F1-A9A5-9BA1B40D2B06}"/>
              </a:ext>
            </a:extLst>
          </p:cNvPr>
          <p:cNvSpPr>
            <a:spLocks noGrp="1"/>
          </p:cNvSpPr>
          <p:nvPr>
            <p:ph type="body" sz="quarter" idx="10"/>
          </p:nvPr>
        </p:nvSpPr>
        <p:spPr/>
        <p:txBody>
          <a:bodyPr>
            <a:noAutofit/>
          </a:bodyPr>
          <a:lstStyle/>
          <a:p>
            <a:pPr>
              <a:lnSpc>
                <a:spcPct val="115000"/>
              </a:lnSpc>
              <a:spcBef>
                <a:spcPts val="600"/>
              </a:spcBef>
            </a:pPr>
            <a:r>
              <a:rPr lang="en-US" sz="2000"/>
              <a:t>Module Objective and MITRE ATT&amp;CK Mapping</a:t>
            </a:r>
          </a:p>
          <a:p>
            <a:pPr>
              <a:lnSpc>
                <a:spcPct val="115000"/>
              </a:lnSpc>
              <a:spcBef>
                <a:spcPts val="600"/>
              </a:spcBef>
            </a:pPr>
            <a:r>
              <a:rPr lang="en-US" sz="2000"/>
              <a:t>Three Cloud Phishing Techniques Overview</a:t>
            </a:r>
          </a:p>
          <a:p>
            <a:pPr>
              <a:lnSpc>
                <a:spcPct val="115000"/>
              </a:lnSpc>
              <a:spcBef>
                <a:spcPts val="600"/>
              </a:spcBef>
            </a:pPr>
            <a:r>
              <a:rPr lang="en-US" sz="2000"/>
              <a:t>Device Code Phishing - Attack, Detect, Respond</a:t>
            </a:r>
          </a:p>
          <a:p>
            <a:pPr>
              <a:lnSpc>
                <a:spcPct val="115000"/>
              </a:lnSpc>
              <a:spcBef>
                <a:spcPts val="600"/>
              </a:spcBef>
            </a:pPr>
            <a:r>
              <a:rPr lang="en-US" sz="2000"/>
              <a:t>Adversary-in-the-Middle (AiTM) Session Cookie Theft - Attack, Detect, Respond</a:t>
            </a:r>
          </a:p>
          <a:p>
            <a:pPr>
              <a:lnSpc>
                <a:spcPct val="115000"/>
              </a:lnSpc>
              <a:spcBef>
                <a:spcPts val="600"/>
              </a:spcBef>
            </a:pPr>
            <a:r>
              <a:rPr lang="en-US" sz="2000"/>
              <a:t>Illicit Consent Grant - Attack, Detect, Respond</a:t>
            </a:r>
          </a:p>
          <a:p>
            <a:pPr>
              <a:lnSpc>
                <a:spcPct val="115000"/>
              </a:lnSpc>
              <a:spcBef>
                <a:spcPts val="600"/>
              </a:spcBef>
            </a:pPr>
            <a:r>
              <a:rPr lang="en-US" sz="2000"/>
              <a:t>Email-Layer Detection with Defender for Office 365</a:t>
            </a:r>
          </a:p>
        </p:txBody>
      </p:sp>
    </p:spTree>
    <p:extLst>
      <p:ext uri="{BB962C8B-B14F-4D97-AF65-F5344CB8AC3E}">
        <p14:creationId xmlns:p14="http://schemas.microsoft.com/office/powerpoint/2010/main" val="238740899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AE8F8-6A22-94A6-7CC6-66767859E7F4}"/>
              </a:ext>
            </a:extLst>
          </p:cNvPr>
          <p:cNvSpPr>
            <a:spLocks noGrp="1"/>
          </p:cNvSpPr>
          <p:nvPr>
            <p:ph type="title"/>
          </p:nvPr>
        </p:nvSpPr>
        <p:spPr/>
        <p:txBody>
          <a:bodyPr/>
          <a:lstStyle/>
          <a:p>
            <a:r>
              <a:rPr lang="en-US"/>
              <a:t>Agenda (cont. 2)</a:t>
            </a:r>
          </a:p>
        </p:txBody>
      </p:sp>
      <p:sp>
        <p:nvSpPr>
          <p:cNvPr id="3" name="Text Placeholder 2">
            <a:extLst>
              <a:ext uri="{FF2B5EF4-FFF2-40B4-BE49-F238E27FC236}">
                <a16:creationId xmlns:a16="http://schemas.microsoft.com/office/drawing/2014/main" id="{6BD8BEA4-143E-D62A-B6B9-2118D4114D3E}"/>
              </a:ext>
            </a:extLst>
          </p:cNvPr>
          <p:cNvSpPr>
            <a:spLocks noGrp="1"/>
          </p:cNvSpPr>
          <p:nvPr>
            <p:ph type="body" sz="quarter" idx="10"/>
          </p:nvPr>
        </p:nvSpPr>
        <p:spPr/>
        <p:txBody>
          <a:bodyPr>
            <a:noAutofit/>
          </a:bodyPr>
          <a:lstStyle/>
          <a:p>
            <a:pPr>
              <a:lnSpc>
                <a:spcPct val="115000"/>
              </a:lnSpc>
              <a:spcBef>
                <a:spcPts val="600"/>
              </a:spcBef>
            </a:pPr>
            <a:r>
              <a:rPr lang="en-US" sz="2000"/>
              <a:t>Full Phishing Kill Chain Kusto Query Language (KQL)</a:t>
            </a:r>
          </a:p>
          <a:p>
            <a:pPr>
              <a:lnSpc>
                <a:spcPct val="115000"/>
              </a:lnSpc>
              <a:spcBef>
                <a:spcPts val="600"/>
              </a:spcBef>
            </a:pPr>
            <a:r>
              <a:rPr lang="en-US" sz="2000"/>
              <a:t>Recommended Alert Rules</a:t>
            </a:r>
          </a:p>
          <a:p>
            <a:pPr>
              <a:lnSpc>
                <a:spcPct val="115000"/>
              </a:lnSpc>
              <a:spcBef>
                <a:spcPts val="600"/>
              </a:spcBef>
            </a:pPr>
            <a:r>
              <a:rPr lang="en-US" sz="2000"/>
              <a:t>Hardening and Post-Incident Checklist</a:t>
            </a:r>
          </a:p>
          <a:p>
            <a:pPr>
              <a:lnSpc>
                <a:spcPct val="115000"/>
              </a:lnSpc>
              <a:spcBef>
                <a:spcPts val="600"/>
              </a:spcBef>
            </a:pPr>
            <a:r>
              <a:rPr lang="en-US" sz="2000"/>
              <a:t>References</a:t>
            </a:r>
          </a:p>
        </p:txBody>
      </p:sp>
    </p:spTree>
    <p:extLst>
      <p:ext uri="{BB962C8B-B14F-4D97-AF65-F5344CB8AC3E}">
        <p14:creationId xmlns:p14="http://schemas.microsoft.com/office/powerpoint/2010/main" val="221764059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ACF43-7501-C05A-0FC3-4401ABC04E43}"/>
              </a:ext>
            </a:extLst>
          </p:cNvPr>
          <p:cNvSpPr>
            <a:spLocks noGrp="1"/>
          </p:cNvSpPr>
          <p:nvPr>
            <p:ph type="title"/>
          </p:nvPr>
        </p:nvSpPr>
        <p:spPr/>
        <p:txBody>
          <a:bodyPr/>
          <a:lstStyle/>
          <a:p>
            <a:r>
              <a:rPr lang="en-US"/>
              <a:t>Module Objective and MITRE Mapping</a:t>
            </a:r>
          </a:p>
        </p:txBody>
      </p:sp>
      <p:graphicFrame>
        <p:nvGraphicFramePr>
          <p:cNvPr id="4" name="Content Placeholder 3">
            <a:extLst>
              <a:ext uri="{FF2B5EF4-FFF2-40B4-BE49-F238E27FC236}">
                <a16:creationId xmlns:a16="http://schemas.microsoft.com/office/drawing/2014/main" id="{80BD98E9-DE4B-DA10-047E-34D131CD4D36}"/>
              </a:ext>
            </a:extLst>
          </p:cNvPr>
          <p:cNvGraphicFramePr>
            <a:graphicFrameLocks noGrp="1"/>
          </p:cNvGraphicFramePr>
          <p:nvPr>
            <p:ph sz="quarter" idx="10"/>
            <p:extLst>
              <p:ext uri="{D42A27DB-BD31-4B8C-83A1-F6EECF244321}">
                <p14:modId xmlns:p14="http://schemas.microsoft.com/office/powerpoint/2010/main" val="844191507"/>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279979346"/>
                    </a:ext>
                  </a:extLst>
                </a:gridCol>
                <a:gridCol w="3810000">
                  <a:extLst>
                    <a:ext uri="{9D8B030D-6E8A-4147-A177-3AD203B41FA5}">
                      <a16:colId xmlns:a16="http://schemas.microsoft.com/office/drawing/2014/main" val="2546456125"/>
                    </a:ext>
                  </a:extLst>
                </a:gridCol>
                <a:gridCol w="3810000">
                  <a:extLst>
                    <a:ext uri="{9D8B030D-6E8A-4147-A177-3AD203B41FA5}">
                      <a16:colId xmlns:a16="http://schemas.microsoft.com/office/drawing/2014/main" val="3475688356"/>
                    </a:ext>
                  </a:extLst>
                </a:gridCol>
              </a:tblGrid>
              <a:tr h="716643">
                <a:tc>
                  <a:txBody>
                    <a:bodyPr/>
                    <a:lstStyle/>
                    <a:p>
                      <a:r>
                        <a:rPr lang="en-US" sz="1400" b="1"/>
                        <a:t>Technique</a:t>
                      </a:r>
                    </a:p>
                  </a:txBody>
                  <a:tcPr/>
                </a:tc>
                <a:tc>
                  <a:txBody>
                    <a:bodyPr/>
                    <a:lstStyle/>
                    <a:p>
                      <a:r>
                        <a:rPr lang="en-US" sz="1400" b="1"/>
                        <a:t>ID</a:t>
                      </a:r>
                    </a:p>
                  </a:txBody>
                  <a:tcPr/>
                </a:tc>
                <a:tc>
                  <a:txBody>
                    <a:bodyPr/>
                    <a:lstStyle/>
                    <a:p>
                      <a:r>
                        <a:rPr lang="en-US" sz="1400" b="1"/>
                        <a:t>Tactic</a:t>
                      </a:r>
                    </a:p>
                  </a:txBody>
                  <a:tcPr/>
                </a:tc>
                <a:extLst>
                  <a:ext uri="{0D108BD9-81ED-4DB2-BD59-A6C34878D82A}">
                    <a16:rowId xmlns:a16="http://schemas.microsoft.com/office/drawing/2014/main" val="46573785"/>
                  </a:ext>
                </a:extLst>
              </a:tr>
              <a:tr h="716643">
                <a:tc>
                  <a:txBody>
                    <a:bodyPr/>
                    <a:lstStyle/>
                    <a:p>
                      <a:r>
                        <a:rPr lang="en-US" sz="1400"/>
                        <a:t>Phishing</a:t>
                      </a:r>
                    </a:p>
                  </a:txBody>
                  <a:tcPr/>
                </a:tc>
                <a:tc>
                  <a:txBody>
                    <a:bodyPr/>
                    <a:lstStyle/>
                    <a:p>
                      <a:r>
                        <a:rPr lang="en-US" sz="1400"/>
                        <a:t>T1566</a:t>
                      </a:r>
                    </a:p>
                  </a:txBody>
                  <a:tcPr/>
                </a:tc>
                <a:tc>
                  <a:txBody>
                    <a:bodyPr/>
                    <a:lstStyle/>
                    <a:p>
                      <a:r>
                        <a:rPr lang="en-US" sz="1400"/>
                        <a:t>Initial Access</a:t>
                      </a:r>
                    </a:p>
                  </a:txBody>
                  <a:tcPr/>
                </a:tc>
                <a:extLst>
                  <a:ext uri="{0D108BD9-81ED-4DB2-BD59-A6C34878D82A}">
                    <a16:rowId xmlns:a16="http://schemas.microsoft.com/office/drawing/2014/main" val="2952464564"/>
                  </a:ext>
                </a:extLst>
              </a:tr>
              <a:tr h="716643">
                <a:tc>
                  <a:txBody>
                    <a:bodyPr/>
                    <a:lstStyle/>
                    <a:p>
                      <a:r>
                        <a:rPr lang="en-US" sz="1400"/>
                        <a:t>Steal Application Access Token</a:t>
                      </a:r>
                    </a:p>
                  </a:txBody>
                  <a:tcPr/>
                </a:tc>
                <a:tc>
                  <a:txBody>
                    <a:bodyPr/>
                    <a:lstStyle/>
                    <a:p>
                      <a:r>
                        <a:rPr lang="en-US" sz="1400"/>
                        <a:t>T1528</a:t>
                      </a:r>
                    </a:p>
                  </a:txBody>
                  <a:tcPr/>
                </a:tc>
                <a:tc>
                  <a:txBody>
                    <a:bodyPr/>
                    <a:lstStyle/>
                    <a:p>
                      <a:r>
                        <a:rPr lang="en-US" sz="1400"/>
                        <a:t>Credential Access</a:t>
                      </a:r>
                    </a:p>
                  </a:txBody>
                  <a:tcPr/>
                </a:tc>
                <a:extLst>
                  <a:ext uri="{0D108BD9-81ED-4DB2-BD59-A6C34878D82A}">
                    <a16:rowId xmlns:a16="http://schemas.microsoft.com/office/drawing/2014/main" val="373570786"/>
                  </a:ext>
                </a:extLst>
              </a:tr>
              <a:tr h="716643">
                <a:tc>
                  <a:txBody>
                    <a:bodyPr/>
                    <a:lstStyle/>
                    <a:p>
                      <a:r>
                        <a:rPr lang="en-US" sz="1400"/>
                        <a:t>Adversary-in-the-Middle</a:t>
                      </a:r>
                    </a:p>
                  </a:txBody>
                  <a:tcPr/>
                </a:tc>
                <a:tc>
                  <a:txBody>
                    <a:bodyPr/>
                    <a:lstStyle/>
                    <a:p>
                      <a:r>
                        <a:rPr lang="en-US" sz="1400"/>
                        <a:t>T1557</a:t>
                      </a:r>
                    </a:p>
                  </a:txBody>
                  <a:tcPr/>
                </a:tc>
                <a:tc>
                  <a:txBody>
                    <a:bodyPr/>
                    <a:lstStyle/>
                    <a:p>
                      <a:r>
                        <a:rPr lang="en-US" sz="1400"/>
                        <a:t>Credential Access</a:t>
                      </a:r>
                    </a:p>
                  </a:txBody>
                  <a:tcPr/>
                </a:tc>
                <a:extLst>
                  <a:ext uri="{0D108BD9-81ED-4DB2-BD59-A6C34878D82A}">
                    <a16:rowId xmlns:a16="http://schemas.microsoft.com/office/drawing/2014/main" val="3455643223"/>
                  </a:ext>
                </a:extLst>
              </a:tr>
              <a:tr h="716643">
                <a:tc>
                  <a:txBody>
                    <a:bodyPr/>
                    <a:lstStyle/>
                    <a:p>
                      <a:r>
                        <a:rPr lang="en-US" sz="1400"/>
                        <a:t>Forge Web Credentials: Web Cookies</a:t>
                      </a:r>
                    </a:p>
                  </a:txBody>
                  <a:tcPr/>
                </a:tc>
                <a:tc>
                  <a:txBody>
                    <a:bodyPr/>
                    <a:lstStyle/>
                    <a:p>
                      <a:r>
                        <a:rPr lang="en-US" sz="1400"/>
                        <a:t>T1606.001</a:t>
                      </a:r>
                    </a:p>
                  </a:txBody>
                  <a:tcPr/>
                </a:tc>
                <a:tc>
                  <a:txBody>
                    <a:bodyPr/>
                    <a:lstStyle/>
                    <a:p>
                      <a:r>
                        <a:rPr lang="en-US" sz="1400"/>
                        <a:t>Credential Access</a:t>
                      </a:r>
                    </a:p>
                  </a:txBody>
                  <a:tcPr/>
                </a:tc>
                <a:extLst>
                  <a:ext uri="{0D108BD9-81ED-4DB2-BD59-A6C34878D82A}">
                    <a16:rowId xmlns:a16="http://schemas.microsoft.com/office/drawing/2014/main" val="2828278483"/>
                  </a:ext>
                </a:extLst>
              </a:tr>
              <a:tr h="716643">
                <a:tc>
                  <a:txBody>
                    <a:bodyPr/>
                    <a:lstStyle/>
                    <a:p>
                      <a:r>
                        <a:rPr lang="en-US" sz="1400"/>
                        <a:t>Valid Accounts: Cloud Accounts</a:t>
                      </a:r>
                    </a:p>
                  </a:txBody>
                  <a:tcPr/>
                </a:tc>
                <a:tc>
                  <a:txBody>
                    <a:bodyPr/>
                    <a:lstStyle/>
                    <a:p>
                      <a:r>
                        <a:rPr lang="en-US" sz="1400"/>
                        <a:t>T1078.004</a:t>
                      </a:r>
                    </a:p>
                  </a:txBody>
                  <a:tcPr/>
                </a:tc>
                <a:tc>
                  <a:txBody>
                    <a:bodyPr/>
                    <a:lstStyle/>
                    <a:p>
                      <a:r>
                        <a:rPr lang="en-US" sz="1400"/>
                        <a:t>Initial Access, Persistence</a:t>
                      </a:r>
                    </a:p>
                  </a:txBody>
                  <a:tcPr/>
                </a:tc>
                <a:extLst>
                  <a:ext uri="{0D108BD9-81ED-4DB2-BD59-A6C34878D82A}">
                    <a16:rowId xmlns:a16="http://schemas.microsoft.com/office/drawing/2014/main" val="2588396476"/>
                  </a:ext>
                </a:extLst>
              </a:tr>
              <a:tr h="716643">
                <a:tc>
                  <a:txBody>
                    <a:bodyPr/>
                    <a:lstStyle/>
                    <a:p>
                      <a:r>
                        <a:rPr lang="en-US" sz="1400"/>
                        <a:t>Phishing for Information: Spearphishing Link</a:t>
                      </a:r>
                    </a:p>
                  </a:txBody>
                  <a:tcPr/>
                </a:tc>
                <a:tc>
                  <a:txBody>
                    <a:bodyPr/>
                    <a:lstStyle/>
                    <a:p>
                      <a:r>
                        <a:rPr lang="en-US" sz="1400"/>
                        <a:t>T1598.003</a:t>
                      </a:r>
                    </a:p>
                  </a:txBody>
                  <a:tcPr/>
                </a:tc>
                <a:tc>
                  <a:txBody>
                    <a:bodyPr/>
                    <a:lstStyle/>
                    <a:p>
                      <a:r>
                        <a:rPr lang="en-US" sz="1400"/>
                        <a:t>Reconnaissance</a:t>
                      </a:r>
                    </a:p>
                  </a:txBody>
                  <a:tcPr/>
                </a:tc>
                <a:extLst>
                  <a:ext uri="{0D108BD9-81ED-4DB2-BD59-A6C34878D82A}">
                    <a16:rowId xmlns:a16="http://schemas.microsoft.com/office/drawing/2014/main" val="2154850648"/>
                  </a:ext>
                </a:extLst>
              </a:tr>
            </a:tbl>
          </a:graphicData>
        </a:graphic>
      </p:graphicFrame>
    </p:spTree>
    <p:extLst>
      <p:ext uri="{BB962C8B-B14F-4D97-AF65-F5344CB8AC3E}">
        <p14:creationId xmlns:p14="http://schemas.microsoft.com/office/powerpoint/2010/main" val="362014504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7642-50A5-1733-6A5F-E7D2E7406BDD}"/>
              </a:ext>
            </a:extLst>
          </p:cNvPr>
          <p:cNvSpPr>
            <a:spLocks noGrp="1"/>
          </p:cNvSpPr>
          <p:nvPr>
            <p:ph type="title"/>
          </p:nvPr>
        </p:nvSpPr>
        <p:spPr/>
        <p:txBody>
          <a:bodyPr/>
          <a:lstStyle/>
          <a:p>
            <a:r>
              <a:rPr lang="en-US"/>
              <a:t>Module Objective and MITRE Mapping (cont.)</a:t>
            </a:r>
          </a:p>
        </p:txBody>
      </p:sp>
      <p:sp>
        <p:nvSpPr>
          <p:cNvPr id="3" name="Content Placeholder 2">
            <a:extLst>
              <a:ext uri="{FF2B5EF4-FFF2-40B4-BE49-F238E27FC236}">
                <a16:creationId xmlns:a16="http://schemas.microsoft.com/office/drawing/2014/main" id="{C08082CB-37BE-AA69-095E-D4F76DB993D3}"/>
              </a:ext>
            </a:extLst>
          </p:cNvPr>
          <p:cNvSpPr>
            <a:spLocks noGrp="1"/>
          </p:cNvSpPr>
          <p:nvPr>
            <p:ph sz="quarter" idx="10"/>
          </p:nvPr>
        </p:nvSpPr>
        <p:spPr/>
        <p:txBody>
          <a:bodyPr>
            <a:noAutofit/>
          </a:bodyPr>
          <a:lstStyle/>
          <a:p>
            <a:pPr>
              <a:lnSpc>
                <a:spcPct val="115000"/>
              </a:lnSpc>
              <a:spcBef>
                <a:spcPts val="600"/>
              </a:spcBef>
            </a:pPr>
            <a:r>
              <a:rPr lang="en-US" sz="1600"/>
              <a:t>Objective: Hunt for three cloud-native phishing attack patterns in Entra ID sign-in and audit data. Distinguish between traditional credential phishing and cloud-specific techniques that bypass Multi-Factor Authentication (MFA).</a:t>
            </a:r>
          </a:p>
        </p:txBody>
      </p:sp>
    </p:spTree>
    <p:extLst>
      <p:ext uri="{BB962C8B-B14F-4D97-AF65-F5344CB8AC3E}">
        <p14:creationId xmlns:p14="http://schemas.microsoft.com/office/powerpoint/2010/main" val="305730660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C5E26-E1EC-CA79-DEFA-FECCD1E5EFF8}"/>
              </a:ext>
            </a:extLst>
          </p:cNvPr>
          <p:cNvSpPr>
            <a:spLocks noGrp="1"/>
          </p:cNvSpPr>
          <p:nvPr>
            <p:ph type="title"/>
          </p:nvPr>
        </p:nvSpPr>
        <p:spPr/>
        <p:txBody>
          <a:bodyPr/>
          <a:lstStyle/>
          <a:p>
            <a:r>
              <a:rPr lang="en-US"/>
              <a:t>Three Cloud Phishing Techniques</a:t>
            </a:r>
          </a:p>
        </p:txBody>
      </p:sp>
      <p:graphicFrame>
        <p:nvGraphicFramePr>
          <p:cNvPr id="5" name="Content Placeholder 4">
            <a:extLst>
              <a:ext uri="{FF2B5EF4-FFF2-40B4-BE49-F238E27FC236}">
                <a16:creationId xmlns:a16="http://schemas.microsoft.com/office/drawing/2014/main" id="{8522303D-A542-8B66-BA77-24B00BEFD393}"/>
              </a:ext>
            </a:extLst>
          </p:cNvPr>
          <p:cNvGraphicFramePr>
            <a:graphicFrameLocks noGrp="1"/>
          </p:cNvGraphicFramePr>
          <p:nvPr>
            <p:ph sz="quarter" idx="10"/>
            <p:extLst>
              <p:ext uri="{D42A27DB-BD31-4B8C-83A1-F6EECF244321}">
                <p14:modId xmlns:p14="http://schemas.microsoft.com/office/powerpoint/2010/main" val="4206313836"/>
              </p:ext>
            </p:extLst>
          </p:nvPr>
        </p:nvGraphicFramePr>
        <p:xfrm>
          <a:off x="381000" y="1989097"/>
          <a:ext cx="11430000" cy="4513302"/>
        </p:xfrm>
        <a:graphic>
          <a:graphicData uri="http://schemas.openxmlformats.org/drawingml/2006/table">
            <a:tbl>
              <a:tblPr firstRow="1" bandRow="1">
                <a:tableStyleId>{5C22544A-7EE6-4342-B048-85BDC9FD1C3A}</a:tableStyleId>
              </a:tblPr>
              <a:tblGrid>
                <a:gridCol w="2857500">
                  <a:extLst>
                    <a:ext uri="{9D8B030D-6E8A-4147-A177-3AD203B41FA5}">
                      <a16:colId xmlns:a16="http://schemas.microsoft.com/office/drawing/2014/main" val="530019641"/>
                    </a:ext>
                  </a:extLst>
                </a:gridCol>
                <a:gridCol w="2857500">
                  <a:extLst>
                    <a:ext uri="{9D8B030D-6E8A-4147-A177-3AD203B41FA5}">
                      <a16:colId xmlns:a16="http://schemas.microsoft.com/office/drawing/2014/main" val="1265186298"/>
                    </a:ext>
                  </a:extLst>
                </a:gridCol>
                <a:gridCol w="2857500">
                  <a:extLst>
                    <a:ext uri="{9D8B030D-6E8A-4147-A177-3AD203B41FA5}">
                      <a16:colId xmlns:a16="http://schemas.microsoft.com/office/drawing/2014/main" val="2146995990"/>
                    </a:ext>
                  </a:extLst>
                </a:gridCol>
                <a:gridCol w="2857500">
                  <a:extLst>
                    <a:ext uri="{9D8B030D-6E8A-4147-A177-3AD203B41FA5}">
                      <a16:colId xmlns:a16="http://schemas.microsoft.com/office/drawing/2014/main" val="2529767513"/>
                    </a:ext>
                  </a:extLst>
                </a:gridCol>
              </a:tblGrid>
              <a:tr h="1128326">
                <a:tc>
                  <a:txBody>
                    <a:bodyPr/>
                    <a:lstStyle/>
                    <a:p>
                      <a:r>
                        <a:rPr lang="en-US" sz="1400" b="1"/>
                        <a:t>Technique</a:t>
                      </a:r>
                    </a:p>
                  </a:txBody>
                  <a:tcPr/>
                </a:tc>
                <a:tc>
                  <a:txBody>
                    <a:bodyPr/>
                    <a:lstStyle/>
                    <a:p>
                      <a:r>
                        <a:rPr lang="en-US" sz="1400" b="1"/>
                        <a:t>What Attacker Steals</a:t>
                      </a:r>
                    </a:p>
                  </a:txBody>
                  <a:tcPr/>
                </a:tc>
                <a:tc>
                  <a:txBody>
                    <a:bodyPr/>
                    <a:lstStyle/>
                    <a:p>
                      <a:r>
                        <a:rPr lang="en-US" sz="1400" b="1"/>
                        <a:t>MFA Bypassed?</a:t>
                      </a:r>
                    </a:p>
                  </a:txBody>
                  <a:tcPr/>
                </a:tc>
                <a:tc>
                  <a:txBody>
                    <a:bodyPr/>
                    <a:lstStyle/>
                    <a:p>
                      <a:r>
                        <a:rPr lang="en-US" sz="1400" b="1"/>
                        <a:t>Persistence Mechanism</a:t>
                      </a:r>
                    </a:p>
                  </a:txBody>
                  <a:tcPr/>
                </a:tc>
                <a:extLst>
                  <a:ext uri="{0D108BD9-81ED-4DB2-BD59-A6C34878D82A}">
                    <a16:rowId xmlns:a16="http://schemas.microsoft.com/office/drawing/2014/main" val="1885157948"/>
                  </a:ext>
                </a:extLst>
              </a:tr>
              <a:tr h="1128326">
                <a:tc>
                  <a:txBody>
                    <a:bodyPr/>
                    <a:lstStyle/>
                    <a:p>
                      <a:r>
                        <a:rPr lang="en-US" sz="1400"/>
                        <a:t>Device Code Phishing</a:t>
                      </a:r>
                    </a:p>
                  </a:txBody>
                  <a:tcPr/>
                </a:tc>
                <a:tc>
                  <a:txBody>
                    <a:bodyPr/>
                    <a:lstStyle/>
                    <a:p>
                      <a:r>
                        <a:rPr lang="en-US" sz="1400"/>
                        <a:t>Access token + refresh token</a:t>
                      </a:r>
                    </a:p>
                  </a:txBody>
                  <a:tcPr/>
                </a:tc>
                <a:tc>
                  <a:txBody>
                    <a:bodyPr/>
                    <a:lstStyle/>
                    <a:p>
                      <a:r>
                        <a:rPr lang="en-US" sz="1400"/>
                        <a:t>Yes - victim completes MFA during device code entry</a:t>
                      </a:r>
                    </a:p>
                  </a:txBody>
                  <a:tcPr/>
                </a:tc>
                <a:tc>
                  <a:txBody>
                    <a:bodyPr/>
                    <a:lstStyle/>
                    <a:p>
                      <a:r>
                        <a:rPr lang="en-US" sz="1400"/>
                        <a:t>Refresh token persists up to 90 days</a:t>
                      </a:r>
                    </a:p>
                  </a:txBody>
                  <a:tcPr/>
                </a:tc>
                <a:extLst>
                  <a:ext uri="{0D108BD9-81ED-4DB2-BD59-A6C34878D82A}">
                    <a16:rowId xmlns:a16="http://schemas.microsoft.com/office/drawing/2014/main" val="2339270152"/>
                  </a:ext>
                </a:extLst>
              </a:tr>
              <a:tr h="1128326">
                <a:tc>
                  <a:txBody>
                    <a:bodyPr/>
                    <a:lstStyle/>
                    <a:p>
                      <a:r>
                        <a:rPr lang="en-US" sz="1400"/>
                        <a:t>AiTM (Evilginx)</a:t>
                      </a:r>
                    </a:p>
                  </a:txBody>
                  <a:tcPr/>
                </a:tc>
                <a:tc>
                  <a:txBody>
                    <a:bodyPr/>
                    <a:lstStyle/>
                    <a:p>
                      <a:r>
                        <a:rPr lang="en-US" sz="1400"/>
                        <a:t>Session cookie post-MFA</a:t>
                      </a:r>
                    </a:p>
                  </a:txBody>
                  <a:tcPr/>
                </a:tc>
                <a:tc>
                  <a:txBody>
                    <a:bodyPr/>
                    <a:lstStyle/>
                    <a:p>
                      <a:r>
                        <a:rPr lang="en-US" sz="1400"/>
                        <a:t>Yes - cookie captured after MFA completes</a:t>
                      </a:r>
                    </a:p>
                  </a:txBody>
                  <a:tcPr/>
                </a:tc>
                <a:tc>
                  <a:txBody>
                    <a:bodyPr/>
                    <a:lstStyle/>
                    <a:p>
                      <a:r>
                        <a:rPr lang="en-US" sz="1400"/>
                        <a:t>Session cookie + BEC inbox rules</a:t>
                      </a:r>
                    </a:p>
                  </a:txBody>
                  <a:tcPr/>
                </a:tc>
                <a:extLst>
                  <a:ext uri="{0D108BD9-81ED-4DB2-BD59-A6C34878D82A}">
                    <a16:rowId xmlns:a16="http://schemas.microsoft.com/office/drawing/2014/main" val="1129737396"/>
                  </a:ext>
                </a:extLst>
              </a:tr>
              <a:tr h="1128326">
                <a:tc>
                  <a:txBody>
                    <a:bodyPr/>
                    <a:lstStyle/>
                    <a:p>
                      <a:r>
                        <a:rPr lang="en-US" sz="1400"/>
                        <a:t>Illicit Consent Grant</a:t>
                      </a:r>
                    </a:p>
                  </a:txBody>
                  <a:tcPr/>
                </a:tc>
                <a:tc>
                  <a:txBody>
                    <a:bodyPr/>
                    <a:lstStyle/>
                    <a:p>
                      <a:r>
                        <a:rPr lang="en-US" sz="1400"/>
                        <a:t>OAuth delegated permissions</a:t>
                      </a:r>
                    </a:p>
                  </a:txBody>
                  <a:tcPr/>
                </a:tc>
                <a:tc>
                  <a:txBody>
                    <a:bodyPr/>
                    <a:lstStyle/>
                    <a:p>
                      <a:r>
                        <a:rPr lang="pt-BR" sz="1400"/>
                        <a:t>N/A - no credentials stolen</a:t>
                      </a:r>
                      <a:endParaRPr lang="en-US" sz="1400"/>
                    </a:p>
                  </a:txBody>
                  <a:tcPr/>
                </a:tc>
                <a:tc>
                  <a:txBody>
                    <a:bodyPr/>
                    <a:lstStyle/>
                    <a:p>
                      <a:r>
                        <a:rPr lang="en-US" sz="1400"/>
                        <a:t>OAuth grant survives password reset</a:t>
                      </a:r>
                    </a:p>
                  </a:txBody>
                  <a:tcPr/>
                </a:tc>
                <a:extLst>
                  <a:ext uri="{0D108BD9-81ED-4DB2-BD59-A6C34878D82A}">
                    <a16:rowId xmlns:a16="http://schemas.microsoft.com/office/drawing/2014/main" val="1385249245"/>
                  </a:ext>
                </a:extLst>
              </a:tr>
            </a:tbl>
          </a:graphicData>
        </a:graphic>
      </p:graphicFrame>
      <p:sp>
        <p:nvSpPr>
          <p:cNvPr id="4" name="TextBox 3">
            <a:extLst>
              <a:ext uri="{FF2B5EF4-FFF2-40B4-BE49-F238E27FC236}">
                <a16:creationId xmlns:a16="http://schemas.microsoft.com/office/drawing/2014/main" id="{6D2A6E90-B8EA-9650-D719-5801E9DDB2A2}"/>
              </a:ext>
            </a:extLst>
          </p:cNvPr>
          <p:cNvSpPr txBox="1"/>
          <p:nvPr/>
        </p:nvSpPr>
        <p:spPr>
          <a:xfrm>
            <a:off x="381000" y="1265198"/>
            <a:ext cx="11430000" cy="1723549"/>
          </a:xfrm>
          <a:prstGeom prst="rect">
            <a:avLst/>
          </a:prstGeom>
          <a:noFill/>
        </p:spPr>
        <p:txBody>
          <a:bodyPr vert="horz" wrap="square" lIns="0" tIns="0" rIns="0" bIns="0" rtlCol="0">
            <a:spAutoFit/>
          </a:bodyPr>
          <a:lstStyle/>
          <a:p>
            <a:pPr algn="l"/>
            <a:r>
              <a:rPr lang="en-US" sz="2800"/>
              <a:t>Key insight: Password resets and Multi-Factor Authentication (MFA) re-enrollment do NOT remediate illicit consent grants. The malicious app retains its authorization until an admin explicitly revokes the OAuth grant.</a:t>
            </a:r>
            <a:endParaRPr lang="en-US" sz="2800" dirty="0" err="1"/>
          </a:p>
        </p:txBody>
      </p:sp>
    </p:spTree>
    <p:extLst>
      <p:ext uri="{BB962C8B-B14F-4D97-AF65-F5344CB8AC3E}">
        <p14:creationId xmlns:p14="http://schemas.microsoft.com/office/powerpoint/2010/main" val="30200979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57713-F3D5-14B2-47A0-C42195A17EC7}"/>
              </a:ext>
            </a:extLst>
          </p:cNvPr>
          <p:cNvSpPr>
            <a:spLocks noGrp="1"/>
          </p:cNvSpPr>
          <p:nvPr>
            <p:ph type="title"/>
          </p:nvPr>
        </p:nvSpPr>
        <p:spPr/>
        <p:txBody>
          <a:bodyPr/>
          <a:lstStyle/>
          <a:p>
            <a:r>
              <a:rPr lang="en-US"/>
              <a:t>Key Tables for This Module</a:t>
            </a:r>
          </a:p>
        </p:txBody>
      </p:sp>
      <p:graphicFrame>
        <p:nvGraphicFramePr>
          <p:cNvPr id="4" name="Content Placeholder 3">
            <a:extLst>
              <a:ext uri="{FF2B5EF4-FFF2-40B4-BE49-F238E27FC236}">
                <a16:creationId xmlns:a16="http://schemas.microsoft.com/office/drawing/2014/main" id="{5A8B8FE6-C4DD-E107-8D07-468B2920A734}"/>
              </a:ext>
            </a:extLst>
          </p:cNvPr>
          <p:cNvGraphicFramePr>
            <a:graphicFrameLocks noGrp="1"/>
          </p:cNvGraphicFramePr>
          <p:nvPr>
            <p:ph sz="quarter" idx="10"/>
            <p:extLst>
              <p:ext uri="{D42A27DB-BD31-4B8C-83A1-F6EECF244321}">
                <p14:modId xmlns:p14="http://schemas.microsoft.com/office/powerpoint/2010/main" val="3512366644"/>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3742541082"/>
                    </a:ext>
                  </a:extLst>
                </a:gridCol>
                <a:gridCol w="3810000">
                  <a:extLst>
                    <a:ext uri="{9D8B030D-6E8A-4147-A177-3AD203B41FA5}">
                      <a16:colId xmlns:a16="http://schemas.microsoft.com/office/drawing/2014/main" val="1480463773"/>
                    </a:ext>
                  </a:extLst>
                </a:gridCol>
                <a:gridCol w="3810000">
                  <a:extLst>
                    <a:ext uri="{9D8B030D-6E8A-4147-A177-3AD203B41FA5}">
                      <a16:colId xmlns:a16="http://schemas.microsoft.com/office/drawing/2014/main" val="482677409"/>
                    </a:ext>
                  </a:extLst>
                </a:gridCol>
              </a:tblGrid>
              <a:tr h="716643">
                <a:tc>
                  <a:txBody>
                    <a:bodyPr/>
                    <a:lstStyle/>
                    <a:p>
                      <a:r>
                        <a:rPr lang="en-US" sz="1400" b="1"/>
                        <a:t>Table</a:t>
                      </a:r>
                    </a:p>
                  </a:txBody>
                  <a:tcPr/>
                </a:tc>
                <a:tc>
                  <a:txBody>
                    <a:bodyPr/>
                    <a:lstStyle/>
                    <a:p>
                      <a:r>
                        <a:rPr lang="en-US" sz="1400" b="1"/>
                        <a:t>What It Captures</a:t>
                      </a:r>
                    </a:p>
                  </a:txBody>
                  <a:tcPr/>
                </a:tc>
                <a:tc>
                  <a:txBody>
                    <a:bodyPr/>
                    <a:lstStyle/>
                    <a:p>
                      <a:r>
                        <a:rPr lang="en-US" sz="1400" b="1"/>
                        <a:t>Module Use</a:t>
                      </a:r>
                    </a:p>
                  </a:txBody>
                  <a:tcPr/>
                </a:tc>
                <a:extLst>
                  <a:ext uri="{0D108BD9-81ED-4DB2-BD59-A6C34878D82A}">
                    <a16:rowId xmlns:a16="http://schemas.microsoft.com/office/drawing/2014/main" val="3189777330"/>
                  </a:ext>
                </a:extLst>
              </a:tr>
              <a:tr h="716643">
                <a:tc>
                  <a:txBody>
                    <a:bodyPr/>
                    <a:lstStyle/>
                    <a:p>
                      <a:r>
                        <a:rPr lang="en-US" sz="1400"/>
                        <a:t>SigninLogs / AADSignInEventsBeta</a:t>
                      </a:r>
                    </a:p>
                  </a:txBody>
                  <a:tcPr/>
                </a:tc>
                <a:tc>
                  <a:txBody>
                    <a:bodyPr/>
                    <a:lstStyle/>
                    <a:p>
                      <a:r>
                        <a:rPr lang="en-US" sz="1400"/>
                        <a:t>Interactive sign-ins, device code flows, risk detections</a:t>
                      </a:r>
                    </a:p>
                  </a:txBody>
                  <a:tcPr/>
                </a:tc>
                <a:tc>
                  <a:txBody>
                    <a:bodyPr/>
                    <a:lstStyle/>
                    <a:p>
                      <a:r>
                        <a:rPr lang="en-US" sz="1400"/>
                        <a:t>Device code and AiTM detection</a:t>
                      </a:r>
                    </a:p>
                  </a:txBody>
                  <a:tcPr/>
                </a:tc>
                <a:extLst>
                  <a:ext uri="{0D108BD9-81ED-4DB2-BD59-A6C34878D82A}">
                    <a16:rowId xmlns:a16="http://schemas.microsoft.com/office/drawing/2014/main" val="2525881182"/>
                  </a:ext>
                </a:extLst>
              </a:tr>
              <a:tr h="716643">
                <a:tc>
                  <a:txBody>
                    <a:bodyPr/>
                    <a:lstStyle/>
                    <a:p>
                      <a:r>
                        <a:rPr lang="en-US" sz="1400"/>
                        <a:t>AADNonInteractiveUserSignInLogs</a:t>
                      </a:r>
                    </a:p>
                  </a:txBody>
                  <a:tcPr/>
                </a:tc>
                <a:tc>
                  <a:txBody>
                    <a:bodyPr/>
                    <a:lstStyle/>
                    <a:p>
                      <a:r>
                        <a:rPr lang="de-DE" sz="1400"/>
                        <a:t>Token refresh, SSO, silent sign-ins</a:t>
                      </a:r>
                      <a:endParaRPr lang="en-US" sz="1400"/>
                    </a:p>
                  </a:txBody>
                  <a:tcPr/>
                </a:tc>
                <a:tc>
                  <a:txBody>
                    <a:bodyPr/>
                    <a:lstStyle/>
                    <a:p>
                      <a:r>
                        <a:rPr lang="en-US" sz="1400"/>
                        <a:t>Token replay after device code phishing</a:t>
                      </a:r>
                    </a:p>
                  </a:txBody>
                  <a:tcPr/>
                </a:tc>
                <a:extLst>
                  <a:ext uri="{0D108BD9-81ED-4DB2-BD59-A6C34878D82A}">
                    <a16:rowId xmlns:a16="http://schemas.microsoft.com/office/drawing/2014/main" val="469266183"/>
                  </a:ext>
                </a:extLst>
              </a:tr>
              <a:tr h="716643">
                <a:tc>
                  <a:txBody>
                    <a:bodyPr/>
                    <a:lstStyle/>
                    <a:p>
                      <a:r>
                        <a:rPr lang="en-US" sz="1400"/>
                        <a:t>AuditLogs / CloudAppEvents</a:t>
                      </a:r>
                    </a:p>
                  </a:txBody>
                  <a:tcPr/>
                </a:tc>
                <a:tc>
                  <a:txBody>
                    <a:bodyPr/>
                    <a:lstStyle/>
                    <a:p>
                      <a:r>
                        <a:rPr lang="en-US" sz="1400"/>
                        <a:t>Consent grants, inbox rules, app registrations</a:t>
                      </a:r>
                    </a:p>
                  </a:txBody>
                  <a:tcPr/>
                </a:tc>
                <a:tc>
                  <a:txBody>
                    <a:bodyPr/>
                    <a:lstStyle/>
                    <a:p>
                      <a:r>
                        <a:rPr lang="en-US" sz="1400"/>
                        <a:t>Illicit consent and BEC detection</a:t>
                      </a:r>
                    </a:p>
                  </a:txBody>
                  <a:tcPr/>
                </a:tc>
                <a:extLst>
                  <a:ext uri="{0D108BD9-81ED-4DB2-BD59-A6C34878D82A}">
                    <a16:rowId xmlns:a16="http://schemas.microsoft.com/office/drawing/2014/main" val="258452388"/>
                  </a:ext>
                </a:extLst>
              </a:tr>
              <a:tr h="716643">
                <a:tc>
                  <a:txBody>
                    <a:bodyPr/>
                    <a:lstStyle/>
                    <a:p>
                      <a:r>
                        <a:rPr lang="en-US" sz="1400"/>
                        <a:t>EmailEvents</a:t>
                      </a:r>
                    </a:p>
                  </a:txBody>
                  <a:tcPr/>
                </a:tc>
                <a:tc>
                  <a:txBody>
                    <a:bodyPr/>
                    <a:lstStyle/>
                    <a:p>
                      <a:r>
                        <a:rPr lang="en-US" sz="1400"/>
                        <a:t>Inbound/outbound email with threat verdicts</a:t>
                      </a:r>
                    </a:p>
                  </a:txBody>
                  <a:tcPr/>
                </a:tc>
                <a:tc>
                  <a:txBody>
                    <a:bodyPr/>
                    <a:lstStyle/>
                    <a:p>
                      <a:r>
                        <a:rPr lang="en-US" sz="1400"/>
                        <a:t>Phishing email identification</a:t>
                      </a:r>
                    </a:p>
                  </a:txBody>
                  <a:tcPr/>
                </a:tc>
                <a:extLst>
                  <a:ext uri="{0D108BD9-81ED-4DB2-BD59-A6C34878D82A}">
                    <a16:rowId xmlns:a16="http://schemas.microsoft.com/office/drawing/2014/main" val="945945816"/>
                  </a:ext>
                </a:extLst>
              </a:tr>
              <a:tr h="716643">
                <a:tc>
                  <a:txBody>
                    <a:bodyPr/>
                    <a:lstStyle/>
                    <a:p>
                      <a:r>
                        <a:rPr lang="en-US" sz="1400"/>
                        <a:t>EmailUrlInfo</a:t>
                      </a:r>
                    </a:p>
                  </a:txBody>
                  <a:tcPr/>
                </a:tc>
                <a:tc>
                  <a:txBody>
                    <a:bodyPr/>
                    <a:lstStyle/>
                    <a:p>
                      <a:r>
                        <a:rPr lang="en-US" sz="1400"/>
                        <a:t>URLs extracted from emails</a:t>
                      </a:r>
                    </a:p>
                  </a:txBody>
                  <a:tcPr/>
                </a:tc>
                <a:tc>
                  <a:txBody>
                    <a:bodyPr/>
                    <a:lstStyle/>
                    <a:p>
                      <a:r>
                        <a:rPr lang="en-US" sz="1400"/>
                        <a:t>OAuth consent and device code lure URLs</a:t>
                      </a:r>
                    </a:p>
                  </a:txBody>
                  <a:tcPr/>
                </a:tc>
                <a:extLst>
                  <a:ext uri="{0D108BD9-81ED-4DB2-BD59-A6C34878D82A}">
                    <a16:rowId xmlns:a16="http://schemas.microsoft.com/office/drawing/2014/main" val="732808224"/>
                  </a:ext>
                </a:extLst>
              </a:tr>
              <a:tr h="716643">
                <a:tc>
                  <a:txBody>
                    <a:bodyPr/>
                    <a:lstStyle/>
                    <a:p>
                      <a:r>
                        <a:rPr lang="en-US" sz="1400"/>
                        <a:t>UrlClickEvents</a:t>
                      </a:r>
                    </a:p>
                  </a:txBody>
                  <a:tcPr/>
                </a:tc>
                <a:tc>
                  <a:txBody>
                    <a:bodyPr/>
                    <a:lstStyle/>
                    <a:p>
                      <a:r>
                        <a:rPr lang="en-US" sz="1400"/>
                        <a:t>Safe Links click events</a:t>
                      </a:r>
                    </a:p>
                  </a:txBody>
                  <a:tcPr/>
                </a:tc>
                <a:tc>
                  <a:txBody>
                    <a:bodyPr/>
                    <a:lstStyle/>
                    <a:p>
                      <a:r>
                        <a:rPr lang="en-US" sz="1400"/>
                        <a:t>User click-through to phishing pages</a:t>
                      </a:r>
                    </a:p>
                  </a:txBody>
                  <a:tcPr/>
                </a:tc>
                <a:extLst>
                  <a:ext uri="{0D108BD9-81ED-4DB2-BD59-A6C34878D82A}">
                    <a16:rowId xmlns:a16="http://schemas.microsoft.com/office/drawing/2014/main" val="1534725260"/>
                  </a:ext>
                </a:extLst>
              </a:tr>
            </a:tbl>
          </a:graphicData>
        </a:graphic>
      </p:graphicFrame>
    </p:spTree>
    <p:extLst>
      <p:ext uri="{BB962C8B-B14F-4D97-AF65-F5344CB8AC3E}">
        <p14:creationId xmlns:p14="http://schemas.microsoft.com/office/powerpoint/2010/main" val="372483562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5BF11-6F99-D600-2A73-894750B646EA}"/>
              </a:ext>
            </a:extLst>
          </p:cNvPr>
          <p:cNvSpPr>
            <a:spLocks noGrp="1"/>
          </p:cNvSpPr>
          <p:nvPr>
            <p:ph type="title"/>
          </p:nvPr>
        </p:nvSpPr>
        <p:spPr/>
        <p:txBody>
          <a:bodyPr/>
          <a:lstStyle/>
          <a:p>
            <a:r>
              <a:rPr lang="en-US"/>
              <a:t>Device Code Phishing — How It Works</a:t>
            </a:r>
          </a:p>
        </p:txBody>
      </p:sp>
      <p:sp>
        <p:nvSpPr>
          <p:cNvPr id="3" name="Content Placeholder 2">
            <a:extLst>
              <a:ext uri="{FF2B5EF4-FFF2-40B4-BE49-F238E27FC236}">
                <a16:creationId xmlns:a16="http://schemas.microsoft.com/office/drawing/2014/main" id="{B31EAC4D-C23F-7A6B-43C7-574234F009BD}"/>
              </a:ext>
            </a:extLst>
          </p:cNvPr>
          <p:cNvSpPr>
            <a:spLocks noGrp="1"/>
          </p:cNvSpPr>
          <p:nvPr>
            <p:ph sz="quarter" idx="10"/>
          </p:nvPr>
        </p:nvSpPr>
        <p:spPr/>
        <p:txBody>
          <a:bodyPr>
            <a:noAutofit/>
          </a:bodyPr>
          <a:lstStyle/>
          <a:p>
            <a:pPr>
              <a:lnSpc>
                <a:spcPct val="115000"/>
              </a:lnSpc>
              <a:spcBef>
                <a:spcPts val="600"/>
              </a:spcBef>
            </a:pPr>
            <a:r>
              <a:rPr lang="en-US" sz="2200"/>
              <a:t>The OAuth 2.0 Device Authorization Grant flow is designed for input-constrained devices (smart TVs, IoT). Attackers abuse this flow by initiating it themselves, then social engineering the victim into completing authentication.</a:t>
            </a:r>
          </a:p>
          <a:p>
            <a:pPr>
              <a:lnSpc>
                <a:spcPct val="115000"/>
              </a:lnSpc>
              <a:spcBef>
                <a:spcPts val="600"/>
              </a:spcBef>
            </a:pPr>
            <a:r>
              <a:rPr lang="en-US" sz="2200" b="1"/>
              <a:t>Attack Flow:</a:t>
            </a:r>
          </a:p>
          <a:p>
            <a:pPr>
              <a:lnSpc>
                <a:spcPct val="115000"/>
              </a:lnSpc>
              <a:spcBef>
                <a:spcPts val="600"/>
              </a:spcBef>
            </a:pPr>
            <a:r>
              <a:rPr lang="en-US" sz="2200"/>
              <a:t>    Attacker sends POST to /oauth2/v2.0/devicecode requesting high-privilege scopes</a:t>
            </a:r>
          </a:p>
        </p:txBody>
      </p:sp>
    </p:spTree>
    <p:extLst>
      <p:ext uri="{BB962C8B-B14F-4D97-AF65-F5344CB8AC3E}">
        <p14:creationId xmlns:p14="http://schemas.microsoft.com/office/powerpoint/2010/main" val="247700554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55586-1BA1-63A3-0EE5-8E647F681736}"/>
              </a:ext>
            </a:extLst>
          </p:cNvPr>
          <p:cNvSpPr>
            <a:spLocks noGrp="1"/>
          </p:cNvSpPr>
          <p:nvPr>
            <p:ph type="title"/>
          </p:nvPr>
        </p:nvSpPr>
        <p:spPr/>
        <p:txBody>
          <a:bodyPr/>
          <a:lstStyle/>
          <a:p>
            <a:r>
              <a:rPr lang="en-US"/>
              <a:t>Device Code Phishing — How It Works (cont. 2)</a:t>
            </a:r>
          </a:p>
        </p:txBody>
      </p:sp>
      <p:sp>
        <p:nvSpPr>
          <p:cNvPr id="3" name="Content Placeholder 2">
            <a:extLst>
              <a:ext uri="{FF2B5EF4-FFF2-40B4-BE49-F238E27FC236}">
                <a16:creationId xmlns:a16="http://schemas.microsoft.com/office/drawing/2014/main" id="{10DB16A7-8D69-D8CB-F8D2-A5C59AB34B16}"/>
              </a:ext>
            </a:extLst>
          </p:cNvPr>
          <p:cNvSpPr>
            <a:spLocks noGrp="1"/>
          </p:cNvSpPr>
          <p:nvPr>
            <p:ph sz="quarter" idx="10"/>
          </p:nvPr>
        </p:nvSpPr>
        <p:spPr/>
        <p:txBody>
          <a:bodyPr>
            <a:noAutofit/>
          </a:bodyPr>
          <a:lstStyle/>
          <a:p>
            <a:pPr>
              <a:lnSpc>
                <a:spcPct val="115000"/>
              </a:lnSpc>
              <a:spcBef>
                <a:spcPts val="600"/>
              </a:spcBef>
            </a:pPr>
            <a:r>
              <a:rPr lang="en-US" sz="2200"/>
              <a:t>    Azure AD returns a device_code (for attacker) and a user_code (for victim)</a:t>
            </a:r>
          </a:p>
          <a:p>
            <a:pPr>
              <a:lnSpc>
                <a:spcPct val="115000"/>
              </a:lnSpc>
              <a:spcBef>
                <a:spcPts val="600"/>
              </a:spcBef>
            </a:pPr>
            <a:r>
              <a:rPr lang="en-US" sz="2200"/>
              <a:t>    Attacker sends phishing lure: "Go to microsoft.com/devicelogin and enter code ABCDE1234"</a:t>
            </a:r>
          </a:p>
          <a:p>
            <a:pPr>
              <a:lnSpc>
                <a:spcPct val="115000"/>
              </a:lnSpc>
              <a:spcBef>
                <a:spcPts val="600"/>
              </a:spcBef>
            </a:pPr>
            <a:r>
              <a:rPr lang="en-US" sz="2200"/>
              <a:t>    Victim navigates to the legitimate Microsoft URL, signs in with credentials and Multi-Factor Authentication (MFA)</a:t>
            </a:r>
          </a:p>
          <a:p>
            <a:pPr>
              <a:lnSpc>
                <a:spcPct val="115000"/>
              </a:lnSpc>
              <a:spcBef>
                <a:spcPts val="600"/>
              </a:spcBef>
            </a:pPr>
            <a:r>
              <a:rPr lang="en-US" sz="2200"/>
              <a:t>    Attacker polls the /token endpoint - when victim completes auth, attacker gets access + refresh tokens</a:t>
            </a:r>
          </a:p>
          <a:p>
            <a:pPr>
              <a:lnSpc>
                <a:spcPct val="115000"/>
              </a:lnSpc>
              <a:spcBef>
                <a:spcPts val="600"/>
              </a:spcBef>
            </a:pPr>
            <a:r>
              <a:rPr lang="en-US" sz="2200"/>
              <a:t>    Refresh token persists up to 90 days with no further victim interaction</a:t>
            </a:r>
          </a:p>
        </p:txBody>
      </p:sp>
    </p:spTree>
    <p:extLst>
      <p:ext uri="{BB962C8B-B14F-4D97-AF65-F5344CB8AC3E}">
        <p14:creationId xmlns:p14="http://schemas.microsoft.com/office/powerpoint/2010/main" val="143414195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F9494-91B9-ABBB-A034-E4CEB52D1D97}"/>
              </a:ext>
            </a:extLst>
          </p:cNvPr>
          <p:cNvSpPr>
            <a:spLocks noGrp="1"/>
          </p:cNvSpPr>
          <p:nvPr>
            <p:ph type="title"/>
          </p:nvPr>
        </p:nvSpPr>
        <p:spPr/>
        <p:txBody>
          <a:bodyPr/>
          <a:lstStyle/>
          <a:p>
            <a:r>
              <a:rPr lang="en-US"/>
              <a:t>Device Code Phishing — Key Indicators</a:t>
            </a:r>
          </a:p>
        </p:txBody>
      </p:sp>
      <p:sp>
        <p:nvSpPr>
          <p:cNvPr id="3" name="Content Placeholder 2">
            <a:extLst>
              <a:ext uri="{FF2B5EF4-FFF2-40B4-BE49-F238E27FC236}">
                <a16:creationId xmlns:a16="http://schemas.microsoft.com/office/drawing/2014/main" id="{AFA9B763-38E2-1A12-15F3-5C4B14D13ECC}"/>
              </a:ext>
            </a:extLst>
          </p:cNvPr>
          <p:cNvSpPr>
            <a:spLocks noGrp="1"/>
          </p:cNvSpPr>
          <p:nvPr>
            <p:ph sz="quarter" idx="10"/>
          </p:nvPr>
        </p:nvSpPr>
        <p:spPr/>
        <p:txBody>
          <a:bodyPr>
            <a:noAutofit/>
          </a:bodyPr>
          <a:lstStyle/>
          <a:p>
            <a:pPr>
              <a:lnSpc>
                <a:spcPct val="115000"/>
              </a:lnSpc>
              <a:spcBef>
                <a:spcPts val="600"/>
              </a:spcBef>
            </a:pPr>
            <a:r>
              <a:rPr lang="en-US" sz="2000" b="1"/>
              <a:t>Red Flags in Sign-In Logs:</a:t>
            </a:r>
          </a:p>
          <a:p>
            <a:pPr>
              <a:lnSpc>
                <a:spcPct val="115000"/>
              </a:lnSpc>
              <a:spcBef>
                <a:spcPts val="600"/>
              </a:spcBef>
            </a:pPr>
            <a:r>
              <a:rPr lang="en-US" sz="2000"/>
              <a:t>    AuthenticationProtocol == "deviceCode" for users who never use CLI/IoT devices</a:t>
            </a:r>
          </a:p>
          <a:p>
            <a:pPr>
              <a:lnSpc>
                <a:spcPct val="115000"/>
              </a:lnSpc>
              <a:spcBef>
                <a:spcPts val="600"/>
              </a:spcBef>
            </a:pPr>
            <a:r>
              <a:rPr lang="en-US" sz="2000"/>
              <a:t>    Sign-in from user at one IP, then immediate token use from a completely different IP</a:t>
            </a:r>
          </a:p>
          <a:p>
            <a:pPr>
              <a:lnSpc>
                <a:spcPct val="115000"/>
              </a:lnSpc>
              <a:spcBef>
                <a:spcPts val="600"/>
              </a:spcBef>
            </a:pPr>
            <a:r>
              <a:rPr lang="en-US" sz="2000"/>
              <a:t>    Refresh token lifetimes used to access resources for days or weeks after initial code entry</a:t>
            </a:r>
          </a:p>
        </p:txBody>
      </p:sp>
    </p:spTree>
    <p:extLst>
      <p:ext uri="{BB962C8B-B14F-4D97-AF65-F5344CB8AC3E}">
        <p14:creationId xmlns:p14="http://schemas.microsoft.com/office/powerpoint/2010/main" val="343537404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5D772-1CC5-BB67-E5EB-3F780DAD2568}"/>
              </a:ext>
            </a:extLst>
          </p:cNvPr>
          <p:cNvSpPr>
            <a:spLocks noGrp="1"/>
          </p:cNvSpPr>
          <p:nvPr>
            <p:ph type="title"/>
          </p:nvPr>
        </p:nvSpPr>
        <p:spPr/>
        <p:txBody>
          <a:bodyPr/>
          <a:lstStyle/>
          <a:p>
            <a:r>
              <a:rPr lang="en-US"/>
              <a:t>Device Code Phishing — Key Indicators (cont. 2)</a:t>
            </a:r>
          </a:p>
        </p:txBody>
      </p:sp>
      <p:sp>
        <p:nvSpPr>
          <p:cNvPr id="3" name="Content Placeholder 2">
            <a:extLst>
              <a:ext uri="{FF2B5EF4-FFF2-40B4-BE49-F238E27FC236}">
                <a16:creationId xmlns:a16="http://schemas.microsoft.com/office/drawing/2014/main" id="{8AC195CC-2C50-9868-AC27-455DF939EC71}"/>
              </a:ext>
            </a:extLst>
          </p:cNvPr>
          <p:cNvSpPr>
            <a:spLocks noGrp="1"/>
          </p:cNvSpPr>
          <p:nvPr>
            <p:ph sz="quarter" idx="10"/>
          </p:nvPr>
        </p:nvSpPr>
        <p:spPr/>
        <p:txBody>
          <a:bodyPr>
            <a:noAutofit/>
          </a:bodyPr>
          <a:lstStyle/>
          <a:p>
            <a:pPr>
              <a:lnSpc>
                <a:spcPct val="115000"/>
              </a:lnSpc>
              <a:spcBef>
                <a:spcPts val="600"/>
              </a:spcBef>
            </a:pPr>
            <a:r>
              <a:rPr lang="en-US" sz="2000"/>
              <a:t>    Resource access patterns inconsistent with the user's normal behavior</a:t>
            </a:r>
          </a:p>
          <a:p>
            <a:pPr>
              <a:lnSpc>
                <a:spcPct val="115000"/>
              </a:lnSpc>
              <a:spcBef>
                <a:spcPts val="600"/>
              </a:spcBef>
            </a:pPr>
            <a:r>
              <a:rPr lang="en-US" sz="2000" b="1"/>
              <a:t>Attack Prerequisites:</a:t>
            </a:r>
          </a:p>
          <a:p>
            <a:pPr>
              <a:lnSpc>
                <a:spcPct val="115000"/>
              </a:lnSpc>
              <a:spcBef>
                <a:spcPts val="600"/>
              </a:spcBef>
            </a:pPr>
            <a:r>
              <a:rPr lang="en-US" sz="2000"/>
              <a:t>    A valid client_id of any Microsoft first-party or public app (Azure CLI, Teams, etc.)</a:t>
            </a:r>
          </a:p>
          <a:p>
            <a:pPr>
              <a:lnSpc>
                <a:spcPct val="115000"/>
              </a:lnSpc>
              <a:spcBef>
                <a:spcPts val="600"/>
              </a:spcBef>
            </a:pPr>
            <a:r>
              <a:rPr lang="en-US" sz="2000"/>
              <a:t>    Victim reachable via email, Teams, LinkedIn, or other social channel</a:t>
            </a:r>
          </a:p>
          <a:p>
            <a:pPr>
              <a:lnSpc>
                <a:spcPct val="115000"/>
              </a:lnSpc>
              <a:spcBef>
                <a:spcPts val="600"/>
              </a:spcBef>
            </a:pPr>
            <a:r>
              <a:rPr lang="en-US" sz="2000"/>
              <a:t>    No malware or implant required - entirely social engineering</a:t>
            </a:r>
          </a:p>
        </p:txBody>
      </p:sp>
    </p:spTree>
    <p:extLst>
      <p:ext uri="{BB962C8B-B14F-4D97-AF65-F5344CB8AC3E}">
        <p14:creationId xmlns:p14="http://schemas.microsoft.com/office/powerpoint/2010/main" val="57504581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43A35-F0CB-7142-4BD1-8A1745FA4322}"/>
              </a:ext>
            </a:extLst>
          </p:cNvPr>
          <p:cNvSpPr>
            <a:spLocks noGrp="1"/>
          </p:cNvSpPr>
          <p:nvPr>
            <p:ph type="title"/>
          </p:nvPr>
        </p:nvSpPr>
        <p:spPr/>
        <p:txBody>
          <a:bodyPr/>
          <a:lstStyle/>
          <a:p>
            <a:r>
              <a:rPr lang="fr-FR"/>
              <a:t>KQL — Detect Device Code Sign-Ins</a:t>
            </a:r>
            <a:endParaRPr lang="en-US"/>
          </a:p>
        </p:txBody>
      </p:sp>
      <p:sp>
        <p:nvSpPr>
          <p:cNvPr id="3" name="Content Placeholder 2">
            <a:extLst>
              <a:ext uri="{FF2B5EF4-FFF2-40B4-BE49-F238E27FC236}">
                <a16:creationId xmlns:a16="http://schemas.microsoft.com/office/drawing/2014/main" id="{DBE5010D-C2C2-764E-2D7F-CBBA5A751ACF}"/>
              </a:ext>
            </a:extLst>
          </p:cNvPr>
          <p:cNvSpPr>
            <a:spLocks noGrp="1"/>
          </p:cNvSpPr>
          <p:nvPr>
            <p:ph sz="quarter" idx="10"/>
          </p:nvPr>
        </p:nvSpPr>
        <p:spPr/>
        <p:txBody>
          <a:bodyPr>
            <a:noAutofit/>
          </a:bodyPr>
          <a:lstStyle/>
          <a:p>
            <a:pPr>
              <a:lnSpc>
                <a:spcPct val="115000"/>
              </a:lnSpc>
              <a:spcBef>
                <a:spcPts val="600"/>
              </a:spcBef>
            </a:pPr>
            <a:r>
              <a:rPr lang="en-US" sz="2400" b="1"/>
              <a:t>What to investigate:</a:t>
            </a:r>
          </a:p>
          <a:p>
            <a:pPr>
              <a:lnSpc>
                <a:spcPct val="115000"/>
              </a:lnSpc>
              <a:spcBef>
                <a:spcPts val="600"/>
              </a:spcBef>
            </a:pPr>
            <a:r>
              <a:rPr lang="en-US" sz="2400"/>
              <a:t>    Does this user normally use device code flow?</a:t>
            </a:r>
          </a:p>
          <a:p>
            <a:pPr>
              <a:lnSpc>
                <a:spcPct val="115000"/>
              </a:lnSpc>
              <a:spcBef>
                <a:spcPts val="600"/>
              </a:spcBef>
            </a:pPr>
            <a:r>
              <a:rPr lang="en-US" sz="2400"/>
              <a:t>    Is the IPAddress from expected corporate ranges?</a:t>
            </a:r>
          </a:p>
          <a:p>
            <a:pPr>
              <a:lnSpc>
                <a:spcPct val="115000"/>
              </a:lnSpc>
              <a:spcBef>
                <a:spcPts val="600"/>
              </a:spcBef>
            </a:pPr>
            <a:r>
              <a:rPr lang="en-US" sz="2400"/>
              <a:t>    Is the Country where the user typically operates?</a:t>
            </a:r>
          </a:p>
          <a:p>
            <a:pPr>
              <a:lnSpc>
                <a:spcPct val="115000"/>
              </a:lnSpc>
              <a:spcBef>
                <a:spcPts val="600"/>
              </a:spcBef>
            </a:pPr>
            <a:r>
              <a:rPr lang="en-US" sz="2400"/>
              <a:t>    Did RiskLevelDuringSignIn flag anything?</a:t>
            </a:r>
          </a:p>
        </p:txBody>
      </p:sp>
      <p:sp>
        <p:nvSpPr>
          <p:cNvPr id="4" name="TextBox 3">
            <a:extLst>
              <a:ext uri="{FF2B5EF4-FFF2-40B4-BE49-F238E27FC236}">
                <a16:creationId xmlns:a16="http://schemas.microsoft.com/office/drawing/2014/main" id="{786A3463-7496-2D8A-7ED1-B98EFCCB2F45}"/>
              </a:ext>
            </a:extLst>
          </p:cNvPr>
          <p:cNvSpPr txBox="1"/>
          <p:nvPr/>
        </p:nvSpPr>
        <p:spPr>
          <a:xfrm>
            <a:off x="381000" y="4064000"/>
            <a:ext cx="11430000" cy="1107996"/>
          </a:xfrm>
          <a:prstGeom prst="rect">
            <a:avLst/>
          </a:prstGeom>
          <a:noFill/>
        </p:spPr>
        <p:txBody>
          <a:bodyPr vert="horz" wrap="square" lIns="0" tIns="0" rIns="0" bIns="0" rtlCol="0">
            <a:spAutoFit/>
          </a:bodyPr>
          <a:lstStyle/>
          <a:p>
            <a:pPr algn="l"/>
            <a:r>
              <a:rPr lang="en-US" sz="1200">
                <a:latin typeface="Consolas" panose="020B0609020204030204" pitchFamily="49" charset="0"/>
              </a:rPr>
              <a:t>AADSignInEventsBeta</a:t>
            </a:r>
          </a:p>
          <a:p>
            <a:pPr algn="l"/>
            <a:r>
              <a:rPr lang="en-US" sz="1200">
                <a:latin typeface="Consolas" panose="020B0609020204030204" pitchFamily="49" charset="0"/>
              </a:rPr>
              <a:t>| where Timestamp &gt; ago(7d)</a:t>
            </a:r>
          </a:p>
          <a:p>
            <a:pPr algn="l"/>
            <a:r>
              <a:rPr lang="en-US" sz="1200">
                <a:latin typeface="Consolas" panose="020B0609020204030204" pitchFamily="49" charset="0"/>
              </a:rPr>
              <a:t>| where AuthenticationProtocol == "deviceCode"</a:t>
            </a:r>
          </a:p>
          <a:p>
            <a:pPr algn="l"/>
            <a:r>
              <a:rPr lang="en-US" sz="1200">
                <a:latin typeface="Consolas" panose="020B0609020204030204" pitchFamily="49" charset="0"/>
              </a:rPr>
              <a:t>| project Timestamp, AccountUpn, IPAddress, Country,</a:t>
            </a:r>
          </a:p>
          <a:p>
            <a:pPr algn="l"/>
            <a:r>
              <a:rPr lang="en-US" sz="1200">
                <a:latin typeface="Consolas" panose="020B0609020204030204" pitchFamily="49" charset="0"/>
              </a:rPr>
              <a:t>          DeviceName, RiskLevelDuringSignIn, ErrorCode</a:t>
            </a:r>
          </a:p>
          <a:p>
            <a:pPr algn="l"/>
            <a:r>
              <a:rPr lang="en-US" sz="1200">
                <a:latin typeface="Consolas" panose="020B0609020204030204" pitchFamily="49" charset="0"/>
              </a:rPr>
              <a:t>| order by Timestamp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60094860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589CA-47E1-165A-EE29-F2ECD702DB7A}"/>
              </a:ext>
            </a:extLst>
          </p:cNvPr>
          <p:cNvSpPr>
            <a:spLocks noGrp="1"/>
          </p:cNvSpPr>
          <p:nvPr>
            <p:ph type="title"/>
          </p:nvPr>
        </p:nvSpPr>
        <p:spPr/>
        <p:txBody>
          <a:bodyPr/>
          <a:lstStyle/>
          <a:p>
            <a:r>
              <a:rPr lang="en-US"/>
              <a:t>KQL — Device Code IP Mismatch Detection</a:t>
            </a:r>
          </a:p>
        </p:txBody>
      </p:sp>
      <p:sp>
        <p:nvSpPr>
          <p:cNvPr id="3" name="Content Placeholder 2">
            <a:extLst>
              <a:ext uri="{FF2B5EF4-FFF2-40B4-BE49-F238E27FC236}">
                <a16:creationId xmlns:a16="http://schemas.microsoft.com/office/drawing/2014/main" id="{403B92AB-90E0-3E2D-2AE8-433C37D4D63C}"/>
              </a:ext>
            </a:extLst>
          </p:cNvPr>
          <p:cNvSpPr>
            <a:spLocks noGrp="1"/>
          </p:cNvSpPr>
          <p:nvPr>
            <p:ph sz="quarter" idx="10"/>
          </p:nvPr>
        </p:nvSpPr>
        <p:spPr/>
        <p:txBody>
          <a:bodyPr/>
          <a:lstStyle/>
          <a:p>
            <a:endParaRPr lang="en-US"/>
          </a:p>
        </p:txBody>
      </p:sp>
      <p:sp>
        <p:nvSpPr>
          <p:cNvPr id="4" name="TextBox 3">
            <a:extLst>
              <a:ext uri="{FF2B5EF4-FFF2-40B4-BE49-F238E27FC236}">
                <a16:creationId xmlns:a16="http://schemas.microsoft.com/office/drawing/2014/main" id="{45A0FBC4-DA19-3CA8-7531-D08550E3F796}"/>
              </a:ext>
            </a:extLst>
          </p:cNvPr>
          <p:cNvSpPr txBox="1"/>
          <p:nvPr/>
        </p:nvSpPr>
        <p:spPr>
          <a:xfrm>
            <a:off x="381000" y="2286000"/>
            <a:ext cx="11430000" cy="2800767"/>
          </a:xfrm>
          <a:prstGeom prst="rect">
            <a:avLst/>
          </a:prstGeom>
          <a:noFill/>
        </p:spPr>
        <p:txBody>
          <a:bodyPr vert="horz" wrap="square" lIns="0" tIns="0" rIns="0" bIns="0" rtlCol="0">
            <a:spAutoFit/>
          </a:bodyPr>
          <a:lstStyle/>
          <a:p>
            <a:pPr algn="l"/>
            <a:r>
              <a:rPr lang="en-US" sz="1300">
                <a:latin typeface="Consolas" panose="020B0609020204030204" pitchFamily="49" charset="0"/>
              </a:rPr>
              <a:t>let DeviceCodeSignIns = AADSignInEventsBeta</a:t>
            </a:r>
          </a:p>
          <a:p>
            <a:pPr algn="l"/>
            <a:r>
              <a:rPr lang="en-US" sz="1300">
                <a:latin typeface="Consolas" panose="020B0609020204030204" pitchFamily="49" charset="0"/>
              </a:rPr>
              <a:t>| where AuthenticationProtocol == "deviceCode"</a:t>
            </a:r>
          </a:p>
          <a:p>
            <a:pPr algn="l"/>
            <a:r>
              <a:rPr lang="en-US" sz="1300">
                <a:latin typeface="Consolas" panose="020B0609020204030204" pitchFamily="49" charset="0"/>
              </a:rPr>
              <a:t>| project AccountUpn, SignInIP = IPAddress,</a:t>
            </a:r>
          </a:p>
          <a:p>
            <a:pPr algn="l"/>
            <a:r>
              <a:rPr lang="en-US" sz="1300">
                <a:latin typeface="Consolas" panose="020B0609020204030204" pitchFamily="49" charset="0"/>
              </a:rPr>
              <a:t>          SignInTime = Timestamp, SessionId;</a:t>
            </a:r>
          </a:p>
          <a:p>
            <a:pPr algn="l"/>
            <a:endParaRPr lang="en-US" sz="1300">
              <a:latin typeface="Consolas" panose="020B0609020204030204" pitchFamily="49" charset="0"/>
            </a:endParaRPr>
          </a:p>
          <a:p>
            <a:pPr algn="l"/>
            <a:r>
              <a:rPr lang="en-US" sz="1300">
                <a:latin typeface="Consolas" panose="020B0609020204030204" pitchFamily="49" charset="0"/>
              </a:rPr>
              <a:t>AADSignInEventsBeta</a:t>
            </a:r>
          </a:p>
          <a:p>
            <a:pPr algn="l"/>
            <a:r>
              <a:rPr lang="en-US" sz="1300">
                <a:latin typeface="Consolas" panose="020B0609020204030204" pitchFamily="49" charset="0"/>
              </a:rPr>
              <a:t>| where Timestamp &gt; ago(7d)</a:t>
            </a:r>
          </a:p>
          <a:p>
            <a:pPr algn="l"/>
            <a:r>
              <a:rPr lang="en-US" sz="1300">
                <a:latin typeface="Consolas" panose="020B0609020204030204" pitchFamily="49" charset="0"/>
              </a:rPr>
              <a:t>| join kind=inner DeviceCodeSignIns on AccountUpn</a:t>
            </a:r>
          </a:p>
          <a:p>
            <a:pPr algn="l"/>
            <a:r>
              <a:rPr lang="en-US" sz="1300">
                <a:latin typeface="Consolas" panose="020B0609020204030204" pitchFamily="49" charset="0"/>
              </a:rPr>
              <a:t>| where IPAddress != SignInIP</a:t>
            </a:r>
          </a:p>
          <a:p>
            <a:pPr algn="l"/>
            <a:r>
              <a:rPr lang="en-US" sz="1300">
                <a:latin typeface="Consolas" panose="020B0609020204030204" pitchFamily="49" charset="0"/>
              </a:rPr>
              <a:t>| where Timestamp &gt; SignInTime</a:t>
            </a:r>
          </a:p>
          <a:p>
            <a:pPr algn="l"/>
            <a:r>
              <a:rPr lang="en-US" sz="1300">
                <a:latin typeface="Consolas" panose="020B0609020204030204" pitchFamily="49" charset="0"/>
              </a:rPr>
              <a:t>    and Timestamp &lt; SignInTime + 1h</a:t>
            </a:r>
          </a:p>
          <a:p>
            <a:pPr algn="l"/>
            <a:r>
              <a:rPr lang="en-US" sz="1300">
                <a:latin typeface="Consolas" panose="020B0609020204030204" pitchFamily="49" charset="0"/>
              </a:rPr>
              <a:t>| project SignInTime, Timestamp, AccountUpn,</a:t>
            </a:r>
          </a:p>
          <a:p>
            <a:pPr algn="l"/>
            <a:r>
              <a:rPr lang="en-US" sz="1300">
                <a:latin typeface="Consolas" panose="020B0609020204030204" pitchFamily="49" charset="0"/>
              </a:rPr>
              <a:t>          SignInIP, AccessIP = IPAddress, SessionId</a:t>
            </a:r>
          </a:p>
          <a:p>
            <a:pPr algn="l"/>
            <a:r>
              <a:rPr lang="en-US" sz="1300">
                <a:latin typeface="Consolas" panose="020B0609020204030204" pitchFamily="49" charset="0"/>
              </a:rPr>
              <a:t>| order by SignInTime desc</a:t>
            </a:r>
            <a:endParaRPr lang="en-US" sz="1300" dirty="0" err="1">
              <a:latin typeface="Consolas" panose="020B0609020204030204" pitchFamily="49" charset="0"/>
            </a:endParaRPr>
          </a:p>
        </p:txBody>
      </p:sp>
    </p:spTree>
    <p:extLst>
      <p:ext uri="{BB962C8B-B14F-4D97-AF65-F5344CB8AC3E}">
        <p14:creationId xmlns:p14="http://schemas.microsoft.com/office/powerpoint/2010/main" val="177442903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10397-7C9E-9A4F-5C76-2A3C07C7B23D}"/>
              </a:ext>
            </a:extLst>
          </p:cNvPr>
          <p:cNvSpPr>
            <a:spLocks noGrp="1"/>
          </p:cNvSpPr>
          <p:nvPr>
            <p:ph type="title"/>
          </p:nvPr>
        </p:nvSpPr>
        <p:spPr/>
        <p:txBody>
          <a:bodyPr/>
          <a:lstStyle/>
          <a:p>
            <a:r>
              <a:rPr lang="en-US"/>
              <a:t>AiTM Phishing — How It Works</a:t>
            </a:r>
          </a:p>
        </p:txBody>
      </p:sp>
      <p:sp>
        <p:nvSpPr>
          <p:cNvPr id="3" name="Content Placeholder 2">
            <a:extLst>
              <a:ext uri="{FF2B5EF4-FFF2-40B4-BE49-F238E27FC236}">
                <a16:creationId xmlns:a16="http://schemas.microsoft.com/office/drawing/2014/main" id="{3522C92C-81C5-631D-3F6D-6784C0876548}"/>
              </a:ext>
            </a:extLst>
          </p:cNvPr>
          <p:cNvSpPr>
            <a:spLocks noGrp="1"/>
          </p:cNvSpPr>
          <p:nvPr>
            <p:ph sz="quarter" idx="10"/>
          </p:nvPr>
        </p:nvSpPr>
        <p:spPr/>
        <p:txBody>
          <a:bodyPr>
            <a:noAutofit/>
          </a:bodyPr>
          <a:lstStyle/>
          <a:p>
            <a:pPr>
              <a:lnSpc>
                <a:spcPct val="115000"/>
              </a:lnSpc>
              <a:spcBef>
                <a:spcPts val="600"/>
              </a:spcBef>
            </a:pPr>
            <a:r>
              <a:rPr lang="en-US" sz="2200"/>
              <a:t>Adversary-in-the-Middle phishing deploys a reverse proxy between the victim and the real Microsoft sign-in page. The proxy transparently relays all traffic - including Multi-Factor Authentication (MFA) - while capturing the session cookie issued after successful authentication.</a:t>
            </a:r>
          </a:p>
        </p:txBody>
      </p:sp>
    </p:spTree>
    <p:extLst>
      <p:ext uri="{BB962C8B-B14F-4D97-AF65-F5344CB8AC3E}">
        <p14:creationId xmlns:p14="http://schemas.microsoft.com/office/powerpoint/2010/main" val="287391626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6F314-F470-C401-64DB-CEBBE3F26C2F}"/>
              </a:ext>
            </a:extLst>
          </p:cNvPr>
          <p:cNvSpPr>
            <a:spLocks noGrp="1"/>
          </p:cNvSpPr>
          <p:nvPr>
            <p:ph type="title"/>
          </p:nvPr>
        </p:nvSpPr>
        <p:spPr/>
        <p:txBody>
          <a:bodyPr/>
          <a:lstStyle/>
          <a:p>
            <a:r>
              <a:rPr lang="en-US"/>
              <a:t>AiTM Phishing — How It Works (cont. 2)</a:t>
            </a:r>
          </a:p>
        </p:txBody>
      </p:sp>
      <p:sp>
        <p:nvSpPr>
          <p:cNvPr id="3" name="Content Placeholder 2">
            <a:extLst>
              <a:ext uri="{FF2B5EF4-FFF2-40B4-BE49-F238E27FC236}">
                <a16:creationId xmlns:a16="http://schemas.microsoft.com/office/drawing/2014/main" id="{DDA5C371-D2FD-CA38-BC6B-EAD854AAA3D5}"/>
              </a:ext>
            </a:extLst>
          </p:cNvPr>
          <p:cNvSpPr>
            <a:spLocks noGrp="1"/>
          </p:cNvSpPr>
          <p:nvPr>
            <p:ph sz="quarter" idx="10"/>
          </p:nvPr>
        </p:nvSpPr>
        <p:spPr/>
        <p:txBody>
          <a:bodyPr>
            <a:noAutofit/>
          </a:bodyPr>
          <a:lstStyle/>
          <a:p>
            <a:pPr>
              <a:lnSpc>
                <a:spcPct val="115000"/>
              </a:lnSpc>
              <a:spcBef>
                <a:spcPts val="600"/>
              </a:spcBef>
            </a:pPr>
            <a:r>
              <a:rPr lang="en-US" sz="2200" b="1"/>
              <a:t>Attack Flow:</a:t>
            </a:r>
          </a:p>
          <a:p>
            <a:pPr>
              <a:lnSpc>
                <a:spcPct val="115000"/>
              </a:lnSpc>
              <a:spcBef>
                <a:spcPts val="600"/>
              </a:spcBef>
            </a:pPr>
            <a:r>
              <a:rPr lang="en-US" sz="2200"/>
              <a:t>    Attacker registers convincing domain (e.g., login-microsoftonline.attacker.com) and deploys Evilginx</a:t>
            </a:r>
          </a:p>
          <a:p>
            <a:pPr>
              <a:lnSpc>
                <a:spcPct val="115000"/>
              </a:lnSpc>
              <a:spcBef>
                <a:spcPts val="600"/>
              </a:spcBef>
            </a:pPr>
            <a:r>
              <a:rPr lang="en-US" sz="2200"/>
              <a:t>    Victim receives phishing email with link to attacker's proxy domain</a:t>
            </a:r>
          </a:p>
        </p:txBody>
      </p:sp>
    </p:spTree>
    <p:extLst>
      <p:ext uri="{BB962C8B-B14F-4D97-AF65-F5344CB8AC3E}">
        <p14:creationId xmlns:p14="http://schemas.microsoft.com/office/powerpoint/2010/main" val="392192415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CD6D7-7E2F-9EA7-BBC4-05431FD3C11A}"/>
              </a:ext>
            </a:extLst>
          </p:cNvPr>
          <p:cNvSpPr>
            <a:spLocks noGrp="1"/>
          </p:cNvSpPr>
          <p:nvPr>
            <p:ph type="title"/>
          </p:nvPr>
        </p:nvSpPr>
        <p:spPr/>
        <p:txBody>
          <a:bodyPr/>
          <a:lstStyle/>
          <a:p>
            <a:r>
              <a:rPr lang="en-US"/>
              <a:t>AiTM Phishing — How It Works (cont. 3)</a:t>
            </a:r>
          </a:p>
        </p:txBody>
      </p:sp>
      <p:sp>
        <p:nvSpPr>
          <p:cNvPr id="3" name="Content Placeholder 2">
            <a:extLst>
              <a:ext uri="{FF2B5EF4-FFF2-40B4-BE49-F238E27FC236}">
                <a16:creationId xmlns:a16="http://schemas.microsoft.com/office/drawing/2014/main" id="{DA0EB158-C81F-92A8-2C79-DA709E605FD8}"/>
              </a:ext>
            </a:extLst>
          </p:cNvPr>
          <p:cNvSpPr>
            <a:spLocks noGrp="1"/>
          </p:cNvSpPr>
          <p:nvPr>
            <p:ph sz="quarter" idx="10"/>
          </p:nvPr>
        </p:nvSpPr>
        <p:spPr/>
        <p:txBody>
          <a:bodyPr>
            <a:noAutofit/>
          </a:bodyPr>
          <a:lstStyle/>
          <a:p>
            <a:pPr>
              <a:lnSpc>
                <a:spcPct val="115000"/>
              </a:lnSpc>
              <a:spcBef>
                <a:spcPts val="600"/>
              </a:spcBef>
            </a:pPr>
            <a:r>
              <a:rPr lang="en-US" sz="2200"/>
              <a:t>    Victim enters credentials and completes Multi-Factor Authentication (MFA) - all proxied to real login.microsoftonline.com</a:t>
            </a:r>
          </a:p>
          <a:p>
            <a:pPr>
              <a:lnSpc>
                <a:spcPct val="115000"/>
              </a:lnSpc>
              <a:spcBef>
                <a:spcPts val="600"/>
              </a:spcBef>
            </a:pPr>
            <a:r>
              <a:rPr lang="en-US" sz="2200"/>
              <a:t>    Microsoft issues session cookie (ESTSAUTH) to the victim's browser</a:t>
            </a:r>
          </a:p>
          <a:p>
            <a:pPr>
              <a:lnSpc>
                <a:spcPct val="115000"/>
              </a:lnSpc>
              <a:spcBef>
                <a:spcPts val="600"/>
              </a:spcBef>
            </a:pPr>
            <a:r>
              <a:rPr lang="en-US" sz="2200"/>
              <a:t>    Evilginx intercepts the cookie before it reaches the victim</a:t>
            </a:r>
          </a:p>
          <a:p>
            <a:pPr>
              <a:lnSpc>
                <a:spcPct val="115000"/>
              </a:lnSpc>
              <a:spcBef>
                <a:spcPts val="600"/>
              </a:spcBef>
            </a:pPr>
            <a:r>
              <a:rPr lang="en-US" sz="2200"/>
              <a:t>    Attacker imports cookie into their own browser - authenticated as victim without password or Multi-Factor Authentication (MFA)</a:t>
            </a:r>
          </a:p>
        </p:txBody>
      </p:sp>
    </p:spTree>
    <p:extLst>
      <p:ext uri="{BB962C8B-B14F-4D97-AF65-F5344CB8AC3E}">
        <p14:creationId xmlns:p14="http://schemas.microsoft.com/office/powerpoint/2010/main" val="28903827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6A33B-DCF6-9847-FDFB-25E84B7D4134}"/>
              </a:ext>
            </a:extLst>
          </p:cNvPr>
          <p:cNvSpPr>
            <a:spLocks noGrp="1"/>
          </p:cNvSpPr>
          <p:nvPr>
            <p:ph type="title"/>
          </p:nvPr>
        </p:nvSpPr>
        <p:spPr/>
        <p:txBody>
          <a:bodyPr/>
          <a:lstStyle/>
          <a:p>
            <a:r>
              <a:rPr lang="en-US"/>
              <a:t>AiTM — Post-Compromise Actions</a:t>
            </a:r>
          </a:p>
        </p:txBody>
      </p:sp>
      <p:sp>
        <p:nvSpPr>
          <p:cNvPr id="3" name="Content Placeholder 2">
            <a:extLst>
              <a:ext uri="{FF2B5EF4-FFF2-40B4-BE49-F238E27FC236}">
                <a16:creationId xmlns:a16="http://schemas.microsoft.com/office/drawing/2014/main" id="{BF74F4CB-003D-3345-F721-A439CF03FE7E}"/>
              </a:ext>
            </a:extLst>
          </p:cNvPr>
          <p:cNvSpPr>
            <a:spLocks noGrp="1"/>
          </p:cNvSpPr>
          <p:nvPr>
            <p:ph sz="quarter" idx="10"/>
          </p:nvPr>
        </p:nvSpPr>
        <p:spPr/>
        <p:txBody>
          <a:bodyPr>
            <a:noAutofit/>
          </a:bodyPr>
          <a:lstStyle/>
          <a:p>
            <a:pPr>
              <a:lnSpc>
                <a:spcPct val="115000"/>
              </a:lnSpc>
              <a:spcBef>
                <a:spcPts val="600"/>
              </a:spcBef>
            </a:pPr>
            <a:r>
              <a:rPr lang="en-US" sz="2000" b="1"/>
              <a:t>Once an attacker has a stolen session cookie, typical follow-on actions include:</a:t>
            </a:r>
          </a:p>
          <a:p>
            <a:pPr>
              <a:lnSpc>
                <a:spcPct val="115000"/>
              </a:lnSpc>
              <a:spcBef>
                <a:spcPts val="600"/>
              </a:spcBef>
            </a:pPr>
            <a:r>
              <a:rPr lang="en-US" sz="2000" b="1"/>
              <a:t>Business Email Compromise (BEC):</a:t>
            </a:r>
          </a:p>
          <a:p>
            <a:pPr>
              <a:lnSpc>
                <a:spcPct val="115000"/>
              </a:lnSpc>
              <a:spcBef>
                <a:spcPts val="600"/>
              </a:spcBef>
            </a:pPr>
            <a:r>
              <a:rPr lang="en-US" sz="2000"/>
              <a:t>    Read mail, search for payment discussions and invoice threads</a:t>
            </a:r>
          </a:p>
          <a:p>
            <a:pPr>
              <a:lnSpc>
                <a:spcPct val="115000"/>
              </a:lnSpc>
              <a:spcBef>
                <a:spcPts val="600"/>
              </a:spcBef>
            </a:pPr>
            <a:r>
              <a:rPr lang="en-US" sz="2000"/>
              <a:t>    Create inbox rules to intercept conversations (forward, delete, mark-as-read)</a:t>
            </a:r>
          </a:p>
          <a:p>
            <a:pPr>
              <a:lnSpc>
                <a:spcPct val="115000"/>
              </a:lnSpc>
              <a:spcBef>
                <a:spcPts val="600"/>
              </a:spcBef>
            </a:pPr>
            <a:r>
              <a:rPr lang="en-US" sz="2000"/>
              <a:t>    Send impersonation emails from the victim's mailbox to redirect payments</a:t>
            </a:r>
          </a:p>
        </p:txBody>
      </p:sp>
    </p:spTree>
    <p:extLst>
      <p:ext uri="{BB962C8B-B14F-4D97-AF65-F5344CB8AC3E}">
        <p14:creationId xmlns:p14="http://schemas.microsoft.com/office/powerpoint/2010/main" val="92715890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184AA-C651-2536-3082-8F2223FB2982}"/>
              </a:ext>
            </a:extLst>
          </p:cNvPr>
          <p:cNvSpPr>
            <a:spLocks noGrp="1"/>
          </p:cNvSpPr>
          <p:nvPr>
            <p:ph type="title"/>
          </p:nvPr>
        </p:nvSpPr>
        <p:spPr/>
        <p:txBody>
          <a:bodyPr/>
          <a:lstStyle/>
          <a:p>
            <a:r>
              <a:rPr lang="fr-FR"/>
              <a:t>AiTM — Post-Compromise Actions (cont. 2)</a:t>
            </a:r>
            <a:endParaRPr lang="en-US"/>
          </a:p>
        </p:txBody>
      </p:sp>
      <p:sp>
        <p:nvSpPr>
          <p:cNvPr id="3" name="Content Placeholder 2">
            <a:extLst>
              <a:ext uri="{FF2B5EF4-FFF2-40B4-BE49-F238E27FC236}">
                <a16:creationId xmlns:a16="http://schemas.microsoft.com/office/drawing/2014/main" id="{800EEA6F-B967-2023-5F98-305C1AF3CB10}"/>
              </a:ext>
            </a:extLst>
          </p:cNvPr>
          <p:cNvSpPr>
            <a:spLocks noGrp="1"/>
          </p:cNvSpPr>
          <p:nvPr>
            <p:ph sz="quarter" idx="10"/>
          </p:nvPr>
        </p:nvSpPr>
        <p:spPr/>
        <p:txBody>
          <a:bodyPr>
            <a:noAutofit/>
          </a:bodyPr>
          <a:lstStyle/>
          <a:p>
            <a:pPr>
              <a:lnSpc>
                <a:spcPct val="115000"/>
              </a:lnSpc>
              <a:spcBef>
                <a:spcPts val="600"/>
              </a:spcBef>
            </a:pPr>
            <a:r>
              <a:rPr lang="en-US" sz="2000" b="1"/>
              <a:t>Persistence and Lateral Movement:</a:t>
            </a:r>
          </a:p>
          <a:p>
            <a:pPr>
              <a:lnSpc>
                <a:spcPct val="115000"/>
              </a:lnSpc>
              <a:spcBef>
                <a:spcPts val="600"/>
              </a:spcBef>
            </a:pPr>
            <a:r>
              <a:rPr lang="en-US" sz="2000"/>
              <a:t>    Register a new Multi-Factor Authentication (MFA) factor (phone number or authenticator app) to resist remediation</a:t>
            </a:r>
          </a:p>
          <a:p>
            <a:pPr>
              <a:lnSpc>
                <a:spcPct val="115000"/>
              </a:lnSpc>
              <a:spcBef>
                <a:spcPts val="600"/>
              </a:spcBef>
            </a:pPr>
            <a:r>
              <a:rPr lang="en-US" sz="2000"/>
              <a:t>    Add federated credentials to the victim's account</a:t>
            </a:r>
          </a:p>
          <a:p>
            <a:pPr>
              <a:lnSpc>
                <a:spcPct val="115000"/>
              </a:lnSpc>
              <a:spcBef>
                <a:spcPts val="600"/>
              </a:spcBef>
            </a:pPr>
            <a:r>
              <a:rPr lang="en-US" sz="2000"/>
              <a:t>    Download files from SharePoint and OneDrive</a:t>
            </a:r>
          </a:p>
          <a:p>
            <a:pPr>
              <a:lnSpc>
                <a:spcPct val="115000"/>
              </a:lnSpc>
              <a:spcBef>
                <a:spcPts val="600"/>
              </a:spcBef>
            </a:pPr>
            <a:r>
              <a:rPr lang="en-US" sz="2000"/>
              <a:t>    Pivot to connected apps using the stolen identity</a:t>
            </a:r>
          </a:p>
        </p:txBody>
      </p:sp>
    </p:spTree>
    <p:extLst>
      <p:ext uri="{BB962C8B-B14F-4D97-AF65-F5344CB8AC3E}">
        <p14:creationId xmlns:p14="http://schemas.microsoft.com/office/powerpoint/2010/main" val="366389942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AD7C2-BF60-CFA6-852E-74C5C75F1BD9}"/>
              </a:ext>
            </a:extLst>
          </p:cNvPr>
          <p:cNvSpPr>
            <a:spLocks noGrp="1"/>
          </p:cNvSpPr>
          <p:nvPr>
            <p:ph type="title"/>
          </p:nvPr>
        </p:nvSpPr>
        <p:spPr/>
        <p:txBody>
          <a:bodyPr/>
          <a:lstStyle/>
          <a:p>
            <a:r>
              <a:rPr lang="en-US"/>
              <a:t>AiTM — Key Indicators and Built-In Alerts</a:t>
            </a:r>
          </a:p>
        </p:txBody>
      </p:sp>
      <p:graphicFrame>
        <p:nvGraphicFramePr>
          <p:cNvPr id="4" name="Content Placeholder 3">
            <a:extLst>
              <a:ext uri="{FF2B5EF4-FFF2-40B4-BE49-F238E27FC236}">
                <a16:creationId xmlns:a16="http://schemas.microsoft.com/office/drawing/2014/main" id="{6C29A25F-6CAE-35BE-6520-12B5BBFF605A}"/>
              </a:ext>
            </a:extLst>
          </p:cNvPr>
          <p:cNvGraphicFramePr>
            <a:graphicFrameLocks noGrp="1"/>
          </p:cNvGraphicFramePr>
          <p:nvPr>
            <p:ph sz="quarter" idx="10"/>
            <p:extLst>
              <p:ext uri="{D42A27DB-BD31-4B8C-83A1-F6EECF244321}">
                <p14:modId xmlns:p14="http://schemas.microsoft.com/office/powerpoint/2010/main" val="3357098852"/>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1822940582"/>
                    </a:ext>
                  </a:extLst>
                </a:gridCol>
                <a:gridCol w="3810000">
                  <a:extLst>
                    <a:ext uri="{9D8B030D-6E8A-4147-A177-3AD203B41FA5}">
                      <a16:colId xmlns:a16="http://schemas.microsoft.com/office/drawing/2014/main" val="905994974"/>
                    </a:ext>
                  </a:extLst>
                </a:gridCol>
                <a:gridCol w="3810000">
                  <a:extLst>
                    <a:ext uri="{9D8B030D-6E8A-4147-A177-3AD203B41FA5}">
                      <a16:colId xmlns:a16="http://schemas.microsoft.com/office/drawing/2014/main" val="2051725635"/>
                    </a:ext>
                  </a:extLst>
                </a:gridCol>
              </a:tblGrid>
              <a:tr h="716643">
                <a:tc>
                  <a:txBody>
                    <a:bodyPr/>
                    <a:lstStyle/>
                    <a:p>
                      <a:r>
                        <a:rPr lang="en-US" sz="1400" b="1"/>
                        <a:t>Alert</a:t>
                      </a:r>
                    </a:p>
                  </a:txBody>
                  <a:tcPr/>
                </a:tc>
                <a:tc>
                  <a:txBody>
                    <a:bodyPr/>
                    <a:lstStyle/>
                    <a:p>
                      <a:r>
                        <a:rPr lang="en-US" sz="1400" b="1"/>
                        <a:t>Source</a:t>
                      </a:r>
                    </a:p>
                  </a:txBody>
                  <a:tcPr/>
                </a:tc>
                <a:tc>
                  <a:txBody>
                    <a:bodyPr/>
                    <a:lstStyle/>
                    <a:p>
                      <a:r>
                        <a:rPr lang="en-US" sz="1400" b="1"/>
                        <a:t>What It Detects</a:t>
                      </a:r>
                    </a:p>
                  </a:txBody>
                  <a:tcPr/>
                </a:tc>
                <a:extLst>
                  <a:ext uri="{0D108BD9-81ED-4DB2-BD59-A6C34878D82A}">
                    <a16:rowId xmlns:a16="http://schemas.microsoft.com/office/drawing/2014/main" val="1259159781"/>
                  </a:ext>
                </a:extLst>
              </a:tr>
              <a:tr h="716643">
                <a:tc>
                  <a:txBody>
                    <a:bodyPr/>
                    <a:lstStyle/>
                    <a:p>
                      <a:r>
                        <a:rPr lang="en-US" sz="1400"/>
                        <a:t>Stolen session cookie was used</a:t>
                      </a:r>
                    </a:p>
                  </a:txBody>
                  <a:tcPr/>
                </a:tc>
                <a:tc>
                  <a:txBody>
                    <a:bodyPr/>
                    <a:lstStyle/>
                    <a:p>
                      <a:r>
                        <a:rPr lang="en-US" sz="1400"/>
                        <a:t>Defender XDR</a:t>
                      </a:r>
                    </a:p>
                  </a:txBody>
                  <a:tcPr/>
                </a:tc>
                <a:tc>
                  <a:txBody>
                    <a:bodyPr/>
                    <a:lstStyle/>
                    <a:p>
                      <a:r>
                        <a:rPr lang="en-US" sz="1400"/>
                        <a:t>Session cookie replayed from different IP</a:t>
                      </a:r>
                    </a:p>
                  </a:txBody>
                  <a:tcPr/>
                </a:tc>
                <a:extLst>
                  <a:ext uri="{0D108BD9-81ED-4DB2-BD59-A6C34878D82A}">
                    <a16:rowId xmlns:a16="http://schemas.microsoft.com/office/drawing/2014/main" val="397809503"/>
                  </a:ext>
                </a:extLst>
              </a:tr>
              <a:tr h="716643">
                <a:tc>
                  <a:txBody>
                    <a:bodyPr/>
                    <a:lstStyle/>
                    <a:p>
                      <a:r>
                        <a:rPr lang="en-US" sz="1400"/>
                        <a:t>Authentication request from AiTM phishing page</a:t>
                      </a:r>
                    </a:p>
                  </a:txBody>
                  <a:tcPr/>
                </a:tc>
                <a:tc>
                  <a:txBody>
                    <a:bodyPr/>
                    <a:lstStyle/>
                    <a:p>
                      <a:r>
                        <a:rPr lang="en-US" sz="1400"/>
                        <a:t>Defender XDR</a:t>
                      </a:r>
                    </a:p>
                  </a:txBody>
                  <a:tcPr/>
                </a:tc>
                <a:tc>
                  <a:txBody>
                    <a:bodyPr/>
                    <a:lstStyle/>
                    <a:p>
                      <a:r>
                        <a:rPr lang="en-US" sz="1400"/>
                        <a:t>Sign-in from known AiTM infrastructure</a:t>
                      </a:r>
                    </a:p>
                  </a:txBody>
                  <a:tcPr/>
                </a:tc>
                <a:extLst>
                  <a:ext uri="{0D108BD9-81ED-4DB2-BD59-A6C34878D82A}">
                    <a16:rowId xmlns:a16="http://schemas.microsoft.com/office/drawing/2014/main" val="2762692777"/>
                  </a:ext>
                </a:extLst>
              </a:tr>
              <a:tr h="716643">
                <a:tc>
                  <a:txBody>
                    <a:bodyPr/>
                    <a:lstStyle/>
                    <a:p>
                      <a:r>
                        <a:rPr lang="en-US" sz="1400"/>
                        <a:t>AnomalousToken</a:t>
                      </a:r>
                    </a:p>
                  </a:txBody>
                  <a:tcPr/>
                </a:tc>
                <a:tc>
                  <a:txBody>
                    <a:bodyPr/>
                    <a:lstStyle/>
                    <a:p>
                      <a:r>
                        <a:rPr lang="en-US" sz="1400"/>
                        <a:t>Entra ID Protection</a:t>
                      </a:r>
                    </a:p>
                  </a:txBody>
                  <a:tcPr/>
                </a:tc>
                <a:tc>
                  <a:txBody>
                    <a:bodyPr/>
                    <a:lstStyle/>
                    <a:p>
                      <a:r>
                        <a:rPr lang="en-US" sz="1400"/>
                        <a:t>Anomalous token characteristics detected</a:t>
                      </a:r>
                    </a:p>
                  </a:txBody>
                  <a:tcPr/>
                </a:tc>
                <a:extLst>
                  <a:ext uri="{0D108BD9-81ED-4DB2-BD59-A6C34878D82A}">
                    <a16:rowId xmlns:a16="http://schemas.microsoft.com/office/drawing/2014/main" val="1313601820"/>
                  </a:ext>
                </a:extLst>
              </a:tr>
              <a:tr h="716643">
                <a:tc>
                  <a:txBody>
                    <a:bodyPr/>
                    <a:lstStyle/>
                    <a:p>
                      <a:r>
                        <a:rPr lang="en-US" sz="1400"/>
                        <a:t>AttackerInTheMiddle</a:t>
                      </a:r>
                    </a:p>
                  </a:txBody>
                  <a:tcPr/>
                </a:tc>
                <a:tc>
                  <a:txBody>
                    <a:bodyPr/>
                    <a:lstStyle/>
                    <a:p>
                      <a:r>
                        <a:rPr lang="en-US" sz="1400"/>
                        <a:t>Entra ID Protection</a:t>
                      </a:r>
                    </a:p>
                  </a:txBody>
                  <a:tcPr/>
                </a:tc>
                <a:tc>
                  <a:txBody>
                    <a:bodyPr/>
                    <a:lstStyle/>
                    <a:p>
                      <a:r>
                        <a:rPr lang="en-US" sz="1400"/>
                        <a:t>ML detection of AiTM session hijack pattern</a:t>
                      </a:r>
                    </a:p>
                  </a:txBody>
                  <a:tcPr/>
                </a:tc>
                <a:extLst>
                  <a:ext uri="{0D108BD9-81ED-4DB2-BD59-A6C34878D82A}">
                    <a16:rowId xmlns:a16="http://schemas.microsoft.com/office/drawing/2014/main" val="3656800339"/>
                  </a:ext>
                </a:extLst>
              </a:tr>
              <a:tr h="716643">
                <a:tc>
                  <a:txBody>
                    <a:bodyPr/>
                    <a:lstStyle/>
                    <a:p>
                      <a:r>
                        <a:rPr lang="en-US" sz="1400"/>
                        <a:t>Impossible travel</a:t>
                      </a:r>
                    </a:p>
                  </a:txBody>
                  <a:tcPr/>
                </a:tc>
                <a:tc>
                  <a:txBody>
                    <a:bodyPr/>
                    <a:lstStyle/>
                    <a:p>
                      <a:r>
                        <a:rPr lang="en-US" sz="1400"/>
                        <a:t>Defender for Cloud Apps</a:t>
                      </a:r>
                    </a:p>
                  </a:txBody>
                  <a:tcPr/>
                </a:tc>
                <a:tc>
                  <a:txBody>
                    <a:bodyPr/>
                    <a:lstStyle/>
                    <a:p>
                      <a:r>
                        <a:rPr lang="en-US" sz="1400"/>
                        <a:t>Same user from distant locations in short window</a:t>
                      </a:r>
                    </a:p>
                  </a:txBody>
                  <a:tcPr/>
                </a:tc>
                <a:extLst>
                  <a:ext uri="{0D108BD9-81ED-4DB2-BD59-A6C34878D82A}">
                    <a16:rowId xmlns:a16="http://schemas.microsoft.com/office/drawing/2014/main" val="2449129030"/>
                  </a:ext>
                </a:extLst>
              </a:tr>
              <a:tr h="716643">
                <a:tc>
                  <a:txBody>
                    <a:bodyPr/>
                    <a:lstStyle/>
                    <a:p>
                      <a:r>
                        <a:rPr lang="en-US" sz="1400"/>
                        <a:t>User clicked through to malicious URL</a:t>
                      </a:r>
                    </a:p>
                  </a:txBody>
                  <a:tcPr/>
                </a:tc>
                <a:tc>
                  <a:txBody>
                    <a:bodyPr/>
                    <a:lstStyle/>
                    <a:p>
                      <a:r>
                        <a:rPr lang="en-US" sz="1400"/>
                        <a:t>Defender for Office 365</a:t>
                      </a:r>
                    </a:p>
                  </a:txBody>
                  <a:tcPr/>
                </a:tc>
                <a:tc>
                  <a:txBody>
                    <a:bodyPr/>
                    <a:lstStyle/>
                    <a:p>
                      <a:r>
                        <a:rPr lang="en-US" sz="1400"/>
                        <a:t>User overrode Safe Links warning</a:t>
                      </a:r>
                    </a:p>
                  </a:txBody>
                  <a:tcPr/>
                </a:tc>
                <a:extLst>
                  <a:ext uri="{0D108BD9-81ED-4DB2-BD59-A6C34878D82A}">
                    <a16:rowId xmlns:a16="http://schemas.microsoft.com/office/drawing/2014/main" val="719153318"/>
                  </a:ext>
                </a:extLst>
              </a:tr>
            </a:tbl>
          </a:graphicData>
        </a:graphic>
      </p:graphicFrame>
    </p:spTree>
    <p:extLst>
      <p:ext uri="{BB962C8B-B14F-4D97-AF65-F5344CB8AC3E}">
        <p14:creationId xmlns:p14="http://schemas.microsoft.com/office/powerpoint/2010/main" val="83076923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FFF48-4370-A300-9937-EC738BC09450}"/>
              </a:ext>
            </a:extLst>
          </p:cNvPr>
          <p:cNvSpPr>
            <a:spLocks noGrp="1"/>
          </p:cNvSpPr>
          <p:nvPr>
            <p:ph type="title"/>
          </p:nvPr>
        </p:nvSpPr>
        <p:spPr/>
        <p:txBody>
          <a:bodyPr/>
          <a:lstStyle/>
          <a:p>
            <a:r>
              <a:rPr lang="en-US"/>
              <a:t>KQL — AiTM Risk Detections</a:t>
            </a:r>
          </a:p>
        </p:txBody>
      </p:sp>
      <p:sp>
        <p:nvSpPr>
          <p:cNvPr id="3" name="Content Placeholder 2">
            <a:extLst>
              <a:ext uri="{FF2B5EF4-FFF2-40B4-BE49-F238E27FC236}">
                <a16:creationId xmlns:a16="http://schemas.microsoft.com/office/drawing/2014/main" id="{E9C8BF5C-611E-2694-002C-AD473C17B10D}"/>
              </a:ext>
            </a:extLst>
          </p:cNvPr>
          <p:cNvSpPr>
            <a:spLocks noGrp="1"/>
          </p:cNvSpPr>
          <p:nvPr>
            <p:ph sz="quarter" idx="10"/>
          </p:nvPr>
        </p:nvSpPr>
        <p:spPr/>
        <p:txBody>
          <a:bodyPr>
            <a:noAutofit/>
          </a:bodyPr>
          <a:lstStyle/>
          <a:p>
            <a:pPr>
              <a:lnSpc>
                <a:spcPct val="115000"/>
              </a:lnSpc>
              <a:spcBef>
                <a:spcPts val="600"/>
              </a:spcBef>
            </a:pPr>
            <a:r>
              <a:rPr lang="en-US" sz="2400" b="1"/>
              <a:t>Key risk types for Adversary-in-the-Middle (AiTM):</a:t>
            </a:r>
          </a:p>
          <a:p>
            <a:pPr>
              <a:lnSpc>
                <a:spcPct val="115000"/>
              </a:lnSpc>
              <a:spcBef>
                <a:spcPts val="600"/>
              </a:spcBef>
            </a:pPr>
            <a:r>
              <a:rPr lang="en-US" sz="2400"/>
              <a:t>    anomalousToken - token characteristics don't match normal patterns</a:t>
            </a:r>
          </a:p>
          <a:p>
            <a:pPr>
              <a:lnSpc>
                <a:spcPct val="115000"/>
              </a:lnSpc>
              <a:spcBef>
                <a:spcPts val="600"/>
              </a:spcBef>
            </a:pPr>
            <a:r>
              <a:rPr lang="en-US" sz="2400"/>
              <a:t>    attackerInTheMiddle - ML model detected proxy-based session hijack</a:t>
            </a:r>
          </a:p>
          <a:p>
            <a:pPr>
              <a:lnSpc>
                <a:spcPct val="115000"/>
              </a:lnSpc>
              <a:spcBef>
                <a:spcPts val="600"/>
              </a:spcBef>
            </a:pPr>
            <a:r>
              <a:rPr lang="en-US" sz="2400"/>
              <a:t>    unfamiliarFeatures - sign-in from unusual device, location, or app</a:t>
            </a:r>
          </a:p>
        </p:txBody>
      </p:sp>
      <p:sp>
        <p:nvSpPr>
          <p:cNvPr id="4" name="TextBox 3">
            <a:extLst>
              <a:ext uri="{FF2B5EF4-FFF2-40B4-BE49-F238E27FC236}">
                <a16:creationId xmlns:a16="http://schemas.microsoft.com/office/drawing/2014/main" id="{AD693FAD-29D9-1C5D-41A4-7F1F2AA6CE6C}"/>
              </a:ext>
            </a:extLst>
          </p:cNvPr>
          <p:cNvSpPr txBox="1"/>
          <p:nvPr/>
        </p:nvSpPr>
        <p:spPr>
          <a:xfrm>
            <a:off x="381000" y="3429000"/>
            <a:ext cx="11430000" cy="2215991"/>
          </a:xfrm>
          <a:prstGeom prst="rect">
            <a:avLst/>
          </a:prstGeom>
          <a:noFill/>
        </p:spPr>
        <p:txBody>
          <a:bodyPr vert="horz" wrap="square" lIns="0" tIns="0" rIns="0" bIns="0" rtlCol="0">
            <a:spAutoFit/>
          </a:bodyPr>
          <a:lstStyle/>
          <a:p>
            <a:pPr algn="l"/>
            <a:r>
              <a:rPr lang="en-US" sz="1200">
                <a:latin typeface="Consolas" panose="020B0609020204030204" pitchFamily="49" charset="0"/>
              </a:rPr>
              <a:t>AADSignInEventsBeta</a:t>
            </a:r>
          </a:p>
          <a:p>
            <a:pPr algn="l"/>
            <a:r>
              <a:rPr lang="en-US" sz="1200">
                <a:latin typeface="Consolas" panose="020B0609020204030204" pitchFamily="49" charset="0"/>
              </a:rPr>
              <a:t>| where Timestamp &gt; ago(7d)</a:t>
            </a:r>
          </a:p>
          <a:p>
            <a:pPr algn="l"/>
            <a:r>
              <a:rPr lang="en-US" sz="1200">
                <a:latin typeface="Consolas" panose="020B0609020204030204" pitchFamily="49" charset="0"/>
              </a:rPr>
              <a:t>| where RiskLevelDuringSignIn in ("high", "medium")</a:t>
            </a:r>
          </a:p>
          <a:p>
            <a:pPr algn="l"/>
            <a:r>
              <a:rPr lang="en-US" sz="1200">
                <a:latin typeface="Consolas" panose="020B0609020204030204" pitchFamily="49" charset="0"/>
              </a:rPr>
              <a:t>| where DetectedRiskTypes has_any (</a:t>
            </a:r>
          </a:p>
          <a:p>
            <a:pPr algn="l"/>
            <a:r>
              <a:rPr lang="en-US" sz="1200">
                <a:latin typeface="Consolas" panose="020B0609020204030204" pitchFamily="49" charset="0"/>
              </a:rPr>
              <a:t>    "anomalousToken",</a:t>
            </a:r>
          </a:p>
          <a:p>
            <a:pPr algn="l"/>
            <a:r>
              <a:rPr lang="en-US" sz="1200">
                <a:latin typeface="Consolas" panose="020B0609020204030204" pitchFamily="49" charset="0"/>
              </a:rPr>
              <a:t>    "attackerInTheMiddle",</a:t>
            </a:r>
          </a:p>
          <a:p>
            <a:pPr algn="l"/>
            <a:r>
              <a:rPr lang="en-US" sz="1200">
                <a:latin typeface="Consolas" panose="020B0609020204030204" pitchFamily="49" charset="0"/>
              </a:rPr>
              <a:t>    "unfamiliarFeatures"</a:t>
            </a:r>
          </a:p>
          <a:p>
            <a:pPr algn="l"/>
            <a:r>
              <a:rPr lang="en-US" sz="1200">
                <a:latin typeface="Consolas" panose="020B0609020204030204" pitchFamily="49" charset="0"/>
              </a:rPr>
              <a:t>  )</a:t>
            </a:r>
          </a:p>
          <a:p>
            <a:pPr algn="l"/>
            <a:r>
              <a:rPr lang="en-US" sz="1200">
                <a:latin typeface="Consolas" panose="020B0609020204030204" pitchFamily="49" charset="0"/>
              </a:rPr>
              <a:t>| project Timestamp, AccountUpn, IPAddress, Country,</a:t>
            </a:r>
          </a:p>
          <a:p>
            <a:pPr algn="l"/>
            <a:r>
              <a:rPr lang="en-US" sz="1200">
                <a:latin typeface="Consolas" panose="020B0609020204030204" pitchFamily="49" charset="0"/>
              </a:rPr>
              <a:t>          RiskLevelDuringSignIn, DetectedRiskTypes,</a:t>
            </a:r>
          </a:p>
          <a:p>
            <a:pPr algn="l"/>
            <a:r>
              <a:rPr lang="en-US" sz="1200">
                <a:latin typeface="Consolas" panose="020B0609020204030204" pitchFamily="49" charset="0"/>
              </a:rPr>
              <a:t>          DeviceName</a:t>
            </a:r>
          </a:p>
          <a:p>
            <a:pPr algn="l"/>
            <a:r>
              <a:rPr lang="en-US" sz="1200">
                <a:latin typeface="Consolas" panose="020B0609020204030204" pitchFamily="49" charset="0"/>
              </a:rPr>
              <a:t>| order by Timestamp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284796109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B4F9A-23B4-9D81-8EB6-A9D8E589177E}"/>
              </a:ext>
            </a:extLst>
          </p:cNvPr>
          <p:cNvSpPr>
            <a:spLocks noGrp="1"/>
          </p:cNvSpPr>
          <p:nvPr>
            <p:ph type="title"/>
          </p:nvPr>
        </p:nvSpPr>
        <p:spPr/>
        <p:txBody>
          <a:bodyPr/>
          <a:lstStyle/>
          <a:p>
            <a:r>
              <a:rPr lang="en-US"/>
              <a:t>KQL — Phishing Click to Sign-In Correlation</a:t>
            </a:r>
          </a:p>
        </p:txBody>
      </p:sp>
      <p:sp>
        <p:nvSpPr>
          <p:cNvPr id="3" name="Content Placeholder 2">
            <a:extLst>
              <a:ext uri="{FF2B5EF4-FFF2-40B4-BE49-F238E27FC236}">
                <a16:creationId xmlns:a16="http://schemas.microsoft.com/office/drawing/2014/main" id="{F6DE0BE5-FC22-97CD-9537-DB1D615DC47A}"/>
              </a:ext>
            </a:extLst>
          </p:cNvPr>
          <p:cNvSpPr>
            <a:spLocks noGrp="1"/>
          </p:cNvSpPr>
          <p:nvPr>
            <p:ph sz="quarter" idx="10"/>
          </p:nvPr>
        </p:nvSpPr>
        <p:spPr/>
        <p:txBody>
          <a:bodyPr>
            <a:noAutofit/>
          </a:bodyPr>
          <a:lstStyle/>
          <a:p>
            <a:pPr>
              <a:lnSpc>
                <a:spcPct val="115000"/>
              </a:lnSpc>
              <a:spcBef>
                <a:spcPts val="600"/>
              </a:spcBef>
            </a:pPr>
            <a:r>
              <a:rPr lang="en-US"/>
              <a:t>What this reveals: Users who clicked a phishing link AND then had a sign-in event within 30 minutes - the Adversary-in-the-Middle (AiTM) kill chain in action.</a:t>
            </a:r>
          </a:p>
        </p:txBody>
      </p:sp>
    </p:spTree>
    <p:extLst>
      <p:ext uri="{BB962C8B-B14F-4D97-AF65-F5344CB8AC3E}">
        <p14:creationId xmlns:p14="http://schemas.microsoft.com/office/powerpoint/2010/main" val="6463038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D7E73-9114-2BFF-46A8-E3654F1497A0}"/>
              </a:ext>
            </a:extLst>
          </p:cNvPr>
          <p:cNvSpPr>
            <a:spLocks noGrp="1"/>
          </p:cNvSpPr>
          <p:nvPr>
            <p:ph type="title"/>
          </p:nvPr>
        </p:nvSpPr>
        <p:spPr/>
        <p:txBody>
          <a:bodyPr/>
          <a:lstStyle/>
          <a:p>
            <a:r>
              <a:rPr lang="en-US"/>
              <a:t>KQL — Phishing Click to Sign-In Correlation (cont.)</a:t>
            </a:r>
          </a:p>
        </p:txBody>
      </p:sp>
      <p:sp>
        <p:nvSpPr>
          <p:cNvPr id="3" name="Content Placeholder 2">
            <a:extLst>
              <a:ext uri="{FF2B5EF4-FFF2-40B4-BE49-F238E27FC236}">
                <a16:creationId xmlns:a16="http://schemas.microsoft.com/office/drawing/2014/main" id="{D96E1364-480B-C3BA-CF4F-598A04342D49}"/>
              </a:ext>
            </a:extLst>
          </p:cNvPr>
          <p:cNvSpPr>
            <a:spLocks noGrp="1"/>
          </p:cNvSpPr>
          <p:nvPr>
            <p:ph sz="quarter" idx="10"/>
          </p:nvPr>
        </p:nvSpPr>
        <p:spPr/>
        <p:txBody>
          <a:bodyPr>
            <a:noAutofit/>
          </a:bodyPr>
          <a:lstStyle/>
          <a:p>
            <a:pPr>
              <a:lnSpc>
                <a:spcPct val="115000"/>
              </a:lnSpc>
              <a:spcBef>
                <a:spcPts val="600"/>
              </a:spcBef>
            </a:pPr>
            <a:r>
              <a:rPr lang="en-US" sz="1600" b="1"/>
              <a:t>Sample Kusto Query Language (KQL):</a:t>
            </a:r>
          </a:p>
          <a:p>
            <a:pPr>
              <a:lnSpc>
                <a:spcPct val="115000"/>
              </a:lnSpc>
              <a:spcBef>
                <a:spcPts val="600"/>
              </a:spcBef>
            </a:pPr>
            <a:endParaRPr lang="en-US" sz="1600"/>
          </a:p>
          <a:p>
            <a:pPr>
              <a:lnSpc>
                <a:spcPct val="115000"/>
              </a:lnSpc>
              <a:spcBef>
                <a:spcPts val="600"/>
              </a:spcBef>
            </a:pPr>
            <a:r>
              <a:rPr lang="en-US" sz="1600" b="1"/>
              <a:t>Sample Kusto Query Language (KQL):</a:t>
            </a:r>
          </a:p>
        </p:txBody>
      </p:sp>
      <p:sp>
        <p:nvSpPr>
          <p:cNvPr id="4" name="TextBox 3">
            <a:extLst>
              <a:ext uri="{FF2B5EF4-FFF2-40B4-BE49-F238E27FC236}">
                <a16:creationId xmlns:a16="http://schemas.microsoft.com/office/drawing/2014/main" id="{B6B2797E-9777-FA8F-9134-FE6C2E064C15}"/>
              </a:ext>
            </a:extLst>
          </p:cNvPr>
          <p:cNvSpPr txBox="1"/>
          <p:nvPr/>
        </p:nvSpPr>
        <p:spPr>
          <a:xfrm>
            <a:off x="381000" y="3556000"/>
            <a:ext cx="11430000" cy="2769989"/>
          </a:xfrm>
          <a:prstGeom prst="rect">
            <a:avLst/>
          </a:prstGeom>
          <a:noFill/>
        </p:spPr>
        <p:txBody>
          <a:bodyPr vert="horz" wrap="square" lIns="0" tIns="0" rIns="0" bIns="0" rtlCol="0">
            <a:spAutoFit/>
          </a:bodyPr>
          <a:lstStyle/>
          <a:p>
            <a:pPr algn="l"/>
            <a:r>
              <a:rPr lang="en-US" sz="1200">
                <a:latin typeface="Consolas" panose="020B0609020204030204" pitchFamily="49" charset="0"/>
              </a:rPr>
              <a:t>let PhishClicks = UrlClickEvents</a:t>
            </a:r>
          </a:p>
          <a:p>
            <a:pPr algn="l"/>
            <a:r>
              <a:rPr lang="en-US" sz="1200">
                <a:latin typeface="Consolas" panose="020B0609020204030204" pitchFamily="49" charset="0"/>
              </a:rPr>
              <a:t>| where ThreatTypes has "Phish"</a:t>
            </a:r>
          </a:p>
          <a:p>
            <a:pPr algn="l"/>
            <a:r>
              <a:rPr lang="en-US" sz="1200">
                <a:latin typeface="Consolas" panose="020B0609020204030204" pitchFamily="49" charset="0"/>
              </a:rPr>
              <a:t>| project ClickTime = Timestamp, AccountUpn,</a:t>
            </a:r>
          </a:p>
          <a:p>
            <a:pPr algn="l"/>
            <a:r>
              <a:rPr lang="en-US" sz="1200">
                <a:latin typeface="Consolas" panose="020B0609020204030204" pitchFamily="49" charset="0"/>
              </a:rPr>
              <a:t>          PhishUrl = Url, NetworkMessageId;</a:t>
            </a:r>
          </a:p>
          <a:p>
            <a:pPr algn="l"/>
            <a:endParaRPr lang="en-US" sz="1200">
              <a:latin typeface="Consolas" panose="020B0609020204030204" pitchFamily="49" charset="0"/>
            </a:endParaRPr>
          </a:p>
          <a:p>
            <a:pPr algn="l"/>
            <a:r>
              <a:rPr lang="en-US" sz="1200">
                <a:latin typeface="Consolas" panose="020B0609020204030204" pitchFamily="49" charset="0"/>
              </a:rPr>
              <a:t>AADSignInEventsBeta</a:t>
            </a:r>
          </a:p>
          <a:p>
            <a:pPr algn="l"/>
            <a:r>
              <a:rPr lang="en-US" sz="1200">
                <a:latin typeface="Consolas" panose="020B0609020204030204" pitchFamily="49" charset="0"/>
              </a:rPr>
              <a:t>| where Timestamp &gt; ago(7d)</a:t>
            </a:r>
          </a:p>
          <a:p>
            <a:pPr algn="l"/>
            <a:r>
              <a:rPr lang="en-US" sz="1200">
                <a:latin typeface="Consolas" panose="020B0609020204030204" pitchFamily="49" charset="0"/>
              </a:rPr>
              <a:t>| join kind=inner PhishClicks on AccountUpn</a:t>
            </a:r>
          </a:p>
          <a:p>
            <a:pPr algn="l"/>
            <a:r>
              <a:rPr lang="en-US" sz="1200">
                <a:latin typeface="Consolas" panose="020B0609020204030204" pitchFamily="49" charset="0"/>
              </a:rPr>
              <a:t>| where Timestamp &gt; ClickTime</a:t>
            </a:r>
          </a:p>
          <a:p>
            <a:pPr algn="l"/>
            <a:r>
              <a:rPr lang="en-US" sz="1200">
                <a:latin typeface="Consolas" panose="020B0609020204030204" pitchFamily="49" charset="0"/>
              </a:rPr>
              <a:t>    and Timestamp &lt; ClickTime + 30m</a:t>
            </a:r>
          </a:p>
          <a:p>
            <a:pPr algn="l"/>
            <a:r>
              <a:rPr lang="en-US" sz="1200">
                <a:latin typeface="Consolas" panose="020B0609020204030204" pitchFamily="49" charset="0"/>
              </a:rPr>
              <a:t>| project ClickTime, SignInTime = Timestamp,</a:t>
            </a:r>
          </a:p>
          <a:p>
            <a:pPr algn="l"/>
            <a:r>
              <a:rPr lang="en-US" sz="1200">
                <a:latin typeface="Consolas" panose="020B0609020204030204" pitchFamily="49" charset="0"/>
              </a:rPr>
              <a:t>          AccountUpn, PhishUrl,</a:t>
            </a:r>
          </a:p>
          <a:p>
            <a:pPr algn="l"/>
            <a:r>
              <a:rPr lang="en-US" sz="1200">
                <a:latin typeface="Consolas" panose="020B0609020204030204" pitchFamily="49" charset="0"/>
              </a:rPr>
              <a:t>          SignInIP = IPAddress,</a:t>
            </a:r>
          </a:p>
          <a:p>
            <a:pPr algn="l"/>
            <a:r>
              <a:rPr lang="en-US" sz="1200">
                <a:latin typeface="Consolas" panose="020B0609020204030204" pitchFamily="49" charset="0"/>
              </a:rPr>
              <a:t>          RiskLevelDuringSignIn</a:t>
            </a:r>
          </a:p>
          <a:p>
            <a:pPr algn="l"/>
            <a:r>
              <a:rPr lang="en-US" sz="1200">
                <a:latin typeface="Consolas" panose="020B0609020204030204" pitchFamily="49" charset="0"/>
              </a:rPr>
              <a:t>| order by ClickTime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96597283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9D534-6111-D428-39F5-EF8046F9CF26}"/>
              </a:ext>
            </a:extLst>
          </p:cNvPr>
          <p:cNvSpPr>
            <a:spLocks noGrp="1"/>
          </p:cNvSpPr>
          <p:nvPr>
            <p:ph type="title"/>
          </p:nvPr>
        </p:nvSpPr>
        <p:spPr/>
        <p:txBody>
          <a:bodyPr/>
          <a:lstStyle/>
          <a:p>
            <a:r>
              <a:rPr lang="en-US"/>
              <a:t>KQL — BEC Inbox Rule Detection</a:t>
            </a:r>
          </a:p>
        </p:txBody>
      </p:sp>
      <p:sp>
        <p:nvSpPr>
          <p:cNvPr id="3" name="Content Placeholder 2">
            <a:extLst>
              <a:ext uri="{FF2B5EF4-FFF2-40B4-BE49-F238E27FC236}">
                <a16:creationId xmlns:a16="http://schemas.microsoft.com/office/drawing/2014/main" id="{AF7D21A2-71CE-F52A-CEFD-B6EE4D6FCA7C}"/>
              </a:ext>
            </a:extLst>
          </p:cNvPr>
          <p:cNvSpPr>
            <a:spLocks noGrp="1"/>
          </p:cNvSpPr>
          <p:nvPr>
            <p:ph sz="quarter" idx="10"/>
          </p:nvPr>
        </p:nvSpPr>
        <p:spPr/>
        <p:txBody>
          <a:bodyPr>
            <a:noAutofit/>
          </a:bodyPr>
          <a:lstStyle/>
          <a:p>
            <a:pPr>
              <a:lnSpc>
                <a:spcPct val="115000"/>
              </a:lnSpc>
              <a:spcBef>
                <a:spcPts val="600"/>
              </a:spcBef>
            </a:pPr>
            <a:r>
              <a:rPr lang="en-US" sz="2400" b="1"/>
              <a:t>Why this matters: Inbox rule creation is the most common BEC follow-on after Adversary-in-the-Middle (AiTM). Attackers create rules to:</a:t>
            </a:r>
          </a:p>
          <a:p>
            <a:pPr>
              <a:lnSpc>
                <a:spcPct val="115000"/>
              </a:lnSpc>
              <a:spcBef>
                <a:spcPts val="600"/>
              </a:spcBef>
            </a:pPr>
            <a:r>
              <a:rPr lang="en-US" sz="2400"/>
              <a:t>Forward emails to external addresses (data exfiltration)</a:t>
            </a:r>
          </a:p>
          <a:p>
            <a:pPr>
              <a:lnSpc>
                <a:spcPct val="115000"/>
              </a:lnSpc>
              <a:spcBef>
                <a:spcPts val="600"/>
              </a:spcBef>
            </a:pPr>
            <a:r>
              <a:rPr lang="en-US" sz="2400"/>
              <a:t>Delete incoming replies (hide their activity from the victim)</a:t>
            </a:r>
          </a:p>
          <a:p>
            <a:pPr>
              <a:lnSpc>
                <a:spcPct val="115000"/>
              </a:lnSpc>
              <a:spcBef>
                <a:spcPts val="600"/>
              </a:spcBef>
            </a:pPr>
            <a:r>
              <a:rPr lang="en-US" sz="2400"/>
              <a:t>Mark messages as read (prevent the victim from noticing new activity)</a:t>
            </a:r>
          </a:p>
        </p:txBody>
      </p:sp>
      <p:sp>
        <p:nvSpPr>
          <p:cNvPr id="4" name="TextBox 3">
            <a:extLst>
              <a:ext uri="{FF2B5EF4-FFF2-40B4-BE49-F238E27FC236}">
                <a16:creationId xmlns:a16="http://schemas.microsoft.com/office/drawing/2014/main" id="{34C53E2A-595F-D661-7972-301317E3785C}"/>
              </a:ext>
            </a:extLst>
          </p:cNvPr>
          <p:cNvSpPr txBox="1"/>
          <p:nvPr/>
        </p:nvSpPr>
        <p:spPr>
          <a:xfrm>
            <a:off x="381000" y="3429000"/>
            <a:ext cx="11430000" cy="2031325"/>
          </a:xfrm>
          <a:prstGeom prst="rect">
            <a:avLst/>
          </a:prstGeom>
          <a:noFill/>
        </p:spPr>
        <p:txBody>
          <a:bodyPr vert="horz" wrap="square" lIns="0" tIns="0" rIns="0" bIns="0" rtlCol="0">
            <a:spAutoFit/>
          </a:bodyPr>
          <a:lstStyle/>
          <a:p>
            <a:pPr algn="l"/>
            <a:r>
              <a:rPr lang="en-US" sz="1200">
                <a:latin typeface="Consolas" panose="020B0609020204030204" pitchFamily="49" charset="0"/>
              </a:rPr>
              <a:t>CloudAppEvents</a:t>
            </a:r>
          </a:p>
          <a:p>
            <a:pPr algn="l"/>
            <a:r>
              <a:rPr lang="en-US" sz="1200">
                <a:latin typeface="Consolas" panose="020B0609020204030204" pitchFamily="49" charset="0"/>
              </a:rPr>
              <a:t>| where Timestamp &gt; ago(7d)</a:t>
            </a:r>
          </a:p>
          <a:p>
            <a:pPr algn="l"/>
            <a:r>
              <a:rPr lang="en-US" sz="1200">
                <a:latin typeface="Consolas" panose="020B0609020204030204" pitchFamily="49" charset="0"/>
              </a:rPr>
              <a:t>| where ActionType in (</a:t>
            </a:r>
          </a:p>
          <a:p>
            <a:pPr algn="l"/>
            <a:r>
              <a:rPr lang="en-US" sz="1200">
                <a:latin typeface="Consolas" panose="020B0609020204030204" pitchFamily="49" charset="0"/>
              </a:rPr>
              <a:t>    "New-InboxRule",</a:t>
            </a:r>
          </a:p>
          <a:p>
            <a:pPr algn="l"/>
            <a:r>
              <a:rPr lang="en-US" sz="1200">
                <a:latin typeface="Consolas" panose="020B0609020204030204" pitchFamily="49" charset="0"/>
              </a:rPr>
              <a:t>    "Set-InboxRule",</a:t>
            </a:r>
          </a:p>
          <a:p>
            <a:pPr algn="l"/>
            <a:r>
              <a:rPr lang="en-US" sz="1200">
                <a:latin typeface="Consolas" panose="020B0609020204030204" pitchFamily="49" charset="0"/>
              </a:rPr>
              <a:t>    "UpdateInboxRules"</a:t>
            </a:r>
          </a:p>
          <a:p>
            <a:pPr algn="l"/>
            <a:r>
              <a:rPr lang="en-US" sz="1200">
                <a:latin typeface="Consolas" panose="020B0609020204030204" pitchFamily="49" charset="0"/>
              </a:rPr>
              <a:t>  )</a:t>
            </a:r>
          </a:p>
          <a:p>
            <a:pPr algn="l"/>
            <a:r>
              <a:rPr lang="en-US" sz="1200">
                <a:latin typeface="Consolas" panose="020B0609020204030204" pitchFamily="49" charset="0"/>
              </a:rPr>
              <a:t>| extend RawData = parse_json(RawEventData)</a:t>
            </a:r>
          </a:p>
          <a:p>
            <a:pPr algn="l"/>
            <a:r>
              <a:rPr lang="en-US" sz="1200">
                <a:latin typeface="Consolas" panose="020B0609020204030204" pitchFamily="49" charset="0"/>
              </a:rPr>
              <a:t>| project Timestamp, AccountUpn, ActionType,</a:t>
            </a:r>
          </a:p>
          <a:p>
            <a:pPr algn="l"/>
            <a:r>
              <a:rPr lang="en-US" sz="1200">
                <a:latin typeface="Consolas" panose="020B0609020204030204" pitchFamily="49" charset="0"/>
              </a:rPr>
              <a:t>          IPAddress, RawData</a:t>
            </a:r>
          </a:p>
          <a:p>
            <a:pPr algn="l"/>
            <a:r>
              <a:rPr lang="en-US" sz="1200">
                <a:latin typeface="Consolas" panose="020B0609020204030204" pitchFamily="49" charset="0"/>
              </a:rPr>
              <a:t>| order by Timestamp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298155836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9A1B2-8D44-0AB1-1F15-D294BAB8B63E}"/>
              </a:ext>
            </a:extLst>
          </p:cNvPr>
          <p:cNvSpPr>
            <a:spLocks noGrp="1"/>
          </p:cNvSpPr>
          <p:nvPr>
            <p:ph type="title"/>
          </p:nvPr>
        </p:nvSpPr>
        <p:spPr/>
        <p:txBody>
          <a:bodyPr/>
          <a:lstStyle/>
          <a:p>
            <a:r>
              <a:rPr lang="en-US"/>
              <a:t>Illicit Consent Grant — How It Works</a:t>
            </a:r>
          </a:p>
        </p:txBody>
      </p:sp>
      <p:sp>
        <p:nvSpPr>
          <p:cNvPr id="3" name="Content Placeholder 2">
            <a:extLst>
              <a:ext uri="{FF2B5EF4-FFF2-40B4-BE49-F238E27FC236}">
                <a16:creationId xmlns:a16="http://schemas.microsoft.com/office/drawing/2014/main" id="{E306D816-243A-5C1C-4DDE-6ED2EF47633C}"/>
              </a:ext>
            </a:extLst>
          </p:cNvPr>
          <p:cNvSpPr>
            <a:spLocks noGrp="1"/>
          </p:cNvSpPr>
          <p:nvPr>
            <p:ph sz="quarter" idx="10"/>
          </p:nvPr>
        </p:nvSpPr>
        <p:spPr/>
        <p:txBody>
          <a:bodyPr>
            <a:noAutofit/>
          </a:bodyPr>
          <a:lstStyle/>
          <a:p>
            <a:pPr>
              <a:lnSpc>
                <a:spcPct val="115000"/>
              </a:lnSpc>
              <a:spcBef>
                <a:spcPts val="600"/>
              </a:spcBef>
            </a:pPr>
            <a:r>
              <a:rPr lang="en-US" sz="2200"/>
              <a:t>An illicit consent grant attack abuses the Entra ID OAuth consent framework. Rather than stealing credentials, the attacker tricks a user into granting a malicious application permission to their data.</a:t>
            </a:r>
          </a:p>
          <a:p>
            <a:pPr>
              <a:lnSpc>
                <a:spcPct val="115000"/>
              </a:lnSpc>
              <a:spcBef>
                <a:spcPts val="600"/>
              </a:spcBef>
            </a:pPr>
            <a:r>
              <a:rPr lang="en-US" sz="2200" b="1"/>
              <a:t>Attack Flow:</a:t>
            </a:r>
          </a:p>
          <a:p>
            <a:pPr>
              <a:lnSpc>
                <a:spcPct val="115000"/>
              </a:lnSpc>
              <a:spcBef>
                <a:spcPts val="600"/>
              </a:spcBef>
            </a:pPr>
            <a:r>
              <a:rPr lang="en-US" sz="2200"/>
              <a:t>    Attacker registers a multi-tenant app in their own Entra ID tenant</a:t>
            </a:r>
          </a:p>
        </p:txBody>
      </p:sp>
    </p:spTree>
    <p:extLst>
      <p:ext uri="{BB962C8B-B14F-4D97-AF65-F5344CB8AC3E}">
        <p14:creationId xmlns:p14="http://schemas.microsoft.com/office/powerpoint/2010/main" val="3411690081"/>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07372-B43D-F8B1-A671-CB2979FB58E2}"/>
              </a:ext>
            </a:extLst>
          </p:cNvPr>
          <p:cNvSpPr>
            <a:spLocks noGrp="1"/>
          </p:cNvSpPr>
          <p:nvPr>
            <p:ph type="title"/>
          </p:nvPr>
        </p:nvSpPr>
        <p:spPr/>
        <p:txBody>
          <a:bodyPr/>
          <a:lstStyle/>
          <a:p>
            <a:r>
              <a:rPr lang="en-US"/>
              <a:t>Illicit Consent Grant — How It Works (cont. 2)</a:t>
            </a:r>
          </a:p>
        </p:txBody>
      </p:sp>
      <p:sp>
        <p:nvSpPr>
          <p:cNvPr id="3" name="Content Placeholder 2">
            <a:extLst>
              <a:ext uri="{FF2B5EF4-FFF2-40B4-BE49-F238E27FC236}">
                <a16:creationId xmlns:a16="http://schemas.microsoft.com/office/drawing/2014/main" id="{726420EE-677F-BA3F-F5B8-5269C412C4E4}"/>
              </a:ext>
            </a:extLst>
          </p:cNvPr>
          <p:cNvSpPr>
            <a:spLocks noGrp="1"/>
          </p:cNvSpPr>
          <p:nvPr>
            <p:ph sz="quarter" idx="10"/>
          </p:nvPr>
        </p:nvSpPr>
        <p:spPr/>
        <p:txBody>
          <a:bodyPr>
            <a:noAutofit/>
          </a:bodyPr>
          <a:lstStyle/>
          <a:p>
            <a:pPr>
              <a:lnSpc>
                <a:spcPct val="115000"/>
              </a:lnSpc>
              <a:spcBef>
                <a:spcPts val="600"/>
              </a:spcBef>
            </a:pPr>
            <a:r>
              <a:rPr lang="en-US" sz="2200"/>
              <a:t>    App is configured to request high-privilege delegated permissions (Mail.ReadWrite, Files.ReadWrite.All, offline_access)</a:t>
            </a:r>
          </a:p>
          <a:p>
            <a:pPr>
              <a:lnSpc>
                <a:spcPct val="115000"/>
              </a:lnSpc>
              <a:spcBef>
                <a:spcPts val="600"/>
              </a:spcBef>
            </a:pPr>
            <a:r>
              <a:rPr lang="en-US" sz="2200"/>
              <a:t>    Victim receives phishing email with an OAuth authorization link</a:t>
            </a:r>
          </a:p>
          <a:p>
            <a:pPr>
              <a:lnSpc>
                <a:spcPct val="115000"/>
              </a:lnSpc>
              <a:spcBef>
                <a:spcPts val="600"/>
              </a:spcBef>
            </a:pPr>
            <a:r>
              <a:rPr lang="en-US" sz="2200"/>
              <a:t>    Victim clicks, sees a legitimate Microsoft consent prompt, and clicks Accept</a:t>
            </a:r>
          </a:p>
          <a:p>
            <a:pPr>
              <a:lnSpc>
                <a:spcPct val="115000"/>
              </a:lnSpc>
              <a:spcBef>
                <a:spcPts val="600"/>
              </a:spcBef>
            </a:pPr>
            <a:r>
              <a:rPr lang="en-US" sz="2200"/>
              <a:t>    Attacker exchanges the authorization code for access + refresh tokens</a:t>
            </a:r>
          </a:p>
          <a:p>
            <a:pPr>
              <a:lnSpc>
                <a:spcPct val="115000"/>
              </a:lnSpc>
              <a:spcBef>
                <a:spcPts val="600"/>
              </a:spcBef>
            </a:pPr>
            <a:r>
              <a:rPr lang="en-US" sz="2200"/>
              <a:t>    App has persistent, delegated access to all victim data covered by the consented scopes</a:t>
            </a:r>
          </a:p>
        </p:txBody>
      </p:sp>
    </p:spTree>
    <p:extLst>
      <p:ext uri="{BB962C8B-B14F-4D97-AF65-F5344CB8AC3E}">
        <p14:creationId xmlns:p14="http://schemas.microsoft.com/office/powerpoint/2010/main" val="2508113742"/>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0801E-CB92-2F37-8548-1ADA99DA8203}"/>
              </a:ext>
            </a:extLst>
          </p:cNvPr>
          <p:cNvSpPr>
            <a:spLocks noGrp="1"/>
          </p:cNvSpPr>
          <p:nvPr>
            <p:ph type="title"/>
          </p:nvPr>
        </p:nvSpPr>
        <p:spPr/>
        <p:txBody>
          <a:bodyPr/>
          <a:lstStyle/>
          <a:p>
            <a:r>
              <a:rPr lang="en-US"/>
              <a:t>Dangerous Permission Combinations</a:t>
            </a:r>
          </a:p>
        </p:txBody>
      </p:sp>
      <p:graphicFrame>
        <p:nvGraphicFramePr>
          <p:cNvPr id="4" name="Content Placeholder 3">
            <a:extLst>
              <a:ext uri="{FF2B5EF4-FFF2-40B4-BE49-F238E27FC236}">
                <a16:creationId xmlns:a16="http://schemas.microsoft.com/office/drawing/2014/main" id="{57906725-1FDC-5DE5-E0CD-127AB83CB5C4}"/>
              </a:ext>
            </a:extLst>
          </p:cNvPr>
          <p:cNvGraphicFramePr>
            <a:graphicFrameLocks noGrp="1"/>
          </p:cNvGraphicFramePr>
          <p:nvPr>
            <p:ph sz="quarter" idx="10"/>
            <p:extLst>
              <p:ext uri="{D42A27DB-BD31-4B8C-83A1-F6EECF244321}">
                <p14:modId xmlns:p14="http://schemas.microsoft.com/office/powerpoint/2010/main" val="2870084880"/>
              </p:ext>
            </p:extLst>
          </p:nvPr>
        </p:nvGraphicFramePr>
        <p:xfrm>
          <a:off x="381000" y="1524000"/>
          <a:ext cx="11430000" cy="4889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4041508689"/>
                    </a:ext>
                  </a:extLst>
                </a:gridCol>
                <a:gridCol w="5715000">
                  <a:extLst>
                    <a:ext uri="{9D8B030D-6E8A-4147-A177-3AD203B41FA5}">
                      <a16:colId xmlns:a16="http://schemas.microsoft.com/office/drawing/2014/main" val="3118769916"/>
                    </a:ext>
                  </a:extLst>
                </a:gridCol>
              </a:tblGrid>
              <a:tr h="814917">
                <a:tc>
                  <a:txBody>
                    <a:bodyPr/>
                    <a:lstStyle/>
                    <a:p>
                      <a:r>
                        <a:rPr lang="en-US" sz="1400" b="1"/>
                        <a:t>Permission</a:t>
                      </a:r>
                    </a:p>
                  </a:txBody>
                  <a:tcPr/>
                </a:tc>
                <a:tc>
                  <a:txBody>
                    <a:bodyPr/>
                    <a:lstStyle/>
                    <a:p>
                      <a:r>
                        <a:rPr lang="en-US" sz="1400" b="1"/>
                        <a:t>Risk</a:t>
                      </a:r>
                    </a:p>
                  </a:txBody>
                  <a:tcPr/>
                </a:tc>
                <a:extLst>
                  <a:ext uri="{0D108BD9-81ED-4DB2-BD59-A6C34878D82A}">
                    <a16:rowId xmlns:a16="http://schemas.microsoft.com/office/drawing/2014/main" val="2677638848"/>
                  </a:ext>
                </a:extLst>
              </a:tr>
              <a:tr h="814917">
                <a:tc>
                  <a:txBody>
                    <a:bodyPr/>
                    <a:lstStyle/>
                    <a:p>
                      <a:r>
                        <a:rPr lang="en-US" sz="1400"/>
                        <a:t>Mail.ReadWrite + offline_access</a:t>
                      </a:r>
                    </a:p>
                  </a:txBody>
                  <a:tcPr/>
                </a:tc>
                <a:tc>
                  <a:txBody>
                    <a:bodyPr/>
                    <a:lstStyle/>
                    <a:p>
                      <a:r>
                        <a:rPr lang="en-US" sz="1400"/>
                        <a:t>Persistent email read/write with non-expiring refresh tokens</a:t>
                      </a:r>
                    </a:p>
                  </a:txBody>
                  <a:tcPr/>
                </a:tc>
                <a:extLst>
                  <a:ext uri="{0D108BD9-81ED-4DB2-BD59-A6C34878D82A}">
                    <a16:rowId xmlns:a16="http://schemas.microsoft.com/office/drawing/2014/main" val="2896055579"/>
                  </a:ext>
                </a:extLst>
              </a:tr>
              <a:tr h="814917">
                <a:tc>
                  <a:txBody>
                    <a:bodyPr/>
                    <a:lstStyle/>
                    <a:p>
                      <a:r>
                        <a:rPr lang="en-US" sz="1400"/>
                        <a:t>Files.ReadWrite.All</a:t>
                      </a:r>
                    </a:p>
                  </a:txBody>
                  <a:tcPr/>
                </a:tc>
                <a:tc>
                  <a:txBody>
                    <a:bodyPr/>
                    <a:lstStyle/>
                    <a:p>
                      <a:r>
                        <a:rPr lang="en-US" sz="1400"/>
                        <a:t>Full read/write on SharePoint and OneDrive</a:t>
                      </a:r>
                    </a:p>
                  </a:txBody>
                  <a:tcPr/>
                </a:tc>
                <a:extLst>
                  <a:ext uri="{0D108BD9-81ED-4DB2-BD59-A6C34878D82A}">
                    <a16:rowId xmlns:a16="http://schemas.microsoft.com/office/drawing/2014/main" val="1128705578"/>
                  </a:ext>
                </a:extLst>
              </a:tr>
              <a:tr h="814917">
                <a:tc>
                  <a:txBody>
                    <a:bodyPr/>
                    <a:lstStyle/>
                    <a:p>
                      <a:r>
                        <a:rPr lang="en-US" sz="1400"/>
                        <a:t>Contacts.ReadWrite</a:t>
                      </a:r>
                    </a:p>
                  </a:txBody>
                  <a:tcPr/>
                </a:tc>
                <a:tc>
                  <a:txBody>
                    <a:bodyPr/>
                    <a:lstStyle/>
                    <a:p>
                      <a:r>
                        <a:rPr lang="en-US" sz="1400"/>
                        <a:t>Harvest contact data for phishing expansion</a:t>
                      </a:r>
                    </a:p>
                  </a:txBody>
                  <a:tcPr/>
                </a:tc>
                <a:extLst>
                  <a:ext uri="{0D108BD9-81ED-4DB2-BD59-A6C34878D82A}">
                    <a16:rowId xmlns:a16="http://schemas.microsoft.com/office/drawing/2014/main" val="648681099"/>
                  </a:ext>
                </a:extLst>
              </a:tr>
              <a:tr h="814917">
                <a:tc>
                  <a:txBody>
                    <a:bodyPr/>
                    <a:lstStyle/>
                    <a:p>
                      <a:r>
                        <a:rPr lang="en-US" sz="1400"/>
                        <a:t>User.ReadWrite.All</a:t>
                      </a:r>
                    </a:p>
                  </a:txBody>
                  <a:tcPr/>
                </a:tc>
                <a:tc>
                  <a:txBody>
                    <a:bodyPr/>
                    <a:lstStyle/>
                    <a:p>
                      <a:r>
                        <a:rPr lang="en-US" sz="1400"/>
                        <a:t>Modify other users' profiles and credentials (app-only)</a:t>
                      </a:r>
                    </a:p>
                  </a:txBody>
                  <a:tcPr/>
                </a:tc>
                <a:extLst>
                  <a:ext uri="{0D108BD9-81ED-4DB2-BD59-A6C34878D82A}">
                    <a16:rowId xmlns:a16="http://schemas.microsoft.com/office/drawing/2014/main" val="2717816346"/>
                  </a:ext>
                </a:extLst>
              </a:tr>
              <a:tr h="814917">
                <a:tc>
                  <a:txBody>
                    <a:bodyPr/>
                    <a:lstStyle/>
                    <a:p>
                      <a:r>
                        <a:rPr lang="en-US" sz="1400"/>
                        <a:t>AllPrincipals (admin consent)</a:t>
                      </a:r>
                    </a:p>
                  </a:txBody>
                  <a:tcPr/>
                </a:tc>
                <a:tc>
                  <a:txBody>
                    <a:bodyPr/>
                    <a:lstStyle/>
                    <a:p>
                      <a:r>
                        <a:rPr lang="en-US" sz="1400"/>
                        <a:t>Tenant-wide access to all user data</a:t>
                      </a:r>
                    </a:p>
                  </a:txBody>
                  <a:tcPr/>
                </a:tc>
                <a:extLst>
                  <a:ext uri="{0D108BD9-81ED-4DB2-BD59-A6C34878D82A}">
                    <a16:rowId xmlns:a16="http://schemas.microsoft.com/office/drawing/2014/main" val="480500921"/>
                  </a:ext>
                </a:extLst>
              </a:tr>
            </a:tbl>
          </a:graphicData>
        </a:graphic>
      </p:graphicFrame>
    </p:spTree>
    <p:extLst>
      <p:ext uri="{BB962C8B-B14F-4D97-AF65-F5344CB8AC3E}">
        <p14:creationId xmlns:p14="http://schemas.microsoft.com/office/powerpoint/2010/main" val="3323724524"/>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19FB2-705F-1E40-1B9A-D43110E14802}"/>
              </a:ext>
            </a:extLst>
          </p:cNvPr>
          <p:cNvSpPr>
            <a:spLocks noGrp="1"/>
          </p:cNvSpPr>
          <p:nvPr>
            <p:ph type="title"/>
          </p:nvPr>
        </p:nvSpPr>
        <p:spPr/>
        <p:txBody>
          <a:bodyPr/>
          <a:lstStyle/>
          <a:p>
            <a:r>
              <a:rPr lang="en-US"/>
              <a:t>Dangerous Permission Combinations (cont.)</a:t>
            </a:r>
          </a:p>
        </p:txBody>
      </p:sp>
      <p:sp>
        <p:nvSpPr>
          <p:cNvPr id="3" name="Content Placeholder 2">
            <a:extLst>
              <a:ext uri="{FF2B5EF4-FFF2-40B4-BE49-F238E27FC236}">
                <a16:creationId xmlns:a16="http://schemas.microsoft.com/office/drawing/2014/main" id="{FB8D0258-227F-34B3-1F4E-32678DCB468A}"/>
              </a:ext>
            </a:extLst>
          </p:cNvPr>
          <p:cNvSpPr>
            <a:spLocks noGrp="1"/>
          </p:cNvSpPr>
          <p:nvPr>
            <p:ph sz="quarter" idx="10"/>
          </p:nvPr>
        </p:nvSpPr>
        <p:spPr/>
        <p:txBody>
          <a:bodyPr>
            <a:noAutofit/>
          </a:bodyPr>
          <a:lstStyle/>
          <a:p>
            <a:pPr>
              <a:lnSpc>
                <a:spcPct val="115000"/>
              </a:lnSpc>
              <a:spcBef>
                <a:spcPts val="600"/>
              </a:spcBef>
            </a:pPr>
            <a:r>
              <a:rPr lang="en-US" sz="1600"/>
              <a:t>Key detection signal: AuditLogs where OperationName == "Consent to application" with IsAdminConsent == True from unexpected users, or high-privilege scopes granted to unfamiliar applications.</a:t>
            </a:r>
          </a:p>
        </p:txBody>
      </p:sp>
    </p:spTree>
    <p:extLst>
      <p:ext uri="{BB962C8B-B14F-4D97-AF65-F5344CB8AC3E}">
        <p14:creationId xmlns:p14="http://schemas.microsoft.com/office/powerpoint/2010/main" val="410322198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CE9C5-E3FA-D50F-270B-E48A69B2285D}"/>
              </a:ext>
            </a:extLst>
          </p:cNvPr>
          <p:cNvSpPr>
            <a:spLocks noGrp="1"/>
          </p:cNvSpPr>
          <p:nvPr>
            <p:ph type="title"/>
          </p:nvPr>
        </p:nvSpPr>
        <p:spPr/>
        <p:txBody>
          <a:bodyPr/>
          <a:lstStyle/>
          <a:p>
            <a:r>
              <a:rPr lang="en-US"/>
              <a:t>KQL — Detect OAuth Consent Grants</a:t>
            </a:r>
          </a:p>
        </p:txBody>
      </p:sp>
      <p:sp>
        <p:nvSpPr>
          <p:cNvPr id="3" name="Content Placeholder 2">
            <a:extLst>
              <a:ext uri="{FF2B5EF4-FFF2-40B4-BE49-F238E27FC236}">
                <a16:creationId xmlns:a16="http://schemas.microsoft.com/office/drawing/2014/main" id="{26D8671A-8533-99D1-5C13-EA9B343E5605}"/>
              </a:ext>
            </a:extLst>
          </p:cNvPr>
          <p:cNvSpPr>
            <a:spLocks noGrp="1"/>
          </p:cNvSpPr>
          <p:nvPr>
            <p:ph sz="quarter" idx="10"/>
          </p:nvPr>
        </p:nvSpPr>
        <p:spPr/>
        <p:txBody>
          <a:bodyPr>
            <a:noAutofit/>
          </a:bodyPr>
          <a:lstStyle/>
          <a:p>
            <a:pPr>
              <a:lnSpc>
                <a:spcPct val="115000"/>
              </a:lnSpc>
              <a:spcBef>
                <a:spcPts val="600"/>
              </a:spcBef>
            </a:pPr>
            <a:r>
              <a:rPr lang="en-US" sz="2400" b="1"/>
              <a:t>What to investigate:</a:t>
            </a:r>
          </a:p>
          <a:p>
            <a:pPr>
              <a:lnSpc>
                <a:spcPct val="115000"/>
              </a:lnSpc>
              <a:spcBef>
                <a:spcPts val="600"/>
              </a:spcBef>
            </a:pPr>
            <a:r>
              <a:rPr lang="en-US" sz="2400"/>
              <a:t>    Is the application recognized and approved by your organization?</a:t>
            </a:r>
          </a:p>
          <a:p>
            <a:pPr>
              <a:lnSpc>
                <a:spcPct val="115000"/>
              </a:lnSpc>
              <a:spcBef>
                <a:spcPts val="600"/>
              </a:spcBef>
            </a:pPr>
            <a:r>
              <a:rPr lang="en-US" sz="2400"/>
              <a:t>    Was consent granted from an expected IP and location?</a:t>
            </a:r>
          </a:p>
          <a:p>
            <a:pPr>
              <a:lnSpc>
                <a:spcPct val="115000"/>
              </a:lnSpc>
              <a:spcBef>
                <a:spcPts val="600"/>
              </a:spcBef>
            </a:pPr>
            <a:r>
              <a:rPr lang="en-US" sz="2400"/>
              <a:t>    What scopes were granted (check RawEventData)?</a:t>
            </a:r>
          </a:p>
          <a:p>
            <a:pPr>
              <a:lnSpc>
                <a:spcPct val="115000"/>
              </a:lnSpc>
              <a:spcBef>
                <a:spcPts val="600"/>
              </a:spcBef>
            </a:pPr>
            <a:r>
              <a:rPr lang="en-US" sz="2400"/>
              <a:t>    Is this the first time this app received consent in the tenant?</a:t>
            </a:r>
          </a:p>
        </p:txBody>
      </p:sp>
      <p:sp>
        <p:nvSpPr>
          <p:cNvPr id="4" name="TextBox 3">
            <a:extLst>
              <a:ext uri="{FF2B5EF4-FFF2-40B4-BE49-F238E27FC236}">
                <a16:creationId xmlns:a16="http://schemas.microsoft.com/office/drawing/2014/main" id="{10B48369-3227-63B0-B8AA-D7875CCF94E7}"/>
              </a:ext>
            </a:extLst>
          </p:cNvPr>
          <p:cNvSpPr txBox="1"/>
          <p:nvPr/>
        </p:nvSpPr>
        <p:spPr>
          <a:xfrm>
            <a:off x="381000" y="4064000"/>
            <a:ext cx="11430000" cy="1661993"/>
          </a:xfrm>
          <a:prstGeom prst="rect">
            <a:avLst/>
          </a:prstGeom>
          <a:noFill/>
        </p:spPr>
        <p:txBody>
          <a:bodyPr vert="horz" wrap="square" lIns="0" tIns="0" rIns="0" bIns="0" rtlCol="0">
            <a:spAutoFit/>
          </a:bodyPr>
          <a:lstStyle/>
          <a:p>
            <a:pPr algn="l"/>
            <a:r>
              <a:rPr lang="en-US" sz="1200">
                <a:latin typeface="Consolas" panose="020B0609020204030204" pitchFamily="49" charset="0"/>
              </a:rPr>
              <a:t>CloudAppEvents</a:t>
            </a:r>
          </a:p>
          <a:p>
            <a:pPr algn="l"/>
            <a:r>
              <a:rPr lang="en-US" sz="1200">
                <a:latin typeface="Consolas" panose="020B0609020204030204" pitchFamily="49" charset="0"/>
              </a:rPr>
              <a:t>| where Timestamp &gt; ago(30d)</a:t>
            </a:r>
          </a:p>
          <a:p>
            <a:pPr algn="l"/>
            <a:r>
              <a:rPr lang="en-US" sz="1200">
                <a:latin typeface="Consolas" panose="020B0609020204030204" pitchFamily="49" charset="0"/>
              </a:rPr>
              <a:t>| where ActionType == "Consent to application"</a:t>
            </a:r>
          </a:p>
          <a:p>
            <a:pPr algn="l"/>
            <a:r>
              <a:rPr lang="en-US" sz="1200">
                <a:latin typeface="Consolas" panose="020B0609020204030204" pitchFamily="49" charset="0"/>
              </a:rPr>
              <a:t>| extend AppName = tostring(</a:t>
            </a:r>
          </a:p>
          <a:p>
            <a:pPr algn="l"/>
            <a:r>
              <a:rPr lang="en-US" sz="1200">
                <a:latin typeface="Consolas" panose="020B0609020204030204" pitchFamily="49" charset="0"/>
              </a:rPr>
              <a:t>    RawEventData.ExtendedProperties[0].Value</a:t>
            </a:r>
          </a:p>
          <a:p>
            <a:pPr algn="l"/>
            <a:r>
              <a:rPr lang="en-US" sz="1200">
                <a:latin typeface="Consolas" panose="020B0609020204030204" pitchFamily="49" charset="0"/>
              </a:rPr>
              <a:t>  )</a:t>
            </a:r>
          </a:p>
          <a:p>
            <a:pPr algn="l"/>
            <a:r>
              <a:rPr lang="en-US" sz="1200">
                <a:latin typeface="Consolas" panose="020B0609020204030204" pitchFamily="49" charset="0"/>
              </a:rPr>
              <a:t>| project Timestamp, AccountUpn, AppName,</a:t>
            </a:r>
          </a:p>
          <a:p>
            <a:pPr algn="l"/>
            <a:r>
              <a:rPr lang="en-US" sz="1200">
                <a:latin typeface="Consolas" panose="020B0609020204030204" pitchFamily="49" charset="0"/>
              </a:rPr>
              <a:t>          IPAddress, RawEventData</a:t>
            </a:r>
          </a:p>
          <a:p>
            <a:pPr algn="l"/>
            <a:r>
              <a:rPr lang="en-US" sz="1200">
                <a:latin typeface="Consolas" panose="020B0609020204030204" pitchFamily="49" charset="0"/>
              </a:rPr>
              <a:t>| order by Timestamp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38004028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FECDF-786F-4ECA-91F2-042FE0B3453C}"/>
              </a:ext>
            </a:extLst>
          </p:cNvPr>
          <p:cNvSpPr>
            <a:spLocks noGrp="1"/>
          </p:cNvSpPr>
          <p:nvPr>
            <p:ph type="title"/>
          </p:nvPr>
        </p:nvSpPr>
        <p:spPr/>
        <p:txBody>
          <a:bodyPr/>
          <a:lstStyle/>
          <a:p>
            <a:r>
              <a:rPr lang="en-US"/>
              <a:t>KQL — Detect App-Based Mail Access</a:t>
            </a:r>
          </a:p>
        </p:txBody>
      </p:sp>
      <p:sp>
        <p:nvSpPr>
          <p:cNvPr id="3" name="Content Placeholder 2">
            <a:extLst>
              <a:ext uri="{FF2B5EF4-FFF2-40B4-BE49-F238E27FC236}">
                <a16:creationId xmlns:a16="http://schemas.microsoft.com/office/drawing/2014/main" id="{7A10850F-EDD1-F17D-A618-E79201E1EB32}"/>
              </a:ext>
            </a:extLst>
          </p:cNvPr>
          <p:cNvSpPr>
            <a:spLocks noGrp="1"/>
          </p:cNvSpPr>
          <p:nvPr>
            <p:ph sz="quarter" idx="10"/>
          </p:nvPr>
        </p:nvSpPr>
        <p:spPr/>
        <p:txBody>
          <a:bodyPr>
            <a:noAutofit/>
          </a:bodyPr>
          <a:lstStyle/>
          <a:p>
            <a:pPr>
              <a:lnSpc>
                <a:spcPct val="115000"/>
              </a:lnSpc>
              <a:spcBef>
                <a:spcPts val="600"/>
              </a:spcBef>
            </a:pPr>
            <a:r>
              <a:rPr lang="en-US"/>
              <a:t>Why this matters: After a consent grant, the attacker accesses email through the malicious application, not through a user sign-in. This query finds mail access by application principals - the footprint of an active consent grant attack.</a:t>
            </a:r>
          </a:p>
        </p:txBody>
      </p:sp>
      <p:sp>
        <p:nvSpPr>
          <p:cNvPr id="4" name="TextBox 3">
            <a:extLst>
              <a:ext uri="{FF2B5EF4-FFF2-40B4-BE49-F238E27FC236}">
                <a16:creationId xmlns:a16="http://schemas.microsoft.com/office/drawing/2014/main" id="{DB543C85-4D0C-E5F4-47AE-4916EE3F775B}"/>
              </a:ext>
            </a:extLst>
          </p:cNvPr>
          <p:cNvSpPr txBox="1"/>
          <p:nvPr/>
        </p:nvSpPr>
        <p:spPr>
          <a:xfrm>
            <a:off x="381000" y="3429000"/>
            <a:ext cx="11430000" cy="1292662"/>
          </a:xfrm>
          <a:prstGeom prst="rect">
            <a:avLst/>
          </a:prstGeom>
          <a:noFill/>
        </p:spPr>
        <p:txBody>
          <a:bodyPr vert="horz" wrap="square" lIns="0" tIns="0" rIns="0" bIns="0" rtlCol="0">
            <a:spAutoFit/>
          </a:bodyPr>
          <a:lstStyle/>
          <a:p>
            <a:pPr algn="l"/>
            <a:r>
              <a:rPr lang="en-US" sz="1200">
                <a:latin typeface="Consolas" panose="020B0609020204030204" pitchFamily="49" charset="0"/>
              </a:rPr>
              <a:t>CloudAppEvents</a:t>
            </a:r>
          </a:p>
          <a:p>
            <a:pPr algn="l"/>
            <a:r>
              <a:rPr lang="en-US" sz="1200">
                <a:latin typeface="Consolas" panose="020B0609020204030204" pitchFamily="49" charset="0"/>
              </a:rPr>
              <a:t>| where Timestamp &gt; ago(7d)</a:t>
            </a:r>
          </a:p>
          <a:p>
            <a:pPr algn="l"/>
            <a:r>
              <a:rPr lang="en-US" sz="1200">
                <a:latin typeface="Consolas" panose="020B0609020204030204" pitchFamily="49" charset="0"/>
              </a:rPr>
              <a:t>| where ActionType == "MailItemsAccessed"</a:t>
            </a:r>
          </a:p>
          <a:p>
            <a:pPr algn="l"/>
            <a:r>
              <a:rPr lang="en-US" sz="1200">
                <a:latin typeface="Consolas" panose="020B0609020204030204" pitchFamily="49" charset="0"/>
              </a:rPr>
              <a:t>| where isnotempty(ApplicationId)</a:t>
            </a:r>
          </a:p>
          <a:p>
            <a:pPr algn="l"/>
            <a:r>
              <a:rPr lang="en-US" sz="1200">
                <a:latin typeface="Consolas" panose="020B0609020204030204" pitchFamily="49" charset="0"/>
              </a:rPr>
              <a:t>| project Timestamp, AccountUpn, ApplicationId,</a:t>
            </a:r>
          </a:p>
          <a:p>
            <a:pPr algn="l"/>
            <a:r>
              <a:rPr lang="en-US" sz="1200">
                <a:latin typeface="Consolas" panose="020B0609020204030204" pitchFamily="49" charset="0"/>
              </a:rPr>
              <a:t>          ActionType, IPAddress</a:t>
            </a:r>
          </a:p>
          <a:p>
            <a:pPr algn="l"/>
            <a:r>
              <a:rPr lang="en-US" sz="1200">
                <a:latin typeface="Consolas" panose="020B0609020204030204" pitchFamily="49" charset="0"/>
              </a:rPr>
              <a:t>| order by Timestamp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3676879286"/>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D5376-1E4B-9AC0-3DBC-6EE6E59AF6D2}"/>
              </a:ext>
            </a:extLst>
          </p:cNvPr>
          <p:cNvSpPr>
            <a:spLocks noGrp="1"/>
          </p:cNvSpPr>
          <p:nvPr>
            <p:ph type="title"/>
          </p:nvPr>
        </p:nvSpPr>
        <p:spPr/>
        <p:txBody>
          <a:bodyPr/>
          <a:lstStyle/>
          <a:p>
            <a:r>
              <a:rPr lang="en-US"/>
              <a:t>Email Detection — Table Overview</a:t>
            </a:r>
          </a:p>
        </p:txBody>
      </p:sp>
      <p:graphicFrame>
        <p:nvGraphicFramePr>
          <p:cNvPr id="4" name="Content Placeholder 3">
            <a:extLst>
              <a:ext uri="{FF2B5EF4-FFF2-40B4-BE49-F238E27FC236}">
                <a16:creationId xmlns:a16="http://schemas.microsoft.com/office/drawing/2014/main" id="{C5B1A36C-52F8-FE8D-4314-F890D5459DEC}"/>
              </a:ext>
            </a:extLst>
          </p:cNvPr>
          <p:cNvGraphicFramePr>
            <a:graphicFrameLocks noGrp="1"/>
          </p:cNvGraphicFramePr>
          <p:nvPr>
            <p:ph sz="quarter" idx="10"/>
            <p:extLst>
              <p:ext uri="{D42A27DB-BD31-4B8C-83A1-F6EECF244321}">
                <p14:modId xmlns:p14="http://schemas.microsoft.com/office/powerpoint/2010/main" val="2680565023"/>
              </p:ext>
            </p:extLst>
          </p:nvPr>
        </p:nvGraphicFramePr>
        <p:xfrm>
          <a:off x="381000" y="1524000"/>
          <a:ext cx="11430000" cy="4889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3208131782"/>
                    </a:ext>
                  </a:extLst>
                </a:gridCol>
                <a:gridCol w="3810000">
                  <a:extLst>
                    <a:ext uri="{9D8B030D-6E8A-4147-A177-3AD203B41FA5}">
                      <a16:colId xmlns:a16="http://schemas.microsoft.com/office/drawing/2014/main" val="428303331"/>
                    </a:ext>
                  </a:extLst>
                </a:gridCol>
                <a:gridCol w="3810000">
                  <a:extLst>
                    <a:ext uri="{9D8B030D-6E8A-4147-A177-3AD203B41FA5}">
                      <a16:colId xmlns:a16="http://schemas.microsoft.com/office/drawing/2014/main" val="1649369184"/>
                    </a:ext>
                  </a:extLst>
                </a:gridCol>
              </a:tblGrid>
              <a:tr h="977900">
                <a:tc>
                  <a:txBody>
                    <a:bodyPr/>
                    <a:lstStyle/>
                    <a:p>
                      <a:r>
                        <a:rPr lang="en-US" sz="1400" b="1"/>
                        <a:t>Table</a:t>
                      </a:r>
                    </a:p>
                  </a:txBody>
                  <a:tcPr/>
                </a:tc>
                <a:tc>
                  <a:txBody>
                    <a:bodyPr/>
                    <a:lstStyle/>
                    <a:p>
                      <a:r>
                        <a:rPr lang="en-US" sz="1400" b="1"/>
                        <a:t>What It Contains</a:t>
                      </a:r>
                    </a:p>
                  </a:txBody>
                  <a:tcPr/>
                </a:tc>
                <a:tc>
                  <a:txBody>
                    <a:bodyPr/>
                    <a:lstStyle/>
                    <a:p>
                      <a:r>
                        <a:rPr lang="en-US" sz="1400" b="1"/>
                        <a:t>Key Use</a:t>
                      </a:r>
                    </a:p>
                  </a:txBody>
                  <a:tcPr/>
                </a:tc>
                <a:extLst>
                  <a:ext uri="{0D108BD9-81ED-4DB2-BD59-A6C34878D82A}">
                    <a16:rowId xmlns:a16="http://schemas.microsoft.com/office/drawing/2014/main" val="284214608"/>
                  </a:ext>
                </a:extLst>
              </a:tr>
              <a:tr h="977900">
                <a:tc>
                  <a:txBody>
                    <a:bodyPr/>
                    <a:lstStyle/>
                    <a:p>
                      <a:r>
                        <a:rPr lang="en-US" sz="1400"/>
                        <a:t>EmailEvents</a:t>
                      </a:r>
                    </a:p>
                  </a:txBody>
                  <a:tcPr/>
                </a:tc>
                <a:tc>
                  <a:txBody>
                    <a:bodyPr/>
                    <a:lstStyle/>
                    <a:p>
                      <a:r>
                        <a:rPr lang="en-US" sz="1400"/>
                        <a:t>Every inbound/outbound email - sender, recipient, delivery action, threat verdict</a:t>
                      </a:r>
                    </a:p>
                  </a:txBody>
                  <a:tcPr/>
                </a:tc>
                <a:tc>
                  <a:txBody>
                    <a:bodyPr/>
                    <a:lstStyle/>
                    <a:p>
                      <a:r>
                        <a:rPr lang="en-US" sz="1400"/>
                        <a:t>Primary phishing hunt table</a:t>
                      </a:r>
                    </a:p>
                  </a:txBody>
                  <a:tcPr/>
                </a:tc>
                <a:extLst>
                  <a:ext uri="{0D108BD9-81ED-4DB2-BD59-A6C34878D82A}">
                    <a16:rowId xmlns:a16="http://schemas.microsoft.com/office/drawing/2014/main" val="577363096"/>
                  </a:ext>
                </a:extLst>
              </a:tr>
              <a:tr h="977900">
                <a:tc>
                  <a:txBody>
                    <a:bodyPr/>
                    <a:lstStyle/>
                    <a:p>
                      <a:r>
                        <a:rPr lang="en-US" sz="1400"/>
                        <a:t>EmailUrlInfo</a:t>
                      </a:r>
                    </a:p>
                  </a:txBody>
                  <a:tcPr/>
                </a:tc>
                <a:tc>
                  <a:txBody>
                    <a:bodyPr/>
                    <a:lstStyle/>
                    <a:p>
                      <a:r>
                        <a:rPr lang="en-US" sz="1400"/>
                        <a:t>All URLs extracted from email bodies, attachments, and QR codes</a:t>
                      </a:r>
                    </a:p>
                  </a:txBody>
                  <a:tcPr/>
                </a:tc>
                <a:tc>
                  <a:txBody>
                    <a:bodyPr/>
                    <a:lstStyle/>
                    <a:p>
                      <a:r>
                        <a:rPr lang="en-US" sz="1400"/>
                        <a:t>Hunt for phishing and consent grant URLs</a:t>
                      </a:r>
                    </a:p>
                  </a:txBody>
                  <a:tcPr/>
                </a:tc>
                <a:extLst>
                  <a:ext uri="{0D108BD9-81ED-4DB2-BD59-A6C34878D82A}">
                    <a16:rowId xmlns:a16="http://schemas.microsoft.com/office/drawing/2014/main" val="3080875560"/>
                  </a:ext>
                </a:extLst>
              </a:tr>
              <a:tr h="977900">
                <a:tc>
                  <a:txBody>
                    <a:bodyPr/>
                    <a:lstStyle/>
                    <a:p>
                      <a:r>
                        <a:rPr lang="en-US" sz="1400"/>
                        <a:t>EmailAttachmentInfo</a:t>
                      </a:r>
                    </a:p>
                  </a:txBody>
                  <a:tcPr/>
                </a:tc>
                <a:tc>
                  <a:txBody>
                    <a:bodyPr/>
                    <a:lstStyle/>
                    <a:p>
                      <a:r>
                        <a:rPr lang="en-US" sz="1400"/>
                        <a:t>Attachment metadata - filename, file type, SHA256, threat verdict</a:t>
                      </a:r>
                    </a:p>
                  </a:txBody>
                  <a:tcPr/>
                </a:tc>
                <a:tc>
                  <a:txBody>
                    <a:bodyPr/>
                    <a:lstStyle/>
                    <a:p>
                      <a:r>
                        <a:rPr lang="en-US" sz="1400"/>
                        <a:t>HTML smuggling and malicious attachment detection</a:t>
                      </a:r>
                    </a:p>
                  </a:txBody>
                  <a:tcPr/>
                </a:tc>
                <a:extLst>
                  <a:ext uri="{0D108BD9-81ED-4DB2-BD59-A6C34878D82A}">
                    <a16:rowId xmlns:a16="http://schemas.microsoft.com/office/drawing/2014/main" val="3395763504"/>
                  </a:ext>
                </a:extLst>
              </a:tr>
              <a:tr h="977900">
                <a:tc>
                  <a:txBody>
                    <a:bodyPr/>
                    <a:lstStyle/>
                    <a:p>
                      <a:r>
                        <a:rPr lang="en-US" sz="1400"/>
                        <a:t>UrlClickEvents</a:t>
                      </a:r>
                    </a:p>
                  </a:txBody>
                  <a:tcPr/>
                </a:tc>
                <a:tc>
                  <a:txBody>
                    <a:bodyPr/>
                    <a:lstStyle/>
                    <a:p>
                      <a:r>
                        <a:rPr lang="en-US" sz="1400"/>
                        <a:t>Safe Links click events - every URL a user clicks from email, Teams, or Office</a:t>
                      </a:r>
                    </a:p>
                  </a:txBody>
                  <a:tcPr/>
                </a:tc>
                <a:tc>
                  <a:txBody>
                    <a:bodyPr/>
                    <a:lstStyle/>
                    <a:p>
                      <a:r>
                        <a:rPr lang="en-US" sz="1400"/>
                        <a:t>Confirm user interaction with phishing links</a:t>
                      </a:r>
                    </a:p>
                  </a:txBody>
                  <a:tcPr/>
                </a:tc>
                <a:extLst>
                  <a:ext uri="{0D108BD9-81ED-4DB2-BD59-A6C34878D82A}">
                    <a16:rowId xmlns:a16="http://schemas.microsoft.com/office/drawing/2014/main" val="378371665"/>
                  </a:ext>
                </a:extLst>
              </a:tr>
            </a:tbl>
          </a:graphicData>
        </a:graphic>
      </p:graphicFrame>
    </p:spTree>
    <p:extLst>
      <p:ext uri="{BB962C8B-B14F-4D97-AF65-F5344CB8AC3E}">
        <p14:creationId xmlns:p14="http://schemas.microsoft.com/office/powerpoint/2010/main" val="150630655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BF59F-4C20-3C6B-FF6A-612BCD660B88}"/>
              </a:ext>
            </a:extLst>
          </p:cNvPr>
          <p:cNvSpPr>
            <a:spLocks noGrp="1"/>
          </p:cNvSpPr>
          <p:nvPr>
            <p:ph type="title"/>
          </p:nvPr>
        </p:nvSpPr>
        <p:spPr/>
        <p:txBody>
          <a:bodyPr/>
          <a:lstStyle/>
          <a:p>
            <a:r>
              <a:rPr lang="en-US"/>
              <a:t>Email Detection — Table Overview (cont.)</a:t>
            </a:r>
          </a:p>
        </p:txBody>
      </p:sp>
      <p:sp>
        <p:nvSpPr>
          <p:cNvPr id="3" name="Content Placeholder 2">
            <a:extLst>
              <a:ext uri="{FF2B5EF4-FFF2-40B4-BE49-F238E27FC236}">
                <a16:creationId xmlns:a16="http://schemas.microsoft.com/office/drawing/2014/main" id="{31CEAE4E-50BD-C0A0-3C50-E024E7F6AD8D}"/>
              </a:ext>
            </a:extLst>
          </p:cNvPr>
          <p:cNvSpPr>
            <a:spLocks noGrp="1"/>
          </p:cNvSpPr>
          <p:nvPr>
            <p:ph sz="quarter" idx="10"/>
          </p:nvPr>
        </p:nvSpPr>
        <p:spPr/>
        <p:txBody>
          <a:bodyPr>
            <a:noAutofit/>
          </a:bodyPr>
          <a:lstStyle/>
          <a:p>
            <a:pPr>
              <a:lnSpc>
                <a:spcPct val="115000"/>
              </a:lnSpc>
              <a:spcBef>
                <a:spcPts val="600"/>
              </a:spcBef>
            </a:pPr>
            <a:r>
              <a:rPr lang="en-US" sz="1600" b="1"/>
              <a:t>Microsoft Defender for Office 365 provides deep email-layer detection:</a:t>
            </a:r>
          </a:p>
          <a:p>
            <a:pPr>
              <a:lnSpc>
                <a:spcPct val="115000"/>
              </a:lnSpc>
              <a:spcBef>
                <a:spcPts val="600"/>
              </a:spcBef>
            </a:pPr>
            <a:r>
              <a:rPr lang="en-US" sz="1600"/>
              <a:t>Correlation Key: NetworkMessageId joins all four tables.</a:t>
            </a:r>
          </a:p>
        </p:txBody>
      </p:sp>
    </p:spTree>
    <p:extLst>
      <p:ext uri="{BB962C8B-B14F-4D97-AF65-F5344CB8AC3E}">
        <p14:creationId xmlns:p14="http://schemas.microsoft.com/office/powerpoint/2010/main" val="300322757"/>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29EA7-2D50-26F0-1031-78494FA16912}"/>
              </a:ext>
            </a:extLst>
          </p:cNvPr>
          <p:cNvSpPr>
            <a:spLocks noGrp="1"/>
          </p:cNvSpPr>
          <p:nvPr>
            <p:ph type="title"/>
          </p:nvPr>
        </p:nvSpPr>
        <p:spPr/>
        <p:txBody>
          <a:bodyPr/>
          <a:lstStyle/>
          <a:p>
            <a:r>
              <a:rPr lang="en-US"/>
              <a:t>KQL — Phishing Delivered to Inbox</a:t>
            </a:r>
          </a:p>
        </p:txBody>
      </p:sp>
      <p:sp>
        <p:nvSpPr>
          <p:cNvPr id="3" name="Content Placeholder 2">
            <a:extLst>
              <a:ext uri="{FF2B5EF4-FFF2-40B4-BE49-F238E27FC236}">
                <a16:creationId xmlns:a16="http://schemas.microsoft.com/office/drawing/2014/main" id="{7A05691D-7EBB-BFF8-CA8F-C8A98728A3AA}"/>
              </a:ext>
            </a:extLst>
          </p:cNvPr>
          <p:cNvSpPr>
            <a:spLocks noGrp="1"/>
          </p:cNvSpPr>
          <p:nvPr>
            <p:ph sz="quarter" idx="10"/>
          </p:nvPr>
        </p:nvSpPr>
        <p:spPr/>
        <p:txBody>
          <a:bodyPr>
            <a:noAutofit/>
          </a:bodyPr>
          <a:lstStyle/>
          <a:p>
            <a:pPr>
              <a:lnSpc>
                <a:spcPct val="115000"/>
              </a:lnSpc>
              <a:spcBef>
                <a:spcPts val="600"/>
              </a:spcBef>
            </a:pPr>
            <a:r>
              <a:rPr lang="en-US"/>
              <a:t>This is your most actionable starting point: Phishing-verdicted email that reached the inbox - not blocked, not junked - the user likely saw it.</a:t>
            </a:r>
          </a:p>
        </p:txBody>
      </p:sp>
      <p:sp>
        <p:nvSpPr>
          <p:cNvPr id="4" name="TextBox 3">
            <a:extLst>
              <a:ext uri="{FF2B5EF4-FFF2-40B4-BE49-F238E27FC236}">
                <a16:creationId xmlns:a16="http://schemas.microsoft.com/office/drawing/2014/main" id="{CDB9058D-2007-F6FB-FDE0-3DFBD7B3F07C}"/>
              </a:ext>
            </a:extLst>
          </p:cNvPr>
          <p:cNvSpPr txBox="1"/>
          <p:nvPr/>
        </p:nvSpPr>
        <p:spPr>
          <a:xfrm>
            <a:off x="381000" y="3429000"/>
            <a:ext cx="11430000" cy="2215991"/>
          </a:xfrm>
          <a:prstGeom prst="rect">
            <a:avLst/>
          </a:prstGeom>
          <a:noFill/>
        </p:spPr>
        <p:txBody>
          <a:bodyPr vert="horz" wrap="square" lIns="0" tIns="0" rIns="0" bIns="0" rtlCol="0">
            <a:spAutoFit/>
          </a:bodyPr>
          <a:lstStyle/>
          <a:p>
            <a:pPr algn="l"/>
            <a:r>
              <a:rPr lang="en-US" sz="1200">
                <a:latin typeface="Consolas" panose="020B0609020204030204" pitchFamily="49" charset="0"/>
              </a:rPr>
              <a:t>EmailEvents</a:t>
            </a:r>
          </a:p>
          <a:p>
            <a:pPr algn="l"/>
            <a:r>
              <a:rPr lang="en-US" sz="1200">
                <a:latin typeface="Consolas" panose="020B0609020204030204" pitchFamily="49" charset="0"/>
              </a:rPr>
              <a:t>| where Timestamp &gt; ago(7d)</a:t>
            </a:r>
          </a:p>
          <a:p>
            <a:pPr algn="l"/>
            <a:r>
              <a:rPr lang="en-US" sz="1200">
                <a:latin typeface="Consolas" panose="020B0609020204030204" pitchFamily="49" charset="0"/>
              </a:rPr>
              <a:t>| where ThreatTypes has "Phish"</a:t>
            </a:r>
          </a:p>
          <a:p>
            <a:pPr algn="l"/>
            <a:r>
              <a:rPr lang="en-US" sz="1200">
                <a:latin typeface="Consolas" panose="020B0609020204030204" pitchFamily="49" charset="0"/>
              </a:rPr>
              <a:t>| where DeliveryAction == "Delivered"</a:t>
            </a:r>
          </a:p>
          <a:p>
            <a:pPr algn="l"/>
            <a:r>
              <a:rPr lang="en-US" sz="1200">
                <a:latin typeface="Consolas" panose="020B0609020204030204" pitchFamily="49" charset="0"/>
              </a:rPr>
              <a:t>| where DeliveryLocation == "Inbox/Folder"</a:t>
            </a:r>
          </a:p>
          <a:p>
            <a:pPr algn="l"/>
            <a:r>
              <a:rPr lang="en-US" sz="1200">
                <a:latin typeface="Consolas" panose="020B0609020204030204" pitchFamily="49" charset="0"/>
              </a:rPr>
              <a:t>| project Timestamp, NetworkMessageId,</a:t>
            </a:r>
          </a:p>
          <a:p>
            <a:pPr algn="l"/>
            <a:r>
              <a:rPr lang="en-US" sz="1200">
                <a:latin typeface="Consolas" panose="020B0609020204030204" pitchFamily="49" charset="0"/>
              </a:rPr>
              <a:t>          SenderFromAddress, SenderFromDomain,</a:t>
            </a:r>
          </a:p>
          <a:p>
            <a:pPr algn="l"/>
            <a:r>
              <a:rPr lang="en-US" sz="1200">
                <a:latin typeface="Consolas" panose="020B0609020204030204" pitchFamily="49" charset="0"/>
              </a:rPr>
              <a:t>          RecipientEmailAddress, Subject,</a:t>
            </a:r>
          </a:p>
          <a:p>
            <a:pPr algn="l"/>
            <a:r>
              <a:rPr lang="en-US" sz="1200">
                <a:latin typeface="Consolas" panose="020B0609020204030204" pitchFamily="49" charset="0"/>
              </a:rPr>
              <a:t>          DetectionMethods, ConfidenceLevel,</a:t>
            </a:r>
          </a:p>
          <a:p>
            <a:pPr algn="l"/>
            <a:r>
              <a:rPr lang="en-US" sz="1200">
                <a:latin typeface="Consolas" panose="020B0609020204030204" pitchFamily="49" charset="0"/>
              </a:rPr>
              <a:t>          UrlCount, AttachmentCount,</a:t>
            </a:r>
          </a:p>
          <a:p>
            <a:pPr algn="l"/>
            <a:r>
              <a:rPr lang="en-US" sz="1200">
                <a:latin typeface="Consolas" panose="020B0609020204030204" pitchFamily="49" charset="0"/>
              </a:rPr>
              <a:t>          LatestDeliveryAction</a:t>
            </a:r>
          </a:p>
          <a:p>
            <a:pPr algn="l"/>
            <a:r>
              <a:rPr lang="en-US" sz="1200">
                <a:latin typeface="Consolas" panose="020B0609020204030204" pitchFamily="49" charset="0"/>
              </a:rPr>
              <a:t>| order by Timestamp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797538579"/>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3BB62-6115-6D91-51C0-1FCDCCFE5478}"/>
              </a:ext>
            </a:extLst>
          </p:cNvPr>
          <p:cNvSpPr>
            <a:spLocks noGrp="1"/>
          </p:cNvSpPr>
          <p:nvPr>
            <p:ph type="title"/>
          </p:nvPr>
        </p:nvSpPr>
        <p:spPr/>
        <p:txBody>
          <a:bodyPr/>
          <a:lstStyle/>
          <a:p>
            <a:r>
              <a:rPr lang="en-US"/>
              <a:t>KQL — Full Phishing Kill Chain</a:t>
            </a:r>
          </a:p>
        </p:txBody>
      </p:sp>
      <p:sp>
        <p:nvSpPr>
          <p:cNvPr id="3" name="Content Placeholder 2">
            <a:extLst>
              <a:ext uri="{FF2B5EF4-FFF2-40B4-BE49-F238E27FC236}">
                <a16:creationId xmlns:a16="http://schemas.microsoft.com/office/drawing/2014/main" id="{5601A29B-D1F3-F5C4-795C-8433EF2BB10A}"/>
              </a:ext>
            </a:extLst>
          </p:cNvPr>
          <p:cNvSpPr>
            <a:spLocks noGrp="1"/>
          </p:cNvSpPr>
          <p:nvPr>
            <p:ph sz="quarter" idx="10"/>
          </p:nvPr>
        </p:nvSpPr>
        <p:spPr/>
        <p:txBody>
          <a:bodyPr>
            <a:noAutofit/>
          </a:bodyPr>
          <a:lstStyle/>
          <a:p>
            <a:pPr>
              <a:lnSpc>
                <a:spcPct val="115000"/>
              </a:lnSpc>
              <a:spcBef>
                <a:spcPts val="600"/>
              </a:spcBef>
            </a:pPr>
            <a:r>
              <a:rPr lang="en-US"/>
              <a:t>Three-table join: Email delivery, URL extraction, and user click - correlated via NetworkMessageId.</a:t>
            </a:r>
          </a:p>
        </p:txBody>
      </p:sp>
    </p:spTree>
    <p:extLst>
      <p:ext uri="{BB962C8B-B14F-4D97-AF65-F5344CB8AC3E}">
        <p14:creationId xmlns:p14="http://schemas.microsoft.com/office/powerpoint/2010/main" val="3618034659"/>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3F76F-9459-EE63-3B7B-AD14DCCFA2F1}"/>
              </a:ext>
            </a:extLst>
          </p:cNvPr>
          <p:cNvSpPr>
            <a:spLocks noGrp="1"/>
          </p:cNvSpPr>
          <p:nvPr>
            <p:ph type="title"/>
          </p:nvPr>
        </p:nvSpPr>
        <p:spPr/>
        <p:txBody>
          <a:bodyPr/>
          <a:lstStyle/>
          <a:p>
            <a:r>
              <a:rPr lang="en-US"/>
              <a:t>KQL — Full Phishing Kill Chain (cont.)</a:t>
            </a:r>
          </a:p>
        </p:txBody>
      </p:sp>
      <p:sp>
        <p:nvSpPr>
          <p:cNvPr id="3" name="Content Placeholder 2">
            <a:extLst>
              <a:ext uri="{FF2B5EF4-FFF2-40B4-BE49-F238E27FC236}">
                <a16:creationId xmlns:a16="http://schemas.microsoft.com/office/drawing/2014/main" id="{3BF7DAB7-71DD-5A8B-30C0-1F24035519B9}"/>
              </a:ext>
            </a:extLst>
          </p:cNvPr>
          <p:cNvSpPr>
            <a:spLocks noGrp="1"/>
          </p:cNvSpPr>
          <p:nvPr>
            <p:ph sz="quarter" idx="10"/>
          </p:nvPr>
        </p:nvSpPr>
        <p:spPr/>
        <p:txBody>
          <a:bodyPr>
            <a:noAutofit/>
          </a:bodyPr>
          <a:lstStyle/>
          <a:p>
            <a:pPr>
              <a:lnSpc>
                <a:spcPct val="115000"/>
              </a:lnSpc>
              <a:spcBef>
                <a:spcPts val="600"/>
              </a:spcBef>
            </a:pPr>
            <a:r>
              <a:rPr lang="en-US" sz="1600" b="1"/>
              <a:t>Sample Kusto Query Language (KQL):</a:t>
            </a:r>
          </a:p>
          <a:p>
            <a:pPr>
              <a:lnSpc>
                <a:spcPct val="115000"/>
              </a:lnSpc>
              <a:spcBef>
                <a:spcPts val="600"/>
              </a:spcBef>
            </a:pPr>
            <a:endParaRPr lang="en-US" sz="1600"/>
          </a:p>
          <a:p>
            <a:pPr>
              <a:lnSpc>
                <a:spcPct val="115000"/>
              </a:lnSpc>
              <a:spcBef>
                <a:spcPts val="600"/>
              </a:spcBef>
            </a:pPr>
            <a:r>
              <a:rPr lang="en-US" sz="1600" b="1"/>
              <a:t>Sample Kusto Query Language (KQL):</a:t>
            </a:r>
          </a:p>
        </p:txBody>
      </p:sp>
      <p:sp>
        <p:nvSpPr>
          <p:cNvPr id="4" name="TextBox 3">
            <a:extLst>
              <a:ext uri="{FF2B5EF4-FFF2-40B4-BE49-F238E27FC236}">
                <a16:creationId xmlns:a16="http://schemas.microsoft.com/office/drawing/2014/main" id="{1A88D742-D981-928B-C35A-FCD9B8FC74E4}"/>
              </a:ext>
            </a:extLst>
          </p:cNvPr>
          <p:cNvSpPr txBox="1"/>
          <p:nvPr/>
        </p:nvSpPr>
        <p:spPr>
          <a:xfrm>
            <a:off x="381000" y="3556000"/>
            <a:ext cx="11430000" cy="4247317"/>
          </a:xfrm>
          <a:prstGeom prst="rect">
            <a:avLst/>
          </a:prstGeom>
          <a:noFill/>
        </p:spPr>
        <p:txBody>
          <a:bodyPr vert="horz" wrap="square" lIns="0" tIns="0" rIns="0" bIns="0" rtlCol="0">
            <a:spAutoFit/>
          </a:bodyPr>
          <a:lstStyle/>
          <a:p>
            <a:pPr algn="l"/>
            <a:r>
              <a:rPr lang="en-US" sz="1200">
                <a:latin typeface="Consolas" panose="020B0609020204030204" pitchFamily="49" charset="0"/>
              </a:rPr>
              <a:t>EmailEvents</a:t>
            </a:r>
          </a:p>
          <a:p>
            <a:pPr algn="l"/>
            <a:r>
              <a:rPr lang="en-US" sz="1200">
                <a:latin typeface="Consolas" panose="020B0609020204030204" pitchFamily="49" charset="0"/>
              </a:rPr>
              <a:t>| where Timestamp &gt; ago(7d)</a:t>
            </a:r>
          </a:p>
          <a:p>
            <a:pPr algn="l"/>
            <a:r>
              <a:rPr lang="en-US" sz="1200">
                <a:latin typeface="Consolas" panose="020B0609020204030204" pitchFamily="49" charset="0"/>
              </a:rPr>
              <a:t>| where ThreatTypes has "Phish"</a:t>
            </a:r>
          </a:p>
          <a:p>
            <a:pPr algn="l"/>
            <a:r>
              <a:rPr lang="en-US" sz="1200">
                <a:latin typeface="Consolas" panose="020B0609020204030204" pitchFamily="49" charset="0"/>
              </a:rPr>
              <a:t>| where DeliveryAction == "Delivered"</a:t>
            </a:r>
          </a:p>
          <a:p>
            <a:pPr algn="l"/>
            <a:r>
              <a:rPr lang="en-US" sz="1200">
                <a:latin typeface="Consolas" panose="020B0609020204030204" pitchFamily="49" charset="0"/>
              </a:rPr>
              <a:t>| project NetworkMessageId, SenderFromAddress,</a:t>
            </a:r>
          </a:p>
          <a:p>
            <a:pPr algn="l"/>
            <a:r>
              <a:rPr lang="en-US" sz="1200">
                <a:latin typeface="Consolas" panose="020B0609020204030204" pitchFamily="49" charset="0"/>
              </a:rPr>
              <a:t>          RecipientEmailAddress, Subject,</a:t>
            </a:r>
          </a:p>
          <a:p>
            <a:pPr algn="l"/>
            <a:r>
              <a:rPr lang="en-US" sz="1200">
                <a:latin typeface="Consolas" panose="020B0609020204030204" pitchFamily="49" charset="0"/>
              </a:rPr>
              <a:t>          DeliveryLocation, EmailTimestamp = Timestamp</a:t>
            </a:r>
          </a:p>
          <a:p>
            <a:pPr algn="l"/>
            <a:r>
              <a:rPr lang="en-US" sz="1200">
                <a:latin typeface="Consolas" panose="020B0609020204030204" pitchFamily="49" charset="0"/>
              </a:rPr>
              <a:t>| join kind=inner (</a:t>
            </a:r>
          </a:p>
          <a:p>
            <a:pPr algn="l"/>
            <a:r>
              <a:rPr lang="en-US" sz="1200">
                <a:latin typeface="Consolas" panose="020B0609020204030204" pitchFamily="49" charset="0"/>
              </a:rPr>
              <a:t>    EmailUrlInfo</a:t>
            </a:r>
          </a:p>
          <a:p>
            <a:pPr algn="l"/>
            <a:r>
              <a:rPr lang="en-US" sz="1200">
                <a:latin typeface="Consolas" panose="020B0609020204030204" pitchFamily="49" charset="0"/>
              </a:rPr>
              <a:t>    | project NetworkMessageId, ExtractedUrl = Url,</a:t>
            </a:r>
          </a:p>
          <a:p>
            <a:pPr algn="l"/>
            <a:r>
              <a:rPr lang="en-US" sz="1200">
                <a:latin typeface="Consolas" panose="020B0609020204030204" pitchFamily="49" charset="0"/>
              </a:rPr>
              <a:t>              UrlDomain, UrlLocation</a:t>
            </a:r>
          </a:p>
          <a:p>
            <a:pPr algn="l"/>
            <a:r>
              <a:rPr lang="en-US" sz="1200">
                <a:latin typeface="Consolas" panose="020B0609020204030204" pitchFamily="49" charset="0"/>
              </a:rPr>
              <a:t>  ) on NetworkMessageId</a:t>
            </a:r>
          </a:p>
          <a:p>
            <a:pPr algn="l"/>
            <a:r>
              <a:rPr lang="en-US" sz="1200">
                <a:latin typeface="Consolas" panose="020B0609020204030204" pitchFamily="49" charset="0"/>
              </a:rPr>
              <a:t>| join kind=inner (</a:t>
            </a:r>
          </a:p>
          <a:p>
            <a:pPr algn="l"/>
            <a:r>
              <a:rPr lang="en-US" sz="1200">
                <a:latin typeface="Consolas" panose="020B0609020204030204" pitchFamily="49" charset="0"/>
              </a:rPr>
              <a:t>    UrlClickEvents</a:t>
            </a:r>
          </a:p>
          <a:p>
            <a:pPr algn="l"/>
            <a:r>
              <a:rPr lang="en-US" sz="1200">
                <a:latin typeface="Consolas" panose="020B0609020204030204" pitchFamily="49" charset="0"/>
              </a:rPr>
              <a:t>    | project NetworkMessageId, AccountUpn,</a:t>
            </a:r>
          </a:p>
          <a:p>
            <a:pPr algn="l"/>
            <a:r>
              <a:rPr lang="en-US" sz="1200">
                <a:latin typeface="Consolas" panose="020B0609020204030204" pitchFamily="49" charset="0"/>
              </a:rPr>
              <a:t>              ClickedUrl = Url, IsClickedThrough,</a:t>
            </a:r>
          </a:p>
          <a:p>
            <a:pPr algn="l"/>
            <a:r>
              <a:rPr lang="en-US" sz="1200">
                <a:latin typeface="Consolas" panose="020B0609020204030204" pitchFamily="49" charset="0"/>
              </a:rPr>
              <a:t>              ClickTimestamp = Timestamp, IPAddress</a:t>
            </a:r>
          </a:p>
          <a:p>
            <a:pPr algn="l"/>
            <a:r>
              <a:rPr lang="en-US" sz="1200">
                <a:latin typeface="Consolas" panose="020B0609020204030204" pitchFamily="49" charset="0"/>
              </a:rPr>
              <a:t>  ) on NetworkMessageId</a:t>
            </a:r>
          </a:p>
          <a:p>
            <a:pPr algn="l"/>
            <a:r>
              <a:rPr lang="en-US" sz="1200">
                <a:latin typeface="Consolas" panose="020B0609020204030204" pitchFamily="49" charset="0"/>
              </a:rPr>
              <a:t>| project EmailTimestamp, ClickTimestamp,</a:t>
            </a:r>
          </a:p>
          <a:p>
            <a:pPr algn="l"/>
            <a:r>
              <a:rPr lang="en-US" sz="1200">
                <a:latin typeface="Consolas" panose="020B0609020204030204" pitchFamily="49" charset="0"/>
              </a:rPr>
              <a:t>          RecipientEmailAddress, SenderFromAddress,</a:t>
            </a:r>
          </a:p>
          <a:p>
            <a:pPr algn="l"/>
            <a:r>
              <a:rPr lang="en-US" sz="1200">
                <a:latin typeface="Consolas" panose="020B0609020204030204" pitchFamily="49" charset="0"/>
              </a:rPr>
              <a:t>          Subject, ExtractedUrl, UrlDomain,</a:t>
            </a:r>
          </a:p>
          <a:p>
            <a:pPr algn="l"/>
            <a:r>
              <a:rPr lang="en-US" sz="1200">
                <a:latin typeface="Consolas" panose="020B0609020204030204" pitchFamily="49" charset="0"/>
              </a:rPr>
              <a:t>          IsClickedThrough, IPAddress</a:t>
            </a:r>
          </a:p>
          <a:p>
            <a:pPr algn="l"/>
            <a:r>
              <a:rPr lang="en-US" sz="1200">
                <a:latin typeface="Consolas" panose="020B0609020204030204" pitchFamily="49" charset="0"/>
              </a:rPr>
              <a:t>| order by EmailTimestamp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269202082"/>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4167C-C5F9-1F46-1963-5A76E0D544EF}"/>
              </a:ext>
            </a:extLst>
          </p:cNvPr>
          <p:cNvSpPr>
            <a:spLocks noGrp="1"/>
          </p:cNvSpPr>
          <p:nvPr>
            <p:ph type="title"/>
          </p:nvPr>
        </p:nvSpPr>
        <p:spPr/>
        <p:txBody>
          <a:bodyPr/>
          <a:lstStyle/>
          <a:p>
            <a:r>
              <a:rPr lang="en-US"/>
              <a:t>KQL — QR Code Phishing Detection</a:t>
            </a:r>
          </a:p>
        </p:txBody>
      </p:sp>
      <p:sp>
        <p:nvSpPr>
          <p:cNvPr id="3" name="Content Placeholder 2">
            <a:extLst>
              <a:ext uri="{FF2B5EF4-FFF2-40B4-BE49-F238E27FC236}">
                <a16:creationId xmlns:a16="http://schemas.microsoft.com/office/drawing/2014/main" id="{3D155DD8-EE5A-DC7C-324D-ADED5538F552}"/>
              </a:ext>
            </a:extLst>
          </p:cNvPr>
          <p:cNvSpPr>
            <a:spLocks noGrp="1"/>
          </p:cNvSpPr>
          <p:nvPr>
            <p:ph sz="quarter" idx="10"/>
          </p:nvPr>
        </p:nvSpPr>
        <p:spPr/>
        <p:txBody>
          <a:bodyPr>
            <a:noAutofit/>
          </a:bodyPr>
          <a:lstStyle/>
          <a:p>
            <a:pPr>
              <a:lnSpc>
                <a:spcPct val="115000"/>
              </a:lnSpc>
              <a:spcBef>
                <a:spcPts val="600"/>
              </a:spcBef>
            </a:pPr>
            <a:r>
              <a:rPr lang="en-US"/>
              <a:t>QR code phishing bypasses text-based URL scanning. The URL is embedded in an image, not in email text.</a:t>
            </a:r>
          </a:p>
          <a:p>
            <a:pPr>
              <a:lnSpc>
                <a:spcPct val="115000"/>
              </a:lnSpc>
              <a:spcBef>
                <a:spcPts val="600"/>
              </a:spcBef>
            </a:pPr>
            <a:r>
              <a:rPr lang="en-US"/>
              <a:t>Why QR codes matter: Users scan with personal devices (outside corporate protection), bypassing Safe Links and endpoint security entirely.</a:t>
            </a:r>
          </a:p>
        </p:txBody>
      </p:sp>
    </p:spTree>
    <p:extLst>
      <p:ext uri="{BB962C8B-B14F-4D97-AF65-F5344CB8AC3E}">
        <p14:creationId xmlns:p14="http://schemas.microsoft.com/office/powerpoint/2010/main" val="2443813197"/>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C6111-FAE2-F971-1C97-B8323D973E79}"/>
              </a:ext>
            </a:extLst>
          </p:cNvPr>
          <p:cNvSpPr>
            <a:spLocks noGrp="1"/>
          </p:cNvSpPr>
          <p:nvPr>
            <p:ph type="title"/>
          </p:nvPr>
        </p:nvSpPr>
        <p:spPr/>
        <p:txBody>
          <a:bodyPr/>
          <a:lstStyle/>
          <a:p>
            <a:r>
              <a:rPr lang="en-US"/>
              <a:t>KQL — QR Code Phishing Detection (cont.)</a:t>
            </a:r>
          </a:p>
        </p:txBody>
      </p:sp>
      <p:sp>
        <p:nvSpPr>
          <p:cNvPr id="3" name="Content Placeholder 2">
            <a:extLst>
              <a:ext uri="{FF2B5EF4-FFF2-40B4-BE49-F238E27FC236}">
                <a16:creationId xmlns:a16="http://schemas.microsoft.com/office/drawing/2014/main" id="{34870A07-0C3C-DF2C-256E-DBC61DB85E24}"/>
              </a:ext>
            </a:extLst>
          </p:cNvPr>
          <p:cNvSpPr>
            <a:spLocks noGrp="1"/>
          </p:cNvSpPr>
          <p:nvPr>
            <p:ph sz="quarter" idx="10"/>
          </p:nvPr>
        </p:nvSpPr>
        <p:spPr/>
        <p:txBody>
          <a:bodyPr>
            <a:noAutofit/>
          </a:bodyPr>
          <a:lstStyle/>
          <a:p>
            <a:pPr>
              <a:lnSpc>
                <a:spcPct val="115000"/>
              </a:lnSpc>
              <a:spcBef>
                <a:spcPts val="600"/>
              </a:spcBef>
            </a:pPr>
            <a:r>
              <a:rPr lang="en-US" sz="1600" b="1"/>
              <a:t>Sample Kusto Query Language (KQL):</a:t>
            </a:r>
          </a:p>
          <a:p>
            <a:pPr>
              <a:lnSpc>
                <a:spcPct val="115000"/>
              </a:lnSpc>
              <a:spcBef>
                <a:spcPts val="600"/>
              </a:spcBef>
            </a:pPr>
            <a:endParaRPr lang="en-US" sz="1600"/>
          </a:p>
          <a:p>
            <a:pPr>
              <a:lnSpc>
                <a:spcPct val="115000"/>
              </a:lnSpc>
              <a:spcBef>
                <a:spcPts val="600"/>
              </a:spcBef>
            </a:pPr>
            <a:r>
              <a:rPr lang="en-US" sz="1600" b="1"/>
              <a:t>Sample Kusto Query Language (KQL):</a:t>
            </a:r>
          </a:p>
        </p:txBody>
      </p:sp>
      <p:sp>
        <p:nvSpPr>
          <p:cNvPr id="4" name="TextBox 3">
            <a:extLst>
              <a:ext uri="{FF2B5EF4-FFF2-40B4-BE49-F238E27FC236}">
                <a16:creationId xmlns:a16="http://schemas.microsoft.com/office/drawing/2014/main" id="{266F9AD5-E91A-E897-BD44-C7E025D66244}"/>
              </a:ext>
            </a:extLst>
          </p:cNvPr>
          <p:cNvSpPr txBox="1"/>
          <p:nvPr/>
        </p:nvSpPr>
        <p:spPr>
          <a:xfrm>
            <a:off x="381000" y="3556000"/>
            <a:ext cx="11430000" cy="2585323"/>
          </a:xfrm>
          <a:prstGeom prst="rect">
            <a:avLst/>
          </a:prstGeom>
          <a:noFill/>
        </p:spPr>
        <p:txBody>
          <a:bodyPr vert="horz" wrap="square" lIns="0" tIns="0" rIns="0" bIns="0" rtlCol="0">
            <a:spAutoFit/>
          </a:bodyPr>
          <a:lstStyle/>
          <a:p>
            <a:pPr algn="l"/>
            <a:r>
              <a:rPr lang="en-US" sz="1200">
                <a:latin typeface="Consolas" panose="020B0609020204030204" pitchFamily="49" charset="0"/>
              </a:rPr>
              <a:t>EmailUrlInfo</a:t>
            </a:r>
          </a:p>
          <a:p>
            <a:pPr algn="l"/>
            <a:r>
              <a:rPr lang="en-US" sz="1200">
                <a:latin typeface="Consolas" panose="020B0609020204030204" pitchFamily="49" charset="0"/>
              </a:rPr>
              <a:t>| where Timestamp &gt; ago(7d)</a:t>
            </a:r>
          </a:p>
          <a:p>
            <a:pPr algn="l"/>
            <a:r>
              <a:rPr lang="en-US" sz="1200">
                <a:latin typeface="Consolas" panose="020B0609020204030204" pitchFamily="49" charset="0"/>
              </a:rPr>
              <a:t>| where UrlLocation == "QRCode"</a:t>
            </a:r>
          </a:p>
          <a:p>
            <a:pPr algn="l"/>
            <a:r>
              <a:rPr lang="en-US" sz="1200">
                <a:latin typeface="Consolas" panose="020B0609020204030204" pitchFamily="49" charset="0"/>
              </a:rPr>
              <a:t>| join kind=inner (</a:t>
            </a:r>
          </a:p>
          <a:p>
            <a:pPr algn="l"/>
            <a:r>
              <a:rPr lang="en-US" sz="1200">
                <a:latin typeface="Consolas" panose="020B0609020204030204" pitchFamily="49" charset="0"/>
              </a:rPr>
              <a:t>    EmailEvents</a:t>
            </a:r>
          </a:p>
          <a:p>
            <a:pPr algn="l"/>
            <a:r>
              <a:rPr lang="en-US" sz="1200">
                <a:latin typeface="Consolas" panose="020B0609020204030204" pitchFamily="49" charset="0"/>
              </a:rPr>
              <a:t>    | where DeliveryAction == "Delivered"</a:t>
            </a:r>
          </a:p>
          <a:p>
            <a:pPr algn="l"/>
            <a:r>
              <a:rPr lang="en-US" sz="1200">
                <a:latin typeface="Consolas" panose="020B0609020204030204" pitchFamily="49" charset="0"/>
              </a:rPr>
              <a:t>    | project NetworkMessageId, RecipientEmailAddress,</a:t>
            </a:r>
          </a:p>
          <a:p>
            <a:pPr algn="l"/>
            <a:r>
              <a:rPr lang="en-US" sz="1200">
                <a:latin typeface="Consolas" panose="020B0609020204030204" pitchFamily="49" charset="0"/>
              </a:rPr>
              <a:t>              SenderFromAddress, Subject, Timestamp</a:t>
            </a:r>
          </a:p>
          <a:p>
            <a:pPr algn="l"/>
            <a:r>
              <a:rPr lang="en-US" sz="1200">
                <a:latin typeface="Consolas" panose="020B0609020204030204" pitchFamily="49" charset="0"/>
              </a:rPr>
              <a:t>  ) on NetworkMessageId</a:t>
            </a:r>
          </a:p>
          <a:p>
            <a:pPr algn="l"/>
            <a:r>
              <a:rPr lang="en-US" sz="1200">
                <a:latin typeface="Consolas" panose="020B0609020204030204" pitchFamily="49" charset="0"/>
              </a:rPr>
              <a:t>| project Timestamp, RecipientEmailAddress,</a:t>
            </a:r>
          </a:p>
          <a:p>
            <a:pPr algn="l"/>
            <a:r>
              <a:rPr lang="en-US" sz="1200">
                <a:latin typeface="Consolas" panose="020B0609020204030204" pitchFamily="49" charset="0"/>
              </a:rPr>
              <a:t>          SenderFromAddress, Subject,</a:t>
            </a:r>
          </a:p>
          <a:p>
            <a:pPr algn="l"/>
            <a:r>
              <a:rPr lang="en-US" sz="1200">
                <a:latin typeface="Consolas" panose="020B0609020204030204" pitchFamily="49" charset="0"/>
              </a:rPr>
              <a:t>          Url, UrlDomain, UrlLocation,</a:t>
            </a:r>
          </a:p>
          <a:p>
            <a:pPr algn="l"/>
            <a:r>
              <a:rPr lang="en-US" sz="1200">
                <a:latin typeface="Consolas" panose="020B0609020204030204" pitchFamily="49" charset="0"/>
              </a:rPr>
              <a:t>          NetworkMessageId</a:t>
            </a:r>
          </a:p>
          <a:p>
            <a:pPr algn="l"/>
            <a:r>
              <a:rPr lang="en-US" sz="1200">
                <a:latin typeface="Consolas" panose="020B0609020204030204" pitchFamily="49" charset="0"/>
              </a:rPr>
              <a:t>| order by Timestamp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578126557"/>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35BBC-E9E4-8877-B54A-957BD4EDA8EC}"/>
              </a:ext>
            </a:extLst>
          </p:cNvPr>
          <p:cNvSpPr>
            <a:spLocks noGrp="1"/>
          </p:cNvSpPr>
          <p:nvPr>
            <p:ph type="title"/>
          </p:nvPr>
        </p:nvSpPr>
        <p:spPr/>
        <p:txBody>
          <a:bodyPr/>
          <a:lstStyle/>
          <a:p>
            <a:r>
              <a:rPr lang="en-US"/>
              <a:t>KQL — OAuth and Device Code Email Lures</a:t>
            </a:r>
          </a:p>
        </p:txBody>
      </p:sp>
      <p:sp>
        <p:nvSpPr>
          <p:cNvPr id="3" name="Content Placeholder 2">
            <a:extLst>
              <a:ext uri="{FF2B5EF4-FFF2-40B4-BE49-F238E27FC236}">
                <a16:creationId xmlns:a16="http://schemas.microsoft.com/office/drawing/2014/main" id="{F5CB20B3-1FB2-E451-BCB5-EFB94C3FEADC}"/>
              </a:ext>
            </a:extLst>
          </p:cNvPr>
          <p:cNvSpPr>
            <a:spLocks noGrp="1"/>
          </p:cNvSpPr>
          <p:nvPr>
            <p:ph sz="quarter" idx="10"/>
          </p:nvPr>
        </p:nvSpPr>
        <p:spPr/>
        <p:txBody>
          <a:bodyPr>
            <a:noAutofit/>
          </a:bodyPr>
          <a:lstStyle/>
          <a:p>
            <a:pPr>
              <a:lnSpc>
                <a:spcPct val="115000"/>
              </a:lnSpc>
              <a:spcBef>
                <a:spcPts val="600"/>
              </a:spcBef>
            </a:pPr>
            <a:r>
              <a:rPr lang="en-US"/>
              <a:t>Find emails that contain URLs matching OAuth consent or device login endpoints - the lure phase for consent grant and device code attacks.</a:t>
            </a:r>
          </a:p>
        </p:txBody>
      </p:sp>
    </p:spTree>
    <p:extLst>
      <p:ext uri="{BB962C8B-B14F-4D97-AF65-F5344CB8AC3E}">
        <p14:creationId xmlns:p14="http://schemas.microsoft.com/office/powerpoint/2010/main" val="4053003912"/>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9ED4C-B3E4-1A87-610B-FB916AD82697}"/>
              </a:ext>
            </a:extLst>
          </p:cNvPr>
          <p:cNvSpPr>
            <a:spLocks noGrp="1"/>
          </p:cNvSpPr>
          <p:nvPr>
            <p:ph type="title"/>
          </p:nvPr>
        </p:nvSpPr>
        <p:spPr/>
        <p:txBody>
          <a:bodyPr/>
          <a:lstStyle/>
          <a:p>
            <a:r>
              <a:rPr lang="en-US"/>
              <a:t>KQL — OAuth and Device Code Email Lures (cont.)</a:t>
            </a:r>
          </a:p>
        </p:txBody>
      </p:sp>
      <p:sp>
        <p:nvSpPr>
          <p:cNvPr id="3" name="Content Placeholder 2">
            <a:extLst>
              <a:ext uri="{FF2B5EF4-FFF2-40B4-BE49-F238E27FC236}">
                <a16:creationId xmlns:a16="http://schemas.microsoft.com/office/drawing/2014/main" id="{B3495D82-D8BF-E260-EBE2-F13C67715967}"/>
              </a:ext>
            </a:extLst>
          </p:cNvPr>
          <p:cNvSpPr>
            <a:spLocks noGrp="1"/>
          </p:cNvSpPr>
          <p:nvPr>
            <p:ph sz="quarter" idx="10"/>
          </p:nvPr>
        </p:nvSpPr>
        <p:spPr/>
        <p:txBody>
          <a:bodyPr>
            <a:noAutofit/>
          </a:bodyPr>
          <a:lstStyle/>
          <a:p>
            <a:pPr>
              <a:lnSpc>
                <a:spcPct val="115000"/>
              </a:lnSpc>
              <a:spcBef>
                <a:spcPts val="600"/>
              </a:spcBef>
            </a:pPr>
            <a:r>
              <a:rPr lang="en-US" sz="1600" b="1"/>
              <a:t>Sample Kusto Query Language (KQL):</a:t>
            </a:r>
          </a:p>
          <a:p>
            <a:pPr>
              <a:lnSpc>
                <a:spcPct val="115000"/>
              </a:lnSpc>
              <a:spcBef>
                <a:spcPts val="600"/>
              </a:spcBef>
            </a:pPr>
            <a:endParaRPr lang="en-US" sz="1600"/>
          </a:p>
          <a:p>
            <a:pPr>
              <a:lnSpc>
                <a:spcPct val="115000"/>
              </a:lnSpc>
              <a:spcBef>
                <a:spcPts val="600"/>
              </a:spcBef>
            </a:pPr>
            <a:r>
              <a:rPr lang="en-US" sz="1600" b="1"/>
              <a:t>Sample Kusto Query Language (KQL):</a:t>
            </a:r>
          </a:p>
        </p:txBody>
      </p:sp>
      <p:sp>
        <p:nvSpPr>
          <p:cNvPr id="4" name="TextBox 3">
            <a:extLst>
              <a:ext uri="{FF2B5EF4-FFF2-40B4-BE49-F238E27FC236}">
                <a16:creationId xmlns:a16="http://schemas.microsoft.com/office/drawing/2014/main" id="{CF60D20C-9152-9956-E53E-5E49D437BE06}"/>
              </a:ext>
            </a:extLst>
          </p:cNvPr>
          <p:cNvSpPr txBox="1"/>
          <p:nvPr/>
        </p:nvSpPr>
        <p:spPr>
          <a:xfrm>
            <a:off x="381000" y="3556000"/>
            <a:ext cx="11430000" cy="3508653"/>
          </a:xfrm>
          <a:prstGeom prst="rect">
            <a:avLst/>
          </a:prstGeom>
          <a:noFill/>
        </p:spPr>
        <p:txBody>
          <a:bodyPr vert="horz" wrap="square" lIns="0" tIns="0" rIns="0" bIns="0" rtlCol="0">
            <a:spAutoFit/>
          </a:bodyPr>
          <a:lstStyle/>
          <a:p>
            <a:pPr algn="l"/>
            <a:r>
              <a:rPr lang="en-US" sz="1200">
                <a:latin typeface="Consolas" panose="020B0609020204030204" pitchFamily="49" charset="0"/>
              </a:rPr>
              <a:t>EmailUrlInfo</a:t>
            </a:r>
          </a:p>
          <a:p>
            <a:pPr algn="l"/>
            <a:r>
              <a:rPr lang="en-US" sz="1200">
                <a:latin typeface="Consolas" panose="020B0609020204030204" pitchFamily="49" charset="0"/>
              </a:rPr>
              <a:t>| where Timestamp &gt; ago(7d)</a:t>
            </a:r>
          </a:p>
          <a:p>
            <a:pPr algn="l"/>
            <a:r>
              <a:rPr lang="en-US" sz="1200">
                <a:latin typeface="Consolas" panose="020B0609020204030204" pitchFamily="49" charset="0"/>
              </a:rPr>
              <a:t>| where Url has_any (</a:t>
            </a:r>
          </a:p>
          <a:p>
            <a:pPr algn="l"/>
            <a:r>
              <a:rPr lang="en-US" sz="1200">
                <a:latin typeface="Consolas" panose="020B0609020204030204" pitchFamily="49" charset="0"/>
              </a:rPr>
              <a:t>    "microsoft.com/devicelogin",</a:t>
            </a:r>
          </a:p>
          <a:p>
            <a:pPr algn="l"/>
            <a:r>
              <a:rPr lang="en-US" sz="1200">
                <a:latin typeface="Consolas" panose="020B0609020204030204" pitchFamily="49" charset="0"/>
              </a:rPr>
              <a:t>    "login.microsoftonline.com/common/oauth2/authorize",</a:t>
            </a:r>
          </a:p>
          <a:p>
            <a:pPr algn="l"/>
            <a:r>
              <a:rPr lang="en-US" sz="1200">
                <a:latin typeface="Consolas" panose="020B0609020204030204" pitchFamily="49" charset="0"/>
              </a:rPr>
              <a:t>    "response_type=code",</a:t>
            </a:r>
          </a:p>
          <a:p>
            <a:pPr algn="l"/>
            <a:r>
              <a:rPr lang="en-US" sz="1200">
                <a:latin typeface="Consolas" panose="020B0609020204030204" pitchFamily="49" charset="0"/>
              </a:rPr>
              <a:t>    "client_id="</a:t>
            </a:r>
          </a:p>
          <a:p>
            <a:pPr algn="l"/>
            <a:r>
              <a:rPr lang="en-US" sz="1200">
                <a:latin typeface="Consolas" panose="020B0609020204030204" pitchFamily="49" charset="0"/>
              </a:rPr>
              <a:t>  )</a:t>
            </a:r>
          </a:p>
          <a:p>
            <a:pPr algn="l"/>
            <a:r>
              <a:rPr lang="en-US" sz="1200">
                <a:latin typeface="Consolas" panose="020B0609020204030204" pitchFamily="49" charset="0"/>
              </a:rPr>
              <a:t>| join kind=inner (</a:t>
            </a:r>
          </a:p>
          <a:p>
            <a:pPr algn="l"/>
            <a:r>
              <a:rPr lang="en-US" sz="1200">
                <a:latin typeface="Consolas" panose="020B0609020204030204" pitchFamily="49" charset="0"/>
              </a:rPr>
              <a:t>    EmailEvents</a:t>
            </a:r>
          </a:p>
          <a:p>
            <a:pPr algn="l"/>
            <a:r>
              <a:rPr lang="en-US" sz="1200">
                <a:latin typeface="Consolas" panose="020B0609020204030204" pitchFamily="49" charset="0"/>
              </a:rPr>
              <a:t>    | where DeliveryAction == "Delivered"</a:t>
            </a:r>
          </a:p>
          <a:p>
            <a:pPr algn="l"/>
            <a:r>
              <a:rPr lang="en-US" sz="1200">
                <a:latin typeface="Consolas" panose="020B0609020204030204" pitchFamily="49" charset="0"/>
              </a:rPr>
              <a:t>    | project NetworkMessageId, RecipientEmailAddress,</a:t>
            </a:r>
          </a:p>
          <a:p>
            <a:pPr algn="l"/>
            <a:r>
              <a:rPr lang="en-US" sz="1200">
                <a:latin typeface="Consolas" panose="020B0609020204030204" pitchFamily="49" charset="0"/>
              </a:rPr>
              <a:t>              SenderFromAddress, Subject,</a:t>
            </a:r>
          </a:p>
          <a:p>
            <a:pPr algn="l"/>
            <a:r>
              <a:rPr lang="en-US" sz="1200">
                <a:latin typeface="Consolas" panose="020B0609020204030204" pitchFamily="49" charset="0"/>
              </a:rPr>
              <a:t>              ThreatTypes, Timestamp</a:t>
            </a:r>
          </a:p>
          <a:p>
            <a:pPr algn="l"/>
            <a:r>
              <a:rPr lang="en-US" sz="1200">
                <a:latin typeface="Consolas" panose="020B0609020204030204" pitchFamily="49" charset="0"/>
              </a:rPr>
              <a:t>  ) on NetworkMessageId</a:t>
            </a:r>
          </a:p>
          <a:p>
            <a:pPr algn="l"/>
            <a:r>
              <a:rPr lang="en-US" sz="1200">
                <a:latin typeface="Consolas" panose="020B0609020204030204" pitchFamily="49" charset="0"/>
              </a:rPr>
              <a:t>| project Timestamp, RecipientEmailAddress,</a:t>
            </a:r>
          </a:p>
          <a:p>
            <a:pPr algn="l"/>
            <a:r>
              <a:rPr lang="en-US" sz="1200">
                <a:latin typeface="Consolas" panose="020B0609020204030204" pitchFamily="49" charset="0"/>
              </a:rPr>
              <a:t>          SenderFromAddress, Subject, Url,</a:t>
            </a:r>
          </a:p>
          <a:p>
            <a:pPr algn="l"/>
            <a:r>
              <a:rPr lang="en-US" sz="1200">
                <a:latin typeface="Consolas" panose="020B0609020204030204" pitchFamily="49" charset="0"/>
              </a:rPr>
              <a:t>          UrlDomain, ThreatTypes</a:t>
            </a:r>
          </a:p>
          <a:p>
            <a:pPr algn="l"/>
            <a:r>
              <a:rPr lang="en-US" sz="1200">
                <a:latin typeface="Consolas" panose="020B0609020204030204" pitchFamily="49" charset="0"/>
              </a:rPr>
              <a:t>| order by Timestamp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1379169379"/>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17E45-912A-C541-AF5C-CD31A69BE197}"/>
              </a:ext>
            </a:extLst>
          </p:cNvPr>
          <p:cNvSpPr>
            <a:spLocks noGrp="1"/>
          </p:cNvSpPr>
          <p:nvPr>
            <p:ph type="title"/>
          </p:nvPr>
        </p:nvSpPr>
        <p:spPr/>
        <p:txBody>
          <a:bodyPr/>
          <a:lstStyle/>
          <a:p>
            <a:r>
              <a:rPr lang="en-US"/>
              <a:t>Recommended Alert Rules</a:t>
            </a:r>
          </a:p>
        </p:txBody>
      </p:sp>
      <p:graphicFrame>
        <p:nvGraphicFramePr>
          <p:cNvPr id="4" name="Content Placeholder 3">
            <a:extLst>
              <a:ext uri="{FF2B5EF4-FFF2-40B4-BE49-F238E27FC236}">
                <a16:creationId xmlns:a16="http://schemas.microsoft.com/office/drawing/2014/main" id="{6BBA7928-282C-9D12-AF07-71364482AAD5}"/>
              </a:ext>
            </a:extLst>
          </p:cNvPr>
          <p:cNvGraphicFramePr>
            <a:graphicFrameLocks noGrp="1"/>
          </p:cNvGraphicFramePr>
          <p:nvPr>
            <p:ph sz="quarter" idx="10"/>
            <p:extLst>
              <p:ext uri="{D42A27DB-BD31-4B8C-83A1-F6EECF244321}">
                <p14:modId xmlns:p14="http://schemas.microsoft.com/office/powerpoint/2010/main" val="1625432913"/>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793939835"/>
                    </a:ext>
                  </a:extLst>
                </a:gridCol>
                <a:gridCol w="3810000">
                  <a:extLst>
                    <a:ext uri="{9D8B030D-6E8A-4147-A177-3AD203B41FA5}">
                      <a16:colId xmlns:a16="http://schemas.microsoft.com/office/drawing/2014/main" val="2942446178"/>
                    </a:ext>
                  </a:extLst>
                </a:gridCol>
                <a:gridCol w="3810000">
                  <a:extLst>
                    <a:ext uri="{9D8B030D-6E8A-4147-A177-3AD203B41FA5}">
                      <a16:colId xmlns:a16="http://schemas.microsoft.com/office/drawing/2014/main" val="2626368194"/>
                    </a:ext>
                  </a:extLst>
                </a:gridCol>
              </a:tblGrid>
              <a:tr h="627063">
                <a:tc>
                  <a:txBody>
                    <a:bodyPr/>
                    <a:lstStyle/>
                    <a:p>
                      <a:r>
                        <a:rPr lang="en-US" sz="1200" b="1"/>
                        <a:t>Alert Condition</a:t>
                      </a:r>
                    </a:p>
                  </a:txBody>
                  <a:tcPr/>
                </a:tc>
                <a:tc>
                  <a:txBody>
                    <a:bodyPr/>
                    <a:lstStyle/>
                    <a:p>
                      <a:r>
                        <a:rPr lang="en-US" sz="1200" b="1"/>
                        <a:t>Source</a:t>
                      </a:r>
                    </a:p>
                  </a:txBody>
                  <a:tcPr/>
                </a:tc>
                <a:tc>
                  <a:txBody>
                    <a:bodyPr/>
                    <a:lstStyle/>
                    <a:p>
                      <a:r>
                        <a:rPr lang="en-US" sz="1200" b="1"/>
                        <a:t>Severity</a:t>
                      </a:r>
                    </a:p>
                  </a:txBody>
                  <a:tcPr/>
                </a:tc>
                <a:extLst>
                  <a:ext uri="{0D108BD9-81ED-4DB2-BD59-A6C34878D82A}">
                    <a16:rowId xmlns:a16="http://schemas.microsoft.com/office/drawing/2014/main" val="78164460"/>
                  </a:ext>
                </a:extLst>
              </a:tr>
              <a:tr h="627063">
                <a:tc>
                  <a:txBody>
                    <a:bodyPr/>
                    <a:lstStyle/>
                    <a:p>
                      <a:r>
                        <a:rPr lang="en-US" sz="1200"/>
                        <a:t>Device code sign-in for corporate user</a:t>
                      </a:r>
                    </a:p>
                  </a:txBody>
                  <a:tcPr/>
                </a:tc>
                <a:tc>
                  <a:txBody>
                    <a:bodyPr/>
                    <a:lstStyle/>
                    <a:p>
                      <a:r>
                        <a:rPr lang="en-US" sz="1200"/>
                        <a:t>AADSignInEventsBeta: AuthenticationProtocol == "deviceCode"</a:t>
                      </a:r>
                    </a:p>
                  </a:txBody>
                  <a:tcPr/>
                </a:tc>
                <a:tc>
                  <a:txBody>
                    <a:bodyPr/>
                    <a:lstStyle/>
                    <a:p>
                      <a:r>
                        <a:rPr lang="en-US" sz="1200"/>
                        <a:t>High</a:t>
                      </a:r>
                    </a:p>
                  </a:txBody>
                  <a:tcPr/>
                </a:tc>
                <a:extLst>
                  <a:ext uri="{0D108BD9-81ED-4DB2-BD59-A6C34878D82A}">
                    <a16:rowId xmlns:a16="http://schemas.microsoft.com/office/drawing/2014/main" val="2414179866"/>
                  </a:ext>
                </a:extLst>
              </a:tr>
              <a:tr h="627063">
                <a:tc>
                  <a:txBody>
                    <a:bodyPr/>
                    <a:lstStyle/>
                    <a:p>
                      <a:r>
                        <a:rPr lang="en-US" sz="1200"/>
                        <a:t>AiTM session cookie reuse</a:t>
                      </a:r>
                    </a:p>
                  </a:txBody>
                  <a:tcPr/>
                </a:tc>
                <a:tc>
                  <a:txBody>
                    <a:bodyPr/>
                    <a:lstStyle/>
                    <a:p>
                      <a:r>
                        <a:rPr lang="en-US" sz="1200"/>
                        <a:t>Built-in: "Stolen session cookie was used"</a:t>
                      </a:r>
                    </a:p>
                  </a:txBody>
                  <a:tcPr/>
                </a:tc>
                <a:tc>
                  <a:txBody>
                    <a:bodyPr/>
                    <a:lstStyle/>
                    <a:p>
                      <a:r>
                        <a:rPr lang="en-US" sz="1200"/>
                        <a:t>High</a:t>
                      </a:r>
                    </a:p>
                  </a:txBody>
                  <a:tcPr/>
                </a:tc>
                <a:extLst>
                  <a:ext uri="{0D108BD9-81ED-4DB2-BD59-A6C34878D82A}">
                    <a16:rowId xmlns:a16="http://schemas.microsoft.com/office/drawing/2014/main" val="3246002478"/>
                  </a:ext>
                </a:extLst>
              </a:tr>
              <a:tr h="627063">
                <a:tc>
                  <a:txBody>
                    <a:bodyPr/>
                    <a:lstStyle/>
                    <a:p>
                      <a:r>
                        <a:rPr lang="en-US" sz="1200"/>
                        <a:t>Risk detection: AnomalousToken</a:t>
                      </a:r>
                    </a:p>
                  </a:txBody>
                  <a:tcPr/>
                </a:tc>
                <a:tc>
                  <a:txBody>
                    <a:bodyPr/>
                    <a:lstStyle/>
                    <a:p>
                      <a:r>
                        <a:rPr lang="en-US" sz="1200"/>
                        <a:t>Entra ID Protection: anomalousToken risk event</a:t>
                      </a:r>
                    </a:p>
                  </a:txBody>
                  <a:tcPr/>
                </a:tc>
                <a:tc>
                  <a:txBody>
                    <a:bodyPr/>
                    <a:lstStyle/>
                    <a:p>
                      <a:r>
                        <a:rPr lang="en-US" sz="1200"/>
                        <a:t>High</a:t>
                      </a:r>
                    </a:p>
                  </a:txBody>
                  <a:tcPr/>
                </a:tc>
                <a:extLst>
                  <a:ext uri="{0D108BD9-81ED-4DB2-BD59-A6C34878D82A}">
                    <a16:rowId xmlns:a16="http://schemas.microsoft.com/office/drawing/2014/main" val="3920033362"/>
                  </a:ext>
                </a:extLst>
              </a:tr>
              <a:tr h="627063">
                <a:tc>
                  <a:txBody>
                    <a:bodyPr/>
                    <a:lstStyle/>
                    <a:p>
                      <a:r>
                        <a:rPr lang="en-US" sz="1200"/>
                        <a:t>Safe Links click-through to phishing</a:t>
                      </a:r>
                    </a:p>
                  </a:txBody>
                  <a:tcPr/>
                </a:tc>
                <a:tc>
                  <a:txBody>
                    <a:bodyPr/>
                    <a:lstStyle/>
                    <a:p>
                      <a:r>
                        <a:rPr lang="en-US" sz="1200"/>
                        <a:t>UrlClickEvents: IsClickedThrough == true, ThreatTypes has "Phish"</a:t>
                      </a:r>
                    </a:p>
                  </a:txBody>
                  <a:tcPr/>
                </a:tc>
                <a:tc>
                  <a:txBody>
                    <a:bodyPr/>
                    <a:lstStyle/>
                    <a:p>
                      <a:r>
                        <a:rPr lang="en-US" sz="1200"/>
                        <a:t>High</a:t>
                      </a:r>
                    </a:p>
                  </a:txBody>
                  <a:tcPr/>
                </a:tc>
                <a:extLst>
                  <a:ext uri="{0D108BD9-81ED-4DB2-BD59-A6C34878D82A}">
                    <a16:rowId xmlns:a16="http://schemas.microsoft.com/office/drawing/2014/main" val="2982134060"/>
                  </a:ext>
                </a:extLst>
              </a:tr>
              <a:tr h="627063">
                <a:tc>
                  <a:txBody>
                    <a:bodyPr/>
                    <a:lstStyle/>
                    <a:p>
                      <a:r>
                        <a:rPr lang="en-US" sz="1200"/>
                        <a:t>OAuth consent to new app</a:t>
                      </a:r>
                    </a:p>
                  </a:txBody>
                  <a:tcPr/>
                </a:tc>
                <a:tc>
                  <a:txBody>
                    <a:bodyPr/>
                    <a:lstStyle/>
                    <a:p>
                      <a:r>
                        <a:rPr lang="en-US" sz="1200"/>
                        <a:t>CloudAppEvents: ActionType == "Consent to application" for first-seen app</a:t>
                      </a:r>
                    </a:p>
                  </a:txBody>
                  <a:tcPr/>
                </a:tc>
                <a:tc>
                  <a:txBody>
                    <a:bodyPr/>
                    <a:lstStyle/>
                    <a:p>
                      <a:r>
                        <a:rPr lang="en-US" sz="1200"/>
                        <a:t>High</a:t>
                      </a:r>
                    </a:p>
                  </a:txBody>
                  <a:tcPr/>
                </a:tc>
                <a:extLst>
                  <a:ext uri="{0D108BD9-81ED-4DB2-BD59-A6C34878D82A}">
                    <a16:rowId xmlns:a16="http://schemas.microsoft.com/office/drawing/2014/main" val="1695319243"/>
                  </a:ext>
                </a:extLst>
              </a:tr>
              <a:tr h="627063">
                <a:tc>
                  <a:txBody>
                    <a:bodyPr/>
                    <a:lstStyle/>
                    <a:p>
                      <a:r>
                        <a:rPr lang="en-US" sz="1200"/>
                        <a:t>Admin consent granted</a:t>
                      </a:r>
                    </a:p>
                  </a:txBody>
                  <a:tcPr/>
                </a:tc>
                <a:tc>
                  <a:txBody>
                    <a:bodyPr/>
                    <a:lstStyle/>
                    <a:p>
                      <a:r>
                        <a:rPr lang="en-US" sz="1200"/>
                        <a:t>AuditLogs: Consent to application where IsAdminConsent == True from non-GA</a:t>
                      </a:r>
                    </a:p>
                  </a:txBody>
                  <a:tcPr/>
                </a:tc>
                <a:tc>
                  <a:txBody>
                    <a:bodyPr/>
                    <a:lstStyle/>
                    <a:p>
                      <a:r>
                        <a:rPr lang="en-US" sz="1200"/>
                        <a:t>High</a:t>
                      </a:r>
                    </a:p>
                  </a:txBody>
                  <a:tcPr/>
                </a:tc>
                <a:extLst>
                  <a:ext uri="{0D108BD9-81ED-4DB2-BD59-A6C34878D82A}">
                    <a16:rowId xmlns:a16="http://schemas.microsoft.com/office/drawing/2014/main" val="4230631920"/>
                  </a:ext>
                </a:extLst>
              </a:tr>
              <a:tr h="627063">
                <a:tc>
                  <a:txBody>
                    <a:bodyPr/>
                    <a:lstStyle/>
                    <a:p>
                      <a:r>
                        <a:rPr lang="en-US" sz="1200"/>
                        <a:t>New inbox rule from app principal</a:t>
                      </a:r>
                    </a:p>
                  </a:txBody>
                  <a:tcPr/>
                </a:tc>
                <a:tc>
                  <a:txBody>
                    <a:bodyPr/>
                    <a:lstStyle/>
                    <a:p>
                      <a:r>
                        <a:rPr lang="en-US" sz="1200"/>
                        <a:t>CloudAppEvents: ActionType contains "InboxRule" from app sign-in</a:t>
                      </a:r>
                    </a:p>
                  </a:txBody>
                  <a:tcPr/>
                </a:tc>
                <a:tc>
                  <a:txBody>
                    <a:bodyPr/>
                    <a:lstStyle/>
                    <a:p>
                      <a:r>
                        <a:rPr lang="en-US" sz="1200"/>
                        <a:t>High</a:t>
                      </a:r>
                    </a:p>
                  </a:txBody>
                  <a:tcPr/>
                </a:tc>
                <a:extLst>
                  <a:ext uri="{0D108BD9-81ED-4DB2-BD59-A6C34878D82A}">
                    <a16:rowId xmlns:a16="http://schemas.microsoft.com/office/drawing/2014/main" val="2856143710"/>
                  </a:ext>
                </a:extLst>
              </a:tr>
            </a:tbl>
          </a:graphicData>
        </a:graphic>
      </p:graphicFrame>
    </p:spTree>
    <p:extLst>
      <p:ext uri="{BB962C8B-B14F-4D97-AF65-F5344CB8AC3E}">
        <p14:creationId xmlns:p14="http://schemas.microsoft.com/office/powerpoint/2010/main" val="2135025659"/>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6142F-AF69-5A0C-6C27-09076F2FDA33}"/>
              </a:ext>
            </a:extLst>
          </p:cNvPr>
          <p:cNvSpPr>
            <a:spLocks noGrp="1"/>
          </p:cNvSpPr>
          <p:nvPr>
            <p:ph type="title"/>
          </p:nvPr>
        </p:nvSpPr>
        <p:spPr/>
        <p:txBody>
          <a:bodyPr/>
          <a:lstStyle/>
          <a:p>
            <a:r>
              <a:rPr lang="fr-FR"/>
              <a:t>Incident Response — Device Code Phishing</a:t>
            </a:r>
            <a:endParaRPr lang="en-US"/>
          </a:p>
        </p:txBody>
      </p:sp>
      <p:sp>
        <p:nvSpPr>
          <p:cNvPr id="3" name="Content Placeholder 2">
            <a:extLst>
              <a:ext uri="{FF2B5EF4-FFF2-40B4-BE49-F238E27FC236}">
                <a16:creationId xmlns:a16="http://schemas.microsoft.com/office/drawing/2014/main" id="{94FB3B53-606D-E2B7-93DE-C97246227A9C}"/>
              </a:ext>
            </a:extLst>
          </p:cNvPr>
          <p:cNvSpPr>
            <a:spLocks noGrp="1"/>
          </p:cNvSpPr>
          <p:nvPr>
            <p:ph sz="quarter" idx="10"/>
          </p:nvPr>
        </p:nvSpPr>
        <p:spPr/>
        <p:txBody>
          <a:bodyPr>
            <a:noAutofit/>
          </a:bodyPr>
          <a:lstStyle/>
          <a:p>
            <a:pPr>
              <a:lnSpc>
                <a:spcPct val="115000"/>
              </a:lnSpc>
              <a:spcBef>
                <a:spcPts val="600"/>
              </a:spcBef>
            </a:pPr>
            <a:r>
              <a:rPr lang="en-US" sz="1800" b="1"/>
              <a:t>Immediate Containment:</a:t>
            </a:r>
          </a:p>
          <a:p>
            <a:pPr>
              <a:lnSpc>
                <a:spcPct val="115000"/>
              </a:lnSpc>
              <a:spcBef>
                <a:spcPts val="600"/>
              </a:spcBef>
            </a:pPr>
            <a:r>
              <a:rPr lang="en-US" sz="1800"/>
              <a:t>    Revoke all refresh tokens: Invoke-MgInvalidateUserRefreshToken -UserId &lt;UPN&gt;</a:t>
            </a:r>
          </a:p>
          <a:p>
            <a:pPr>
              <a:lnSpc>
                <a:spcPct val="115000"/>
              </a:lnSpc>
              <a:spcBef>
                <a:spcPts val="600"/>
              </a:spcBef>
            </a:pPr>
            <a:r>
              <a:rPr lang="en-US" sz="1800"/>
              <a:t>    Set user risk to HIGH in Entra ID Protection (triggers risk-based CA block)</a:t>
            </a:r>
          </a:p>
          <a:p>
            <a:pPr>
              <a:lnSpc>
                <a:spcPct val="115000"/>
              </a:lnSpc>
              <a:spcBef>
                <a:spcPts val="600"/>
              </a:spcBef>
            </a:pPr>
            <a:r>
              <a:rPr lang="en-US" sz="1800"/>
              <a:t>    Block sign-in if confirmed compromised: Update-MgUser -UserId &lt;UPN&gt; -AccountEnabled $false</a:t>
            </a:r>
          </a:p>
          <a:p>
            <a:pPr>
              <a:lnSpc>
                <a:spcPct val="115000"/>
              </a:lnSpc>
              <a:spcBef>
                <a:spcPts val="600"/>
              </a:spcBef>
            </a:pPr>
            <a:r>
              <a:rPr lang="en-US" sz="1800" b="1"/>
              <a:t>Investigation:</a:t>
            </a:r>
          </a:p>
          <a:p>
            <a:pPr>
              <a:lnSpc>
                <a:spcPct val="115000"/>
              </a:lnSpc>
              <a:spcBef>
                <a:spcPts val="600"/>
              </a:spcBef>
            </a:pPr>
            <a:r>
              <a:rPr lang="en-US" sz="1800"/>
              <a:t>    Identify resources accessed after the device code sign-in (Graph Application Programming Interface (API), email, files)</a:t>
            </a:r>
          </a:p>
        </p:txBody>
      </p:sp>
    </p:spTree>
    <p:extLst>
      <p:ext uri="{BB962C8B-B14F-4D97-AF65-F5344CB8AC3E}">
        <p14:creationId xmlns:p14="http://schemas.microsoft.com/office/powerpoint/2010/main" val="4285543008"/>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4F4C6-687A-7405-E218-7447271E689D}"/>
              </a:ext>
            </a:extLst>
          </p:cNvPr>
          <p:cNvSpPr>
            <a:spLocks noGrp="1"/>
          </p:cNvSpPr>
          <p:nvPr>
            <p:ph type="title"/>
          </p:nvPr>
        </p:nvSpPr>
        <p:spPr/>
        <p:txBody>
          <a:bodyPr/>
          <a:lstStyle/>
          <a:p>
            <a:r>
              <a:rPr lang="fr-FR"/>
              <a:t>Incident Response — Device Code Phishing (cont. 2)</a:t>
            </a:r>
            <a:endParaRPr lang="en-US"/>
          </a:p>
        </p:txBody>
      </p:sp>
      <p:sp>
        <p:nvSpPr>
          <p:cNvPr id="3" name="Content Placeholder 2">
            <a:extLst>
              <a:ext uri="{FF2B5EF4-FFF2-40B4-BE49-F238E27FC236}">
                <a16:creationId xmlns:a16="http://schemas.microsoft.com/office/drawing/2014/main" id="{5B0E7506-9F6C-1EA0-E640-8CCC8DC67C1A}"/>
              </a:ext>
            </a:extLst>
          </p:cNvPr>
          <p:cNvSpPr>
            <a:spLocks noGrp="1"/>
          </p:cNvSpPr>
          <p:nvPr>
            <p:ph sz="quarter" idx="10"/>
          </p:nvPr>
        </p:nvSpPr>
        <p:spPr/>
        <p:txBody>
          <a:bodyPr>
            <a:noAutofit/>
          </a:bodyPr>
          <a:lstStyle/>
          <a:p>
            <a:pPr>
              <a:lnSpc>
                <a:spcPct val="115000"/>
              </a:lnSpc>
              <a:spcBef>
                <a:spcPts val="600"/>
              </a:spcBef>
            </a:pPr>
            <a:r>
              <a:rPr lang="en-US" sz="1800"/>
              <a:t>    Check for lateral movement from the compromised identity</a:t>
            </a:r>
          </a:p>
          <a:p>
            <a:pPr>
              <a:lnSpc>
                <a:spcPct val="115000"/>
              </a:lnSpc>
              <a:spcBef>
                <a:spcPts val="600"/>
              </a:spcBef>
            </a:pPr>
            <a:r>
              <a:rPr lang="en-US" sz="1800"/>
              <a:t>    Review AADNonInteractiveUserSignInLogs for token refresh activity from attacker IP</a:t>
            </a:r>
          </a:p>
          <a:p>
            <a:pPr>
              <a:lnSpc>
                <a:spcPct val="115000"/>
              </a:lnSpc>
              <a:spcBef>
                <a:spcPts val="600"/>
              </a:spcBef>
            </a:pPr>
            <a:r>
              <a:rPr lang="en-US" sz="1800" b="1"/>
              <a:t>Recovery:</a:t>
            </a:r>
          </a:p>
          <a:p>
            <a:pPr>
              <a:lnSpc>
                <a:spcPct val="115000"/>
              </a:lnSpc>
              <a:spcBef>
                <a:spcPts val="600"/>
              </a:spcBef>
            </a:pPr>
            <a:r>
              <a:rPr lang="en-US" sz="1800"/>
              <a:t>    Force password reset on next sign-in</a:t>
            </a:r>
          </a:p>
          <a:p>
            <a:pPr>
              <a:lnSpc>
                <a:spcPct val="115000"/>
              </a:lnSpc>
              <a:spcBef>
                <a:spcPts val="600"/>
              </a:spcBef>
            </a:pPr>
            <a:r>
              <a:rPr lang="en-US" sz="1800"/>
              <a:t>    Re-enable account after investigation complete</a:t>
            </a:r>
          </a:p>
          <a:p>
            <a:pPr>
              <a:lnSpc>
                <a:spcPct val="115000"/>
              </a:lnSpc>
              <a:spcBef>
                <a:spcPts val="600"/>
              </a:spcBef>
            </a:pPr>
            <a:r>
              <a:rPr lang="en-US" sz="1800"/>
              <a:t>    Force Multi-Factor Authentication (MFA) re-registration</a:t>
            </a:r>
          </a:p>
        </p:txBody>
      </p:sp>
    </p:spTree>
    <p:extLst>
      <p:ext uri="{BB962C8B-B14F-4D97-AF65-F5344CB8AC3E}">
        <p14:creationId xmlns:p14="http://schemas.microsoft.com/office/powerpoint/2010/main" val="1227196316"/>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49AA8-276D-46C5-E28C-0CB89F1AF15E}"/>
              </a:ext>
            </a:extLst>
          </p:cNvPr>
          <p:cNvSpPr>
            <a:spLocks noGrp="1"/>
          </p:cNvSpPr>
          <p:nvPr>
            <p:ph type="title"/>
          </p:nvPr>
        </p:nvSpPr>
        <p:spPr/>
        <p:txBody>
          <a:bodyPr/>
          <a:lstStyle/>
          <a:p>
            <a:r>
              <a:rPr lang="en-US"/>
              <a:t>Incident Response — AiTM Session Cookie Theft</a:t>
            </a:r>
          </a:p>
        </p:txBody>
      </p:sp>
      <p:sp>
        <p:nvSpPr>
          <p:cNvPr id="3" name="Content Placeholder 2">
            <a:extLst>
              <a:ext uri="{FF2B5EF4-FFF2-40B4-BE49-F238E27FC236}">
                <a16:creationId xmlns:a16="http://schemas.microsoft.com/office/drawing/2014/main" id="{C16DDBA0-4077-5EB6-2C1D-8C64E5235219}"/>
              </a:ext>
            </a:extLst>
          </p:cNvPr>
          <p:cNvSpPr>
            <a:spLocks noGrp="1"/>
          </p:cNvSpPr>
          <p:nvPr>
            <p:ph sz="quarter" idx="10"/>
          </p:nvPr>
        </p:nvSpPr>
        <p:spPr/>
        <p:txBody>
          <a:bodyPr>
            <a:noAutofit/>
          </a:bodyPr>
          <a:lstStyle/>
          <a:p>
            <a:pPr>
              <a:lnSpc>
                <a:spcPct val="115000"/>
              </a:lnSpc>
              <a:spcBef>
                <a:spcPts val="600"/>
              </a:spcBef>
            </a:pPr>
            <a:r>
              <a:rPr lang="en-US" sz="2000" b="1"/>
              <a:t>Immediate Containment:</a:t>
            </a:r>
          </a:p>
          <a:p>
            <a:pPr>
              <a:lnSpc>
                <a:spcPct val="115000"/>
              </a:lnSpc>
              <a:spcBef>
                <a:spcPts val="600"/>
              </a:spcBef>
            </a:pPr>
            <a:r>
              <a:rPr lang="en-US" sz="2000"/>
              <a:t>    Revoke all sessions and refresh tokens</a:t>
            </a:r>
          </a:p>
          <a:p>
            <a:pPr>
              <a:lnSpc>
                <a:spcPct val="115000"/>
              </a:lnSpc>
              <a:spcBef>
                <a:spcPts val="600"/>
              </a:spcBef>
            </a:pPr>
            <a:r>
              <a:rPr lang="en-US" sz="2000"/>
              <a:t>    Check for and remove attacker-registered Multi-Factor Authentication (MFA) methods (Entra ID &gt; Users &gt; Authentication methods)</a:t>
            </a:r>
          </a:p>
          <a:p>
            <a:pPr>
              <a:lnSpc>
                <a:spcPct val="115000"/>
              </a:lnSpc>
              <a:spcBef>
                <a:spcPts val="600"/>
              </a:spcBef>
            </a:pPr>
            <a:r>
              <a:rPr lang="en-US" sz="2000"/>
              <a:t>    Remove attacker-created inbox rules: Get-InboxRule -Mailbox &lt;UPN&gt; then Remove-InboxRule</a:t>
            </a:r>
          </a:p>
        </p:txBody>
      </p:sp>
    </p:spTree>
    <p:extLst>
      <p:ext uri="{BB962C8B-B14F-4D97-AF65-F5344CB8AC3E}">
        <p14:creationId xmlns:p14="http://schemas.microsoft.com/office/powerpoint/2010/main" val="2834336832"/>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BE1F2-554A-63CC-273F-3EF4D942C015}"/>
              </a:ext>
            </a:extLst>
          </p:cNvPr>
          <p:cNvSpPr>
            <a:spLocks noGrp="1"/>
          </p:cNvSpPr>
          <p:nvPr>
            <p:ph type="title"/>
          </p:nvPr>
        </p:nvSpPr>
        <p:spPr>
          <a:xfrm>
            <a:off x="588263" y="457200"/>
            <a:ext cx="11018520" cy="1107996"/>
          </a:xfrm>
        </p:spPr>
        <p:txBody>
          <a:bodyPr/>
          <a:lstStyle/>
          <a:p>
            <a:r>
              <a:rPr lang="en-US"/>
              <a:t>Incident Response — AiTM Session Cookie Theft (cont. 2)</a:t>
            </a:r>
          </a:p>
        </p:txBody>
      </p:sp>
      <p:sp>
        <p:nvSpPr>
          <p:cNvPr id="3" name="Content Placeholder 2">
            <a:extLst>
              <a:ext uri="{FF2B5EF4-FFF2-40B4-BE49-F238E27FC236}">
                <a16:creationId xmlns:a16="http://schemas.microsoft.com/office/drawing/2014/main" id="{8D79AE3A-40E6-EDD8-2100-07C1FD204C20}"/>
              </a:ext>
            </a:extLst>
          </p:cNvPr>
          <p:cNvSpPr>
            <a:spLocks noGrp="1"/>
          </p:cNvSpPr>
          <p:nvPr>
            <p:ph sz="quarter" idx="10"/>
          </p:nvPr>
        </p:nvSpPr>
        <p:spPr>
          <a:xfrm>
            <a:off x="584200" y="1742996"/>
            <a:ext cx="11018838" cy="4526042"/>
          </a:xfrm>
        </p:spPr>
        <p:txBody>
          <a:bodyPr>
            <a:noAutofit/>
          </a:bodyPr>
          <a:lstStyle/>
          <a:p>
            <a:pPr>
              <a:lnSpc>
                <a:spcPct val="115000"/>
              </a:lnSpc>
              <a:spcBef>
                <a:spcPts val="600"/>
              </a:spcBef>
            </a:pPr>
            <a:r>
              <a:rPr lang="en-US" sz="2000"/>
              <a:t>    Disable account pending investigation</a:t>
            </a:r>
          </a:p>
          <a:p>
            <a:pPr>
              <a:lnSpc>
                <a:spcPct val="115000"/>
              </a:lnSpc>
              <a:spcBef>
                <a:spcPts val="600"/>
              </a:spcBef>
            </a:pPr>
            <a:r>
              <a:rPr lang="en-US" sz="2000" b="1"/>
              <a:t>Check for BEC Activity:</a:t>
            </a:r>
          </a:p>
          <a:p>
            <a:pPr>
              <a:lnSpc>
                <a:spcPct val="115000"/>
              </a:lnSpc>
              <a:spcBef>
                <a:spcPts val="600"/>
              </a:spcBef>
            </a:pPr>
            <a:r>
              <a:rPr lang="en-US" sz="2000"/>
              <a:t>    Review forwarding rules and inbox rules created after the compromise</a:t>
            </a:r>
          </a:p>
          <a:p>
            <a:pPr>
              <a:lnSpc>
                <a:spcPct val="115000"/>
              </a:lnSpc>
              <a:spcBef>
                <a:spcPts val="600"/>
              </a:spcBef>
            </a:pPr>
            <a:r>
              <a:rPr lang="en-US" sz="2000"/>
              <a:t>    Check for emails sent from the victim's mailbox to external recipients</a:t>
            </a:r>
          </a:p>
          <a:p>
            <a:pPr>
              <a:lnSpc>
                <a:spcPct val="115000"/>
              </a:lnSpc>
              <a:spcBef>
                <a:spcPts val="600"/>
              </a:spcBef>
            </a:pPr>
            <a:r>
              <a:rPr lang="en-US" sz="2000"/>
              <a:t>    Review payment-related conversations for manipulation</a:t>
            </a:r>
          </a:p>
          <a:p>
            <a:pPr>
              <a:lnSpc>
                <a:spcPct val="115000"/>
              </a:lnSpc>
              <a:spcBef>
                <a:spcPts val="600"/>
              </a:spcBef>
            </a:pPr>
            <a:r>
              <a:rPr lang="en-US" sz="2000"/>
              <a:t>Key Remediation Difference: Unlike device code phishing, Adversary-in-the-Middle (AiTM) often requires cleaning up BEC artifacts (inbox rules, sent emails, modified contacts).</a:t>
            </a:r>
          </a:p>
        </p:txBody>
      </p:sp>
    </p:spTree>
    <p:extLst>
      <p:ext uri="{BB962C8B-B14F-4D97-AF65-F5344CB8AC3E}">
        <p14:creationId xmlns:p14="http://schemas.microsoft.com/office/powerpoint/2010/main" val="694010462"/>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EB8FB-1AD0-8320-3141-149F61E97C51}"/>
              </a:ext>
            </a:extLst>
          </p:cNvPr>
          <p:cNvSpPr>
            <a:spLocks noGrp="1"/>
          </p:cNvSpPr>
          <p:nvPr>
            <p:ph type="title"/>
          </p:nvPr>
        </p:nvSpPr>
        <p:spPr/>
        <p:txBody>
          <a:bodyPr/>
          <a:lstStyle/>
          <a:p>
            <a:r>
              <a:rPr lang="fr-FR"/>
              <a:t>Incident Response — Illicit Consent Grant</a:t>
            </a:r>
            <a:endParaRPr lang="en-US"/>
          </a:p>
        </p:txBody>
      </p:sp>
      <p:sp>
        <p:nvSpPr>
          <p:cNvPr id="3" name="Content Placeholder 2">
            <a:extLst>
              <a:ext uri="{FF2B5EF4-FFF2-40B4-BE49-F238E27FC236}">
                <a16:creationId xmlns:a16="http://schemas.microsoft.com/office/drawing/2014/main" id="{9695B67E-2BBD-95BB-9056-A669DF54BB00}"/>
              </a:ext>
            </a:extLst>
          </p:cNvPr>
          <p:cNvSpPr>
            <a:spLocks noGrp="1"/>
          </p:cNvSpPr>
          <p:nvPr>
            <p:ph sz="quarter" idx="10"/>
          </p:nvPr>
        </p:nvSpPr>
        <p:spPr/>
        <p:txBody>
          <a:bodyPr>
            <a:noAutofit/>
          </a:bodyPr>
          <a:lstStyle/>
          <a:p>
            <a:pPr>
              <a:lnSpc>
                <a:spcPct val="115000"/>
              </a:lnSpc>
              <a:spcBef>
                <a:spcPts val="600"/>
              </a:spcBef>
            </a:pPr>
            <a:r>
              <a:rPr lang="en-US" sz="2400" b="1"/>
              <a:t>Immediate Containment:</a:t>
            </a:r>
          </a:p>
          <a:p>
            <a:pPr>
              <a:lnSpc>
                <a:spcPct val="115000"/>
              </a:lnSpc>
              <a:spcBef>
                <a:spcPts val="600"/>
              </a:spcBef>
            </a:pPr>
            <a:r>
              <a:rPr lang="en-US" sz="2400" b="1"/>
              <a:t>    Revoke the OAuth consent grant (do NOT just reset the password):</a:t>
            </a:r>
          </a:p>
          <a:p>
            <a:pPr>
              <a:lnSpc>
                <a:spcPct val="115000"/>
              </a:lnSpc>
              <a:spcBef>
                <a:spcPts val="600"/>
              </a:spcBef>
            </a:pPr>
            <a:r>
              <a:rPr lang="en-US" sz="2400"/>
              <a:t>    Remove application role assignments for app-only grants</a:t>
            </a:r>
          </a:p>
          <a:p>
            <a:pPr>
              <a:lnSpc>
                <a:spcPct val="115000"/>
              </a:lnSpc>
              <a:spcBef>
                <a:spcPts val="600"/>
              </a:spcBef>
            </a:pPr>
            <a:r>
              <a:rPr lang="en-US" sz="2400"/>
              <a:t>    Disable the malicious application (do NOT delete - prevents re-consent if deleted)</a:t>
            </a:r>
          </a:p>
          <a:p>
            <a:pPr>
              <a:lnSpc>
                <a:spcPct val="115000"/>
              </a:lnSpc>
              <a:spcBef>
                <a:spcPts val="600"/>
              </a:spcBef>
            </a:pPr>
            <a:r>
              <a:rPr lang="en-US" sz="2400"/>
              <a:t>Critical Point: Password resets and session revocations do NOT remove OAuth consent grants. The grant must be explicitly revoked by an admin.</a:t>
            </a:r>
          </a:p>
        </p:txBody>
      </p:sp>
      <p:sp>
        <p:nvSpPr>
          <p:cNvPr id="4" name="TextBox 3">
            <a:extLst>
              <a:ext uri="{FF2B5EF4-FFF2-40B4-BE49-F238E27FC236}">
                <a16:creationId xmlns:a16="http://schemas.microsoft.com/office/drawing/2014/main" id="{557CEB89-0903-3F69-7134-026E9575FB5A}"/>
              </a:ext>
            </a:extLst>
          </p:cNvPr>
          <p:cNvSpPr txBox="1"/>
          <p:nvPr/>
        </p:nvSpPr>
        <p:spPr>
          <a:xfrm>
            <a:off x="381000" y="4064000"/>
            <a:ext cx="11430000" cy="738664"/>
          </a:xfrm>
          <a:prstGeom prst="rect">
            <a:avLst/>
          </a:prstGeom>
          <a:noFill/>
        </p:spPr>
        <p:txBody>
          <a:bodyPr vert="horz" wrap="square" lIns="0" tIns="0" rIns="0" bIns="0" rtlCol="0">
            <a:spAutoFit/>
          </a:bodyPr>
          <a:lstStyle/>
          <a:p>
            <a:pPr algn="l"/>
            <a:r>
              <a:rPr lang="en-US" sz="1200">
                <a:latin typeface="Consolas" panose="020B0609020204030204" pitchFamily="49" charset="0"/>
              </a:rPr>
              <a:t>$grants = Get-MgOauth2PermissionGrant `</a:t>
            </a:r>
          </a:p>
          <a:p>
            <a:pPr algn="l"/>
            <a:r>
              <a:rPr lang="en-US" sz="1200">
                <a:latin typeface="Consolas" panose="020B0609020204030204" pitchFamily="49" charset="0"/>
              </a:rPr>
              <a:t>    -Filter "principalId eq '&lt;user-object-id&gt;'"</a:t>
            </a:r>
          </a:p>
          <a:p>
            <a:pPr algn="l"/>
            <a:r>
              <a:rPr lang="en-US" sz="1200">
                <a:latin typeface="Consolas" panose="020B0609020204030204" pitchFamily="49" charset="0"/>
              </a:rPr>
              <a:t>Remove-MgOauth2PermissionGrant `</a:t>
            </a:r>
          </a:p>
          <a:p>
            <a:pPr algn="l"/>
            <a:r>
              <a:rPr lang="en-US" sz="1200">
                <a:latin typeface="Consolas" panose="020B0609020204030204" pitchFamily="49" charset="0"/>
              </a:rPr>
              <a:t>    -OAuth2PermissionGrantId &lt;grant-id&gt;</a:t>
            </a:r>
            <a:endParaRPr lang="en-US" sz="1200" dirty="0" err="1">
              <a:latin typeface="Consolas" panose="020B0609020204030204" pitchFamily="49" charset="0"/>
            </a:endParaRPr>
          </a:p>
        </p:txBody>
      </p:sp>
    </p:spTree>
    <p:extLst>
      <p:ext uri="{BB962C8B-B14F-4D97-AF65-F5344CB8AC3E}">
        <p14:creationId xmlns:p14="http://schemas.microsoft.com/office/powerpoint/2010/main" val="1548781134"/>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37483-3344-E263-8D85-1ED9D2CA38E2}"/>
              </a:ext>
            </a:extLst>
          </p:cNvPr>
          <p:cNvSpPr>
            <a:spLocks noGrp="1"/>
          </p:cNvSpPr>
          <p:nvPr>
            <p:ph type="title"/>
          </p:nvPr>
        </p:nvSpPr>
        <p:spPr/>
        <p:txBody>
          <a:bodyPr/>
          <a:lstStyle/>
          <a:p>
            <a:r>
              <a:rPr lang="en-US"/>
              <a:t>Hardening — Device Code Flow</a:t>
            </a:r>
          </a:p>
        </p:txBody>
      </p:sp>
      <p:sp>
        <p:nvSpPr>
          <p:cNvPr id="3" name="Content Placeholder 2">
            <a:extLst>
              <a:ext uri="{FF2B5EF4-FFF2-40B4-BE49-F238E27FC236}">
                <a16:creationId xmlns:a16="http://schemas.microsoft.com/office/drawing/2014/main" id="{002DB22A-6FDC-6970-144B-5B614C1BB38F}"/>
              </a:ext>
            </a:extLst>
          </p:cNvPr>
          <p:cNvSpPr>
            <a:spLocks noGrp="1"/>
          </p:cNvSpPr>
          <p:nvPr>
            <p:ph sz="quarter" idx="10"/>
          </p:nvPr>
        </p:nvSpPr>
        <p:spPr/>
        <p:txBody>
          <a:bodyPr>
            <a:noAutofit/>
          </a:bodyPr>
          <a:lstStyle/>
          <a:p>
            <a:pPr>
              <a:lnSpc>
                <a:spcPct val="115000"/>
              </a:lnSpc>
              <a:spcBef>
                <a:spcPts val="600"/>
              </a:spcBef>
            </a:pPr>
            <a:r>
              <a:rPr lang="en-US" sz="2200" b="1"/>
              <a:t>Conditional Access Policy:</a:t>
            </a:r>
          </a:p>
          <a:p>
            <a:pPr>
              <a:lnSpc>
                <a:spcPct val="115000"/>
              </a:lnSpc>
              <a:spcBef>
                <a:spcPts val="600"/>
              </a:spcBef>
            </a:pPr>
            <a:r>
              <a:rPr lang="en-US" sz="2200"/>
              <a:t>    Name: "Block Device Code Flow - Corporate Users"</a:t>
            </a:r>
          </a:p>
          <a:p>
            <a:pPr>
              <a:lnSpc>
                <a:spcPct val="115000"/>
              </a:lnSpc>
              <a:spcBef>
                <a:spcPts val="600"/>
              </a:spcBef>
            </a:pPr>
            <a:r>
              <a:rPr lang="en-US" sz="2200"/>
              <a:t>    Target: All users (exclude break-glass accounts)</a:t>
            </a:r>
          </a:p>
          <a:p>
            <a:pPr>
              <a:lnSpc>
                <a:spcPct val="115000"/>
              </a:lnSpc>
              <a:spcBef>
                <a:spcPts val="600"/>
              </a:spcBef>
            </a:pPr>
            <a:r>
              <a:rPr lang="en-US" sz="2200"/>
              <a:t>    Authentication flows: Device code flow - BLOCK</a:t>
            </a:r>
          </a:p>
          <a:p>
            <a:pPr>
              <a:lnSpc>
                <a:spcPct val="115000"/>
              </a:lnSpc>
              <a:spcBef>
                <a:spcPts val="600"/>
              </a:spcBef>
            </a:pPr>
            <a:r>
              <a:rPr lang="en-US" sz="2200"/>
              <a:t>    Reference: Conditional Access Authentication Flows policy</a:t>
            </a:r>
          </a:p>
        </p:txBody>
      </p:sp>
    </p:spTree>
    <p:extLst>
      <p:ext uri="{BB962C8B-B14F-4D97-AF65-F5344CB8AC3E}">
        <p14:creationId xmlns:p14="http://schemas.microsoft.com/office/powerpoint/2010/main" val="647059045"/>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3CD92-26E4-B695-B22E-1ADF30FF875E}"/>
              </a:ext>
            </a:extLst>
          </p:cNvPr>
          <p:cNvSpPr>
            <a:spLocks noGrp="1"/>
          </p:cNvSpPr>
          <p:nvPr>
            <p:ph type="title"/>
          </p:nvPr>
        </p:nvSpPr>
        <p:spPr/>
        <p:txBody>
          <a:bodyPr/>
          <a:lstStyle/>
          <a:p>
            <a:r>
              <a:rPr lang="en-US"/>
              <a:t>Hardening — Device Code Flow (cont. 2)</a:t>
            </a:r>
          </a:p>
        </p:txBody>
      </p:sp>
      <p:sp>
        <p:nvSpPr>
          <p:cNvPr id="3" name="Content Placeholder 2">
            <a:extLst>
              <a:ext uri="{FF2B5EF4-FFF2-40B4-BE49-F238E27FC236}">
                <a16:creationId xmlns:a16="http://schemas.microsoft.com/office/drawing/2014/main" id="{3C64B13A-9E60-56E8-C6F9-DBA5FD7FE4BE}"/>
              </a:ext>
            </a:extLst>
          </p:cNvPr>
          <p:cNvSpPr>
            <a:spLocks noGrp="1"/>
          </p:cNvSpPr>
          <p:nvPr>
            <p:ph sz="quarter" idx="10"/>
          </p:nvPr>
        </p:nvSpPr>
        <p:spPr/>
        <p:txBody>
          <a:bodyPr>
            <a:noAutofit/>
          </a:bodyPr>
          <a:lstStyle/>
          <a:p>
            <a:pPr>
              <a:lnSpc>
                <a:spcPct val="115000"/>
              </a:lnSpc>
              <a:spcBef>
                <a:spcPts val="600"/>
              </a:spcBef>
            </a:pPr>
            <a:r>
              <a:rPr lang="en-US" sz="2200"/>
              <a:t>Why this works: If device code flow is blocked by policy, the attacker's POST to /oauth2/v2.0/devicecode returns an error - the attack fails at step 1.</a:t>
            </a:r>
          </a:p>
          <a:p>
            <a:pPr>
              <a:lnSpc>
                <a:spcPct val="115000"/>
              </a:lnSpc>
              <a:spcBef>
                <a:spcPts val="600"/>
              </a:spcBef>
            </a:pPr>
            <a:r>
              <a:rPr lang="en-US" sz="2200"/>
              <a:t>Residual Risk: Users with legitimate device code flow needs (IoT devices, CLI tools) need a documented exception. Monitor exceptions closely.</a:t>
            </a:r>
          </a:p>
        </p:txBody>
      </p:sp>
    </p:spTree>
    <p:extLst>
      <p:ext uri="{BB962C8B-B14F-4D97-AF65-F5344CB8AC3E}">
        <p14:creationId xmlns:p14="http://schemas.microsoft.com/office/powerpoint/2010/main" val="3359619181"/>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04615-6184-7035-DFD6-644695C26661}"/>
              </a:ext>
            </a:extLst>
          </p:cNvPr>
          <p:cNvSpPr>
            <a:spLocks noGrp="1"/>
          </p:cNvSpPr>
          <p:nvPr>
            <p:ph type="title"/>
          </p:nvPr>
        </p:nvSpPr>
        <p:spPr/>
        <p:txBody>
          <a:bodyPr/>
          <a:lstStyle/>
          <a:p>
            <a:r>
              <a:rPr lang="en-US"/>
              <a:t>Hardening — AiTM and Consent Grants</a:t>
            </a:r>
          </a:p>
        </p:txBody>
      </p:sp>
      <p:sp>
        <p:nvSpPr>
          <p:cNvPr id="3" name="Content Placeholder 2">
            <a:extLst>
              <a:ext uri="{FF2B5EF4-FFF2-40B4-BE49-F238E27FC236}">
                <a16:creationId xmlns:a16="http://schemas.microsoft.com/office/drawing/2014/main" id="{F5711DBC-EC05-D6F3-BEE1-F4DCE69B1B46}"/>
              </a:ext>
            </a:extLst>
          </p:cNvPr>
          <p:cNvSpPr>
            <a:spLocks noGrp="1"/>
          </p:cNvSpPr>
          <p:nvPr>
            <p:ph sz="quarter" idx="10"/>
          </p:nvPr>
        </p:nvSpPr>
        <p:spPr/>
        <p:txBody>
          <a:bodyPr>
            <a:noAutofit/>
          </a:bodyPr>
          <a:lstStyle/>
          <a:p>
            <a:pPr>
              <a:lnSpc>
                <a:spcPct val="115000"/>
              </a:lnSpc>
              <a:spcBef>
                <a:spcPts val="600"/>
              </a:spcBef>
            </a:pPr>
            <a:r>
              <a:rPr lang="en-US" sz="2000" b="1"/>
              <a:t>Adversary-in-the-Middle (AiTM) Hardening:</a:t>
            </a:r>
          </a:p>
          <a:p>
            <a:pPr>
              <a:lnSpc>
                <a:spcPct val="115000"/>
              </a:lnSpc>
              <a:spcBef>
                <a:spcPts val="600"/>
              </a:spcBef>
            </a:pPr>
            <a:r>
              <a:rPr lang="en-US" sz="2000"/>
              <a:t>    Deploy phishing-resistant Multi-Factor Authentication (MFA) (FIDO2 passkeys, certificate-based auth) - binds to device and domain</a:t>
            </a:r>
          </a:p>
          <a:p>
            <a:pPr>
              <a:lnSpc>
                <a:spcPct val="115000"/>
              </a:lnSpc>
              <a:spcBef>
                <a:spcPts val="600"/>
              </a:spcBef>
            </a:pPr>
            <a:r>
              <a:rPr lang="en-US" sz="2000"/>
              <a:t>    Enable Continuous Access Evaluation (CAE) - revokes sessions in near-real-time</a:t>
            </a:r>
          </a:p>
          <a:p>
            <a:pPr>
              <a:lnSpc>
                <a:spcPct val="115000"/>
              </a:lnSpc>
              <a:spcBef>
                <a:spcPts val="600"/>
              </a:spcBef>
            </a:pPr>
            <a:r>
              <a:rPr lang="en-US" sz="2000"/>
              <a:t>    Enable Token Protection in Conditional Access (preview) - binds tokens to the device</a:t>
            </a:r>
          </a:p>
        </p:txBody>
      </p:sp>
    </p:spTree>
    <p:extLst>
      <p:ext uri="{BB962C8B-B14F-4D97-AF65-F5344CB8AC3E}">
        <p14:creationId xmlns:p14="http://schemas.microsoft.com/office/powerpoint/2010/main" val="3083106260"/>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F1D40-F142-8ED2-736C-5E5CCCBBD508}"/>
              </a:ext>
            </a:extLst>
          </p:cNvPr>
          <p:cNvSpPr>
            <a:spLocks noGrp="1"/>
          </p:cNvSpPr>
          <p:nvPr>
            <p:ph type="title"/>
          </p:nvPr>
        </p:nvSpPr>
        <p:spPr/>
        <p:txBody>
          <a:bodyPr/>
          <a:lstStyle/>
          <a:p>
            <a:r>
              <a:rPr lang="en-US"/>
              <a:t>Hardening — AiTM and Consent Grants (cont. 2)</a:t>
            </a:r>
          </a:p>
        </p:txBody>
      </p:sp>
      <p:sp>
        <p:nvSpPr>
          <p:cNvPr id="3" name="Content Placeholder 2">
            <a:extLst>
              <a:ext uri="{FF2B5EF4-FFF2-40B4-BE49-F238E27FC236}">
                <a16:creationId xmlns:a16="http://schemas.microsoft.com/office/drawing/2014/main" id="{4E1FCD7D-6188-65AA-8CFE-904629231811}"/>
              </a:ext>
            </a:extLst>
          </p:cNvPr>
          <p:cNvSpPr>
            <a:spLocks noGrp="1"/>
          </p:cNvSpPr>
          <p:nvPr>
            <p:ph sz="quarter" idx="10"/>
          </p:nvPr>
        </p:nvSpPr>
        <p:spPr/>
        <p:txBody>
          <a:bodyPr>
            <a:noAutofit/>
          </a:bodyPr>
          <a:lstStyle/>
          <a:p>
            <a:pPr>
              <a:lnSpc>
                <a:spcPct val="115000"/>
              </a:lnSpc>
              <a:spcBef>
                <a:spcPts val="600"/>
              </a:spcBef>
            </a:pPr>
            <a:r>
              <a:rPr lang="en-US" sz="2000"/>
              <a:t>    Enable Entra ID Protection risk-based CA: sign-in risk &gt;= Medium requires Multi-Factor Authentication (MFA), User risk = High blocks</a:t>
            </a:r>
          </a:p>
          <a:p>
            <a:pPr>
              <a:lnSpc>
                <a:spcPct val="115000"/>
              </a:lnSpc>
              <a:spcBef>
                <a:spcPts val="600"/>
              </a:spcBef>
            </a:pPr>
            <a:r>
              <a:rPr lang="en-US" sz="2000" b="1"/>
              <a:t>Consent Grant Hardening:</a:t>
            </a:r>
          </a:p>
          <a:p>
            <a:pPr>
              <a:lnSpc>
                <a:spcPct val="115000"/>
              </a:lnSpc>
              <a:spcBef>
                <a:spcPts val="600"/>
              </a:spcBef>
            </a:pPr>
            <a:r>
              <a:rPr lang="en-US" sz="2000"/>
              <a:t>    Disable user consent or restrict to verified publishers with low-risk permissions</a:t>
            </a:r>
          </a:p>
          <a:p>
            <a:pPr>
              <a:lnSpc>
                <a:spcPct val="115000"/>
              </a:lnSpc>
              <a:spcBef>
                <a:spcPts val="600"/>
              </a:spcBef>
            </a:pPr>
            <a:r>
              <a:rPr lang="en-US" sz="2000"/>
              <a:t>    Enable admin consent workflow - require admin approval for all third-party apps</a:t>
            </a:r>
          </a:p>
          <a:p>
            <a:pPr>
              <a:lnSpc>
                <a:spcPct val="115000"/>
              </a:lnSpc>
              <a:spcBef>
                <a:spcPts val="600"/>
              </a:spcBef>
            </a:pPr>
            <a:r>
              <a:rPr lang="en-US" sz="2000"/>
              <a:t>    Assign consent reviewers from the security team</a:t>
            </a:r>
          </a:p>
          <a:p>
            <a:pPr>
              <a:lnSpc>
                <a:spcPct val="115000"/>
              </a:lnSpc>
              <a:spcBef>
                <a:spcPts val="600"/>
              </a:spcBef>
            </a:pPr>
            <a:r>
              <a:rPr lang="en-US" sz="2000"/>
              <a:t>    Run periodic consent grant audits with Get-AzureADPSPermissions.ps1</a:t>
            </a:r>
          </a:p>
        </p:txBody>
      </p:sp>
    </p:spTree>
    <p:extLst>
      <p:ext uri="{BB962C8B-B14F-4D97-AF65-F5344CB8AC3E}">
        <p14:creationId xmlns:p14="http://schemas.microsoft.com/office/powerpoint/2010/main" val="3807733990"/>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A7B3F-0493-FEFF-B5F7-54432943CB48}"/>
              </a:ext>
            </a:extLst>
          </p:cNvPr>
          <p:cNvSpPr>
            <a:spLocks noGrp="1"/>
          </p:cNvSpPr>
          <p:nvPr>
            <p:ph type="title"/>
          </p:nvPr>
        </p:nvSpPr>
        <p:spPr/>
        <p:txBody>
          <a:bodyPr/>
          <a:lstStyle/>
          <a:p>
            <a:r>
              <a:rPr lang="en-US"/>
              <a:t>Post-Incident Checklist</a:t>
            </a:r>
          </a:p>
        </p:txBody>
      </p:sp>
      <p:graphicFrame>
        <p:nvGraphicFramePr>
          <p:cNvPr id="4" name="Content Placeholder 3">
            <a:extLst>
              <a:ext uri="{FF2B5EF4-FFF2-40B4-BE49-F238E27FC236}">
                <a16:creationId xmlns:a16="http://schemas.microsoft.com/office/drawing/2014/main" id="{EDACAAF8-EA47-54C7-0828-24CD2C070864}"/>
              </a:ext>
            </a:extLst>
          </p:cNvPr>
          <p:cNvGraphicFramePr>
            <a:graphicFrameLocks noGrp="1"/>
          </p:cNvGraphicFramePr>
          <p:nvPr>
            <p:ph sz="quarter" idx="10"/>
            <p:extLst>
              <p:ext uri="{D42A27DB-BD31-4B8C-83A1-F6EECF244321}">
                <p14:modId xmlns:p14="http://schemas.microsoft.com/office/powerpoint/2010/main" val="1871691479"/>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4072677806"/>
                    </a:ext>
                  </a:extLst>
                </a:gridCol>
                <a:gridCol w="5715000">
                  <a:extLst>
                    <a:ext uri="{9D8B030D-6E8A-4147-A177-3AD203B41FA5}">
                      <a16:colId xmlns:a16="http://schemas.microsoft.com/office/drawing/2014/main" val="3749984180"/>
                    </a:ext>
                  </a:extLst>
                </a:gridCol>
              </a:tblGrid>
              <a:tr h="627063">
                <a:tc>
                  <a:txBody>
                    <a:bodyPr/>
                    <a:lstStyle/>
                    <a:p>
                      <a:r>
                        <a:rPr lang="en-US" sz="1200" b="1"/>
                        <a:t>Action</a:t>
                      </a:r>
                    </a:p>
                  </a:txBody>
                  <a:tcPr/>
                </a:tc>
                <a:tc>
                  <a:txBody>
                    <a:bodyPr/>
                    <a:lstStyle/>
                    <a:p>
                      <a:r>
                        <a:rPr lang="en-US" sz="1200" b="1"/>
                        <a:t>Notes</a:t>
                      </a:r>
                    </a:p>
                  </a:txBody>
                  <a:tcPr/>
                </a:tc>
                <a:extLst>
                  <a:ext uri="{0D108BD9-81ED-4DB2-BD59-A6C34878D82A}">
                    <a16:rowId xmlns:a16="http://schemas.microsoft.com/office/drawing/2014/main" val="2232747287"/>
                  </a:ext>
                </a:extLst>
              </a:tr>
              <a:tr h="627063">
                <a:tc>
                  <a:txBody>
                    <a:bodyPr/>
                    <a:lstStyle/>
                    <a:p>
                      <a:r>
                        <a:rPr lang="en-US" sz="1200"/>
                        <a:t>Scope all affected accounts</a:t>
                      </a:r>
                    </a:p>
                  </a:txBody>
                  <a:tcPr/>
                </a:tc>
                <a:tc>
                  <a:txBody>
                    <a:bodyPr/>
                    <a:lstStyle/>
                    <a:p>
                      <a:r>
                        <a:rPr lang="en-US" sz="1200"/>
                        <a:t>Check for lateral movement from the initial compromised identity</a:t>
                      </a:r>
                    </a:p>
                  </a:txBody>
                  <a:tcPr/>
                </a:tc>
                <a:extLst>
                  <a:ext uri="{0D108BD9-81ED-4DB2-BD59-A6C34878D82A}">
                    <a16:rowId xmlns:a16="http://schemas.microsoft.com/office/drawing/2014/main" val="2724387169"/>
                  </a:ext>
                </a:extLst>
              </a:tr>
              <a:tr h="627063">
                <a:tc>
                  <a:txBody>
                    <a:bodyPr/>
                    <a:lstStyle/>
                    <a:p>
                      <a:r>
                        <a:rPr lang="en-US" sz="1200"/>
                        <a:t>Review BEC-related actions</a:t>
                      </a:r>
                    </a:p>
                  </a:txBody>
                  <a:tcPr/>
                </a:tc>
                <a:tc>
                  <a:txBody>
                    <a:bodyPr/>
                    <a:lstStyle/>
                    <a:p>
                      <a:r>
                        <a:rPr lang="en-US" sz="1200"/>
                        <a:t>Invoice discussions read, forwarding rules, external emails sent</a:t>
                      </a:r>
                    </a:p>
                  </a:txBody>
                  <a:tcPr/>
                </a:tc>
                <a:extLst>
                  <a:ext uri="{0D108BD9-81ED-4DB2-BD59-A6C34878D82A}">
                    <a16:rowId xmlns:a16="http://schemas.microsoft.com/office/drawing/2014/main" val="1902141465"/>
                  </a:ext>
                </a:extLst>
              </a:tr>
              <a:tr h="627063">
                <a:tc>
                  <a:txBody>
                    <a:bodyPr/>
                    <a:lstStyle/>
                    <a:p>
                      <a:r>
                        <a:rPr lang="en-US" sz="1200"/>
                        <a:t>Audit all OAuth consent grants</a:t>
                      </a:r>
                    </a:p>
                  </a:txBody>
                  <a:tcPr/>
                </a:tc>
                <a:tc>
                  <a:txBody>
                    <a:bodyPr/>
                    <a:lstStyle/>
                    <a:p>
                      <a:r>
                        <a:rPr lang="en-US" sz="1200"/>
                        <a:t>Run Get-AzureADPSPermissions.ps1 for all users post-incident</a:t>
                      </a:r>
                    </a:p>
                  </a:txBody>
                  <a:tcPr/>
                </a:tc>
                <a:extLst>
                  <a:ext uri="{0D108BD9-81ED-4DB2-BD59-A6C34878D82A}">
                    <a16:rowId xmlns:a16="http://schemas.microsoft.com/office/drawing/2014/main" val="4161983520"/>
                  </a:ext>
                </a:extLst>
              </a:tr>
              <a:tr h="627063">
                <a:tc>
                  <a:txBody>
                    <a:bodyPr/>
                    <a:lstStyle/>
                    <a:p>
                      <a:r>
                        <a:rPr lang="en-US" sz="1200"/>
                        <a:t>Validate alert coverage</a:t>
                      </a:r>
                    </a:p>
                  </a:txBody>
                  <a:tcPr/>
                </a:tc>
                <a:tc>
                  <a:txBody>
                    <a:bodyPr/>
                    <a:lstStyle/>
                    <a:p>
                      <a:r>
                        <a:rPr lang="en-US" sz="1200"/>
                        <a:t>Confirm AnomalousToken, AiTM, and Consent alerts are firing</a:t>
                      </a:r>
                    </a:p>
                  </a:txBody>
                  <a:tcPr/>
                </a:tc>
                <a:extLst>
                  <a:ext uri="{0D108BD9-81ED-4DB2-BD59-A6C34878D82A}">
                    <a16:rowId xmlns:a16="http://schemas.microsoft.com/office/drawing/2014/main" val="935374002"/>
                  </a:ext>
                </a:extLst>
              </a:tr>
              <a:tr h="627063">
                <a:tc>
                  <a:txBody>
                    <a:bodyPr/>
                    <a:lstStyle/>
                    <a:p>
                      <a:r>
                        <a:rPr lang="en-US" sz="1200"/>
                        <a:t>Update Conditional Access</a:t>
                      </a:r>
                    </a:p>
                  </a:txBody>
                  <a:tcPr/>
                </a:tc>
                <a:tc>
                  <a:txBody>
                    <a:bodyPr/>
                    <a:lstStyle/>
                    <a:p>
                      <a:r>
                        <a:rPr lang="en-US" sz="1200"/>
                        <a:t>Block device code flow; enforce phishing-resistant MFA</a:t>
                      </a:r>
                    </a:p>
                  </a:txBody>
                  <a:tcPr/>
                </a:tc>
                <a:extLst>
                  <a:ext uri="{0D108BD9-81ED-4DB2-BD59-A6C34878D82A}">
                    <a16:rowId xmlns:a16="http://schemas.microsoft.com/office/drawing/2014/main" val="1817796077"/>
                  </a:ext>
                </a:extLst>
              </a:tr>
              <a:tr h="627063">
                <a:tc>
                  <a:txBody>
                    <a:bodyPr/>
                    <a:lstStyle/>
                    <a:p>
                      <a:r>
                        <a:rPr lang="en-US" sz="1200"/>
                        <a:t>Notify affected users</a:t>
                      </a:r>
                    </a:p>
                  </a:txBody>
                  <a:tcPr/>
                </a:tc>
                <a:tc>
                  <a:txBody>
                    <a:bodyPr/>
                    <a:lstStyle/>
                    <a:p>
                      <a:r>
                        <a:rPr lang="en-US" sz="1200"/>
                        <a:t>Advise users what was accessed and actions taken</a:t>
                      </a:r>
                    </a:p>
                  </a:txBody>
                  <a:tcPr/>
                </a:tc>
                <a:extLst>
                  <a:ext uri="{0D108BD9-81ED-4DB2-BD59-A6C34878D82A}">
                    <a16:rowId xmlns:a16="http://schemas.microsoft.com/office/drawing/2014/main" val="1450167706"/>
                  </a:ext>
                </a:extLst>
              </a:tr>
              <a:tr h="627063">
                <a:tc>
                  <a:txBody>
                    <a:bodyPr/>
                    <a:lstStyle/>
                    <a:p>
                      <a:r>
                        <a:rPr lang="en-US" sz="1200"/>
                        <a:t>Document IOCs</a:t>
                      </a:r>
                    </a:p>
                  </a:txBody>
                  <a:tcPr/>
                </a:tc>
                <a:tc>
                  <a:txBody>
                    <a:bodyPr/>
                    <a:lstStyle/>
                    <a:p>
                      <a:r>
                        <a:rPr lang="en-US" sz="1200"/>
                        <a:t>AiTM proxy domains, malicious app client IDs, attacker IPs</a:t>
                      </a:r>
                    </a:p>
                  </a:txBody>
                  <a:tcPr/>
                </a:tc>
                <a:extLst>
                  <a:ext uri="{0D108BD9-81ED-4DB2-BD59-A6C34878D82A}">
                    <a16:rowId xmlns:a16="http://schemas.microsoft.com/office/drawing/2014/main" val="1592785061"/>
                  </a:ext>
                </a:extLst>
              </a:tr>
            </a:tbl>
          </a:graphicData>
        </a:graphic>
      </p:graphicFrame>
    </p:spTree>
    <p:extLst>
      <p:ext uri="{BB962C8B-B14F-4D97-AF65-F5344CB8AC3E}">
        <p14:creationId xmlns:p14="http://schemas.microsoft.com/office/powerpoint/2010/main" val="3879979371"/>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C08F9-66EE-A345-323E-98CB31323A7A}"/>
              </a:ext>
            </a:extLst>
          </p:cNvPr>
          <p:cNvSpPr>
            <a:spLocks noGrp="1"/>
          </p:cNvSpPr>
          <p:nvPr>
            <p:ph type="title"/>
          </p:nvPr>
        </p:nvSpPr>
        <p:spPr/>
        <p:txBody>
          <a:bodyPr/>
          <a:lstStyle/>
          <a:p>
            <a:r>
              <a:rPr lang="en-US"/>
              <a:t>Post-Incident Checklist (cont.)</a:t>
            </a:r>
          </a:p>
        </p:txBody>
      </p:sp>
      <p:sp>
        <p:nvSpPr>
          <p:cNvPr id="3" name="Content Placeholder 2">
            <a:extLst>
              <a:ext uri="{FF2B5EF4-FFF2-40B4-BE49-F238E27FC236}">
                <a16:creationId xmlns:a16="http://schemas.microsoft.com/office/drawing/2014/main" id="{70C3E37B-D676-F6DA-7273-D462CD2EBB8B}"/>
              </a:ext>
            </a:extLst>
          </p:cNvPr>
          <p:cNvSpPr>
            <a:spLocks noGrp="1"/>
          </p:cNvSpPr>
          <p:nvPr>
            <p:ph sz="quarter" idx="10"/>
          </p:nvPr>
        </p:nvSpPr>
        <p:spPr/>
        <p:txBody>
          <a:bodyPr>
            <a:noAutofit/>
          </a:bodyPr>
          <a:lstStyle/>
          <a:p>
            <a:pPr>
              <a:lnSpc>
                <a:spcPct val="115000"/>
              </a:lnSpc>
              <a:spcBef>
                <a:spcPts val="600"/>
              </a:spcBef>
            </a:pPr>
            <a:r>
              <a:rPr lang="en-US" sz="1600"/>
              <a:t>Lessons Learned (capture within 72 hours): Which technique was used, dwell time from first event to detection, resources accessed, controls that failed, CA policy gaps identified.</a:t>
            </a:r>
          </a:p>
        </p:txBody>
      </p:sp>
    </p:spTree>
    <p:extLst>
      <p:ext uri="{BB962C8B-B14F-4D97-AF65-F5344CB8AC3E}">
        <p14:creationId xmlns:p14="http://schemas.microsoft.com/office/powerpoint/2010/main" val="835642674"/>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4523C-A354-1875-C906-0A52493A4FEA}"/>
              </a:ext>
            </a:extLst>
          </p:cNvPr>
          <p:cNvSpPr>
            <a:spLocks noGrp="1"/>
          </p:cNvSpPr>
          <p:nvPr>
            <p:ph type="title"/>
          </p:nvPr>
        </p:nvSpPr>
        <p:spPr/>
        <p:txBody>
          <a:bodyPr/>
          <a:lstStyle/>
          <a:p>
            <a:r>
              <a:rPr lang="en-US"/>
              <a:t>References</a:t>
            </a:r>
          </a:p>
        </p:txBody>
      </p:sp>
      <p:graphicFrame>
        <p:nvGraphicFramePr>
          <p:cNvPr id="4" name="Content Placeholder 3">
            <a:extLst>
              <a:ext uri="{FF2B5EF4-FFF2-40B4-BE49-F238E27FC236}">
                <a16:creationId xmlns:a16="http://schemas.microsoft.com/office/drawing/2014/main" id="{F55BCAF8-2B46-FCAC-C064-D9D724D5EEC5}"/>
              </a:ext>
            </a:extLst>
          </p:cNvPr>
          <p:cNvGraphicFramePr>
            <a:graphicFrameLocks noGrp="1"/>
          </p:cNvGraphicFramePr>
          <p:nvPr>
            <p:ph sz="quarter" idx="10"/>
            <p:extLst>
              <p:ext uri="{D42A27DB-BD31-4B8C-83A1-F6EECF244321}">
                <p14:modId xmlns:p14="http://schemas.microsoft.com/office/powerpoint/2010/main" val="1183982475"/>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261510760"/>
                    </a:ext>
                  </a:extLst>
                </a:gridCol>
                <a:gridCol w="5715000">
                  <a:extLst>
                    <a:ext uri="{9D8B030D-6E8A-4147-A177-3AD203B41FA5}">
                      <a16:colId xmlns:a16="http://schemas.microsoft.com/office/drawing/2014/main" val="2656018256"/>
                    </a:ext>
                  </a:extLst>
                </a:gridCol>
              </a:tblGrid>
              <a:tr h="456045">
                <a:tc>
                  <a:txBody>
                    <a:bodyPr/>
                    <a:lstStyle/>
                    <a:p>
                      <a:r>
                        <a:rPr lang="en-US" sz="1200" b="1"/>
                        <a:t>Resource</a:t>
                      </a:r>
                    </a:p>
                  </a:txBody>
                  <a:tcPr/>
                </a:tc>
                <a:tc>
                  <a:txBody>
                    <a:bodyPr/>
                    <a:lstStyle/>
                    <a:p>
                      <a:r>
                        <a:rPr lang="en-US" sz="1200" b="1"/>
                        <a:t>Link</a:t>
                      </a:r>
                    </a:p>
                  </a:txBody>
                  <a:tcPr/>
                </a:tc>
                <a:extLst>
                  <a:ext uri="{0D108BD9-81ED-4DB2-BD59-A6C34878D82A}">
                    <a16:rowId xmlns:a16="http://schemas.microsoft.com/office/drawing/2014/main" val="4071868793"/>
                  </a:ext>
                </a:extLst>
              </a:tr>
              <a:tr h="456045">
                <a:tc>
                  <a:txBody>
                    <a:bodyPr/>
                    <a:lstStyle/>
                    <a:p>
                      <a:r>
                        <a:rPr lang="en-US" sz="1200"/>
                        <a:t>Phishing Investigation Playbook</a:t>
                      </a:r>
                    </a:p>
                  </a:txBody>
                  <a:tcPr/>
                </a:tc>
                <a:tc>
                  <a:txBody>
                    <a:bodyPr/>
                    <a:lstStyle/>
                    <a:p>
                      <a:r>
                        <a:rPr lang="en-US" sz="1200"/>
                        <a:t>learn.microsoft.com/security/operations/incident-response-playbook-phishing</a:t>
                      </a:r>
                    </a:p>
                  </a:txBody>
                  <a:tcPr/>
                </a:tc>
                <a:extLst>
                  <a:ext uri="{0D108BD9-81ED-4DB2-BD59-A6C34878D82A}">
                    <a16:rowId xmlns:a16="http://schemas.microsoft.com/office/drawing/2014/main" val="3028176389"/>
                  </a:ext>
                </a:extLst>
              </a:tr>
              <a:tr h="456045">
                <a:tc>
                  <a:txBody>
                    <a:bodyPr/>
                    <a:lstStyle/>
                    <a:p>
                      <a:r>
                        <a:rPr lang="en-US" sz="1200"/>
                        <a:t>Token Theft Playbook</a:t>
                      </a:r>
                    </a:p>
                  </a:txBody>
                  <a:tcPr/>
                </a:tc>
                <a:tc>
                  <a:txBody>
                    <a:bodyPr/>
                    <a:lstStyle/>
                    <a:p>
                      <a:r>
                        <a:rPr lang="en-US" sz="1200"/>
                        <a:t>learn.microsoft.com/security/operations/token-theft-playbook</a:t>
                      </a:r>
                    </a:p>
                  </a:txBody>
                  <a:tcPr/>
                </a:tc>
                <a:extLst>
                  <a:ext uri="{0D108BD9-81ED-4DB2-BD59-A6C34878D82A}">
                    <a16:rowId xmlns:a16="http://schemas.microsoft.com/office/drawing/2014/main" val="1604119554"/>
                  </a:ext>
                </a:extLst>
              </a:tr>
              <a:tr h="456045">
                <a:tc>
                  <a:txBody>
                    <a:bodyPr/>
                    <a:lstStyle/>
                    <a:p>
                      <a:r>
                        <a:rPr lang="en-US" sz="1200"/>
                        <a:t>App Consent Grant Investigation</a:t>
                      </a:r>
                    </a:p>
                  </a:txBody>
                  <a:tcPr/>
                </a:tc>
                <a:tc>
                  <a:txBody>
                    <a:bodyPr/>
                    <a:lstStyle/>
                    <a:p>
                      <a:r>
                        <a:rPr lang="en-US" sz="1200"/>
                        <a:t>learn.microsoft.com/security/operations/incident-response-playbook-app-consent</a:t>
                      </a:r>
                    </a:p>
                  </a:txBody>
                  <a:tcPr/>
                </a:tc>
                <a:extLst>
                  <a:ext uri="{0D108BD9-81ED-4DB2-BD59-A6C34878D82A}">
                    <a16:rowId xmlns:a16="http://schemas.microsoft.com/office/drawing/2014/main" val="3106922806"/>
                  </a:ext>
                </a:extLst>
              </a:tr>
              <a:tr h="456045">
                <a:tc>
                  <a:txBody>
                    <a:bodyPr/>
                    <a:lstStyle/>
                    <a:p>
                      <a:r>
                        <a:rPr lang="en-US" sz="1200"/>
                        <a:t>Detect Illicit Consent Grants</a:t>
                      </a:r>
                    </a:p>
                  </a:txBody>
                  <a:tcPr/>
                </a:tc>
                <a:tc>
                  <a:txBody>
                    <a:bodyPr/>
                    <a:lstStyle/>
                    <a:p>
                      <a:r>
                        <a:rPr lang="en-US" sz="1200"/>
                        <a:t>learn.microsoft.com/defender-office-365/detect-and-remediate-illicit-consent-grants</a:t>
                      </a:r>
                    </a:p>
                  </a:txBody>
                  <a:tcPr/>
                </a:tc>
                <a:extLst>
                  <a:ext uri="{0D108BD9-81ED-4DB2-BD59-A6C34878D82A}">
                    <a16:rowId xmlns:a16="http://schemas.microsoft.com/office/drawing/2014/main" val="800452227"/>
                  </a:ext>
                </a:extLst>
              </a:tr>
              <a:tr h="456045">
                <a:tc>
                  <a:txBody>
                    <a:bodyPr/>
                    <a:lstStyle/>
                    <a:p>
                      <a:r>
                        <a:rPr lang="en-US" sz="1200"/>
                        <a:t>Protecting Tokens in Entra ID</a:t>
                      </a:r>
                    </a:p>
                  </a:txBody>
                  <a:tcPr/>
                </a:tc>
                <a:tc>
                  <a:txBody>
                    <a:bodyPr/>
                    <a:lstStyle/>
                    <a:p>
                      <a:r>
                        <a:rPr lang="en-US" sz="1200"/>
                        <a:t>learn.microsoft.com/entra/identity/devices/protecting-tokens-microsoft-entra-id</a:t>
                      </a:r>
                    </a:p>
                  </a:txBody>
                  <a:tcPr/>
                </a:tc>
                <a:extLst>
                  <a:ext uri="{0D108BD9-81ED-4DB2-BD59-A6C34878D82A}">
                    <a16:rowId xmlns:a16="http://schemas.microsoft.com/office/drawing/2014/main" val="3278537760"/>
                  </a:ext>
                </a:extLst>
              </a:tr>
              <a:tr h="456045">
                <a:tc>
                  <a:txBody>
                    <a:bodyPr/>
                    <a:lstStyle/>
                    <a:p>
                      <a:r>
                        <a:rPr lang="en-US" sz="1200"/>
                        <a:t>OAuth 2.0 Device Authorization Grant</a:t>
                      </a:r>
                    </a:p>
                  </a:txBody>
                  <a:tcPr/>
                </a:tc>
                <a:tc>
                  <a:txBody>
                    <a:bodyPr/>
                    <a:lstStyle/>
                    <a:p>
                      <a:r>
                        <a:rPr lang="en-US" sz="1200"/>
                        <a:t>learn.microsoft.com/entra/identity-platform/v2-oauth2-device-code</a:t>
                      </a:r>
                    </a:p>
                  </a:txBody>
                  <a:tcPr/>
                </a:tc>
                <a:extLst>
                  <a:ext uri="{0D108BD9-81ED-4DB2-BD59-A6C34878D82A}">
                    <a16:rowId xmlns:a16="http://schemas.microsoft.com/office/drawing/2014/main" val="1914524566"/>
                  </a:ext>
                </a:extLst>
              </a:tr>
              <a:tr h="456045">
                <a:tc>
                  <a:txBody>
                    <a:bodyPr/>
                    <a:lstStyle/>
                    <a:p>
                      <a:r>
                        <a:rPr lang="en-US" sz="1200"/>
                        <a:t>CA Authentication Flows (Device Code)</a:t>
                      </a:r>
                    </a:p>
                  </a:txBody>
                  <a:tcPr/>
                </a:tc>
                <a:tc>
                  <a:txBody>
                    <a:bodyPr/>
                    <a:lstStyle/>
                    <a:p>
                      <a:r>
                        <a:rPr lang="en-US" sz="1200"/>
                        <a:t>learn.microsoft.com/entra/identity/conditional-access/concept-authentication-flows</a:t>
                      </a:r>
                    </a:p>
                  </a:txBody>
                  <a:tcPr/>
                </a:tc>
                <a:extLst>
                  <a:ext uri="{0D108BD9-81ED-4DB2-BD59-A6C34878D82A}">
                    <a16:rowId xmlns:a16="http://schemas.microsoft.com/office/drawing/2014/main" val="1000484224"/>
                  </a:ext>
                </a:extLst>
              </a:tr>
              <a:tr h="456045">
                <a:tc>
                  <a:txBody>
                    <a:bodyPr/>
                    <a:lstStyle/>
                    <a:p>
                      <a:r>
                        <a:rPr lang="en-US" sz="1200"/>
                        <a:t>Alert Grading for AiTM Cookie Theft</a:t>
                      </a:r>
                    </a:p>
                  </a:txBody>
                  <a:tcPr/>
                </a:tc>
                <a:tc>
                  <a:txBody>
                    <a:bodyPr/>
                    <a:lstStyle/>
                    <a:p>
                      <a:r>
                        <a:rPr lang="en-US" sz="1200"/>
                        <a:t>learn.microsoft.com/defender-xdr/session-cookie-theft-alert</a:t>
                      </a:r>
                    </a:p>
                  </a:txBody>
                  <a:tcPr/>
                </a:tc>
                <a:extLst>
                  <a:ext uri="{0D108BD9-81ED-4DB2-BD59-A6C34878D82A}">
                    <a16:rowId xmlns:a16="http://schemas.microsoft.com/office/drawing/2014/main" val="3545079057"/>
                  </a:ext>
                </a:extLst>
              </a:tr>
              <a:tr h="456045">
                <a:tc>
                  <a:txBody>
                    <a:bodyPr/>
                    <a:lstStyle/>
                    <a:p>
                      <a:r>
                        <a:rPr lang="en-US" sz="1200"/>
                        <a:t>Entra ID Protection Risk Detections</a:t>
                      </a:r>
                    </a:p>
                  </a:txBody>
                  <a:tcPr/>
                </a:tc>
                <a:tc>
                  <a:txBody>
                    <a:bodyPr/>
                    <a:lstStyle/>
                    <a:p>
                      <a:r>
                        <a:rPr lang="en-US" sz="1200"/>
                        <a:t>learn.microsoft.com/entra/id-protection/concept-identity-protection-risks</a:t>
                      </a:r>
                    </a:p>
                  </a:txBody>
                  <a:tcPr/>
                </a:tc>
                <a:extLst>
                  <a:ext uri="{0D108BD9-81ED-4DB2-BD59-A6C34878D82A}">
                    <a16:rowId xmlns:a16="http://schemas.microsoft.com/office/drawing/2014/main" val="2954531048"/>
                  </a:ext>
                </a:extLst>
              </a:tr>
              <a:tr h="456045">
                <a:tc>
                  <a:txBody>
                    <a:bodyPr/>
                    <a:lstStyle/>
                    <a:p>
                      <a:r>
                        <a:rPr lang="en-US" sz="1200"/>
                        <a:t>2024 Microsoft Digital Defense Report</a:t>
                      </a:r>
                    </a:p>
                  </a:txBody>
                  <a:tcPr/>
                </a:tc>
                <a:tc>
                  <a:txBody>
                    <a:bodyPr/>
                    <a:lstStyle/>
                    <a:p>
                      <a:r>
                        <a:rPr lang="en-US" sz="1200"/>
                        <a:t>aka.ms/mddr</a:t>
                      </a:r>
                    </a:p>
                  </a:txBody>
                  <a:tcPr/>
                </a:tc>
                <a:extLst>
                  <a:ext uri="{0D108BD9-81ED-4DB2-BD59-A6C34878D82A}">
                    <a16:rowId xmlns:a16="http://schemas.microsoft.com/office/drawing/2014/main" val="2942379173"/>
                  </a:ext>
                </a:extLst>
              </a:tr>
            </a:tbl>
          </a:graphicData>
        </a:graphic>
      </p:graphicFrame>
    </p:spTree>
    <p:extLst>
      <p:ext uri="{BB962C8B-B14F-4D97-AF65-F5344CB8AC3E}">
        <p14:creationId xmlns:p14="http://schemas.microsoft.com/office/powerpoint/2010/main" val="3891535635"/>
      </p:ext>
    </p:extLst>
  </p:cSld>
  <p:clrMapOvr>
    <a:masterClrMapping/>
  </p:clrMapOvr>
  <p:transition>
    <p:fade/>
  </p:transition>
</p:sld>
</file>

<file path=ppt/theme/theme1.xml><?xml version="1.0" encoding="utf-8"?>
<a:theme xmlns:a="http://schemas.openxmlformats.org/drawingml/2006/main" name="Microsoft Security template">
  <a:themeElements>
    <a:clrScheme name="Microsoft Security">
      <a:dk1>
        <a:srgbClr val="000000"/>
      </a:dk1>
      <a:lt1>
        <a:srgbClr val="FFFFFF"/>
      </a:lt1>
      <a:dk2>
        <a:srgbClr val="243A5E"/>
      </a:dk2>
      <a:lt2>
        <a:srgbClr val="E6E6E6"/>
      </a:lt2>
      <a:accent1>
        <a:srgbClr val="0078D4"/>
      </a:accent1>
      <a:accent2>
        <a:srgbClr val="FFB900"/>
      </a:accent2>
      <a:accent3>
        <a:srgbClr val="107C10"/>
      </a:accent3>
      <a:accent4>
        <a:srgbClr val="737373"/>
      </a:accent4>
      <a:accent5>
        <a:srgbClr val="9BF00B"/>
      </a:accent5>
      <a:accent6>
        <a:srgbClr val="50E6FF"/>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 Security brand template.potx" id="{C2238F5F-88FF-42D2-B2B7-0AA68068F996}" vid="{6D1610A7-A963-40D5-9923-AA1928F2CA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Microsoft Security brand template</Template>
  <TotalTime>0</TotalTime>
  <Words>9042</Words>
  <Application>Microsoft Office PowerPoint</Application>
  <PresentationFormat>Widescreen</PresentationFormat>
  <Paragraphs>629</Paragraphs>
  <Slides>51</Slides>
  <Notes>51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Aptos</vt:lpstr>
      <vt:lpstr>Arial</vt:lpstr>
      <vt:lpstr>Consolas</vt:lpstr>
      <vt:lpstr>Segoe UI</vt:lpstr>
      <vt:lpstr>Segoe UI Semibold</vt:lpstr>
      <vt:lpstr>Wingdings</vt:lpstr>
      <vt:lpstr>Microsoft Security template</vt:lpstr>
      <vt:lpstr>Cloud Identity Phishing</vt:lpstr>
      <vt:lpstr>Agenda</vt:lpstr>
      <vt:lpstr>Agenda (cont. 2)</vt:lpstr>
      <vt:lpstr>Module Objective and MITRE Mapping</vt:lpstr>
      <vt:lpstr>Module Objective and MITRE Mapping (cont.)</vt:lpstr>
      <vt:lpstr>Three Cloud Phishing Techniques</vt:lpstr>
      <vt:lpstr>Key Tables for This Module</vt:lpstr>
      <vt:lpstr>Device Code Phishing — How It Works</vt:lpstr>
      <vt:lpstr>Device Code Phishing — How It Works (cont. 2)</vt:lpstr>
      <vt:lpstr>Device Code Phishing — Key Indicators</vt:lpstr>
      <vt:lpstr>Device Code Phishing — Key Indicators (cont. 2)</vt:lpstr>
      <vt:lpstr>KQL — Detect Device Code Sign-Ins</vt:lpstr>
      <vt:lpstr>KQL — Device Code IP Mismatch Detection</vt:lpstr>
      <vt:lpstr>AiTM Phishing — How It Works</vt:lpstr>
      <vt:lpstr>AiTM Phishing — How It Works (cont. 2)</vt:lpstr>
      <vt:lpstr>AiTM Phishing — How It Works (cont. 3)</vt:lpstr>
      <vt:lpstr>AiTM — Post-Compromise Actions</vt:lpstr>
      <vt:lpstr>AiTM — Post-Compromise Actions (cont. 2)</vt:lpstr>
      <vt:lpstr>AiTM — Key Indicators and Built-In Alerts</vt:lpstr>
      <vt:lpstr>KQL — AiTM Risk Detections</vt:lpstr>
      <vt:lpstr>KQL — Phishing Click to Sign-In Correlation</vt:lpstr>
      <vt:lpstr>KQL — Phishing Click to Sign-In Correlation (cont.)</vt:lpstr>
      <vt:lpstr>KQL — BEC Inbox Rule Detection</vt:lpstr>
      <vt:lpstr>Illicit Consent Grant — How It Works</vt:lpstr>
      <vt:lpstr>Illicit Consent Grant — How It Works (cont. 2)</vt:lpstr>
      <vt:lpstr>Dangerous Permission Combinations</vt:lpstr>
      <vt:lpstr>Dangerous Permission Combinations (cont.)</vt:lpstr>
      <vt:lpstr>KQL — Detect OAuth Consent Grants</vt:lpstr>
      <vt:lpstr>KQL — Detect App-Based Mail Access</vt:lpstr>
      <vt:lpstr>Email Detection — Table Overview</vt:lpstr>
      <vt:lpstr>Email Detection — Table Overview (cont.)</vt:lpstr>
      <vt:lpstr>KQL — Phishing Delivered to Inbox</vt:lpstr>
      <vt:lpstr>KQL — Full Phishing Kill Chain</vt:lpstr>
      <vt:lpstr>KQL — Full Phishing Kill Chain (cont.)</vt:lpstr>
      <vt:lpstr>KQL — QR Code Phishing Detection</vt:lpstr>
      <vt:lpstr>KQL — QR Code Phishing Detection (cont.)</vt:lpstr>
      <vt:lpstr>KQL — OAuth and Device Code Email Lures</vt:lpstr>
      <vt:lpstr>KQL — OAuth and Device Code Email Lures (cont.)</vt:lpstr>
      <vt:lpstr>Recommended Alert Rules</vt:lpstr>
      <vt:lpstr>Incident Response — Device Code Phishing</vt:lpstr>
      <vt:lpstr>Incident Response — Device Code Phishing (cont. 2)</vt:lpstr>
      <vt:lpstr>Incident Response — AiTM Session Cookie Theft</vt:lpstr>
      <vt:lpstr>Incident Response — AiTM Session Cookie Theft (cont. 2)</vt:lpstr>
      <vt:lpstr>Incident Response — Illicit Consent Grant</vt:lpstr>
      <vt:lpstr>Hardening — Device Code Flow</vt:lpstr>
      <vt:lpstr>Hardening — Device Code Flow (cont. 2)</vt:lpstr>
      <vt:lpstr>Hardening — AiTM and Consent Grants</vt:lpstr>
      <vt:lpstr>Hardening — AiTM and Consent Grants (cont. 2)</vt:lpstr>
      <vt:lpstr>Post-Incident Checklist</vt:lpstr>
      <vt:lpstr>Post-Incident Checklist (cont.)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Hall</dc:creator>
  <cp:lastModifiedBy>Jacob Hall</cp:lastModifiedBy>
  <cp:revision>1</cp:revision>
  <dcterms:created xsi:type="dcterms:W3CDTF">2026-04-21T23:42:22Z</dcterms:created>
  <dcterms:modified xsi:type="dcterms:W3CDTF">2026-04-21T23:42:36Z</dcterms:modified>
</cp:coreProperties>
</file>