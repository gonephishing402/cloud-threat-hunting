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C640E9-7EF8-4E17-8E1F-14F4E4A9B2DA}"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D311A2-ED36-43C3-8A7E-7BE2FBA012EB}" type="slidenum">
              <a:rPr lang="en-US" smtClean="0"/>
              <a:t>‹#›</a:t>
            </a:fld>
            <a:endParaRPr lang="en-US"/>
          </a:p>
        </p:txBody>
      </p:sp>
    </p:spTree>
    <p:extLst>
      <p:ext uri="{BB962C8B-B14F-4D97-AF65-F5344CB8AC3E}">
        <p14:creationId xmlns:p14="http://schemas.microsoft.com/office/powerpoint/2010/main" val="3841689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08, the final module. Azure Web Apps (App Service) are fully managed PaaS for web applications. The attack surface spans the application layer (RCE via command injection) and the Azure control plane (managed identity abuse, deployment credential theft). Detection relies on AppServiceHTTPLogs, ConsoleLogs, and AppServiceFileAuditLogs - a rich set of tables that provides visibility into HTTP requests, console output, and file system changes.</a:t>
            </a:r>
          </a:p>
        </p:txBody>
      </p:sp>
      <p:sp>
        <p:nvSpPr>
          <p:cNvPr id="4" name="Slide Number Placeholder 3"/>
          <p:cNvSpPr>
            <a:spLocks noGrp="1"/>
          </p:cNvSpPr>
          <p:nvPr>
            <p:ph type="sldNum" sz="quarter" idx="5"/>
          </p:nvPr>
        </p:nvSpPr>
        <p:spPr/>
        <p:txBody>
          <a:bodyPr/>
          <a:lstStyle/>
          <a:p>
            <a:fld id="{0ED311A2-ED36-43C3-8A7E-7BE2FBA012EB}" type="slidenum">
              <a:rPr lang="en-US" smtClean="0"/>
              <a:t>1</a:t>
            </a:fld>
            <a:endParaRPr lang="en-US"/>
          </a:p>
        </p:txBody>
      </p:sp>
    </p:spTree>
    <p:extLst>
      <p:ext uri="{BB962C8B-B14F-4D97-AF65-F5344CB8AC3E}">
        <p14:creationId xmlns:p14="http://schemas.microsoft.com/office/powerpoint/2010/main" val="633596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covers the full web app attack chain: fingerprinting and reconnaissance, remote code execution through command injection, environment variable extraction, managed identity token theft, and web shell deployment. The detection tables are comprehensive - AppServiceHTTPLogs captures every HTTP request, ConsoleLogs captures application console output, and FileAuditLogs captures file system modifications. We'll focus on detection queries that identify RCE patterns, suspicious HTTP responses, and managed identity token requests.</a:t>
            </a:r>
          </a:p>
        </p:txBody>
      </p:sp>
      <p:sp>
        <p:nvSpPr>
          <p:cNvPr id="4" name="Slide Number Placeholder 3"/>
          <p:cNvSpPr>
            <a:spLocks noGrp="1"/>
          </p:cNvSpPr>
          <p:nvPr>
            <p:ph type="sldNum" sz="quarter" idx="5"/>
          </p:nvPr>
        </p:nvSpPr>
        <p:spPr/>
        <p:txBody>
          <a:bodyPr/>
          <a:lstStyle/>
          <a:p>
            <a:fld id="{0ED311A2-ED36-43C3-8A7E-7BE2FBA012EB}" type="slidenum">
              <a:rPr lang="en-US" smtClean="0"/>
              <a:t>2</a:t>
            </a:fld>
            <a:endParaRPr lang="en-US"/>
          </a:p>
        </p:txBody>
      </p:sp>
    </p:spTree>
    <p:extLst>
      <p:ext uri="{BB962C8B-B14F-4D97-AF65-F5344CB8AC3E}">
        <p14:creationId xmlns:p14="http://schemas.microsoft.com/office/powerpoint/2010/main" val="672367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module covers the full web app attack chain: fingerprinting and reconnaissance, remote code execution through command injection, environment variable extraction, managed identity token theft, and web shell deployment. The detection tables are comprehensive - AppServiceHTTPLogs captures every HTTP request, ConsoleLogs captures application console output, and FileAuditLogs captures file system modifications. We'll focus on detection queries that identify RCE patterns, suspicious HTTP responses, and managed identity token requests.</a:t>
            </a:r>
          </a:p>
        </p:txBody>
      </p:sp>
      <p:sp>
        <p:nvSpPr>
          <p:cNvPr id="4" name="Slide Number Placeholder 3"/>
          <p:cNvSpPr>
            <a:spLocks noGrp="1"/>
          </p:cNvSpPr>
          <p:nvPr>
            <p:ph type="sldNum" sz="quarter" idx="5"/>
          </p:nvPr>
        </p:nvSpPr>
        <p:spPr/>
        <p:txBody>
          <a:bodyPr/>
          <a:lstStyle/>
          <a:p>
            <a:fld id="{0ED311A2-ED36-43C3-8A7E-7BE2FBA012EB}" type="slidenum">
              <a:rPr lang="en-US" smtClean="0"/>
              <a:t>3</a:t>
            </a:fld>
            <a:endParaRPr lang="en-US"/>
          </a:p>
        </p:txBody>
      </p:sp>
    </p:spTree>
    <p:extLst>
      <p:ext uri="{BB962C8B-B14F-4D97-AF65-F5344CB8AC3E}">
        <p14:creationId xmlns:p14="http://schemas.microsoft.com/office/powerpoint/2010/main" val="3967756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Web Apps map to eight MITRE techniques. The attack typically starts with T1595.002 (fingerprinting the app) and T1190 (exploiting a vulnerability for initial code execution). From there, T1059 enables command execution, T1552.001 extracts credentials from environment variables, T1528 steals managed identity tokens, and T1505.003 establishes persistence via web shells. This is one of the most complete attack chains in the course.</a:t>
            </a:r>
          </a:p>
        </p:txBody>
      </p:sp>
      <p:sp>
        <p:nvSpPr>
          <p:cNvPr id="4" name="Slide Number Placeholder 3"/>
          <p:cNvSpPr>
            <a:spLocks noGrp="1"/>
          </p:cNvSpPr>
          <p:nvPr>
            <p:ph type="sldNum" sz="quarter" idx="5"/>
          </p:nvPr>
        </p:nvSpPr>
        <p:spPr/>
        <p:txBody>
          <a:bodyPr/>
          <a:lstStyle/>
          <a:p>
            <a:fld id="{0ED311A2-ED36-43C3-8A7E-7BE2FBA012EB}" type="slidenum">
              <a:rPr lang="en-US" smtClean="0"/>
              <a:t>4</a:t>
            </a:fld>
            <a:endParaRPr lang="en-US"/>
          </a:p>
        </p:txBody>
      </p:sp>
    </p:spTree>
    <p:extLst>
      <p:ext uri="{BB962C8B-B14F-4D97-AF65-F5344CB8AC3E}">
        <p14:creationId xmlns:p14="http://schemas.microsoft.com/office/powerpoint/2010/main" val="3889122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Web Apps map to eight MITRE techniques. The attack typically starts with T1595.002 (fingerprinting the app) and T1190 (exploiting a vulnerability for initial code execution). From there, T1059 enables command execution, T1552.001 extracts credentials from environment variables, T1528 steals managed identity tokens, and T1505.003 establishes persistence via web shells. This is one of the most complete attack chains in the course.</a:t>
            </a:r>
          </a:p>
        </p:txBody>
      </p:sp>
      <p:sp>
        <p:nvSpPr>
          <p:cNvPr id="4" name="Slide Number Placeholder 3"/>
          <p:cNvSpPr>
            <a:spLocks noGrp="1"/>
          </p:cNvSpPr>
          <p:nvPr>
            <p:ph type="sldNum" sz="quarter" idx="5"/>
          </p:nvPr>
        </p:nvSpPr>
        <p:spPr/>
        <p:txBody>
          <a:bodyPr/>
          <a:lstStyle/>
          <a:p>
            <a:fld id="{0ED311A2-ED36-43C3-8A7E-7BE2FBA012EB}" type="slidenum">
              <a:rPr lang="en-US" smtClean="0"/>
              <a:t>5</a:t>
            </a:fld>
            <a:endParaRPr lang="en-US"/>
          </a:p>
        </p:txBody>
      </p:sp>
    </p:spTree>
    <p:extLst>
      <p:ext uri="{BB962C8B-B14F-4D97-AF65-F5344CB8AC3E}">
        <p14:creationId xmlns:p14="http://schemas.microsoft.com/office/powerpoint/2010/main" val="2881496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attack surface has two layers: application vulnerabilities (code-level) and Azure platform exploitation. An attacker who achieves RCE through a command injection vulnerability can then access the Azure platform layer - environment variables contain subscription IDs, connection strings, and the managed identity endpoint. The managed identity is the pivot point for lateral movement, just like in Modules 05 and 07. Web shell deployment provides persistent access that survives application redeployments if placed in the right directory.</a:t>
            </a:r>
          </a:p>
        </p:txBody>
      </p:sp>
      <p:sp>
        <p:nvSpPr>
          <p:cNvPr id="4" name="Slide Number Placeholder 3"/>
          <p:cNvSpPr>
            <a:spLocks noGrp="1"/>
          </p:cNvSpPr>
          <p:nvPr>
            <p:ph type="sldNum" sz="quarter" idx="5"/>
          </p:nvPr>
        </p:nvSpPr>
        <p:spPr/>
        <p:txBody>
          <a:bodyPr/>
          <a:lstStyle/>
          <a:p>
            <a:fld id="{0ED311A2-ED36-43C3-8A7E-7BE2FBA012EB}" type="slidenum">
              <a:rPr lang="en-US" smtClean="0"/>
              <a:t>6</a:t>
            </a:fld>
            <a:endParaRPr lang="en-US"/>
          </a:p>
        </p:txBody>
      </p:sp>
    </p:spTree>
    <p:extLst>
      <p:ext uri="{BB962C8B-B14F-4D97-AF65-F5344CB8AC3E}">
        <p14:creationId xmlns:p14="http://schemas.microsoft.com/office/powerpoint/2010/main" val="1340360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attack surface has two layers: application vulnerabilities (code-level) and Azure platform exploitation. An attacker who achieves RCE through a command injection vulnerability can then access the Azure platform layer - environment variables contain subscription IDs, connection strings, and the managed identity endpoint. The managed identity is the pivot point for lateral movement, just like in Modules 05 and 07. Web shell deployment provides persistent access that survives application redeployments if placed in the right directory.</a:t>
            </a:r>
          </a:p>
        </p:txBody>
      </p:sp>
      <p:sp>
        <p:nvSpPr>
          <p:cNvPr id="4" name="Slide Number Placeholder 3"/>
          <p:cNvSpPr>
            <a:spLocks noGrp="1"/>
          </p:cNvSpPr>
          <p:nvPr>
            <p:ph type="sldNum" sz="quarter" idx="5"/>
          </p:nvPr>
        </p:nvSpPr>
        <p:spPr/>
        <p:txBody>
          <a:bodyPr/>
          <a:lstStyle/>
          <a:p>
            <a:fld id="{0ED311A2-ED36-43C3-8A7E-7BE2FBA012EB}" type="slidenum">
              <a:rPr lang="en-US" smtClean="0"/>
              <a:t>7</a:t>
            </a:fld>
            <a:endParaRPr lang="en-US"/>
          </a:p>
        </p:txBody>
      </p:sp>
    </p:spTree>
    <p:extLst>
      <p:ext uri="{BB962C8B-B14F-4D97-AF65-F5344CB8AC3E}">
        <p14:creationId xmlns:p14="http://schemas.microsoft.com/office/powerpoint/2010/main" val="1871860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environment variables are available to any code running in the App Service sandbox. After achieving command injection, the attacker's first command is typically env or printenv to dump the full environment. IDENTITY_ENDPOINT and IDENTITY_HEADER are the keys to managed identity token theft. WEBSITE_AUTH_SIGNING_KEY allows forging authentication tokens, effectively bypassing App Service Authentication. Connection string variables expose database credentials. Emphasize to students that securing the application code is the first line of defense - if RCE is prevented, none of these variables are accessible.</a:t>
            </a:r>
          </a:p>
        </p:txBody>
      </p:sp>
      <p:sp>
        <p:nvSpPr>
          <p:cNvPr id="4" name="Slide Number Placeholder 3"/>
          <p:cNvSpPr>
            <a:spLocks noGrp="1"/>
          </p:cNvSpPr>
          <p:nvPr>
            <p:ph type="sldNum" sz="quarter" idx="5"/>
          </p:nvPr>
        </p:nvSpPr>
        <p:spPr/>
        <p:txBody>
          <a:bodyPr/>
          <a:lstStyle/>
          <a:p>
            <a:fld id="{0ED311A2-ED36-43C3-8A7E-7BE2FBA012EB}" type="slidenum">
              <a:rPr lang="en-US" smtClean="0"/>
              <a:t>8</a:t>
            </a:fld>
            <a:endParaRPr lang="en-US"/>
          </a:p>
        </p:txBody>
      </p:sp>
    </p:spTree>
    <p:extLst>
      <p:ext uri="{BB962C8B-B14F-4D97-AF65-F5344CB8AC3E}">
        <p14:creationId xmlns:p14="http://schemas.microsoft.com/office/powerpoint/2010/main" val="1863572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environment variables are available to any code running in the App Service sandbox. After achieving command injection, the attacker's first command is typically env or printenv to dump the full environment. IDENTITY_ENDPOINT and IDENTITY_HEADER are the keys to managed identity token theft. WEBSITE_AUTH_SIGNING_KEY allows forging authentication tokens, effectively bypassing App Service Authentication. Connection string variables expose database credentials. Emphasize to students that securing the application code is the first line of defense - if RCE is prevented, none of these variables are accessible.</a:t>
            </a:r>
          </a:p>
        </p:txBody>
      </p:sp>
      <p:sp>
        <p:nvSpPr>
          <p:cNvPr id="4" name="Slide Number Placeholder 3"/>
          <p:cNvSpPr>
            <a:spLocks noGrp="1"/>
          </p:cNvSpPr>
          <p:nvPr>
            <p:ph type="sldNum" sz="quarter" idx="5"/>
          </p:nvPr>
        </p:nvSpPr>
        <p:spPr/>
        <p:txBody>
          <a:bodyPr/>
          <a:lstStyle/>
          <a:p>
            <a:fld id="{0ED311A2-ED36-43C3-8A7E-7BE2FBA012EB}" type="slidenum">
              <a:rPr lang="en-US" smtClean="0"/>
              <a:t>9</a:t>
            </a:fld>
            <a:endParaRPr lang="en-US"/>
          </a:p>
        </p:txBody>
      </p:sp>
    </p:spTree>
    <p:extLst>
      <p:ext uri="{BB962C8B-B14F-4D97-AF65-F5344CB8AC3E}">
        <p14:creationId xmlns:p14="http://schemas.microsoft.com/office/powerpoint/2010/main" val="4001073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same managed identity token theft pattern from Module 05, but in the Web App context. The attacker queries the local IDENTITY_ENDPOINT with different resource URLs to get tokens for ARM, Graph, Key Vault, and Storage. Each token request generates a managed identity sign-in event. If the Web App's managed identity has Contributor on the subscription or Key Vault Secrets User, the attacker inherits those permissions. In the lab, students will see the managed identity sign-in events generated by token theft and correlate them with the original RCE activity.</a:t>
            </a:r>
          </a:p>
        </p:txBody>
      </p:sp>
      <p:sp>
        <p:nvSpPr>
          <p:cNvPr id="4" name="Slide Number Placeholder 3"/>
          <p:cNvSpPr>
            <a:spLocks noGrp="1"/>
          </p:cNvSpPr>
          <p:nvPr>
            <p:ph type="sldNum" sz="quarter" idx="5"/>
          </p:nvPr>
        </p:nvSpPr>
        <p:spPr/>
        <p:txBody>
          <a:bodyPr/>
          <a:lstStyle/>
          <a:p>
            <a:fld id="{0ED311A2-ED36-43C3-8A7E-7BE2FBA012EB}" type="slidenum">
              <a:rPr lang="en-US" smtClean="0"/>
              <a:t>10</a:t>
            </a:fld>
            <a:endParaRPr lang="en-US"/>
          </a:p>
        </p:txBody>
      </p:sp>
    </p:spTree>
    <p:extLst>
      <p:ext uri="{BB962C8B-B14F-4D97-AF65-F5344CB8AC3E}">
        <p14:creationId xmlns:p14="http://schemas.microsoft.com/office/powerpoint/2010/main" val="429082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is the same managed identity token theft pattern from Module 05, but in the Web App context. The attacker queries the local IDENTITY_ENDPOINT with different resource URLs to get tokens for ARM, Graph, Key Vault, and Storage. Each token request generates a managed identity sign-in event. If the Web App's managed identity has Contributor on the subscription or Key Vault Secrets User, the attacker inherits those permissions. In the lab, students will see the managed identity sign-in events generated by token theft and correlate them with the original RCE activity.</a:t>
            </a:r>
          </a:p>
        </p:txBody>
      </p:sp>
      <p:sp>
        <p:nvSpPr>
          <p:cNvPr id="4" name="Slide Number Placeholder 3"/>
          <p:cNvSpPr>
            <a:spLocks noGrp="1"/>
          </p:cNvSpPr>
          <p:nvPr>
            <p:ph type="sldNum" sz="quarter" idx="5"/>
          </p:nvPr>
        </p:nvSpPr>
        <p:spPr/>
        <p:txBody>
          <a:bodyPr/>
          <a:lstStyle/>
          <a:p>
            <a:fld id="{0ED311A2-ED36-43C3-8A7E-7BE2FBA012EB}" type="slidenum">
              <a:rPr lang="en-US" smtClean="0"/>
              <a:t>11</a:t>
            </a:fld>
            <a:endParaRPr lang="en-US"/>
          </a:p>
        </p:txBody>
      </p:sp>
    </p:spTree>
    <p:extLst>
      <p:ext uri="{BB962C8B-B14F-4D97-AF65-F5344CB8AC3E}">
        <p14:creationId xmlns:p14="http://schemas.microsoft.com/office/powerpoint/2010/main" val="1681801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Web Apps have the richest logging of any Azure service. AppServiceHTTPLogs is the primary table - it captures every HTTP request with response codes, which is how we detect RCE (500 errors with injection patterns). ConsoleLogs captures the output of command execution. FileAuditLogs captures web shell deployment. AuditLogs captures Kudu and FTP access. All these categories must be enabled via diagnostic settings. Without them, you're blind to both the initial exploitation and the follow-on activity.</a:t>
            </a:r>
          </a:p>
        </p:txBody>
      </p:sp>
      <p:sp>
        <p:nvSpPr>
          <p:cNvPr id="4" name="Slide Number Placeholder 3"/>
          <p:cNvSpPr>
            <a:spLocks noGrp="1"/>
          </p:cNvSpPr>
          <p:nvPr>
            <p:ph type="sldNum" sz="quarter" idx="5"/>
          </p:nvPr>
        </p:nvSpPr>
        <p:spPr/>
        <p:txBody>
          <a:bodyPr/>
          <a:lstStyle/>
          <a:p>
            <a:fld id="{0ED311A2-ED36-43C3-8A7E-7BE2FBA012EB}" type="slidenum">
              <a:rPr lang="en-US" smtClean="0"/>
              <a:t>12</a:t>
            </a:fld>
            <a:endParaRPr lang="en-US"/>
          </a:p>
        </p:txBody>
      </p:sp>
    </p:spTree>
    <p:extLst>
      <p:ext uri="{BB962C8B-B14F-4D97-AF65-F5344CB8AC3E}">
        <p14:creationId xmlns:p14="http://schemas.microsoft.com/office/powerpoint/2010/main" val="2207230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Web Apps have the richest logging of any Azure service. AppServiceHTTPLogs is the primary table - it captures every HTTP request with response codes, which is how we detect RCE (500 errors with injection patterns). ConsoleLogs captures the output of command execution. FileAuditLogs captures web shell deployment. AuditLogs captures Kudu and FTP access. All these categories must be enabled via diagnostic settings. Without them, you're blind to both the initial exploitation and the follow-on activity.</a:t>
            </a:r>
          </a:p>
        </p:txBody>
      </p:sp>
      <p:sp>
        <p:nvSpPr>
          <p:cNvPr id="4" name="Slide Number Placeholder 3"/>
          <p:cNvSpPr>
            <a:spLocks noGrp="1"/>
          </p:cNvSpPr>
          <p:nvPr>
            <p:ph type="sldNum" sz="quarter" idx="5"/>
          </p:nvPr>
        </p:nvSpPr>
        <p:spPr/>
        <p:txBody>
          <a:bodyPr/>
          <a:lstStyle/>
          <a:p>
            <a:fld id="{0ED311A2-ED36-43C3-8A7E-7BE2FBA012EB}" type="slidenum">
              <a:rPr lang="en-US" smtClean="0"/>
              <a:t>13</a:t>
            </a:fld>
            <a:endParaRPr lang="en-US"/>
          </a:p>
        </p:txBody>
      </p:sp>
    </p:spTree>
    <p:extLst>
      <p:ext uri="{BB962C8B-B14F-4D97-AF65-F5344CB8AC3E}">
        <p14:creationId xmlns:p14="http://schemas.microsoft.com/office/powerpoint/2010/main" val="3318883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catches the initial exploitation. Command injection patterns in URI stems or query strings combined with 500-series status codes indicate the application is processing malicious input. The patterns include shell metacharacters ($(), %;, pipe, backtick), path traversal (../), and direct command references (cmd, exec, system). CIp is the attacker's IP address. CsUserAgent may reveal automated scanning tools. In the lab, students will see these patterns in the HTTP logs and trace them to console output showing command execution.</a:t>
            </a:r>
          </a:p>
        </p:txBody>
      </p:sp>
      <p:sp>
        <p:nvSpPr>
          <p:cNvPr id="4" name="Slide Number Placeholder 3"/>
          <p:cNvSpPr>
            <a:spLocks noGrp="1"/>
          </p:cNvSpPr>
          <p:nvPr>
            <p:ph type="sldNum" sz="quarter" idx="5"/>
          </p:nvPr>
        </p:nvSpPr>
        <p:spPr/>
        <p:txBody>
          <a:bodyPr/>
          <a:lstStyle/>
          <a:p>
            <a:fld id="{0ED311A2-ED36-43C3-8A7E-7BE2FBA012EB}" type="slidenum">
              <a:rPr lang="en-US" smtClean="0"/>
              <a:t>14</a:t>
            </a:fld>
            <a:endParaRPr lang="en-US"/>
          </a:p>
        </p:txBody>
      </p:sp>
    </p:spTree>
    <p:extLst>
      <p:ext uri="{BB962C8B-B14F-4D97-AF65-F5344CB8AC3E}">
        <p14:creationId xmlns:p14="http://schemas.microsoft.com/office/powerpoint/2010/main" val="3975878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catches the initial exploitation. Command injection patterns in URI stems or query strings combined with 500-series status codes indicate the application is processing malicious input. The patterns include shell metacharacters ($(), %;, pipe, backtick), path traversal (../), and direct command references (cmd, exec, system). CIp is the attacker's IP address. CsUserAgent may reveal automated scanning tools. In the lab, students will see these patterns in the HTTP logs and trace them to console output showing command execution.</a:t>
            </a:r>
          </a:p>
        </p:txBody>
      </p:sp>
      <p:sp>
        <p:nvSpPr>
          <p:cNvPr id="4" name="Slide Number Placeholder 3"/>
          <p:cNvSpPr>
            <a:spLocks noGrp="1"/>
          </p:cNvSpPr>
          <p:nvPr>
            <p:ph type="sldNum" sz="quarter" idx="5"/>
          </p:nvPr>
        </p:nvSpPr>
        <p:spPr/>
        <p:txBody>
          <a:bodyPr/>
          <a:lstStyle/>
          <a:p>
            <a:fld id="{0ED311A2-ED36-43C3-8A7E-7BE2FBA012EB}" type="slidenum">
              <a:rPr lang="en-US" smtClean="0"/>
              <a:t>15</a:t>
            </a:fld>
            <a:endParaRPr lang="en-US"/>
          </a:p>
        </p:txBody>
      </p:sp>
    </p:spTree>
    <p:extLst>
      <p:ext uri="{BB962C8B-B14F-4D97-AF65-F5344CB8AC3E}">
        <p14:creationId xmlns:p14="http://schemas.microsoft.com/office/powerpoint/2010/main" val="753672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query catches command execution output in console logs - uid= and /bin/sh indicate the attacker ran shell commands, IDENTITY_ENDPOINT shows they discovered the managed identity, and access_token shows they successfully stole a token. The second query detects the HTTP request to the managed identity endpoint from within the app. Correlate the timestamps between HTTP logs and console logs to reconstruct the attack timeline: the injection request, the command execution output, and the managed identity token theft.</a:t>
            </a:r>
          </a:p>
        </p:txBody>
      </p:sp>
      <p:sp>
        <p:nvSpPr>
          <p:cNvPr id="4" name="Slide Number Placeholder 3"/>
          <p:cNvSpPr>
            <a:spLocks noGrp="1"/>
          </p:cNvSpPr>
          <p:nvPr>
            <p:ph type="sldNum" sz="quarter" idx="5"/>
          </p:nvPr>
        </p:nvSpPr>
        <p:spPr/>
        <p:txBody>
          <a:bodyPr/>
          <a:lstStyle/>
          <a:p>
            <a:fld id="{0ED311A2-ED36-43C3-8A7E-7BE2FBA012EB}" type="slidenum">
              <a:rPr lang="en-US" smtClean="0"/>
              <a:t>16</a:t>
            </a:fld>
            <a:endParaRPr lang="en-US"/>
          </a:p>
        </p:txBody>
      </p:sp>
    </p:spTree>
    <p:extLst>
      <p:ext uri="{BB962C8B-B14F-4D97-AF65-F5344CB8AC3E}">
        <p14:creationId xmlns:p14="http://schemas.microsoft.com/office/powerpoint/2010/main" val="13472303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FileAuditLogs captures every file creation, modification, and deletion in the app's file system. Web shells - malicious PHP, ASPX, or JSP files - will appear as new file creation events. Correlate the file creation timestamp with the RCE event to confirm web shell deployment. AuditLogs captures FTP and Kudu access - Kudu is the deployment console available at yourapp.scm.azurewebsites.net. Kudu access outside of CI/CD deployment windows is suspicious. FTP access from IPs outside your deployment infrastructure warrants immediate investigation.</a:t>
            </a:r>
          </a:p>
        </p:txBody>
      </p:sp>
      <p:sp>
        <p:nvSpPr>
          <p:cNvPr id="4" name="Slide Number Placeholder 3"/>
          <p:cNvSpPr>
            <a:spLocks noGrp="1"/>
          </p:cNvSpPr>
          <p:nvPr>
            <p:ph type="sldNum" sz="quarter" idx="5"/>
          </p:nvPr>
        </p:nvSpPr>
        <p:spPr/>
        <p:txBody>
          <a:bodyPr/>
          <a:lstStyle/>
          <a:p>
            <a:fld id="{0ED311A2-ED36-43C3-8A7E-7BE2FBA012EB}" type="slidenum">
              <a:rPr lang="en-US" smtClean="0"/>
              <a:t>17</a:t>
            </a:fld>
            <a:endParaRPr lang="en-US"/>
          </a:p>
        </p:txBody>
      </p:sp>
    </p:spTree>
    <p:extLst>
      <p:ext uri="{BB962C8B-B14F-4D97-AF65-F5344CB8AC3E}">
        <p14:creationId xmlns:p14="http://schemas.microsoft.com/office/powerpoint/2010/main" val="576533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Defender for App Service provides comprehensive detection from reconnaissance through exfiltration. The web shell detection is particularly valuable - it identifies known malicious files deployed to the application. The dangling DNS alert detects subdomain takeover vulnerabilities where a custom domain points to a deprovisioned App Service. Enable Defender for App Service at the subscription level and ensure alerts are connected to Sentinel for correlation with other modules.</a:t>
            </a:r>
          </a:p>
        </p:txBody>
      </p:sp>
      <p:sp>
        <p:nvSpPr>
          <p:cNvPr id="4" name="Slide Number Placeholder 3"/>
          <p:cNvSpPr>
            <a:spLocks noGrp="1"/>
          </p:cNvSpPr>
          <p:nvPr>
            <p:ph type="sldNum" sz="quarter" idx="5"/>
          </p:nvPr>
        </p:nvSpPr>
        <p:spPr/>
        <p:txBody>
          <a:bodyPr/>
          <a:lstStyle/>
          <a:p>
            <a:fld id="{0ED311A2-ED36-43C3-8A7E-7BE2FBA012EB}" type="slidenum">
              <a:rPr lang="en-US" smtClean="0"/>
              <a:t>18</a:t>
            </a:fld>
            <a:endParaRPr lang="en-US"/>
          </a:p>
        </p:txBody>
      </p:sp>
    </p:spTree>
    <p:extLst>
      <p:ext uri="{BB962C8B-B14F-4D97-AF65-F5344CB8AC3E}">
        <p14:creationId xmlns:p14="http://schemas.microsoft.com/office/powerpoint/2010/main" val="3014252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Defender for App Service provides comprehensive detection from reconnaissance through exfiltration. The web shell detection is particularly valuable - it identifies known malicious files deployed to the application. The dangling DNS alert detects subdomain takeover vulnerabilities where a custom domain points to a deprovisioned App Service. Enable Defender for App Service at the subscription level and ensure alerts are connected to Sentinel for correlation with other modules.</a:t>
            </a:r>
          </a:p>
        </p:txBody>
      </p:sp>
      <p:sp>
        <p:nvSpPr>
          <p:cNvPr id="4" name="Slide Number Placeholder 3"/>
          <p:cNvSpPr>
            <a:spLocks noGrp="1"/>
          </p:cNvSpPr>
          <p:nvPr>
            <p:ph type="sldNum" sz="quarter" idx="5"/>
          </p:nvPr>
        </p:nvSpPr>
        <p:spPr/>
        <p:txBody>
          <a:bodyPr/>
          <a:lstStyle/>
          <a:p>
            <a:fld id="{0ED311A2-ED36-43C3-8A7E-7BE2FBA012EB}" type="slidenum">
              <a:rPr lang="en-US" smtClean="0"/>
              <a:t>19</a:t>
            </a:fld>
            <a:endParaRPr lang="en-US"/>
          </a:p>
        </p:txBody>
      </p:sp>
    </p:spTree>
    <p:extLst>
      <p:ext uri="{BB962C8B-B14F-4D97-AF65-F5344CB8AC3E}">
        <p14:creationId xmlns:p14="http://schemas.microsoft.com/office/powerpoint/2010/main" val="28530171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Stopping the app is the fastest containment action. IP restrictions provide a more surgical approach if you can identify the attacker's IP from HTTP logs. Revoking managed identity role assignments cuts off lateral movement. In eradication, remove ALL files that weren't part of the original deployment - check all directories, not just wwwroot. Redeploy from source control or a known-good package rather than trying to clean the existing deployment. For hardening, WAF is the most impactful control for preventing the initial RCE - it blocks common injection patterns before they reach the application.</a:t>
            </a:r>
          </a:p>
        </p:txBody>
      </p:sp>
      <p:sp>
        <p:nvSpPr>
          <p:cNvPr id="4" name="Slide Number Placeholder 3"/>
          <p:cNvSpPr>
            <a:spLocks noGrp="1"/>
          </p:cNvSpPr>
          <p:nvPr>
            <p:ph type="sldNum" sz="quarter" idx="5"/>
          </p:nvPr>
        </p:nvSpPr>
        <p:spPr/>
        <p:txBody>
          <a:bodyPr/>
          <a:lstStyle/>
          <a:p>
            <a:fld id="{0ED311A2-ED36-43C3-8A7E-7BE2FBA012EB}" type="slidenum">
              <a:rPr lang="en-US" smtClean="0"/>
              <a:t>20</a:t>
            </a:fld>
            <a:endParaRPr lang="en-US"/>
          </a:p>
        </p:txBody>
      </p:sp>
    </p:spTree>
    <p:extLst>
      <p:ext uri="{BB962C8B-B14F-4D97-AF65-F5344CB8AC3E}">
        <p14:creationId xmlns:p14="http://schemas.microsoft.com/office/powerpoint/2010/main" val="2849576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Stopping the app is the fastest containment action. IP restrictions provide a more surgical approach if you can identify the attacker's IP from HTTP logs. Revoking managed identity role assignments cuts off lateral movement. In eradication, remove ALL files that weren't part of the original deployment - check all directories, not just wwwroot. Redeploy from source control or a known-good package rather than trying to clean the existing deployment. For hardening, WAF is the most impactful control for preventing the initial RCE - it blocks common injection patterns before they reach the application.</a:t>
            </a:r>
          </a:p>
        </p:txBody>
      </p:sp>
      <p:sp>
        <p:nvSpPr>
          <p:cNvPr id="4" name="Slide Number Placeholder 3"/>
          <p:cNvSpPr>
            <a:spLocks noGrp="1"/>
          </p:cNvSpPr>
          <p:nvPr>
            <p:ph type="sldNum" sz="quarter" idx="5"/>
          </p:nvPr>
        </p:nvSpPr>
        <p:spPr/>
        <p:txBody>
          <a:bodyPr/>
          <a:lstStyle/>
          <a:p>
            <a:fld id="{0ED311A2-ED36-43C3-8A7E-7BE2FBA012EB}" type="slidenum">
              <a:rPr lang="en-US" smtClean="0"/>
              <a:t>21</a:t>
            </a:fld>
            <a:endParaRPr lang="en-US"/>
          </a:p>
        </p:txBody>
      </p:sp>
    </p:spTree>
    <p:extLst>
      <p:ext uri="{BB962C8B-B14F-4D97-AF65-F5344CB8AC3E}">
        <p14:creationId xmlns:p14="http://schemas.microsoft.com/office/powerpoint/2010/main" val="3343947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Module 08 completes the course. We've covered the full cloud threat hunting landscape: methodology, phishing, token abuse, Logic Apps, storage, persistence, Key Vault, Container Apps, and Web Apps. The patterns are consistent across all modules: hypothesis-driven hunting, per-table Kusto Query Language (KQL) investigation, cross-table correlation, and the hunt loop. Encourage students to take the detection queries and analytics rules from each module back to their environments. Every confirmed finding should become a durable analytics rule.</a:t>
            </a:r>
          </a:p>
        </p:txBody>
      </p:sp>
      <p:sp>
        <p:nvSpPr>
          <p:cNvPr id="4" name="Slide Number Placeholder 3"/>
          <p:cNvSpPr>
            <a:spLocks noGrp="1"/>
          </p:cNvSpPr>
          <p:nvPr>
            <p:ph type="sldNum" sz="quarter" idx="5"/>
          </p:nvPr>
        </p:nvSpPr>
        <p:spPr/>
        <p:txBody>
          <a:bodyPr/>
          <a:lstStyle/>
          <a:p>
            <a:fld id="{0ED311A2-ED36-43C3-8A7E-7BE2FBA012EB}" type="slidenum">
              <a:rPr lang="en-US" smtClean="0"/>
              <a:t>22</a:t>
            </a:fld>
            <a:endParaRPr lang="en-US"/>
          </a:p>
        </p:txBody>
      </p:sp>
    </p:spTree>
    <p:extLst>
      <p:ext uri="{BB962C8B-B14F-4D97-AF65-F5344CB8AC3E}">
        <p14:creationId xmlns:p14="http://schemas.microsoft.com/office/powerpoint/2010/main" val="657539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Module 08 completes the course. We've covered the full cloud threat hunting landscape: methodology, phishing, token abuse, Logic Apps, storage, persistence, Key Vault, Container Apps, and Web Apps. The patterns are consistent across all modules: hypothesis-driven hunting, per-table Kusto Query Language (KQL) investigation, cross-table correlation, and the hunt loop. Encourage students to take the detection queries and analytics rules from each module back to their environments. Every confirmed finding should become a durable analytics rule.</a:t>
            </a:r>
          </a:p>
        </p:txBody>
      </p:sp>
      <p:sp>
        <p:nvSpPr>
          <p:cNvPr id="4" name="Slide Number Placeholder 3"/>
          <p:cNvSpPr>
            <a:spLocks noGrp="1"/>
          </p:cNvSpPr>
          <p:nvPr>
            <p:ph type="sldNum" sz="quarter" idx="5"/>
          </p:nvPr>
        </p:nvSpPr>
        <p:spPr/>
        <p:txBody>
          <a:bodyPr/>
          <a:lstStyle/>
          <a:p>
            <a:fld id="{0ED311A2-ED36-43C3-8A7E-7BE2FBA012EB}" type="slidenum">
              <a:rPr lang="en-US" smtClean="0"/>
              <a:t>23</a:t>
            </a:fld>
            <a:endParaRPr lang="en-US"/>
          </a:p>
        </p:txBody>
      </p:sp>
    </p:spTree>
    <p:extLst>
      <p:ext uri="{BB962C8B-B14F-4D97-AF65-F5344CB8AC3E}">
        <p14:creationId xmlns:p14="http://schemas.microsoft.com/office/powerpoint/2010/main" val="14716194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 Title">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9" name="Picture 8" descr="Icon&#10;&#10;Description automatically generated">
            <a:extLst>
              <a:ext uri="{FF2B5EF4-FFF2-40B4-BE49-F238E27FC236}">
                <a16:creationId xmlns:a16="http://schemas.microsoft.com/office/drawing/2014/main" id="{CB6D3FA3-C210-4270-964A-C6A0069D59E2}"/>
              </a:ext>
            </a:extLst>
          </p:cNvPr>
          <p:cNvPicPr>
            <a:picLocks noChangeAspect="1"/>
          </p:cNvPicPr>
          <p:nvPr/>
        </p:nvPicPr>
        <p:blipFill>
          <a:blip r:embed="rId3"/>
          <a:stretch>
            <a:fillRect/>
          </a:stretch>
        </p:blipFill>
        <p:spPr bwMode="invGray">
          <a:xfrm>
            <a:off x="4671100" y="0"/>
            <a:ext cx="7520900" cy="6858000"/>
          </a:xfrm>
          <a:prstGeom prst="rect">
            <a:avLst/>
          </a:prstGeom>
        </p:spPr>
      </p:pic>
    </p:spTree>
    <p:extLst>
      <p:ext uri="{BB962C8B-B14F-4D97-AF65-F5344CB8AC3E}">
        <p14:creationId xmlns:p14="http://schemas.microsoft.com/office/powerpoint/2010/main" val="16243657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rehensiveness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4586D2A5-469B-42D5-B926-C4EE6716E87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3688244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F7A52431-DCFD-473D-980B-E667BAC2F19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318976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icity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3" name="Graphic 2">
            <a:extLst>
              <a:ext uri="{FF2B5EF4-FFF2-40B4-BE49-F238E27FC236}">
                <a16:creationId xmlns:a16="http://schemas.microsoft.com/office/drawing/2014/main" id="{AAD66E76-E933-412A-9841-907EA78433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6731000" y="0"/>
            <a:ext cx="5461000" cy="6858000"/>
          </a:xfrm>
          <a:prstGeom prst="rect">
            <a:avLst/>
          </a:prstGeom>
        </p:spPr>
      </p:pic>
    </p:spTree>
    <p:extLst>
      <p:ext uri="{BB962C8B-B14F-4D97-AF65-F5344CB8AC3E}">
        <p14:creationId xmlns:p14="http://schemas.microsoft.com/office/powerpoint/2010/main" val="7613446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urity 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2240"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224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0D5D4CBA-07EB-4CCF-BEB7-6F3185DCC6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33411813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9369469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dentity and Access Management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E8C58369-026C-4974-B869-BE8D4ADCB870}"/>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75" r="-18"/>
          <a:stretch/>
        </p:blipFill>
        <p:spPr bwMode="invGray">
          <a:xfrm>
            <a:off x="7076792" y="0"/>
            <a:ext cx="5115208" cy="6858000"/>
          </a:xfrm>
          <a:prstGeom prst="rect">
            <a:avLst/>
          </a:prstGeom>
        </p:spPr>
      </p:pic>
    </p:spTree>
    <p:extLst>
      <p:ext uri="{BB962C8B-B14F-4D97-AF65-F5344CB8AC3E}">
        <p14:creationId xmlns:p14="http://schemas.microsoft.com/office/powerpoint/2010/main" val="962190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Title square photo placehol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861522-4B83-496F-B783-60079A7F201B}"/>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3" name="Picture 12">
            <a:extLst>
              <a:ext uri="{FF2B5EF4-FFF2-40B4-BE49-F238E27FC236}">
                <a16:creationId xmlns:a16="http://schemas.microsoft.com/office/drawing/2014/main" id="{ED2EF16D-D401-4DD1-BD2B-1417889AD2A5}"/>
              </a:ext>
            </a:extLst>
          </p:cNvPr>
          <p:cNvPicPr>
            <a:picLocks noChangeAspect="1"/>
          </p:cNvPicPr>
          <p:nvPr/>
        </p:nvPicPr>
        <p:blipFill>
          <a:blip r:embed="rId2"/>
          <a:stretch>
            <a:fillRect/>
          </a:stretch>
        </p:blipFill>
        <p:spPr>
          <a:xfrm>
            <a:off x="582043" y="585788"/>
            <a:ext cx="2308795" cy="294139"/>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1F9ED9A-FBBB-45FF-A5CF-ED4786662DCE}"/>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811387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113219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quare photo placeholder Yellow">
    <p:bg>
      <p:bgPr>
        <a:solidFill>
          <a:srgbClr val="FFB9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2B7938B8-F298-4772-A6EC-8F59C02C0B8A}"/>
              </a:ext>
            </a:extLst>
          </p:cNvPr>
          <p:cNvPicPr>
            <a:picLocks noChangeAspect="1"/>
          </p:cNvPicPr>
          <p:nvPr/>
        </p:nvPicPr>
        <p:blipFill>
          <a:blip r:embed="rId2"/>
          <a:stretch>
            <a:fillRect/>
          </a:stretch>
        </p:blipFill>
        <p:spPr>
          <a:xfrm>
            <a:off x="581337" y="585788"/>
            <a:ext cx="2308796" cy="294587"/>
          </a:xfrm>
          <a:prstGeom prst="rect">
            <a:avLst/>
          </a:prstGeom>
        </p:spPr>
      </p:pic>
      <p:sp>
        <p:nvSpPr>
          <p:cNvPr id="7" name="Rectangle 6">
            <a:extLst>
              <a:ext uri="{FF2B5EF4-FFF2-40B4-BE49-F238E27FC236}">
                <a16:creationId xmlns:a16="http://schemas.microsoft.com/office/drawing/2014/main" id="{C9B633B0-40F9-4729-84DB-771120F5D70D}"/>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0F96359-EC4C-4CE6-BA65-F486272055DA}"/>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65403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quare photo placeholder Green">
    <p:bg>
      <p:bgPr>
        <a:solidFill>
          <a:srgbClr val="107C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963260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quare Photo placeholder Dk Blu">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522968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quare photo placeholder Dk Green">
    <p:bg>
      <p:bgPr>
        <a:solidFill>
          <a:srgbClr val="054B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7906053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2725949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34435562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5567972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1515757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42392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10483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68130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26922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51378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952523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175283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847268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691131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6497808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070465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4128094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332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1234374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34741193"/>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7291998"/>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316980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629729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06572696"/>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499524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534878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3675500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7745579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6498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5729563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218763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867527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053054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06784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03678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5312054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126268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94348159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44948240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79438731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5472406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7516949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6576495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17297813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22276645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mo slid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7717940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001537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914859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slide Dk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0162519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Demo slid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6456945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767489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3508296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blue">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78795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1781245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484377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Dk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1896359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Section Titl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157637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 Threat det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1B2F99-8E84-6040-8D67-9859BF2580C4}"/>
              </a:ext>
            </a:extLst>
          </p:cNvPr>
          <p:cNvSpPr/>
          <p:nvPr/>
        </p:nvSpPr>
        <p:spPr bwMode="auto">
          <a:xfrm>
            <a:off x="5270500" y="0"/>
            <a:ext cx="6921500"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57AA630A-F1CE-3240-9874-C76F0B95FC3C}"/>
              </a:ext>
            </a:extLst>
          </p:cNvPr>
          <p:cNvPicPr>
            <a:picLocks noChangeAspect="1"/>
          </p:cNvPicPr>
          <p:nvPr/>
        </p:nvPicPr>
        <p:blipFill>
          <a:blip r:embed="rId2"/>
          <a:stretch>
            <a:fillRect/>
          </a:stretch>
        </p:blipFill>
        <p:spPr>
          <a:xfrm>
            <a:off x="6197533" y="1064712"/>
            <a:ext cx="5024048" cy="4379659"/>
          </a:xfrm>
          <a:prstGeom prst="rect">
            <a:avLst/>
          </a:prstGeom>
        </p:spPr>
      </p:pic>
    </p:spTree>
    <p:extLst>
      <p:ext uri="{BB962C8B-B14F-4D97-AF65-F5344CB8AC3E}">
        <p14:creationId xmlns:p14="http://schemas.microsoft.com/office/powerpoint/2010/main" val="39021547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 Comprehensive secur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5634B7-7348-3D4C-884C-574DBB5ACD92}"/>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44097A09-7943-5649-B860-0C242F6430E1}"/>
              </a:ext>
            </a:extLst>
          </p:cNvPr>
          <p:cNvPicPr>
            <a:picLocks noChangeAspect="1"/>
          </p:cNvPicPr>
          <p:nvPr/>
        </p:nvPicPr>
        <p:blipFill rotWithShape="1">
          <a:blip r:embed="rId2"/>
          <a:srcRect l="12404" r="9346"/>
          <a:stretch/>
        </p:blipFill>
        <p:spPr>
          <a:xfrm>
            <a:off x="5270501" y="1315232"/>
            <a:ext cx="6921500" cy="4238669"/>
          </a:xfrm>
          <a:prstGeom prst="rect">
            <a:avLst/>
          </a:prstGeom>
        </p:spPr>
      </p:pic>
    </p:spTree>
    <p:extLst>
      <p:ext uri="{BB962C8B-B14F-4D97-AF65-F5344CB8AC3E}">
        <p14:creationId xmlns:p14="http://schemas.microsoft.com/office/powerpoint/2010/main" val="1896015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 End-to-end security visibil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E5BB7F-3132-5D4C-AB53-07BD308F7C71}"/>
              </a:ext>
            </a:extLst>
          </p:cNvPr>
          <p:cNvSpPr/>
          <p:nvPr/>
        </p:nvSpPr>
        <p:spPr bwMode="auto">
          <a:xfrm>
            <a:off x="5270500" y="0"/>
            <a:ext cx="6921500" cy="68580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8" name="Picture 7">
            <a:extLst>
              <a:ext uri="{FF2B5EF4-FFF2-40B4-BE49-F238E27FC236}">
                <a16:creationId xmlns:a16="http://schemas.microsoft.com/office/drawing/2014/main" id="{1AC60BDD-CABB-8B4F-BFDB-1AAA8A20164C}"/>
              </a:ext>
            </a:extLst>
          </p:cNvPr>
          <p:cNvPicPr>
            <a:picLocks noChangeAspect="1"/>
          </p:cNvPicPr>
          <p:nvPr/>
        </p:nvPicPr>
        <p:blipFill rotWithShape="1">
          <a:blip r:embed="rId2"/>
          <a:srcRect l="8828" r="8209"/>
          <a:stretch/>
        </p:blipFill>
        <p:spPr>
          <a:xfrm>
            <a:off x="5270500" y="2322164"/>
            <a:ext cx="6921500" cy="2294285"/>
          </a:xfrm>
          <a:prstGeom prst="rect">
            <a:avLst/>
          </a:prstGeom>
        </p:spPr>
      </p:pic>
    </p:spTree>
    <p:extLst>
      <p:ext uri="{BB962C8B-B14F-4D97-AF65-F5344CB8AC3E}">
        <p14:creationId xmlns:p14="http://schemas.microsoft.com/office/powerpoint/2010/main" val="31258333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 Risk manag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6BD20-84B7-474B-8759-CD81E4655A25}"/>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10" name="Picture 9">
            <a:extLst>
              <a:ext uri="{FF2B5EF4-FFF2-40B4-BE49-F238E27FC236}">
                <a16:creationId xmlns:a16="http://schemas.microsoft.com/office/drawing/2014/main" id="{B1DAC3B3-181F-5149-B531-D73282A25D15}"/>
              </a:ext>
            </a:extLst>
          </p:cNvPr>
          <p:cNvPicPr>
            <a:picLocks noChangeAspect="1"/>
          </p:cNvPicPr>
          <p:nvPr/>
        </p:nvPicPr>
        <p:blipFill rotWithShape="1">
          <a:blip r:embed="rId2"/>
          <a:srcRect l="7666" t="4539" r="7270" b="6936"/>
          <a:stretch/>
        </p:blipFill>
        <p:spPr>
          <a:xfrm>
            <a:off x="5270499" y="-1"/>
            <a:ext cx="6921501" cy="6858001"/>
          </a:xfrm>
          <a:prstGeom prst="rect">
            <a:avLst/>
          </a:prstGeom>
        </p:spPr>
      </p:pic>
    </p:spTree>
    <p:extLst>
      <p:ext uri="{BB962C8B-B14F-4D97-AF65-F5344CB8AC3E}">
        <p14:creationId xmlns:p14="http://schemas.microsoft.com/office/powerpoint/2010/main" val="5558204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548315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 Risk mitiga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0D265D-AA9F-1B4D-9271-7954CC4C5428}"/>
              </a:ext>
            </a:extLst>
          </p:cNvPr>
          <p:cNvSpPr/>
          <p:nvPr/>
        </p:nvSpPr>
        <p:spPr bwMode="auto">
          <a:xfrm>
            <a:off x="5270500" y="0"/>
            <a:ext cx="6921500" cy="6858000"/>
          </a:xfrm>
          <a:prstGeom prst="rect">
            <a:avLst/>
          </a:prstGeom>
          <a:solidFill>
            <a:srgbClr val="05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7" name="Graphic 6">
            <a:extLst>
              <a:ext uri="{FF2B5EF4-FFF2-40B4-BE49-F238E27FC236}">
                <a16:creationId xmlns:a16="http://schemas.microsoft.com/office/drawing/2014/main" id="{B55BBCEC-22DB-8F44-AC0C-CED390E2A8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214935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09539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2">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45332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24356321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phot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057293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254865168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66481512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1268247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650A9-A6E5-AB87-F8A8-4E04FF3AEC2A}"/>
              </a:ext>
            </a:extLst>
          </p:cNvPr>
          <p:cNvSpPr>
            <a:spLocks noGrp="1"/>
          </p:cNvSpPr>
          <p:nvPr>
            <p:ph type="title"/>
          </p:nvPr>
        </p:nvSpPr>
        <p:spPr/>
        <p:txBody>
          <a:bodyPr/>
          <a:lstStyle/>
          <a:p>
            <a:r>
              <a:rPr lang="en-US"/>
              <a:t>Azure Web Apps Abuse</a:t>
            </a:r>
          </a:p>
        </p:txBody>
      </p:sp>
      <p:sp>
        <p:nvSpPr>
          <p:cNvPr id="3" name="Text Placeholder 2">
            <a:extLst>
              <a:ext uri="{FF2B5EF4-FFF2-40B4-BE49-F238E27FC236}">
                <a16:creationId xmlns:a16="http://schemas.microsoft.com/office/drawing/2014/main" id="{8C02268A-8B28-F155-0843-87D7DBFC469A}"/>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54190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741FD-7AB2-B9E0-6186-7E4ED3827819}"/>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29B719C5-C827-BDF6-FC39-72EC8A79EBCE}"/>
              </a:ext>
            </a:extLst>
          </p:cNvPr>
          <p:cNvSpPr>
            <a:spLocks noGrp="1"/>
          </p:cNvSpPr>
          <p:nvPr>
            <p:ph type="body" sz="quarter" idx="10"/>
          </p:nvPr>
        </p:nvSpPr>
        <p:spPr/>
        <p:txBody>
          <a:bodyPr>
            <a:noAutofit/>
          </a:bodyPr>
          <a:lstStyle/>
          <a:p>
            <a:pPr>
              <a:lnSpc>
                <a:spcPct val="115000"/>
              </a:lnSpc>
              <a:spcBef>
                <a:spcPts val="600"/>
              </a:spcBef>
            </a:pPr>
            <a:r>
              <a:rPr lang="en-US" sz="2000"/>
              <a:t>Module Objective and MITRE ATT&amp;CK Mapping</a:t>
            </a:r>
          </a:p>
          <a:p>
            <a:pPr>
              <a:lnSpc>
                <a:spcPct val="115000"/>
              </a:lnSpc>
              <a:spcBef>
                <a:spcPts val="600"/>
              </a:spcBef>
            </a:pPr>
            <a:r>
              <a:rPr lang="en-US" sz="2000"/>
              <a:t>Web App Attack Surface</a:t>
            </a:r>
          </a:p>
          <a:p>
            <a:pPr>
              <a:lnSpc>
                <a:spcPct val="115000"/>
              </a:lnSpc>
              <a:spcBef>
                <a:spcPts val="600"/>
              </a:spcBef>
            </a:pPr>
            <a:r>
              <a:rPr lang="en-US" sz="2000"/>
              <a:t>Attack Techniques: RCE, Token Theft, Web Shells</a:t>
            </a:r>
          </a:p>
          <a:p>
            <a:pPr>
              <a:lnSpc>
                <a:spcPct val="115000"/>
              </a:lnSpc>
              <a:spcBef>
                <a:spcPts val="600"/>
              </a:spcBef>
            </a:pPr>
            <a:r>
              <a:rPr lang="en-US" sz="2000"/>
              <a:t>Critical Environment Variables</a:t>
            </a:r>
          </a:p>
          <a:p>
            <a:pPr>
              <a:lnSpc>
                <a:spcPct val="115000"/>
              </a:lnSpc>
              <a:spcBef>
                <a:spcPts val="600"/>
              </a:spcBef>
            </a:pPr>
            <a:r>
              <a:rPr lang="en-US" sz="2000"/>
              <a:t>Managed Identity Token Theft</a:t>
            </a:r>
          </a:p>
          <a:p>
            <a:pPr>
              <a:lnSpc>
                <a:spcPct val="115000"/>
              </a:lnSpc>
              <a:spcBef>
                <a:spcPts val="600"/>
              </a:spcBef>
            </a:pPr>
            <a:r>
              <a:rPr lang="en-US" sz="2000"/>
              <a:t>Enabling Diagnostic Logging</a:t>
            </a:r>
          </a:p>
        </p:txBody>
      </p:sp>
    </p:spTree>
    <p:extLst>
      <p:ext uri="{BB962C8B-B14F-4D97-AF65-F5344CB8AC3E}">
        <p14:creationId xmlns:p14="http://schemas.microsoft.com/office/powerpoint/2010/main" val="3270864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67B1B-634C-C1C2-FCFA-E5B52E6BE010}"/>
              </a:ext>
            </a:extLst>
          </p:cNvPr>
          <p:cNvSpPr>
            <a:spLocks noGrp="1"/>
          </p:cNvSpPr>
          <p:nvPr>
            <p:ph type="title"/>
          </p:nvPr>
        </p:nvSpPr>
        <p:spPr/>
        <p:txBody>
          <a:bodyPr/>
          <a:lstStyle/>
          <a:p>
            <a:r>
              <a:rPr lang="en-US"/>
              <a:t>Agenda (cont. 2)</a:t>
            </a:r>
          </a:p>
        </p:txBody>
      </p:sp>
      <p:sp>
        <p:nvSpPr>
          <p:cNvPr id="3" name="Text Placeholder 2">
            <a:extLst>
              <a:ext uri="{FF2B5EF4-FFF2-40B4-BE49-F238E27FC236}">
                <a16:creationId xmlns:a16="http://schemas.microsoft.com/office/drawing/2014/main" id="{9D728930-3AD5-4FBD-1DF0-5D20018D4A4D}"/>
              </a:ext>
            </a:extLst>
          </p:cNvPr>
          <p:cNvSpPr>
            <a:spLocks noGrp="1"/>
          </p:cNvSpPr>
          <p:nvPr>
            <p:ph type="body" sz="quarter" idx="10"/>
          </p:nvPr>
        </p:nvSpPr>
        <p:spPr/>
        <p:txBody>
          <a:bodyPr>
            <a:noAutofit/>
          </a:bodyPr>
          <a:lstStyle/>
          <a:p>
            <a:pPr>
              <a:lnSpc>
                <a:spcPct val="115000"/>
              </a:lnSpc>
              <a:spcBef>
                <a:spcPts val="600"/>
              </a:spcBef>
            </a:pPr>
            <a:r>
              <a:rPr lang="en-US" sz="2000"/>
              <a:t>Kusto Query Language (KQL) Detection Queries</a:t>
            </a:r>
          </a:p>
          <a:p>
            <a:pPr>
              <a:lnSpc>
                <a:spcPct val="115000"/>
              </a:lnSpc>
              <a:spcBef>
                <a:spcPts val="600"/>
              </a:spcBef>
            </a:pPr>
            <a:r>
              <a:rPr lang="en-US" sz="2000"/>
              <a:t>Defender for App Service</a:t>
            </a:r>
          </a:p>
          <a:p>
            <a:pPr>
              <a:lnSpc>
                <a:spcPct val="115000"/>
              </a:lnSpc>
              <a:spcBef>
                <a:spcPts val="600"/>
              </a:spcBef>
            </a:pPr>
            <a:r>
              <a:rPr lang="en-US" sz="2000"/>
              <a:t>Incident Response (NIST Phases)</a:t>
            </a:r>
          </a:p>
          <a:p>
            <a:pPr>
              <a:lnSpc>
                <a:spcPct val="115000"/>
              </a:lnSpc>
              <a:spcBef>
                <a:spcPts val="600"/>
              </a:spcBef>
            </a:pPr>
            <a:r>
              <a:rPr lang="en-US" sz="2000"/>
              <a:t>Hardening Controls</a:t>
            </a:r>
          </a:p>
        </p:txBody>
      </p:sp>
    </p:spTree>
    <p:extLst>
      <p:ext uri="{BB962C8B-B14F-4D97-AF65-F5344CB8AC3E}">
        <p14:creationId xmlns:p14="http://schemas.microsoft.com/office/powerpoint/2010/main" val="11016776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ABA1-14D9-0D44-CFE6-0A7E87FA46CC}"/>
              </a:ext>
            </a:extLst>
          </p:cNvPr>
          <p:cNvSpPr>
            <a:spLocks noGrp="1"/>
          </p:cNvSpPr>
          <p:nvPr>
            <p:ph type="title"/>
          </p:nvPr>
        </p:nvSpPr>
        <p:spPr/>
        <p:txBody>
          <a:bodyPr/>
          <a:lstStyle/>
          <a:p>
            <a:r>
              <a:rPr lang="en-US"/>
              <a:t>Objective and MITRE Mapping</a:t>
            </a:r>
          </a:p>
        </p:txBody>
      </p:sp>
      <p:graphicFrame>
        <p:nvGraphicFramePr>
          <p:cNvPr id="4" name="Content Placeholder 3">
            <a:extLst>
              <a:ext uri="{FF2B5EF4-FFF2-40B4-BE49-F238E27FC236}">
                <a16:creationId xmlns:a16="http://schemas.microsoft.com/office/drawing/2014/main" id="{CD72C546-7599-B254-CBBE-E839FE597606}"/>
              </a:ext>
            </a:extLst>
          </p:cNvPr>
          <p:cNvGraphicFramePr>
            <a:graphicFrameLocks noGrp="1"/>
          </p:cNvGraphicFramePr>
          <p:nvPr>
            <p:ph sz="quarter" idx="10"/>
            <p:extLst>
              <p:ext uri="{D42A27DB-BD31-4B8C-83A1-F6EECF244321}">
                <p14:modId xmlns:p14="http://schemas.microsoft.com/office/powerpoint/2010/main" val="3336582954"/>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338761510"/>
                    </a:ext>
                  </a:extLst>
                </a:gridCol>
                <a:gridCol w="3810000">
                  <a:extLst>
                    <a:ext uri="{9D8B030D-6E8A-4147-A177-3AD203B41FA5}">
                      <a16:colId xmlns:a16="http://schemas.microsoft.com/office/drawing/2014/main" val="3040949700"/>
                    </a:ext>
                  </a:extLst>
                </a:gridCol>
                <a:gridCol w="3810000">
                  <a:extLst>
                    <a:ext uri="{9D8B030D-6E8A-4147-A177-3AD203B41FA5}">
                      <a16:colId xmlns:a16="http://schemas.microsoft.com/office/drawing/2014/main" val="789351231"/>
                    </a:ext>
                  </a:extLst>
                </a:gridCol>
              </a:tblGrid>
              <a:tr h="557389">
                <a:tc>
                  <a:txBody>
                    <a:bodyPr/>
                    <a:lstStyle/>
                    <a:p>
                      <a:r>
                        <a:rPr lang="en-US" sz="1200" b="1"/>
                        <a:t>Technique</a:t>
                      </a:r>
                    </a:p>
                  </a:txBody>
                  <a:tcPr/>
                </a:tc>
                <a:tc>
                  <a:txBody>
                    <a:bodyPr/>
                    <a:lstStyle/>
                    <a:p>
                      <a:r>
                        <a:rPr lang="en-US" sz="1200" b="1"/>
                        <a:t>ID</a:t>
                      </a:r>
                    </a:p>
                  </a:txBody>
                  <a:tcPr/>
                </a:tc>
                <a:tc>
                  <a:txBody>
                    <a:bodyPr/>
                    <a:lstStyle/>
                    <a:p>
                      <a:r>
                        <a:rPr lang="en-US" sz="1200" b="1"/>
                        <a:t>Tactic</a:t>
                      </a:r>
                    </a:p>
                  </a:txBody>
                  <a:tcPr/>
                </a:tc>
                <a:extLst>
                  <a:ext uri="{0D108BD9-81ED-4DB2-BD59-A6C34878D82A}">
                    <a16:rowId xmlns:a16="http://schemas.microsoft.com/office/drawing/2014/main" val="2786623813"/>
                  </a:ext>
                </a:extLst>
              </a:tr>
              <a:tr h="557389">
                <a:tc>
                  <a:txBody>
                    <a:bodyPr/>
                    <a:lstStyle/>
                    <a:p>
                      <a:r>
                        <a:rPr lang="en-US" sz="1200"/>
                        <a:t>Active Scanning: Vulnerability Scanning</a:t>
                      </a:r>
                    </a:p>
                  </a:txBody>
                  <a:tcPr/>
                </a:tc>
                <a:tc>
                  <a:txBody>
                    <a:bodyPr/>
                    <a:lstStyle/>
                    <a:p>
                      <a:r>
                        <a:rPr lang="en-US" sz="1200"/>
                        <a:t>T1595.002</a:t>
                      </a:r>
                    </a:p>
                  </a:txBody>
                  <a:tcPr/>
                </a:tc>
                <a:tc>
                  <a:txBody>
                    <a:bodyPr/>
                    <a:lstStyle/>
                    <a:p>
                      <a:r>
                        <a:rPr lang="en-US" sz="1200"/>
                        <a:t>Reconnaissance</a:t>
                      </a:r>
                    </a:p>
                  </a:txBody>
                  <a:tcPr/>
                </a:tc>
                <a:extLst>
                  <a:ext uri="{0D108BD9-81ED-4DB2-BD59-A6C34878D82A}">
                    <a16:rowId xmlns:a16="http://schemas.microsoft.com/office/drawing/2014/main" val="928919826"/>
                  </a:ext>
                </a:extLst>
              </a:tr>
              <a:tr h="557389">
                <a:tc>
                  <a:txBody>
                    <a:bodyPr/>
                    <a:lstStyle/>
                    <a:p>
                      <a:r>
                        <a:rPr lang="en-US" sz="1200"/>
                        <a:t>Exploit Public-Facing Application</a:t>
                      </a:r>
                    </a:p>
                  </a:txBody>
                  <a:tcPr/>
                </a:tc>
                <a:tc>
                  <a:txBody>
                    <a:bodyPr/>
                    <a:lstStyle/>
                    <a:p>
                      <a:r>
                        <a:rPr lang="en-US" sz="1200"/>
                        <a:t>T1190</a:t>
                      </a:r>
                    </a:p>
                  </a:txBody>
                  <a:tcPr/>
                </a:tc>
                <a:tc>
                  <a:txBody>
                    <a:bodyPr/>
                    <a:lstStyle/>
                    <a:p>
                      <a:r>
                        <a:rPr lang="en-US" sz="1200"/>
                        <a:t>Initial Access</a:t>
                      </a:r>
                    </a:p>
                  </a:txBody>
                  <a:tcPr/>
                </a:tc>
                <a:extLst>
                  <a:ext uri="{0D108BD9-81ED-4DB2-BD59-A6C34878D82A}">
                    <a16:rowId xmlns:a16="http://schemas.microsoft.com/office/drawing/2014/main" val="345660239"/>
                  </a:ext>
                </a:extLst>
              </a:tr>
              <a:tr h="557389">
                <a:tc>
                  <a:txBody>
                    <a:bodyPr/>
                    <a:lstStyle/>
                    <a:p>
                      <a:r>
                        <a:rPr lang="en-US" sz="1200"/>
                        <a:t>Command and Scripting Interpreter</a:t>
                      </a:r>
                    </a:p>
                  </a:txBody>
                  <a:tcPr/>
                </a:tc>
                <a:tc>
                  <a:txBody>
                    <a:bodyPr/>
                    <a:lstStyle/>
                    <a:p>
                      <a:r>
                        <a:rPr lang="en-US" sz="1200"/>
                        <a:t>T1059</a:t>
                      </a:r>
                    </a:p>
                  </a:txBody>
                  <a:tcPr/>
                </a:tc>
                <a:tc>
                  <a:txBody>
                    <a:bodyPr/>
                    <a:lstStyle/>
                    <a:p>
                      <a:r>
                        <a:rPr lang="en-US" sz="1200"/>
                        <a:t>Execution</a:t>
                      </a:r>
                    </a:p>
                  </a:txBody>
                  <a:tcPr/>
                </a:tc>
                <a:extLst>
                  <a:ext uri="{0D108BD9-81ED-4DB2-BD59-A6C34878D82A}">
                    <a16:rowId xmlns:a16="http://schemas.microsoft.com/office/drawing/2014/main" val="599790812"/>
                  </a:ext>
                </a:extLst>
              </a:tr>
              <a:tr h="557389">
                <a:tc>
                  <a:txBody>
                    <a:bodyPr/>
                    <a:lstStyle/>
                    <a:p>
                      <a:r>
                        <a:rPr lang="en-US" sz="1200"/>
                        <a:t>Unsecured Credentials</a:t>
                      </a:r>
                    </a:p>
                  </a:txBody>
                  <a:tcPr/>
                </a:tc>
                <a:tc>
                  <a:txBody>
                    <a:bodyPr/>
                    <a:lstStyle/>
                    <a:p>
                      <a:r>
                        <a:rPr lang="en-US" sz="1200"/>
                        <a:t>T1552.001</a:t>
                      </a:r>
                    </a:p>
                  </a:txBody>
                  <a:tcPr/>
                </a:tc>
                <a:tc>
                  <a:txBody>
                    <a:bodyPr/>
                    <a:lstStyle/>
                    <a:p>
                      <a:r>
                        <a:rPr lang="en-US" sz="1200"/>
                        <a:t>Credential Access</a:t>
                      </a:r>
                    </a:p>
                  </a:txBody>
                  <a:tcPr/>
                </a:tc>
                <a:extLst>
                  <a:ext uri="{0D108BD9-81ED-4DB2-BD59-A6C34878D82A}">
                    <a16:rowId xmlns:a16="http://schemas.microsoft.com/office/drawing/2014/main" val="2854847054"/>
                  </a:ext>
                </a:extLst>
              </a:tr>
              <a:tr h="557389">
                <a:tc>
                  <a:txBody>
                    <a:bodyPr/>
                    <a:lstStyle/>
                    <a:p>
                      <a:r>
                        <a:rPr lang="en-US" sz="1200"/>
                        <a:t>Steal Application Access Token</a:t>
                      </a:r>
                    </a:p>
                  </a:txBody>
                  <a:tcPr/>
                </a:tc>
                <a:tc>
                  <a:txBody>
                    <a:bodyPr/>
                    <a:lstStyle/>
                    <a:p>
                      <a:r>
                        <a:rPr lang="en-US" sz="1200"/>
                        <a:t>T1528</a:t>
                      </a:r>
                    </a:p>
                  </a:txBody>
                  <a:tcPr/>
                </a:tc>
                <a:tc>
                  <a:txBody>
                    <a:bodyPr/>
                    <a:lstStyle/>
                    <a:p>
                      <a:r>
                        <a:rPr lang="en-US" sz="1200"/>
                        <a:t>Credential Access</a:t>
                      </a:r>
                    </a:p>
                  </a:txBody>
                  <a:tcPr/>
                </a:tc>
                <a:extLst>
                  <a:ext uri="{0D108BD9-81ED-4DB2-BD59-A6C34878D82A}">
                    <a16:rowId xmlns:a16="http://schemas.microsoft.com/office/drawing/2014/main" val="967356027"/>
                  </a:ext>
                </a:extLst>
              </a:tr>
              <a:tr h="557389">
                <a:tc>
                  <a:txBody>
                    <a:bodyPr/>
                    <a:lstStyle/>
                    <a:p>
                      <a:r>
                        <a:rPr lang="en-US" sz="1200"/>
                        <a:t>Valid Accounts: Cloud Accounts</a:t>
                      </a:r>
                    </a:p>
                  </a:txBody>
                  <a:tcPr/>
                </a:tc>
                <a:tc>
                  <a:txBody>
                    <a:bodyPr/>
                    <a:lstStyle/>
                    <a:p>
                      <a:r>
                        <a:rPr lang="en-US" sz="1200"/>
                        <a:t>T1078.004</a:t>
                      </a:r>
                    </a:p>
                  </a:txBody>
                  <a:tcPr/>
                </a:tc>
                <a:tc>
                  <a:txBody>
                    <a:bodyPr/>
                    <a:lstStyle/>
                    <a:p>
                      <a:r>
                        <a:rPr lang="en-US" sz="1200"/>
                        <a:t>Persistence</a:t>
                      </a:r>
                    </a:p>
                  </a:txBody>
                  <a:tcPr/>
                </a:tc>
                <a:extLst>
                  <a:ext uri="{0D108BD9-81ED-4DB2-BD59-A6C34878D82A}">
                    <a16:rowId xmlns:a16="http://schemas.microsoft.com/office/drawing/2014/main" val="1273008669"/>
                  </a:ext>
                </a:extLst>
              </a:tr>
              <a:tr h="557389">
                <a:tc>
                  <a:txBody>
                    <a:bodyPr/>
                    <a:lstStyle/>
                    <a:p>
                      <a:r>
                        <a:rPr lang="en-US" sz="1200"/>
                        <a:t>Cloud Service Discovery</a:t>
                      </a:r>
                    </a:p>
                  </a:txBody>
                  <a:tcPr/>
                </a:tc>
                <a:tc>
                  <a:txBody>
                    <a:bodyPr/>
                    <a:lstStyle/>
                    <a:p>
                      <a:r>
                        <a:rPr lang="en-US" sz="1200"/>
                        <a:t>T1526</a:t>
                      </a:r>
                    </a:p>
                  </a:txBody>
                  <a:tcPr/>
                </a:tc>
                <a:tc>
                  <a:txBody>
                    <a:bodyPr/>
                    <a:lstStyle/>
                    <a:p>
                      <a:r>
                        <a:rPr lang="en-US" sz="1200"/>
                        <a:t>Discovery</a:t>
                      </a:r>
                    </a:p>
                  </a:txBody>
                  <a:tcPr/>
                </a:tc>
                <a:extLst>
                  <a:ext uri="{0D108BD9-81ED-4DB2-BD59-A6C34878D82A}">
                    <a16:rowId xmlns:a16="http://schemas.microsoft.com/office/drawing/2014/main" val="2202069930"/>
                  </a:ext>
                </a:extLst>
              </a:tr>
              <a:tr h="557389">
                <a:tc>
                  <a:txBody>
                    <a:bodyPr/>
                    <a:lstStyle/>
                    <a:p>
                      <a:r>
                        <a:rPr lang="en-US" sz="1200"/>
                        <a:t>Server Software Component: Web Shell</a:t>
                      </a:r>
                    </a:p>
                  </a:txBody>
                  <a:tcPr/>
                </a:tc>
                <a:tc>
                  <a:txBody>
                    <a:bodyPr/>
                    <a:lstStyle/>
                    <a:p>
                      <a:r>
                        <a:rPr lang="en-US" sz="1200"/>
                        <a:t>T1505.003</a:t>
                      </a:r>
                    </a:p>
                  </a:txBody>
                  <a:tcPr/>
                </a:tc>
                <a:tc>
                  <a:txBody>
                    <a:bodyPr/>
                    <a:lstStyle/>
                    <a:p>
                      <a:r>
                        <a:rPr lang="en-US" sz="1200"/>
                        <a:t>Persistence</a:t>
                      </a:r>
                    </a:p>
                  </a:txBody>
                  <a:tcPr/>
                </a:tc>
                <a:extLst>
                  <a:ext uri="{0D108BD9-81ED-4DB2-BD59-A6C34878D82A}">
                    <a16:rowId xmlns:a16="http://schemas.microsoft.com/office/drawing/2014/main" val="1039111631"/>
                  </a:ext>
                </a:extLst>
              </a:tr>
            </a:tbl>
          </a:graphicData>
        </a:graphic>
      </p:graphicFrame>
    </p:spTree>
    <p:extLst>
      <p:ext uri="{BB962C8B-B14F-4D97-AF65-F5344CB8AC3E}">
        <p14:creationId xmlns:p14="http://schemas.microsoft.com/office/powerpoint/2010/main" val="162005353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C3407-1C97-6310-74E8-9650C0ACF0B2}"/>
              </a:ext>
            </a:extLst>
          </p:cNvPr>
          <p:cNvSpPr>
            <a:spLocks noGrp="1"/>
          </p:cNvSpPr>
          <p:nvPr>
            <p:ph type="title"/>
          </p:nvPr>
        </p:nvSpPr>
        <p:spPr/>
        <p:txBody>
          <a:bodyPr/>
          <a:lstStyle/>
          <a:p>
            <a:r>
              <a:rPr lang="en-US"/>
              <a:t>Objective and MITRE Mapping (cont.)</a:t>
            </a:r>
          </a:p>
        </p:txBody>
      </p:sp>
      <p:sp>
        <p:nvSpPr>
          <p:cNvPr id="3" name="Content Placeholder 2">
            <a:extLst>
              <a:ext uri="{FF2B5EF4-FFF2-40B4-BE49-F238E27FC236}">
                <a16:creationId xmlns:a16="http://schemas.microsoft.com/office/drawing/2014/main" id="{332D95F3-372D-6D30-7665-5064FB0E76AE}"/>
              </a:ext>
            </a:extLst>
          </p:cNvPr>
          <p:cNvSpPr>
            <a:spLocks noGrp="1"/>
          </p:cNvSpPr>
          <p:nvPr>
            <p:ph sz="quarter" idx="10"/>
          </p:nvPr>
        </p:nvSpPr>
        <p:spPr/>
        <p:txBody>
          <a:bodyPr>
            <a:noAutofit/>
          </a:bodyPr>
          <a:lstStyle/>
          <a:p>
            <a:pPr>
              <a:lnSpc>
                <a:spcPct val="115000"/>
              </a:lnSpc>
              <a:spcBef>
                <a:spcPts val="600"/>
              </a:spcBef>
            </a:pPr>
            <a:r>
              <a:rPr lang="en-US" sz="1600"/>
              <a:t>Objective: Hunt for Azure Web App exploitation including remote code execution, managed identity token theft, authentication token forgery, and web shell deployment.</a:t>
            </a:r>
          </a:p>
        </p:txBody>
      </p:sp>
    </p:spTree>
    <p:extLst>
      <p:ext uri="{BB962C8B-B14F-4D97-AF65-F5344CB8AC3E}">
        <p14:creationId xmlns:p14="http://schemas.microsoft.com/office/powerpoint/2010/main" val="27386838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477C3-D440-CB9F-76FE-4EC03A83DE4F}"/>
              </a:ext>
            </a:extLst>
          </p:cNvPr>
          <p:cNvSpPr>
            <a:spLocks noGrp="1"/>
          </p:cNvSpPr>
          <p:nvPr>
            <p:ph type="title"/>
          </p:nvPr>
        </p:nvSpPr>
        <p:spPr/>
        <p:txBody>
          <a:bodyPr/>
          <a:lstStyle/>
          <a:p>
            <a:r>
              <a:rPr lang="en-US"/>
              <a:t>Web App Attack Surface</a:t>
            </a:r>
          </a:p>
        </p:txBody>
      </p:sp>
      <p:graphicFrame>
        <p:nvGraphicFramePr>
          <p:cNvPr id="4" name="Content Placeholder 3">
            <a:extLst>
              <a:ext uri="{FF2B5EF4-FFF2-40B4-BE49-F238E27FC236}">
                <a16:creationId xmlns:a16="http://schemas.microsoft.com/office/drawing/2014/main" id="{728B0976-C878-1D99-0A16-036C1819A673}"/>
              </a:ext>
            </a:extLst>
          </p:cNvPr>
          <p:cNvGraphicFramePr>
            <a:graphicFrameLocks noGrp="1"/>
          </p:cNvGraphicFramePr>
          <p:nvPr>
            <p:ph sz="quarter" idx="10"/>
            <p:extLst>
              <p:ext uri="{D42A27DB-BD31-4B8C-83A1-F6EECF244321}">
                <p14:modId xmlns:p14="http://schemas.microsoft.com/office/powerpoint/2010/main" val="2409917808"/>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1898739557"/>
                    </a:ext>
                  </a:extLst>
                </a:gridCol>
                <a:gridCol w="5715000">
                  <a:extLst>
                    <a:ext uri="{9D8B030D-6E8A-4147-A177-3AD203B41FA5}">
                      <a16:colId xmlns:a16="http://schemas.microsoft.com/office/drawing/2014/main" val="2707450503"/>
                    </a:ext>
                  </a:extLst>
                </a:gridCol>
              </a:tblGrid>
              <a:tr h="977900">
                <a:tc>
                  <a:txBody>
                    <a:bodyPr/>
                    <a:lstStyle/>
                    <a:p>
                      <a:r>
                        <a:rPr lang="en-US" sz="1400" b="1"/>
                        <a:t>Language</a:t>
                      </a:r>
                    </a:p>
                  </a:txBody>
                  <a:tcPr/>
                </a:tc>
                <a:tc>
                  <a:txBody>
                    <a:bodyPr/>
                    <a:lstStyle/>
                    <a:p>
                      <a:r>
                        <a:rPr lang="en-US" sz="1400" b="1"/>
                        <a:t>Dangerous Functions</a:t>
                      </a:r>
                    </a:p>
                  </a:txBody>
                  <a:tcPr/>
                </a:tc>
                <a:extLst>
                  <a:ext uri="{0D108BD9-81ED-4DB2-BD59-A6C34878D82A}">
                    <a16:rowId xmlns:a16="http://schemas.microsoft.com/office/drawing/2014/main" val="1288293981"/>
                  </a:ext>
                </a:extLst>
              </a:tr>
              <a:tr h="977900">
                <a:tc>
                  <a:txBody>
                    <a:bodyPr/>
                    <a:lstStyle/>
                    <a:p>
                      <a:r>
                        <a:rPr lang="en-US" sz="1400"/>
                        <a:t>PHP</a:t>
                      </a:r>
                    </a:p>
                  </a:txBody>
                  <a:tcPr/>
                </a:tc>
                <a:tc>
                  <a:txBody>
                    <a:bodyPr/>
                    <a:lstStyle/>
                    <a:p>
                      <a:r>
                        <a:rPr lang="en-US" sz="1400"/>
                        <a:t>exec(), system(), shell_exec(), passthru()</a:t>
                      </a:r>
                    </a:p>
                  </a:txBody>
                  <a:tcPr/>
                </a:tc>
                <a:extLst>
                  <a:ext uri="{0D108BD9-81ED-4DB2-BD59-A6C34878D82A}">
                    <a16:rowId xmlns:a16="http://schemas.microsoft.com/office/drawing/2014/main" val="3777994188"/>
                  </a:ext>
                </a:extLst>
              </a:tr>
              <a:tr h="977900">
                <a:tc>
                  <a:txBody>
                    <a:bodyPr/>
                    <a:lstStyle/>
                    <a:p>
                      <a:r>
                        <a:rPr lang="en-US" sz="1400"/>
                        <a:t>Python</a:t>
                      </a:r>
                    </a:p>
                  </a:txBody>
                  <a:tcPr/>
                </a:tc>
                <a:tc>
                  <a:txBody>
                    <a:bodyPr/>
                    <a:lstStyle/>
                    <a:p>
                      <a:r>
                        <a:rPr lang="en-US" sz="1400"/>
                        <a:t>os.system(), subprocess.call()</a:t>
                      </a:r>
                    </a:p>
                  </a:txBody>
                  <a:tcPr/>
                </a:tc>
                <a:extLst>
                  <a:ext uri="{0D108BD9-81ED-4DB2-BD59-A6C34878D82A}">
                    <a16:rowId xmlns:a16="http://schemas.microsoft.com/office/drawing/2014/main" val="945847071"/>
                  </a:ext>
                </a:extLst>
              </a:tr>
              <a:tr h="977900">
                <a:tc>
                  <a:txBody>
                    <a:bodyPr/>
                    <a:lstStyle/>
                    <a:p>
                      <a:r>
                        <a:rPr lang="en-US" sz="1400"/>
                        <a:t>Node.js</a:t>
                      </a:r>
                    </a:p>
                  </a:txBody>
                  <a:tcPr/>
                </a:tc>
                <a:tc>
                  <a:txBody>
                    <a:bodyPr/>
                    <a:lstStyle/>
                    <a:p>
                      <a:r>
                        <a:rPr lang="en-US" sz="1400"/>
                        <a:t>child_process.exec(), child_process.spawn()</a:t>
                      </a:r>
                    </a:p>
                  </a:txBody>
                  <a:tcPr/>
                </a:tc>
                <a:extLst>
                  <a:ext uri="{0D108BD9-81ED-4DB2-BD59-A6C34878D82A}">
                    <a16:rowId xmlns:a16="http://schemas.microsoft.com/office/drawing/2014/main" val="1284233363"/>
                  </a:ext>
                </a:extLst>
              </a:tr>
              <a:tr h="977900">
                <a:tc>
                  <a:txBody>
                    <a:bodyPr/>
                    <a:lstStyle/>
                    <a:p>
                      <a:r>
                        <a:rPr lang="en-US" sz="1400"/>
                        <a:t>.NET</a:t>
                      </a:r>
                    </a:p>
                  </a:txBody>
                  <a:tcPr/>
                </a:tc>
                <a:tc>
                  <a:txBody>
                    <a:bodyPr/>
                    <a:lstStyle/>
                    <a:p>
                      <a:r>
                        <a:rPr lang="en-US" sz="1400"/>
                        <a:t>Process.Start(), System.Diagnostics.Process</a:t>
                      </a:r>
                    </a:p>
                  </a:txBody>
                  <a:tcPr/>
                </a:tc>
                <a:extLst>
                  <a:ext uri="{0D108BD9-81ED-4DB2-BD59-A6C34878D82A}">
                    <a16:rowId xmlns:a16="http://schemas.microsoft.com/office/drawing/2014/main" val="1955300202"/>
                  </a:ext>
                </a:extLst>
              </a:tr>
            </a:tbl>
          </a:graphicData>
        </a:graphic>
      </p:graphicFrame>
    </p:spTree>
    <p:extLst>
      <p:ext uri="{BB962C8B-B14F-4D97-AF65-F5344CB8AC3E}">
        <p14:creationId xmlns:p14="http://schemas.microsoft.com/office/powerpoint/2010/main" val="336606554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5C40-F763-1C11-F88D-B6DA418F5271}"/>
              </a:ext>
            </a:extLst>
          </p:cNvPr>
          <p:cNvSpPr>
            <a:spLocks noGrp="1"/>
          </p:cNvSpPr>
          <p:nvPr>
            <p:ph type="title"/>
          </p:nvPr>
        </p:nvSpPr>
        <p:spPr/>
        <p:txBody>
          <a:bodyPr/>
          <a:lstStyle/>
          <a:p>
            <a:r>
              <a:rPr lang="en-US"/>
              <a:t>Web App Attack Surface (cont.)</a:t>
            </a:r>
          </a:p>
        </p:txBody>
      </p:sp>
      <p:sp>
        <p:nvSpPr>
          <p:cNvPr id="3" name="Content Placeholder 2">
            <a:extLst>
              <a:ext uri="{FF2B5EF4-FFF2-40B4-BE49-F238E27FC236}">
                <a16:creationId xmlns:a16="http://schemas.microsoft.com/office/drawing/2014/main" id="{291984D5-A6C5-20B6-F51E-CE3B000A001A}"/>
              </a:ext>
            </a:extLst>
          </p:cNvPr>
          <p:cNvSpPr>
            <a:spLocks noGrp="1"/>
          </p:cNvSpPr>
          <p:nvPr>
            <p:ph sz="quarter" idx="10"/>
          </p:nvPr>
        </p:nvSpPr>
        <p:spPr/>
        <p:txBody>
          <a:bodyPr>
            <a:noAutofit/>
          </a:bodyPr>
          <a:lstStyle/>
          <a:p>
            <a:pPr>
              <a:lnSpc>
                <a:spcPct val="115000"/>
              </a:lnSpc>
              <a:spcBef>
                <a:spcPts val="600"/>
              </a:spcBef>
            </a:pPr>
            <a:r>
              <a:rPr lang="en-US" sz="1600" b="1"/>
              <a:t>Application layer attacks:</a:t>
            </a:r>
          </a:p>
          <a:p>
            <a:pPr>
              <a:lnSpc>
                <a:spcPct val="115000"/>
              </a:lnSpc>
              <a:spcBef>
                <a:spcPts val="600"/>
              </a:spcBef>
            </a:pPr>
            <a:r>
              <a:rPr lang="en-US" sz="1600"/>
              <a:t>    Command injection via unsanitized user input (exec(), system(), shell_exec())</a:t>
            </a:r>
          </a:p>
          <a:p>
            <a:pPr>
              <a:lnSpc>
                <a:spcPct val="115000"/>
              </a:lnSpc>
              <a:spcBef>
                <a:spcPts val="600"/>
              </a:spcBef>
            </a:pPr>
            <a:r>
              <a:rPr lang="en-US" sz="1600"/>
              <a:t>    Web shell deployment via Kudu/SCM console or FTP</a:t>
            </a:r>
          </a:p>
          <a:p>
            <a:pPr>
              <a:lnSpc>
                <a:spcPct val="115000"/>
              </a:lnSpc>
              <a:spcBef>
                <a:spcPts val="600"/>
              </a:spcBef>
            </a:pPr>
            <a:r>
              <a:rPr lang="en-US" sz="1600"/>
              <a:t>    Source code disclosure through misconfigured deployment</a:t>
            </a:r>
          </a:p>
          <a:p>
            <a:pPr>
              <a:lnSpc>
                <a:spcPct val="115000"/>
              </a:lnSpc>
              <a:spcBef>
                <a:spcPts val="600"/>
              </a:spcBef>
            </a:pPr>
            <a:r>
              <a:rPr lang="en-US" sz="1600" b="1"/>
              <a:t>Vulnerable functions by language:</a:t>
            </a:r>
          </a:p>
          <a:p>
            <a:pPr>
              <a:lnSpc>
                <a:spcPct val="115000"/>
              </a:lnSpc>
              <a:spcBef>
                <a:spcPts val="600"/>
              </a:spcBef>
            </a:pPr>
            <a:r>
              <a:rPr lang="en-US" sz="1600" b="1"/>
              <a:t>Azure platform attacks:</a:t>
            </a:r>
          </a:p>
          <a:p>
            <a:pPr>
              <a:lnSpc>
                <a:spcPct val="115000"/>
              </a:lnSpc>
              <a:spcBef>
                <a:spcPts val="600"/>
              </a:spcBef>
            </a:pPr>
            <a:r>
              <a:rPr lang="en-US" sz="1600"/>
              <a:t>    Managed identity token theft via IDENTITY_ENDPOINT</a:t>
            </a:r>
          </a:p>
          <a:p>
            <a:pPr>
              <a:lnSpc>
                <a:spcPct val="115000"/>
              </a:lnSpc>
              <a:spcBef>
                <a:spcPts val="600"/>
              </a:spcBef>
            </a:pPr>
            <a:r>
              <a:rPr lang="en-US" sz="1600"/>
              <a:t>    Environment variable extraction (connection strings, subscription IDs)</a:t>
            </a:r>
          </a:p>
          <a:p>
            <a:pPr>
              <a:lnSpc>
                <a:spcPct val="115000"/>
              </a:lnSpc>
              <a:spcBef>
                <a:spcPts val="600"/>
              </a:spcBef>
            </a:pPr>
            <a:r>
              <a:rPr lang="en-US" sz="1600"/>
              <a:t>    Authentication token forgery using WEBSITE_AUTH_SIGNING_KEY</a:t>
            </a:r>
          </a:p>
        </p:txBody>
      </p:sp>
    </p:spTree>
    <p:extLst>
      <p:ext uri="{BB962C8B-B14F-4D97-AF65-F5344CB8AC3E}">
        <p14:creationId xmlns:p14="http://schemas.microsoft.com/office/powerpoint/2010/main" val="254990017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91F42-903E-0E12-C9C6-4D713DC19A04}"/>
              </a:ext>
            </a:extLst>
          </p:cNvPr>
          <p:cNvSpPr>
            <a:spLocks noGrp="1"/>
          </p:cNvSpPr>
          <p:nvPr>
            <p:ph type="title"/>
          </p:nvPr>
        </p:nvSpPr>
        <p:spPr/>
        <p:txBody>
          <a:bodyPr/>
          <a:lstStyle/>
          <a:p>
            <a:r>
              <a:rPr lang="en-US"/>
              <a:t>Critical Environment Variables</a:t>
            </a:r>
          </a:p>
        </p:txBody>
      </p:sp>
      <p:graphicFrame>
        <p:nvGraphicFramePr>
          <p:cNvPr id="4" name="Content Placeholder 3">
            <a:extLst>
              <a:ext uri="{FF2B5EF4-FFF2-40B4-BE49-F238E27FC236}">
                <a16:creationId xmlns:a16="http://schemas.microsoft.com/office/drawing/2014/main" id="{ECFA9EF1-3C5D-1111-2B83-EA65FF1F3C0B}"/>
              </a:ext>
            </a:extLst>
          </p:cNvPr>
          <p:cNvGraphicFramePr>
            <a:graphicFrameLocks noGrp="1"/>
          </p:cNvGraphicFramePr>
          <p:nvPr>
            <p:ph sz="quarter" idx="10"/>
            <p:extLst>
              <p:ext uri="{D42A27DB-BD31-4B8C-83A1-F6EECF244321}">
                <p14:modId xmlns:p14="http://schemas.microsoft.com/office/powerpoint/2010/main" val="883873875"/>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980565888"/>
                    </a:ext>
                  </a:extLst>
                </a:gridCol>
                <a:gridCol w="5715000">
                  <a:extLst>
                    <a:ext uri="{9D8B030D-6E8A-4147-A177-3AD203B41FA5}">
                      <a16:colId xmlns:a16="http://schemas.microsoft.com/office/drawing/2014/main" val="2594108728"/>
                    </a:ext>
                  </a:extLst>
                </a:gridCol>
              </a:tblGrid>
              <a:tr h="557389">
                <a:tc>
                  <a:txBody>
                    <a:bodyPr/>
                    <a:lstStyle/>
                    <a:p>
                      <a:r>
                        <a:rPr lang="en-US" sz="1200" b="1"/>
                        <a:t>Variable</a:t>
                      </a:r>
                    </a:p>
                  </a:txBody>
                  <a:tcPr/>
                </a:tc>
                <a:tc>
                  <a:txBody>
                    <a:bodyPr/>
                    <a:lstStyle/>
                    <a:p>
                      <a:r>
                        <a:rPr lang="en-US" sz="1200" b="1"/>
                        <a:t>Red Team Value</a:t>
                      </a:r>
                    </a:p>
                  </a:txBody>
                  <a:tcPr/>
                </a:tc>
                <a:extLst>
                  <a:ext uri="{0D108BD9-81ED-4DB2-BD59-A6C34878D82A}">
                    <a16:rowId xmlns:a16="http://schemas.microsoft.com/office/drawing/2014/main" val="3625544006"/>
                  </a:ext>
                </a:extLst>
              </a:tr>
              <a:tr h="557389">
                <a:tc>
                  <a:txBody>
                    <a:bodyPr/>
                    <a:lstStyle/>
                    <a:p>
                      <a:r>
                        <a:rPr lang="en-US" sz="1200"/>
                        <a:t>WEBSITE_OWNER_NAME</a:t>
                      </a:r>
                    </a:p>
                  </a:txBody>
                  <a:tcPr/>
                </a:tc>
                <a:tc>
                  <a:txBody>
                    <a:bodyPr/>
                    <a:lstStyle/>
                    <a:p>
                      <a:r>
                        <a:rPr lang="en-US" sz="1200"/>
                        <a:t>Subscription ID and resource group</a:t>
                      </a:r>
                    </a:p>
                  </a:txBody>
                  <a:tcPr/>
                </a:tc>
                <a:extLst>
                  <a:ext uri="{0D108BD9-81ED-4DB2-BD59-A6C34878D82A}">
                    <a16:rowId xmlns:a16="http://schemas.microsoft.com/office/drawing/2014/main" val="3778838134"/>
                  </a:ext>
                </a:extLst>
              </a:tr>
              <a:tr h="557389">
                <a:tc>
                  <a:txBody>
                    <a:bodyPr/>
                    <a:lstStyle/>
                    <a:p>
                      <a:r>
                        <a:rPr lang="en-US" sz="1200"/>
                        <a:t>WEBSITE_RESOURCE_GROUP</a:t>
                      </a:r>
                    </a:p>
                  </a:txBody>
                  <a:tcPr/>
                </a:tc>
                <a:tc>
                  <a:txBody>
                    <a:bodyPr/>
                    <a:lstStyle/>
                    <a:p>
                      <a:r>
                        <a:rPr lang="en-US" sz="1200"/>
                        <a:t>Maps app to resource group</a:t>
                      </a:r>
                    </a:p>
                  </a:txBody>
                  <a:tcPr/>
                </a:tc>
                <a:extLst>
                  <a:ext uri="{0D108BD9-81ED-4DB2-BD59-A6C34878D82A}">
                    <a16:rowId xmlns:a16="http://schemas.microsoft.com/office/drawing/2014/main" val="886762515"/>
                  </a:ext>
                </a:extLst>
              </a:tr>
              <a:tr h="557389">
                <a:tc>
                  <a:txBody>
                    <a:bodyPr/>
                    <a:lstStyle/>
                    <a:p>
                      <a:r>
                        <a:rPr lang="en-US" sz="1200"/>
                        <a:t>IDENTITY_ENDPOINT</a:t>
                      </a:r>
                    </a:p>
                  </a:txBody>
                  <a:tcPr/>
                </a:tc>
                <a:tc>
                  <a:txBody>
                    <a:bodyPr/>
                    <a:lstStyle/>
                    <a:p>
                      <a:r>
                        <a:rPr lang="en-US" sz="1200"/>
                        <a:t>URL to local managed identity token service</a:t>
                      </a:r>
                    </a:p>
                  </a:txBody>
                  <a:tcPr/>
                </a:tc>
                <a:extLst>
                  <a:ext uri="{0D108BD9-81ED-4DB2-BD59-A6C34878D82A}">
                    <a16:rowId xmlns:a16="http://schemas.microsoft.com/office/drawing/2014/main" val="848186102"/>
                  </a:ext>
                </a:extLst>
              </a:tr>
              <a:tr h="557389">
                <a:tc>
                  <a:txBody>
                    <a:bodyPr/>
                    <a:lstStyle/>
                    <a:p>
                      <a:r>
                        <a:rPr lang="en-US" sz="1200"/>
                        <a:t>IDENTITY_HEADER</a:t>
                      </a:r>
                    </a:p>
                  </a:txBody>
                  <a:tcPr/>
                </a:tc>
                <a:tc>
                  <a:txBody>
                    <a:bodyPr/>
                    <a:lstStyle/>
                    <a:p>
                      <a:r>
                        <a:rPr lang="en-US" sz="1200"/>
                        <a:t>Header value for managed identity token requests</a:t>
                      </a:r>
                    </a:p>
                  </a:txBody>
                  <a:tcPr/>
                </a:tc>
                <a:extLst>
                  <a:ext uri="{0D108BD9-81ED-4DB2-BD59-A6C34878D82A}">
                    <a16:rowId xmlns:a16="http://schemas.microsoft.com/office/drawing/2014/main" val="441278988"/>
                  </a:ext>
                </a:extLst>
              </a:tr>
              <a:tr h="557389">
                <a:tc>
                  <a:txBody>
                    <a:bodyPr/>
                    <a:lstStyle/>
                    <a:p>
                      <a:r>
                        <a:rPr lang="en-US" sz="1200"/>
                        <a:t>WEBSITE_AUTH_SIGNING_KEY</a:t>
                      </a:r>
                    </a:p>
                  </a:txBody>
                  <a:tcPr/>
                </a:tc>
                <a:tc>
                  <a:txBody>
                    <a:bodyPr/>
                    <a:lstStyle/>
                    <a:p>
                      <a:r>
                        <a:rPr lang="en-US" sz="1200"/>
                        <a:t>Can forge authentication tokens</a:t>
                      </a:r>
                    </a:p>
                  </a:txBody>
                  <a:tcPr/>
                </a:tc>
                <a:extLst>
                  <a:ext uri="{0D108BD9-81ED-4DB2-BD59-A6C34878D82A}">
                    <a16:rowId xmlns:a16="http://schemas.microsoft.com/office/drawing/2014/main" val="3552246994"/>
                  </a:ext>
                </a:extLst>
              </a:tr>
              <a:tr h="557389">
                <a:tc>
                  <a:txBody>
                    <a:bodyPr/>
                    <a:lstStyle/>
                    <a:p>
                      <a:r>
                        <a:rPr lang="en-US" sz="1200"/>
                        <a:t>WEBSITE_AUTH_ENCRYPTION_KEY</a:t>
                      </a:r>
                    </a:p>
                  </a:txBody>
                  <a:tcPr/>
                </a:tc>
                <a:tc>
                  <a:txBody>
                    <a:bodyPr/>
                    <a:lstStyle/>
                    <a:p>
                      <a:r>
                        <a:rPr lang="en-US" sz="1200"/>
                        <a:t>Can decrypt authentication data</a:t>
                      </a:r>
                    </a:p>
                  </a:txBody>
                  <a:tcPr/>
                </a:tc>
                <a:extLst>
                  <a:ext uri="{0D108BD9-81ED-4DB2-BD59-A6C34878D82A}">
                    <a16:rowId xmlns:a16="http://schemas.microsoft.com/office/drawing/2014/main" val="206716789"/>
                  </a:ext>
                </a:extLst>
              </a:tr>
              <a:tr h="557389">
                <a:tc>
                  <a:txBody>
                    <a:bodyPr/>
                    <a:lstStyle/>
                    <a:p>
                      <a:r>
                        <a:rPr lang="en-US" sz="1200"/>
                        <a:t>SQLCONNSTR_*</a:t>
                      </a:r>
                    </a:p>
                  </a:txBody>
                  <a:tcPr/>
                </a:tc>
                <a:tc>
                  <a:txBody>
                    <a:bodyPr/>
                    <a:lstStyle/>
                    <a:p>
                      <a:r>
                        <a:rPr lang="en-US" sz="1200"/>
                        <a:t>SQL Server connection strings</a:t>
                      </a:r>
                    </a:p>
                  </a:txBody>
                  <a:tcPr/>
                </a:tc>
                <a:extLst>
                  <a:ext uri="{0D108BD9-81ED-4DB2-BD59-A6C34878D82A}">
                    <a16:rowId xmlns:a16="http://schemas.microsoft.com/office/drawing/2014/main" val="3596552170"/>
                  </a:ext>
                </a:extLst>
              </a:tr>
              <a:tr h="557389">
                <a:tc>
                  <a:txBody>
                    <a:bodyPr/>
                    <a:lstStyle/>
                    <a:p>
                      <a:r>
                        <a:rPr lang="en-US" sz="1200"/>
                        <a:t>CUSTOMCONNSTR_*</a:t>
                      </a:r>
                    </a:p>
                  </a:txBody>
                  <a:tcPr/>
                </a:tc>
                <a:tc>
                  <a:txBody>
                    <a:bodyPr/>
                    <a:lstStyle/>
                    <a:p>
                      <a:r>
                        <a:rPr lang="en-US" sz="1200"/>
                        <a:t>Custom backend connection strings</a:t>
                      </a:r>
                    </a:p>
                  </a:txBody>
                  <a:tcPr/>
                </a:tc>
                <a:extLst>
                  <a:ext uri="{0D108BD9-81ED-4DB2-BD59-A6C34878D82A}">
                    <a16:rowId xmlns:a16="http://schemas.microsoft.com/office/drawing/2014/main" val="857748945"/>
                  </a:ext>
                </a:extLst>
              </a:tr>
            </a:tbl>
          </a:graphicData>
        </a:graphic>
      </p:graphicFrame>
    </p:spTree>
    <p:extLst>
      <p:ext uri="{BB962C8B-B14F-4D97-AF65-F5344CB8AC3E}">
        <p14:creationId xmlns:p14="http://schemas.microsoft.com/office/powerpoint/2010/main" val="2046759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39BF4-C6F3-AEAA-9811-C16AC2F7A2A5}"/>
              </a:ext>
            </a:extLst>
          </p:cNvPr>
          <p:cNvSpPr>
            <a:spLocks noGrp="1"/>
          </p:cNvSpPr>
          <p:nvPr>
            <p:ph type="title"/>
          </p:nvPr>
        </p:nvSpPr>
        <p:spPr/>
        <p:txBody>
          <a:bodyPr/>
          <a:lstStyle/>
          <a:p>
            <a:r>
              <a:rPr lang="en-US"/>
              <a:t>Critical Environment Variables (cont.)</a:t>
            </a:r>
          </a:p>
        </p:txBody>
      </p:sp>
      <p:sp>
        <p:nvSpPr>
          <p:cNvPr id="3" name="Content Placeholder 2">
            <a:extLst>
              <a:ext uri="{FF2B5EF4-FFF2-40B4-BE49-F238E27FC236}">
                <a16:creationId xmlns:a16="http://schemas.microsoft.com/office/drawing/2014/main" id="{A7D4E420-D269-46C9-9834-85863051BB2A}"/>
              </a:ext>
            </a:extLst>
          </p:cNvPr>
          <p:cNvSpPr>
            <a:spLocks noGrp="1"/>
          </p:cNvSpPr>
          <p:nvPr>
            <p:ph sz="quarter" idx="10"/>
          </p:nvPr>
        </p:nvSpPr>
        <p:spPr/>
        <p:txBody>
          <a:bodyPr>
            <a:noAutofit/>
          </a:bodyPr>
          <a:lstStyle/>
          <a:p>
            <a:pPr>
              <a:lnSpc>
                <a:spcPct val="115000"/>
              </a:lnSpc>
              <a:spcBef>
                <a:spcPts val="600"/>
              </a:spcBef>
            </a:pPr>
            <a:r>
              <a:rPr lang="en-US" sz="1600"/>
              <a:t>After RCE, attacker runs: env or printenv to dump all environment variables - this provides the roadmap for lateral movement.</a:t>
            </a:r>
          </a:p>
        </p:txBody>
      </p:sp>
    </p:spTree>
    <p:extLst>
      <p:ext uri="{BB962C8B-B14F-4D97-AF65-F5344CB8AC3E}">
        <p14:creationId xmlns:p14="http://schemas.microsoft.com/office/powerpoint/2010/main" val="344985262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2A807-92F5-E2CE-88AF-6D2B401338FF}"/>
              </a:ext>
            </a:extLst>
          </p:cNvPr>
          <p:cNvSpPr>
            <a:spLocks noGrp="1"/>
          </p:cNvSpPr>
          <p:nvPr>
            <p:ph type="title"/>
          </p:nvPr>
        </p:nvSpPr>
        <p:spPr/>
        <p:txBody>
          <a:bodyPr/>
          <a:lstStyle/>
          <a:p>
            <a:r>
              <a:rPr lang="en-US"/>
              <a:t>Managed Identity Token Theft</a:t>
            </a:r>
          </a:p>
        </p:txBody>
      </p:sp>
      <p:sp>
        <p:nvSpPr>
          <p:cNvPr id="3" name="Content Placeholder 2">
            <a:extLst>
              <a:ext uri="{FF2B5EF4-FFF2-40B4-BE49-F238E27FC236}">
                <a16:creationId xmlns:a16="http://schemas.microsoft.com/office/drawing/2014/main" id="{A9043D94-452A-7E2D-7352-2D25A864A4C6}"/>
              </a:ext>
            </a:extLst>
          </p:cNvPr>
          <p:cNvSpPr>
            <a:spLocks noGrp="1"/>
          </p:cNvSpPr>
          <p:nvPr>
            <p:ph sz="quarter" idx="10"/>
          </p:nvPr>
        </p:nvSpPr>
        <p:spPr/>
        <p:txBody>
          <a:bodyPr>
            <a:noAutofit/>
          </a:bodyPr>
          <a:lstStyle/>
          <a:p>
            <a:pPr>
              <a:lnSpc>
                <a:spcPct val="115000"/>
              </a:lnSpc>
              <a:spcBef>
                <a:spcPts val="600"/>
              </a:spcBef>
            </a:pPr>
            <a:r>
              <a:rPr lang="en-US" sz="2200" b="1"/>
              <a:t>From inside a compromised Web App, the attacker requests managed identity tokens for any Azure resource:</a:t>
            </a:r>
          </a:p>
          <a:p>
            <a:pPr>
              <a:lnSpc>
                <a:spcPct val="115000"/>
              </a:lnSpc>
              <a:spcBef>
                <a:spcPts val="600"/>
              </a:spcBef>
            </a:pPr>
            <a:r>
              <a:rPr lang="en-US" sz="2200"/>
              <a:t>ARM (Azure management): resource=https://management.azure.com/</a:t>
            </a:r>
          </a:p>
          <a:p>
            <a:pPr>
              <a:lnSpc>
                <a:spcPct val="115000"/>
              </a:lnSpc>
              <a:spcBef>
                <a:spcPts val="600"/>
              </a:spcBef>
            </a:pPr>
            <a:r>
              <a:rPr lang="en-US" sz="2200"/>
              <a:t>Graph Application Programming Interface (API): resource=https://graph.microsoft.com/</a:t>
            </a:r>
          </a:p>
        </p:txBody>
      </p:sp>
    </p:spTree>
    <p:extLst>
      <p:ext uri="{BB962C8B-B14F-4D97-AF65-F5344CB8AC3E}">
        <p14:creationId xmlns:p14="http://schemas.microsoft.com/office/powerpoint/2010/main" val="20582637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4F48-2887-8573-AC46-656DBA9148C6}"/>
              </a:ext>
            </a:extLst>
          </p:cNvPr>
          <p:cNvSpPr>
            <a:spLocks noGrp="1"/>
          </p:cNvSpPr>
          <p:nvPr>
            <p:ph type="title"/>
          </p:nvPr>
        </p:nvSpPr>
        <p:spPr/>
        <p:txBody>
          <a:bodyPr/>
          <a:lstStyle/>
          <a:p>
            <a:r>
              <a:rPr lang="en-US"/>
              <a:t>Managed Identity Token Theft (cont. 2)</a:t>
            </a:r>
          </a:p>
        </p:txBody>
      </p:sp>
      <p:sp>
        <p:nvSpPr>
          <p:cNvPr id="3" name="Content Placeholder 2">
            <a:extLst>
              <a:ext uri="{FF2B5EF4-FFF2-40B4-BE49-F238E27FC236}">
                <a16:creationId xmlns:a16="http://schemas.microsoft.com/office/drawing/2014/main" id="{4C68E6A5-526F-BCD2-955F-E956F3BD2AE5}"/>
              </a:ext>
            </a:extLst>
          </p:cNvPr>
          <p:cNvSpPr>
            <a:spLocks noGrp="1"/>
          </p:cNvSpPr>
          <p:nvPr>
            <p:ph sz="quarter" idx="10"/>
          </p:nvPr>
        </p:nvSpPr>
        <p:spPr/>
        <p:txBody>
          <a:bodyPr>
            <a:noAutofit/>
          </a:bodyPr>
          <a:lstStyle/>
          <a:p>
            <a:pPr>
              <a:lnSpc>
                <a:spcPct val="115000"/>
              </a:lnSpc>
              <a:spcBef>
                <a:spcPts val="600"/>
              </a:spcBef>
            </a:pPr>
            <a:r>
              <a:rPr lang="en-US" sz="2200"/>
              <a:t>Key Vault: resource=https://vault.azure.net/</a:t>
            </a:r>
          </a:p>
          <a:p>
            <a:pPr>
              <a:lnSpc>
                <a:spcPct val="115000"/>
              </a:lnSpc>
              <a:spcBef>
                <a:spcPts val="600"/>
              </a:spcBef>
            </a:pPr>
            <a:r>
              <a:rPr lang="en-US" sz="2200"/>
              <a:t>Storage: resource=https://storage.azure.com/</a:t>
            </a:r>
          </a:p>
          <a:p>
            <a:pPr>
              <a:lnSpc>
                <a:spcPct val="115000"/>
              </a:lnSpc>
              <a:spcBef>
                <a:spcPts val="600"/>
              </a:spcBef>
            </a:pPr>
            <a:r>
              <a:rPr lang="en-US" sz="2200" b="1"/>
              <a:t>Request format:</a:t>
            </a:r>
          </a:p>
          <a:p>
            <a:pPr>
              <a:lnSpc>
                <a:spcPct val="115000"/>
              </a:lnSpc>
              <a:spcBef>
                <a:spcPts val="600"/>
              </a:spcBef>
            </a:pPr>
            <a:r>
              <a:rPr lang="en-US" sz="2200"/>
              <a:t>    curl "${IDENTITY_ENDPOINT}?resource=https://management.azure.com/&amp;api-version=2019-08-01" -H "X-IDENTITY-HEADER: ${IDENTITY_HEADER}"</a:t>
            </a:r>
          </a:p>
          <a:p>
            <a:pPr>
              <a:lnSpc>
                <a:spcPct val="115000"/>
              </a:lnSpc>
              <a:spcBef>
                <a:spcPts val="600"/>
              </a:spcBef>
            </a:pPr>
            <a:r>
              <a:rPr lang="en-US" sz="2200"/>
              <a:t>Detection: Monitor AADManagedIdentitySignInLogs for sign-ins from unexpected IPs or targeting unexpected resources.</a:t>
            </a:r>
          </a:p>
        </p:txBody>
      </p:sp>
    </p:spTree>
    <p:extLst>
      <p:ext uri="{BB962C8B-B14F-4D97-AF65-F5344CB8AC3E}">
        <p14:creationId xmlns:p14="http://schemas.microsoft.com/office/powerpoint/2010/main" val="317689378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4D640-4C42-49FF-A418-B0621E2922C9}"/>
              </a:ext>
            </a:extLst>
          </p:cNvPr>
          <p:cNvSpPr>
            <a:spLocks noGrp="1"/>
          </p:cNvSpPr>
          <p:nvPr>
            <p:ph type="title"/>
          </p:nvPr>
        </p:nvSpPr>
        <p:spPr/>
        <p:txBody>
          <a:bodyPr/>
          <a:lstStyle/>
          <a:p>
            <a:r>
              <a:rPr lang="en-US"/>
              <a:t>Log Tables for Web App Detection</a:t>
            </a:r>
          </a:p>
        </p:txBody>
      </p:sp>
      <p:graphicFrame>
        <p:nvGraphicFramePr>
          <p:cNvPr id="4" name="Content Placeholder 3">
            <a:extLst>
              <a:ext uri="{FF2B5EF4-FFF2-40B4-BE49-F238E27FC236}">
                <a16:creationId xmlns:a16="http://schemas.microsoft.com/office/drawing/2014/main" id="{D7F68DC1-6F8C-68C9-A060-ED9CE4DE5C3B}"/>
              </a:ext>
            </a:extLst>
          </p:cNvPr>
          <p:cNvGraphicFramePr>
            <a:graphicFrameLocks noGrp="1"/>
          </p:cNvGraphicFramePr>
          <p:nvPr>
            <p:ph sz="quarter" idx="10"/>
            <p:extLst>
              <p:ext uri="{D42A27DB-BD31-4B8C-83A1-F6EECF244321}">
                <p14:modId xmlns:p14="http://schemas.microsoft.com/office/powerpoint/2010/main" val="2407658680"/>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847115014"/>
                    </a:ext>
                  </a:extLst>
                </a:gridCol>
                <a:gridCol w="5715000">
                  <a:extLst>
                    <a:ext uri="{9D8B030D-6E8A-4147-A177-3AD203B41FA5}">
                      <a16:colId xmlns:a16="http://schemas.microsoft.com/office/drawing/2014/main" val="369381390"/>
                    </a:ext>
                  </a:extLst>
                </a:gridCol>
              </a:tblGrid>
              <a:tr h="557389">
                <a:tc>
                  <a:txBody>
                    <a:bodyPr/>
                    <a:lstStyle/>
                    <a:p>
                      <a:r>
                        <a:rPr lang="en-US" sz="1200" b="1"/>
                        <a:t>Table</a:t>
                      </a:r>
                    </a:p>
                  </a:txBody>
                  <a:tcPr/>
                </a:tc>
                <a:tc>
                  <a:txBody>
                    <a:bodyPr/>
                    <a:lstStyle/>
                    <a:p>
                      <a:r>
                        <a:rPr lang="en-US" sz="1200" b="1"/>
                        <a:t>What It Captures</a:t>
                      </a:r>
                    </a:p>
                  </a:txBody>
                  <a:tcPr/>
                </a:tc>
                <a:extLst>
                  <a:ext uri="{0D108BD9-81ED-4DB2-BD59-A6C34878D82A}">
                    <a16:rowId xmlns:a16="http://schemas.microsoft.com/office/drawing/2014/main" val="3763705121"/>
                  </a:ext>
                </a:extLst>
              </a:tr>
              <a:tr h="557389">
                <a:tc>
                  <a:txBody>
                    <a:bodyPr/>
                    <a:lstStyle/>
                    <a:p>
                      <a:r>
                        <a:rPr lang="en-US" sz="1200"/>
                        <a:t>AppServiceHTTPLogs</a:t>
                      </a:r>
                    </a:p>
                  </a:txBody>
                  <a:tcPr/>
                </a:tc>
                <a:tc>
                  <a:txBody>
                    <a:bodyPr/>
                    <a:lstStyle/>
                    <a:p>
                      <a:r>
                        <a:rPr lang="en-US" sz="1200"/>
                        <a:t>Every HTTP request - URI, status code, user agent, response time</a:t>
                      </a:r>
                    </a:p>
                  </a:txBody>
                  <a:tcPr/>
                </a:tc>
                <a:extLst>
                  <a:ext uri="{0D108BD9-81ED-4DB2-BD59-A6C34878D82A}">
                    <a16:rowId xmlns:a16="http://schemas.microsoft.com/office/drawing/2014/main" val="1095069518"/>
                  </a:ext>
                </a:extLst>
              </a:tr>
              <a:tr h="557389">
                <a:tc>
                  <a:txBody>
                    <a:bodyPr/>
                    <a:lstStyle/>
                    <a:p>
                      <a:r>
                        <a:rPr lang="en-US" sz="1200"/>
                        <a:t>AppServiceConsoleLogs</a:t>
                      </a:r>
                    </a:p>
                  </a:txBody>
                  <a:tcPr/>
                </a:tc>
                <a:tc>
                  <a:txBody>
                    <a:bodyPr/>
                    <a:lstStyle/>
                    <a:p>
                      <a:r>
                        <a:rPr lang="fr-FR" sz="1200"/>
                        <a:t>Application console output (stdout/stderr)</a:t>
                      </a:r>
                      <a:endParaRPr lang="en-US" sz="1200"/>
                    </a:p>
                  </a:txBody>
                  <a:tcPr/>
                </a:tc>
                <a:extLst>
                  <a:ext uri="{0D108BD9-81ED-4DB2-BD59-A6C34878D82A}">
                    <a16:rowId xmlns:a16="http://schemas.microsoft.com/office/drawing/2014/main" val="1096542901"/>
                  </a:ext>
                </a:extLst>
              </a:tr>
              <a:tr h="557389">
                <a:tc>
                  <a:txBody>
                    <a:bodyPr/>
                    <a:lstStyle/>
                    <a:p>
                      <a:r>
                        <a:rPr lang="en-US" sz="1200"/>
                        <a:t>AppServiceAppLogs</a:t>
                      </a:r>
                    </a:p>
                  </a:txBody>
                  <a:tcPr/>
                </a:tc>
                <a:tc>
                  <a:txBody>
                    <a:bodyPr/>
                    <a:lstStyle/>
                    <a:p>
                      <a:r>
                        <a:rPr lang="en-US" sz="1200"/>
                        <a:t>Application-level logging (framework logs)</a:t>
                      </a:r>
                    </a:p>
                  </a:txBody>
                  <a:tcPr/>
                </a:tc>
                <a:extLst>
                  <a:ext uri="{0D108BD9-81ED-4DB2-BD59-A6C34878D82A}">
                    <a16:rowId xmlns:a16="http://schemas.microsoft.com/office/drawing/2014/main" val="323151137"/>
                  </a:ext>
                </a:extLst>
              </a:tr>
              <a:tr h="557389">
                <a:tc>
                  <a:txBody>
                    <a:bodyPr/>
                    <a:lstStyle/>
                    <a:p>
                      <a:r>
                        <a:rPr lang="en-US" sz="1200"/>
                        <a:t>AppServiceAuditLogs</a:t>
                      </a:r>
                    </a:p>
                  </a:txBody>
                  <a:tcPr/>
                </a:tc>
                <a:tc>
                  <a:txBody>
                    <a:bodyPr/>
                    <a:lstStyle/>
                    <a:p>
                      <a:r>
                        <a:rPr lang="en-US" sz="1200"/>
                        <a:t>Kudu/SCM and FTP access events</a:t>
                      </a:r>
                    </a:p>
                  </a:txBody>
                  <a:tcPr/>
                </a:tc>
                <a:extLst>
                  <a:ext uri="{0D108BD9-81ED-4DB2-BD59-A6C34878D82A}">
                    <a16:rowId xmlns:a16="http://schemas.microsoft.com/office/drawing/2014/main" val="1126939992"/>
                  </a:ext>
                </a:extLst>
              </a:tr>
              <a:tr h="557389">
                <a:tc>
                  <a:txBody>
                    <a:bodyPr/>
                    <a:lstStyle/>
                    <a:p>
                      <a:r>
                        <a:rPr lang="en-US" sz="1200"/>
                        <a:t>AppServiceFileAuditLogs</a:t>
                      </a:r>
                    </a:p>
                  </a:txBody>
                  <a:tcPr/>
                </a:tc>
                <a:tc>
                  <a:txBody>
                    <a:bodyPr/>
                    <a:lstStyle/>
                    <a:p>
                      <a:r>
                        <a:rPr lang="en-US" sz="1200"/>
                        <a:t>File system changes (create, modify, delete)</a:t>
                      </a:r>
                    </a:p>
                  </a:txBody>
                  <a:tcPr/>
                </a:tc>
                <a:extLst>
                  <a:ext uri="{0D108BD9-81ED-4DB2-BD59-A6C34878D82A}">
                    <a16:rowId xmlns:a16="http://schemas.microsoft.com/office/drawing/2014/main" val="4266737187"/>
                  </a:ext>
                </a:extLst>
              </a:tr>
              <a:tr h="557389">
                <a:tc>
                  <a:txBody>
                    <a:bodyPr/>
                    <a:lstStyle/>
                    <a:p>
                      <a:r>
                        <a:rPr lang="en-US" sz="1200"/>
                        <a:t>AppServiceIPSecAuditLogs</a:t>
                      </a:r>
                    </a:p>
                  </a:txBody>
                  <a:tcPr/>
                </a:tc>
                <a:tc>
                  <a:txBody>
                    <a:bodyPr/>
                    <a:lstStyle/>
                    <a:p>
                      <a:r>
                        <a:rPr lang="en-US" sz="1200"/>
                        <a:t>IP restriction rule matches</a:t>
                      </a:r>
                    </a:p>
                  </a:txBody>
                  <a:tcPr/>
                </a:tc>
                <a:extLst>
                  <a:ext uri="{0D108BD9-81ED-4DB2-BD59-A6C34878D82A}">
                    <a16:rowId xmlns:a16="http://schemas.microsoft.com/office/drawing/2014/main" val="1954093795"/>
                  </a:ext>
                </a:extLst>
              </a:tr>
              <a:tr h="557389">
                <a:tc>
                  <a:txBody>
                    <a:bodyPr/>
                    <a:lstStyle/>
                    <a:p>
                      <a:r>
                        <a:rPr lang="en-US" sz="1200"/>
                        <a:t>AppServicePlatformLogs</a:t>
                      </a:r>
                    </a:p>
                  </a:txBody>
                  <a:tcPr/>
                </a:tc>
                <a:tc>
                  <a:txBody>
                    <a:bodyPr/>
                    <a:lstStyle/>
                    <a:p>
                      <a:r>
                        <a:rPr lang="en-US" sz="1200"/>
                        <a:t>Platform-level events (scaling, deployment)</a:t>
                      </a:r>
                    </a:p>
                  </a:txBody>
                  <a:tcPr/>
                </a:tc>
                <a:extLst>
                  <a:ext uri="{0D108BD9-81ED-4DB2-BD59-A6C34878D82A}">
                    <a16:rowId xmlns:a16="http://schemas.microsoft.com/office/drawing/2014/main" val="2946970313"/>
                  </a:ext>
                </a:extLst>
              </a:tr>
              <a:tr h="557389">
                <a:tc>
                  <a:txBody>
                    <a:bodyPr/>
                    <a:lstStyle/>
                    <a:p>
                      <a:r>
                        <a:rPr lang="en-US" sz="1200"/>
                        <a:t>AzureActivity</a:t>
                      </a:r>
                    </a:p>
                  </a:txBody>
                  <a:tcPr/>
                </a:tc>
                <a:tc>
                  <a:txBody>
                    <a:bodyPr/>
                    <a:lstStyle/>
                    <a:p>
                      <a:r>
                        <a:rPr lang="en-US" sz="1200"/>
                        <a:t>Control plane operations</a:t>
                      </a:r>
                    </a:p>
                  </a:txBody>
                  <a:tcPr/>
                </a:tc>
                <a:extLst>
                  <a:ext uri="{0D108BD9-81ED-4DB2-BD59-A6C34878D82A}">
                    <a16:rowId xmlns:a16="http://schemas.microsoft.com/office/drawing/2014/main" val="2490774388"/>
                  </a:ext>
                </a:extLst>
              </a:tr>
            </a:tbl>
          </a:graphicData>
        </a:graphic>
      </p:graphicFrame>
    </p:spTree>
    <p:extLst>
      <p:ext uri="{BB962C8B-B14F-4D97-AF65-F5344CB8AC3E}">
        <p14:creationId xmlns:p14="http://schemas.microsoft.com/office/powerpoint/2010/main" val="15668468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55B98-FAD6-FF0F-F94F-E8560F8AA953}"/>
              </a:ext>
            </a:extLst>
          </p:cNvPr>
          <p:cNvSpPr>
            <a:spLocks noGrp="1"/>
          </p:cNvSpPr>
          <p:nvPr>
            <p:ph type="title"/>
          </p:nvPr>
        </p:nvSpPr>
        <p:spPr/>
        <p:txBody>
          <a:bodyPr/>
          <a:lstStyle/>
          <a:p>
            <a:r>
              <a:rPr lang="en-US"/>
              <a:t>Log Tables for Web App Detection (cont.)</a:t>
            </a:r>
          </a:p>
        </p:txBody>
      </p:sp>
      <p:sp>
        <p:nvSpPr>
          <p:cNvPr id="3" name="Content Placeholder 2">
            <a:extLst>
              <a:ext uri="{FF2B5EF4-FFF2-40B4-BE49-F238E27FC236}">
                <a16:creationId xmlns:a16="http://schemas.microsoft.com/office/drawing/2014/main" id="{087C38F3-5B72-AA81-96D7-A824A1834773}"/>
              </a:ext>
            </a:extLst>
          </p:cNvPr>
          <p:cNvSpPr>
            <a:spLocks noGrp="1"/>
          </p:cNvSpPr>
          <p:nvPr>
            <p:ph sz="quarter" idx="10"/>
          </p:nvPr>
        </p:nvSpPr>
        <p:spPr/>
        <p:txBody>
          <a:bodyPr>
            <a:noAutofit/>
          </a:bodyPr>
          <a:lstStyle/>
          <a:p>
            <a:pPr>
              <a:lnSpc>
                <a:spcPct val="115000"/>
              </a:lnSpc>
              <a:spcBef>
                <a:spcPts val="600"/>
              </a:spcBef>
            </a:pPr>
            <a:r>
              <a:rPr lang="en-US" sz="1600"/>
              <a:t>Enable all diagnostic categories to ensure comprehensive visibility.</a:t>
            </a:r>
          </a:p>
        </p:txBody>
      </p:sp>
    </p:spTree>
    <p:extLst>
      <p:ext uri="{BB962C8B-B14F-4D97-AF65-F5344CB8AC3E}">
        <p14:creationId xmlns:p14="http://schemas.microsoft.com/office/powerpoint/2010/main" val="320274669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993C0-6686-5558-2EAB-ABF1B34B0719}"/>
              </a:ext>
            </a:extLst>
          </p:cNvPr>
          <p:cNvSpPr>
            <a:spLocks noGrp="1"/>
          </p:cNvSpPr>
          <p:nvPr>
            <p:ph type="title"/>
          </p:nvPr>
        </p:nvSpPr>
        <p:spPr/>
        <p:txBody>
          <a:bodyPr/>
          <a:lstStyle/>
          <a:p>
            <a:r>
              <a:rPr lang="en-US"/>
              <a:t>KQL — Detect Command Injection (RCE)</a:t>
            </a:r>
          </a:p>
        </p:txBody>
      </p:sp>
      <p:sp>
        <p:nvSpPr>
          <p:cNvPr id="3" name="Content Placeholder 2">
            <a:extLst>
              <a:ext uri="{FF2B5EF4-FFF2-40B4-BE49-F238E27FC236}">
                <a16:creationId xmlns:a16="http://schemas.microsoft.com/office/drawing/2014/main" id="{832562BC-0E62-8390-7C71-0828BD7CE65A}"/>
              </a:ext>
            </a:extLst>
          </p:cNvPr>
          <p:cNvSpPr>
            <a:spLocks noGrp="1"/>
          </p:cNvSpPr>
          <p:nvPr>
            <p:ph sz="quarter" idx="10"/>
          </p:nvPr>
        </p:nvSpPr>
        <p:spPr/>
        <p:txBody>
          <a:bodyPr>
            <a:noAutofit/>
          </a:bodyPr>
          <a:lstStyle/>
          <a:p>
            <a:pPr>
              <a:lnSpc>
                <a:spcPct val="115000"/>
              </a:lnSpc>
              <a:spcBef>
                <a:spcPts val="600"/>
              </a:spcBef>
            </a:pPr>
            <a:r>
              <a:rPr lang="en-US"/>
              <a:t>What this detects: HTTP requests with command injection patterns that triggered server errors - likely exploitation attempts.</a:t>
            </a:r>
          </a:p>
        </p:txBody>
      </p:sp>
    </p:spTree>
    <p:extLst>
      <p:ext uri="{BB962C8B-B14F-4D97-AF65-F5344CB8AC3E}">
        <p14:creationId xmlns:p14="http://schemas.microsoft.com/office/powerpoint/2010/main" val="345884978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4D393-9C2A-2F5E-538F-CE17B4BC7957}"/>
              </a:ext>
            </a:extLst>
          </p:cNvPr>
          <p:cNvSpPr>
            <a:spLocks noGrp="1"/>
          </p:cNvSpPr>
          <p:nvPr>
            <p:ph type="title"/>
          </p:nvPr>
        </p:nvSpPr>
        <p:spPr/>
        <p:txBody>
          <a:bodyPr/>
          <a:lstStyle/>
          <a:p>
            <a:r>
              <a:rPr lang="en-US"/>
              <a:t>KQL — Detect Command Injection (RCE) (cont.)</a:t>
            </a:r>
          </a:p>
        </p:txBody>
      </p:sp>
      <p:sp>
        <p:nvSpPr>
          <p:cNvPr id="3" name="Content Placeholder 2">
            <a:extLst>
              <a:ext uri="{FF2B5EF4-FFF2-40B4-BE49-F238E27FC236}">
                <a16:creationId xmlns:a16="http://schemas.microsoft.com/office/drawing/2014/main" id="{0B42E351-80DB-9F65-83CD-4306344BA8EB}"/>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24817046-C320-399C-7D01-26EFFBF0DD39}"/>
              </a:ext>
            </a:extLst>
          </p:cNvPr>
          <p:cNvSpPr txBox="1"/>
          <p:nvPr/>
        </p:nvSpPr>
        <p:spPr>
          <a:xfrm>
            <a:off x="381000" y="3556000"/>
            <a:ext cx="11430000" cy="2769989"/>
          </a:xfrm>
          <a:prstGeom prst="rect">
            <a:avLst/>
          </a:prstGeom>
          <a:noFill/>
        </p:spPr>
        <p:txBody>
          <a:bodyPr vert="horz" wrap="square" lIns="0" tIns="0" rIns="0" bIns="0" rtlCol="0">
            <a:spAutoFit/>
          </a:bodyPr>
          <a:lstStyle/>
          <a:p>
            <a:pPr algn="l"/>
            <a:r>
              <a:rPr lang="en-US" sz="1200">
                <a:latin typeface="Consolas" panose="020B0609020204030204" pitchFamily="49" charset="0"/>
              </a:rPr>
              <a:t>AppServiceHTTPLogs</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ScStatus &gt;= 500</a:t>
            </a:r>
          </a:p>
          <a:p>
            <a:pPr algn="l"/>
            <a:r>
              <a:rPr lang="en-US" sz="1200">
                <a:latin typeface="Consolas" panose="020B0609020204030204" pitchFamily="49" charset="0"/>
              </a:rPr>
              <a:t>| where CsUriStem has_any (</a:t>
            </a:r>
          </a:p>
          <a:p>
            <a:pPr algn="l"/>
            <a:r>
              <a:rPr lang="en-US" sz="1200">
                <a:latin typeface="Consolas" panose="020B0609020204030204" pitchFamily="49" charset="0"/>
              </a:rPr>
              <a:t>    "cmd", "exec", "system",</a:t>
            </a:r>
          </a:p>
          <a:p>
            <a:pPr algn="l"/>
            <a:r>
              <a:rPr lang="en-US" sz="1200">
                <a:latin typeface="Consolas" panose="020B0609020204030204" pitchFamily="49" charset="0"/>
              </a:rPr>
              <a:t>    "eval", "subprocess"</a:t>
            </a:r>
          </a:p>
          <a:p>
            <a:pPr algn="l"/>
            <a:r>
              <a:rPr lang="en-US" sz="1200">
                <a:latin typeface="Consolas" panose="020B0609020204030204" pitchFamily="49" charset="0"/>
              </a:rPr>
              <a:t>  )</a:t>
            </a:r>
          </a:p>
          <a:p>
            <a:pPr algn="l"/>
            <a:r>
              <a:rPr lang="en-US" sz="1200">
                <a:latin typeface="Consolas" panose="020B0609020204030204" pitchFamily="49" charset="0"/>
              </a:rPr>
              <a:t>    or CsUriQuery has_any (</a:t>
            </a:r>
          </a:p>
          <a:p>
            <a:pPr algn="l"/>
            <a:r>
              <a:rPr lang="en-US" sz="1200">
                <a:latin typeface="Consolas" panose="020B0609020204030204" pitchFamily="49" charset="0"/>
              </a:rPr>
              <a:t>    "$(", "%;", "|", "`",</a:t>
            </a:r>
          </a:p>
          <a:p>
            <a:pPr algn="l"/>
            <a:r>
              <a:rPr lang="en-US" sz="1200">
                <a:latin typeface="Consolas" panose="020B0609020204030204" pitchFamily="49" charset="0"/>
              </a:rPr>
              <a:t>    "../", "etc/passwd"</a:t>
            </a:r>
          </a:p>
          <a:p>
            <a:pPr algn="l"/>
            <a:r>
              <a:rPr lang="en-US" sz="1200">
                <a:latin typeface="Consolas" panose="020B0609020204030204" pitchFamily="49" charset="0"/>
              </a:rPr>
              <a:t>  )</a:t>
            </a:r>
          </a:p>
          <a:p>
            <a:pPr algn="l"/>
            <a:r>
              <a:rPr lang="en-US" sz="1200">
                <a:latin typeface="Consolas" panose="020B0609020204030204" pitchFamily="49" charset="0"/>
              </a:rPr>
              <a:t>| project TimeGenerated, CsHost, CsMethod,</a:t>
            </a:r>
          </a:p>
          <a:p>
            <a:pPr algn="l"/>
            <a:r>
              <a:rPr lang="en-US" sz="1200">
                <a:latin typeface="Consolas" panose="020B0609020204030204" pitchFamily="49" charset="0"/>
              </a:rPr>
              <a:t>          CsUriStem, CsUriQuery, ScStatus,</a:t>
            </a:r>
          </a:p>
          <a:p>
            <a:pPr algn="l"/>
            <a:r>
              <a:rPr lang="en-US" sz="1200">
                <a:latin typeface="Consolas" panose="020B0609020204030204" pitchFamily="49" charset="0"/>
              </a:rPr>
              <a:t>          CIp, CsUserAgent, TimeTaken</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190007829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450FF-843B-4A94-3BAD-984D49D2F9B4}"/>
              </a:ext>
            </a:extLst>
          </p:cNvPr>
          <p:cNvSpPr>
            <a:spLocks noGrp="1"/>
          </p:cNvSpPr>
          <p:nvPr>
            <p:ph type="title"/>
          </p:nvPr>
        </p:nvSpPr>
        <p:spPr/>
        <p:txBody>
          <a:bodyPr/>
          <a:lstStyle/>
          <a:p>
            <a:r>
              <a:rPr lang="en-US"/>
              <a:t>KQL — Console Output and HTTP Correlation</a:t>
            </a:r>
          </a:p>
        </p:txBody>
      </p:sp>
      <p:sp>
        <p:nvSpPr>
          <p:cNvPr id="3" name="Content Placeholder 2">
            <a:extLst>
              <a:ext uri="{FF2B5EF4-FFF2-40B4-BE49-F238E27FC236}">
                <a16:creationId xmlns:a16="http://schemas.microsoft.com/office/drawing/2014/main" id="{C70F91A1-40BC-6633-FF20-A402EBF46411}"/>
              </a:ext>
            </a:extLst>
          </p:cNvPr>
          <p:cNvSpPr>
            <a:spLocks noGrp="1"/>
          </p:cNvSpPr>
          <p:nvPr>
            <p:ph sz="quarter" idx="10"/>
          </p:nvPr>
        </p:nvSpPr>
        <p:spPr/>
        <p:txBody>
          <a:bodyPr>
            <a:noAutofit/>
          </a:bodyPr>
          <a:lstStyle/>
          <a:p>
            <a:pPr>
              <a:lnSpc>
                <a:spcPct val="115000"/>
              </a:lnSpc>
              <a:spcBef>
                <a:spcPts val="600"/>
              </a:spcBef>
            </a:pPr>
            <a:r>
              <a:rPr lang="en-US" b="1"/>
              <a:t>Detect RCE output in console logs:</a:t>
            </a:r>
          </a:p>
          <a:p>
            <a:pPr>
              <a:lnSpc>
                <a:spcPct val="115000"/>
              </a:lnSpc>
              <a:spcBef>
                <a:spcPts val="600"/>
              </a:spcBef>
            </a:pPr>
            <a:r>
              <a:rPr lang="en-US" b="1"/>
              <a:t>Detect managed identity token requests:</a:t>
            </a:r>
          </a:p>
        </p:txBody>
      </p:sp>
      <p:sp>
        <p:nvSpPr>
          <p:cNvPr id="4" name="TextBox 3">
            <a:extLst>
              <a:ext uri="{FF2B5EF4-FFF2-40B4-BE49-F238E27FC236}">
                <a16:creationId xmlns:a16="http://schemas.microsoft.com/office/drawing/2014/main" id="{CEBE4B1B-F31D-98FC-33F9-CE63F31ADD4B}"/>
              </a:ext>
            </a:extLst>
          </p:cNvPr>
          <p:cNvSpPr txBox="1"/>
          <p:nvPr/>
        </p:nvSpPr>
        <p:spPr>
          <a:xfrm>
            <a:off x="381000" y="3429000"/>
            <a:ext cx="11430000" cy="1846659"/>
          </a:xfrm>
          <a:prstGeom prst="rect">
            <a:avLst/>
          </a:prstGeom>
          <a:noFill/>
        </p:spPr>
        <p:txBody>
          <a:bodyPr vert="horz" wrap="square" lIns="0" tIns="0" rIns="0" bIns="0" rtlCol="0">
            <a:spAutoFit/>
          </a:bodyPr>
          <a:lstStyle/>
          <a:p>
            <a:pPr algn="l"/>
            <a:r>
              <a:rPr lang="en-US" sz="1200">
                <a:latin typeface="Consolas" panose="020B0609020204030204" pitchFamily="49" charset="0"/>
              </a:rPr>
              <a:t>AppServiceConsoleLogs</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ResultDescription has_any (</a:t>
            </a:r>
          </a:p>
          <a:p>
            <a:pPr algn="l"/>
            <a:r>
              <a:rPr lang="en-US" sz="1200">
                <a:latin typeface="Consolas" panose="020B0609020204030204" pitchFamily="49" charset="0"/>
              </a:rPr>
              <a:t>    "uid=", "root:", "/bin/sh",</a:t>
            </a:r>
          </a:p>
          <a:p>
            <a:pPr algn="l"/>
            <a:r>
              <a:rPr lang="en-US" sz="1200">
                <a:latin typeface="Consolas" panose="020B0609020204030204" pitchFamily="49" charset="0"/>
              </a:rPr>
              <a:t>    "IDENTITY_ENDPOINT", "WEBSITE_OWNER",</a:t>
            </a:r>
          </a:p>
          <a:p>
            <a:pPr algn="l"/>
            <a:r>
              <a:rPr lang="en-US" sz="1200">
                <a:latin typeface="Consolas" panose="020B0609020204030204" pitchFamily="49" charset="0"/>
              </a:rPr>
              <a:t>    "BEGIN CERTIFICATE", "access_token"</a:t>
            </a:r>
          </a:p>
          <a:p>
            <a:pPr algn="l"/>
            <a:r>
              <a:rPr lang="en-US" sz="1200">
                <a:latin typeface="Consolas" panose="020B0609020204030204" pitchFamily="49" charset="0"/>
              </a:rPr>
              <a:t>  )</a:t>
            </a:r>
          </a:p>
          <a:p>
            <a:pPr algn="l"/>
            <a:r>
              <a:rPr lang="en-US" sz="1200">
                <a:latin typeface="Consolas" panose="020B0609020204030204" pitchFamily="49" charset="0"/>
              </a:rPr>
              <a:t>| project TimeGenerated, Host,</a:t>
            </a:r>
          </a:p>
          <a:p>
            <a:pPr algn="l"/>
            <a:r>
              <a:rPr lang="en-US" sz="1200">
                <a:latin typeface="Consolas" panose="020B0609020204030204" pitchFamily="49" charset="0"/>
              </a:rPr>
              <a:t>          ResultDescription</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34004195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14F2D-F398-DC6B-DA24-D8D1B8DCDA24}"/>
              </a:ext>
            </a:extLst>
          </p:cNvPr>
          <p:cNvSpPr>
            <a:spLocks noGrp="1"/>
          </p:cNvSpPr>
          <p:nvPr>
            <p:ph type="title"/>
          </p:nvPr>
        </p:nvSpPr>
        <p:spPr/>
        <p:txBody>
          <a:bodyPr/>
          <a:lstStyle/>
          <a:p>
            <a:r>
              <a:rPr lang="en-US"/>
              <a:t>KQL — File Changes and FTP/Kudu Access</a:t>
            </a:r>
          </a:p>
        </p:txBody>
      </p:sp>
      <p:sp>
        <p:nvSpPr>
          <p:cNvPr id="3" name="Content Placeholder 2">
            <a:extLst>
              <a:ext uri="{FF2B5EF4-FFF2-40B4-BE49-F238E27FC236}">
                <a16:creationId xmlns:a16="http://schemas.microsoft.com/office/drawing/2014/main" id="{DE65C080-C953-3B72-3BD0-ADC24EC9A7E8}"/>
              </a:ext>
            </a:extLst>
          </p:cNvPr>
          <p:cNvSpPr>
            <a:spLocks noGrp="1"/>
          </p:cNvSpPr>
          <p:nvPr>
            <p:ph sz="quarter" idx="10"/>
          </p:nvPr>
        </p:nvSpPr>
        <p:spPr/>
        <p:txBody>
          <a:bodyPr>
            <a:noAutofit/>
          </a:bodyPr>
          <a:lstStyle/>
          <a:p>
            <a:pPr>
              <a:lnSpc>
                <a:spcPct val="115000"/>
              </a:lnSpc>
              <a:spcBef>
                <a:spcPts val="600"/>
              </a:spcBef>
            </a:pPr>
            <a:r>
              <a:rPr lang="en-US" b="1"/>
              <a:t>Detect file system changes (web shell deployment):</a:t>
            </a:r>
          </a:p>
          <a:p>
            <a:pPr>
              <a:lnSpc>
                <a:spcPct val="115000"/>
              </a:lnSpc>
              <a:spcBef>
                <a:spcPts val="600"/>
              </a:spcBef>
            </a:pPr>
            <a:r>
              <a:rPr lang="en-US" b="1"/>
              <a:t>Detect FTP and Kudu/SCM access:</a:t>
            </a:r>
          </a:p>
          <a:p>
            <a:pPr>
              <a:lnSpc>
                <a:spcPct val="115000"/>
              </a:lnSpc>
              <a:spcBef>
                <a:spcPts val="600"/>
              </a:spcBef>
            </a:pPr>
            <a:r>
              <a:rPr lang="en-US"/>
              <a:t>What to investigate: New files in wwwroot (web shells), FTP access from unexpected IPs, Kudu console access outside deployment windows.</a:t>
            </a:r>
          </a:p>
        </p:txBody>
      </p:sp>
      <p:sp>
        <p:nvSpPr>
          <p:cNvPr id="4" name="TextBox 3">
            <a:extLst>
              <a:ext uri="{FF2B5EF4-FFF2-40B4-BE49-F238E27FC236}">
                <a16:creationId xmlns:a16="http://schemas.microsoft.com/office/drawing/2014/main" id="{D9EF4C45-717E-A7DE-2097-66907FFA17EA}"/>
              </a:ext>
            </a:extLst>
          </p:cNvPr>
          <p:cNvSpPr txBox="1"/>
          <p:nvPr/>
        </p:nvSpPr>
        <p:spPr>
          <a:xfrm>
            <a:off x="381000" y="3429000"/>
            <a:ext cx="11430000" cy="1107996"/>
          </a:xfrm>
          <a:prstGeom prst="rect">
            <a:avLst/>
          </a:prstGeom>
          <a:noFill/>
        </p:spPr>
        <p:txBody>
          <a:bodyPr vert="horz" wrap="square" lIns="0" tIns="0" rIns="0" bIns="0" rtlCol="0">
            <a:spAutoFit/>
          </a:bodyPr>
          <a:lstStyle/>
          <a:p>
            <a:pPr algn="l"/>
            <a:r>
              <a:rPr lang="en-US" sz="1200">
                <a:latin typeface="Consolas" panose="020B0609020204030204" pitchFamily="49" charset="0"/>
              </a:rPr>
              <a:t>AppServiceFileAuditLogs</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Category == "AppServiceFileAuditLogs"</a:t>
            </a:r>
          </a:p>
          <a:p>
            <a:pPr algn="l"/>
            <a:r>
              <a:rPr lang="en-US" sz="1200">
                <a:latin typeface="Consolas" panose="020B0609020204030204" pitchFamily="49" charset="0"/>
              </a:rPr>
              <a:t>| project TimeGenerated, OperationName,</a:t>
            </a:r>
          </a:p>
          <a:p>
            <a:pPr algn="l"/>
            <a:r>
              <a:rPr lang="en-US" sz="1200">
                <a:latin typeface="Consolas" panose="020B0609020204030204" pitchFamily="49" charset="0"/>
              </a:rPr>
              <a:t>          Result, Description</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09183298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670BF-24DF-25AD-234E-465BB6CD62D1}"/>
              </a:ext>
            </a:extLst>
          </p:cNvPr>
          <p:cNvSpPr>
            <a:spLocks noGrp="1"/>
          </p:cNvSpPr>
          <p:nvPr>
            <p:ph type="title"/>
          </p:nvPr>
        </p:nvSpPr>
        <p:spPr/>
        <p:txBody>
          <a:bodyPr/>
          <a:lstStyle/>
          <a:p>
            <a:r>
              <a:rPr lang="en-US"/>
              <a:t>Defender for App Service</a:t>
            </a:r>
          </a:p>
        </p:txBody>
      </p:sp>
      <p:graphicFrame>
        <p:nvGraphicFramePr>
          <p:cNvPr id="4" name="Content Placeholder 3">
            <a:extLst>
              <a:ext uri="{FF2B5EF4-FFF2-40B4-BE49-F238E27FC236}">
                <a16:creationId xmlns:a16="http://schemas.microsoft.com/office/drawing/2014/main" id="{CD9657A9-D589-6ED7-BDB3-DD54DF01490F}"/>
              </a:ext>
            </a:extLst>
          </p:cNvPr>
          <p:cNvGraphicFramePr>
            <a:graphicFrameLocks noGrp="1"/>
          </p:cNvGraphicFramePr>
          <p:nvPr>
            <p:ph sz="quarter" idx="10"/>
            <p:extLst>
              <p:ext uri="{D42A27DB-BD31-4B8C-83A1-F6EECF244321}">
                <p14:modId xmlns:p14="http://schemas.microsoft.com/office/powerpoint/2010/main" val="1840201930"/>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4180218382"/>
                    </a:ext>
                  </a:extLst>
                </a:gridCol>
                <a:gridCol w="3810000">
                  <a:extLst>
                    <a:ext uri="{9D8B030D-6E8A-4147-A177-3AD203B41FA5}">
                      <a16:colId xmlns:a16="http://schemas.microsoft.com/office/drawing/2014/main" val="1654731021"/>
                    </a:ext>
                  </a:extLst>
                </a:gridCol>
                <a:gridCol w="3810000">
                  <a:extLst>
                    <a:ext uri="{9D8B030D-6E8A-4147-A177-3AD203B41FA5}">
                      <a16:colId xmlns:a16="http://schemas.microsoft.com/office/drawing/2014/main" val="412950883"/>
                    </a:ext>
                  </a:extLst>
                </a:gridCol>
              </a:tblGrid>
              <a:tr h="627063">
                <a:tc>
                  <a:txBody>
                    <a:bodyPr/>
                    <a:lstStyle/>
                    <a:p>
                      <a:r>
                        <a:rPr lang="en-US" sz="1200" b="1"/>
                        <a:t>Alert Category</a:t>
                      </a:r>
                    </a:p>
                  </a:txBody>
                  <a:tcPr/>
                </a:tc>
                <a:tc>
                  <a:txBody>
                    <a:bodyPr/>
                    <a:lstStyle/>
                    <a:p>
                      <a:r>
                        <a:rPr lang="en-US" sz="1200" b="1"/>
                        <a:t>MITRE Tactic</a:t>
                      </a:r>
                    </a:p>
                  </a:txBody>
                  <a:tcPr/>
                </a:tc>
                <a:tc>
                  <a:txBody>
                    <a:bodyPr/>
                    <a:lstStyle/>
                    <a:p>
                      <a:r>
                        <a:rPr lang="en-US" sz="1200" b="1"/>
                        <a:t>Examples</a:t>
                      </a:r>
                    </a:p>
                  </a:txBody>
                  <a:tcPr/>
                </a:tc>
                <a:extLst>
                  <a:ext uri="{0D108BD9-81ED-4DB2-BD59-A6C34878D82A}">
                    <a16:rowId xmlns:a16="http://schemas.microsoft.com/office/drawing/2014/main" val="1271212291"/>
                  </a:ext>
                </a:extLst>
              </a:tr>
              <a:tr h="627063">
                <a:tc>
                  <a:txBody>
                    <a:bodyPr/>
                    <a:lstStyle/>
                    <a:p>
                      <a:r>
                        <a:rPr lang="en-US" sz="1200"/>
                        <a:t>Reconnaissance</a:t>
                      </a:r>
                    </a:p>
                  </a:txBody>
                  <a:tcPr/>
                </a:tc>
                <a:tc>
                  <a:txBody>
                    <a:bodyPr/>
                    <a:lstStyle/>
                    <a:p>
                      <a:r>
                        <a:rPr lang="en-US" sz="1200"/>
                        <a:t>Initial Access</a:t>
                      </a:r>
                    </a:p>
                  </a:txBody>
                  <a:tcPr/>
                </a:tc>
                <a:tc>
                  <a:txBody>
                    <a:bodyPr/>
                    <a:lstStyle/>
                    <a:p>
                      <a:r>
                        <a:rPr lang="en-US" sz="1200"/>
                        <a:t>Scanning, fingerprinting, version detection</a:t>
                      </a:r>
                    </a:p>
                  </a:txBody>
                  <a:tcPr/>
                </a:tc>
                <a:extLst>
                  <a:ext uri="{0D108BD9-81ED-4DB2-BD59-A6C34878D82A}">
                    <a16:rowId xmlns:a16="http://schemas.microsoft.com/office/drawing/2014/main" val="4003457241"/>
                  </a:ext>
                </a:extLst>
              </a:tr>
              <a:tr h="627063">
                <a:tc>
                  <a:txBody>
                    <a:bodyPr/>
                    <a:lstStyle/>
                    <a:p>
                      <a:r>
                        <a:rPr lang="en-US" sz="1200"/>
                        <a:t>Vulnerability exploitation</a:t>
                      </a:r>
                    </a:p>
                  </a:txBody>
                  <a:tcPr/>
                </a:tc>
                <a:tc>
                  <a:txBody>
                    <a:bodyPr/>
                    <a:lstStyle/>
                    <a:p>
                      <a:r>
                        <a:rPr lang="en-US" sz="1200"/>
                        <a:t>Execution</a:t>
                      </a:r>
                    </a:p>
                  </a:txBody>
                  <a:tcPr/>
                </a:tc>
                <a:tc>
                  <a:txBody>
                    <a:bodyPr/>
                    <a:lstStyle/>
                    <a:p>
                      <a:r>
                        <a:rPr lang="en-US" sz="1200"/>
                        <a:t>Command injection, path traversal, RFI/LFI</a:t>
                      </a:r>
                    </a:p>
                  </a:txBody>
                  <a:tcPr/>
                </a:tc>
                <a:extLst>
                  <a:ext uri="{0D108BD9-81ED-4DB2-BD59-A6C34878D82A}">
                    <a16:rowId xmlns:a16="http://schemas.microsoft.com/office/drawing/2014/main" val="4074383603"/>
                  </a:ext>
                </a:extLst>
              </a:tr>
              <a:tr h="627063">
                <a:tc>
                  <a:txBody>
                    <a:bodyPr/>
                    <a:lstStyle/>
                    <a:p>
                      <a:r>
                        <a:rPr lang="en-US" sz="1200"/>
                        <a:t>Web shell detection</a:t>
                      </a:r>
                    </a:p>
                  </a:txBody>
                  <a:tcPr/>
                </a:tc>
                <a:tc>
                  <a:txBody>
                    <a:bodyPr/>
                    <a:lstStyle/>
                    <a:p>
                      <a:r>
                        <a:rPr lang="en-US" sz="1200"/>
                        <a:t>Persistence</a:t>
                      </a:r>
                    </a:p>
                  </a:txBody>
                  <a:tcPr/>
                </a:tc>
                <a:tc>
                  <a:txBody>
                    <a:bodyPr/>
                    <a:lstStyle/>
                    <a:p>
                      <a:r>
                        <a:rPr lang="en-US" sz="1200"/>
                        <a:t>Known web shell files in wwwroot</a:t>
                      </a:r>
                    </a:p>
                  </a:txBody>
                  <a:tcPr/>
                </a:tc>
                <a:extLst>
                  <a:ext uri="{0D108BD9-81ED-4DB2-BD59-A6C34878D82A}">
                    <a16:rowId xmlns:a16="http://schemas.microsoft.com/office/drawing/2014/main" val="1138244966"/>
                  </a:ext>
                </a:extLst>
              </a:tr>
              <a:tr h="627063">
                <a:tc>
                  <a:txBody>
                    <a:bodyPr/>
                    <a:lstStyle/>
                    <a:p>
                      <a:r>
                        <a:rPr lang="en-US" sz="1200"/>
                        <a:t>Suspicious process execution</a:t>
                      </a:r>
                    </a:p>
                  </a:txBody>
                  <a:tcPr/>
                </a:tc>
                <a:tc>
                  <a:txBody>
                    <a:bodyPr/>
                    <a:lstStyle/>
                    <a:p>
                      <a:r>
                        <a:rPr lang="en-US" sz="1200"/>
                        <a:t>Execution</a:t>
                      </a:r>
                    </a:p>
                  </a:txBody>
                  <a:tcPr/>
                </a:tc>
                <a:tc>
                  <a:txBody>
                    <a:bodyPr/>
                    <a:lstStyle/>
                    <a:p>
                      <a:r>
                        <a:rPr lang="en-US" sz="1200"/>
                        <a:t>Unexpected processes launched by the web app</a:t>
                      </a:r>
                    </a:p>
                  </a:txBody>
                  <a:tcPr/>
                </a:tc>
                <a:extLst>
                  <a:ext uri="{0D108BD9-81ED-4DB2-BD59-A6C34878D82A}">
                    <a16:rowId xmlns:a16="http://schemas.microsoft.com/office/drawing/2014/main" val="2450609783"/>
                  </a:ext>
                </a:extLst>
              </a:tr>
              <a:tr h="627063">
                <a:tc>
                  <a:txBody>
                    <a:bodyPr/>
                    <a:lstStyle/>
                    <a:p>
                      <a:r>
                        <a:rPr lang="en-US" sz="1200"/>
                        <a:t>Token theft indicators</a:t>
                      </a:r>
                    </a:p>
                  </a:txBody>
                  <a:tcPr/>
                </a:tc>
                <a:tc>
                  <a:txBody>
                    <a:bodyPr/>
                    <a:lstStyle/>
                    <a:p>
                      <a:r>
                        <a:rPr lang="en-US" sz="1200"/>
                        <a:t>Credential Access</a:t>
                      </a:r>
                    </a:p>
                  </a:txBody>
                  <a:tcPr/>
                </a:tc>
                <a:tc>
                  <a:txBody>
                    <a:bodyPr/>
                    <a:lstStyle/>
                    <a:p>
                      <a:r>
                        <a:rPr lang="en-US" sz="1200"/>
                        <a:t>Managed identity endpoint access patterns</a:t>
                      </a:r>
                    </a:p>
                  </a:txBody>
                  <a:tcPr/>
                </a:tc>
                <a:extLst>
                  <a:ext uri="{0D108BD9-81ED-4DB2-BD59-A6C34878D82A}">
                    <a16:rowId xmlns:a16="http://schemas.microsoft.com/office/drawing/2014/main" val="2125675312"/>
                  </a:ext>
                </a:extLst>
              </a:tr>
              <a:tr h="627063">
                <a:tc>
                  <a:txBody>
                    <a:bodyPr/>
                    <a:lstStyle/>
                    <a:p>
                      <a:r>
                        <a:rPr lang="en-US" sz="1200"/>
                        <a:t>Data exfiltration</a:t>
                      </a:r>
                    </a:p>
                  </a:txBody>
                  <a:tcPr/>
                </a:tc>
                <a:tc>
                  <a:txBody>
                    <a:bodyPr/>
                    <a:lstStyle/>
                    <a:p>
                      <a:r>
                        <a:rPr lang="en-US" sz="1200"/>
                        <a:t>Exfiltration</a:t>
                      </a:r>
                    </a:p>
                  </a:txBody>
                  <a:tcPr/>
                </a:tc>
                <a:tc>
                  <a:txBody>
                    <a:bodyPr/>
                    <a:lstStyle/>
                    <a:p>
                      <a:r>
                        <a:rPr lang="en-US" sz="1200"/>
                        <a:t>Unusual outbound data volume</a:t>
                      </a:r>
                    </a:p>
                  </a:txBody>
                  <a:tcPr/>
                </a:tc>
                <a:extLst>
                  <a:ext uri="{0D108BD9-81ED-4DB2-BD59-A6C34878D82A}">
                    <a16:rowId xmlns:a16="http://schemas.microsoft.com/office/drawing/2014/main" val="947438992"/>
                  </a:ext>
                </a:extLst>
              </a:tr>
              <a:tr h="627063">
                <a:tc>
                  <a:txBody>
                    <a:bodyPr/>
                    <a:lstStyle/>
                    <a:p>
                      <a:r>
                        <a:rPr lang="en-US" sz="1200"/>
                        <a:t>Dangling DNS</a:t>
                      </a:r>
                    </a:p>
                  </a:txBody>
                  <a:tcPr/>
                </a:tc>
                <a:tc>
                  <a:txBody>
                    <a:bodyPr/>
                    <a:lstStyle/>
                    <a:p>
                      <a:r>
                        <a:rPr lang="en-US" sz="1200"/>
                        <a:t>Initial Access</a:t>
                      </a:r>
                    </a:p>
                  </a:txBody>
                  <a:tcPr/>
                </a:tc>
                <a:tc>
                  <a:txBody>
                    <a:bodyPr/>
                    <a:lstStyle/>
                    <a:p>
                      <a:r>
                        <a:rPr lang="en-US" sz="1200"/>
                        <a:t>Subdomain takeover vulnerability detected</a:t>
                      </a:r>
                    </a:p>
                  </a:txBody>
                  <a:tcPr/>
                </a:tc>
                <a:extLst>
                  <a:ext uri="{0D108BD9-81ED-4DB2-BD59-A6C34878D82A}">
                    <a16:rowId xmlns:a16="http://schemas.microsoft.com/office/drawing/2014/main" val="2598452423"/>
                  </a:ext>
                </a:extLst>
              </a:tr>
            </a:tbl>
          </a:graphicData>
        </a:graphic>
      </p:graphicFrame>
    </p:spTree>
    <p:extLst>
      <p:ext uri="{BB962C8B-B14F-4D97-AF65-F5344CB8AC3E}">
        <p14:creationId xmlns:p14="http://schemas.microsoft.com/office/powerpoint/2010/main" val="32522676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67EBD-CC8D-F612-5FD6-9E2EDB8DF876}"/>
              </a:ext>
            </a:extLst>
          </p:cNvPr>
          <p:cNvSpPr>
            <a:spLocks noGrp="1"/>
          </p:cNvSpPr>
          <p:nvPr>
            <p:ph type="title"/>
          </p:nvPr>
        </p:nvSpPr>
        <p:spPr/>
        <p:txBody>
          <a:bodyPr/>
          <a:lstStyle/>
          <a:p>
            <a:r>
              <a:rPr lang="en-US"/>
              <a:t>Defender for App Service (cont.)</a:t>
            </a:r>
          </a:p>
        </p:txBody>
      </p:sp>
      <p:sp>
        <p:nvSpPr>
          <p:cNvPr id="3" name="Content Placeholder 2">
            <a:extLst>
              <a:ext uri="{FF2B5EF4-FFF2-40B4-BE49-F238E27FC236}">
                <a16:creationId xmlns:a16="http://schemas.microsoft.com/office/drawing/2014/main" id="{CB7F5607-5F30-652E-C7DA-0F4B869FA403}"/>
              </a:ext>
            </a:extLst>
          </p:cNvPr>
          <p:cNvSpPr>
            <a:spLocks noGrp="1"/>
          </p:cNvSpPr>
          <p:nvPr>
            <p:ph sz="quarter" idx="10"/>
          </p:nvPr>
        </p:nvSpPr>
        <p:spPr/>
        <p:txBody>
          <a:bodyPr>
            <a:noAutofit/>
          </a:bodyPr>
          <a:lstStyle/>
          <a:p>
            <a:pPr>
              <a:lnSpc>
                <a:spcPct val="115000"/>
              </a:lnSpc>
              <a:spcBef>
                <a:spcPts val="600"/>
              </a:spcBef>
            </a:pPr>
            <a:r>
              <a:rPr lang="en-US" sz="1600"/>
              <a:t>Enable Defender for App Service for automated detection across all attack phases.</a:t>
            </a:r>
          </a:p>
        </p:txBody>
      </p:sp>
    </p:spTree>
    <p:extLst>
      <p:ext uri="{BB962C8B-B14F-4D97-AF65-F5344CB8AC3E}">
        <p14:creationId xmlns:p14="http://schemas.microsoft.com/office/powerpoint/2010/main" val="290244359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01AE-B69D-B9E7-092D-4CD80977CDAA}"/>
              </a:ext>
            </a:extLst>
          </p:cNvPr>
          <p:cNvSpPr>
            <a:spLocks noGrp="1"/>
          </p:cNvSpPr>
          <p:nvPr>
            <p:ph type="title"/>
          </p:nvPr>
        </p:nvSpPr>
        <p:spPr/>
        <p:txBody>
          <a:bodyPr/>
          <a:lstStyle/>
          <a:p>
            <a:r>
              <a:rPr lang="en-US"/>
              <a:t>Incident Response</a:t>
            </a:r>
          </a:p>
        </p:txBody>
      </p:sp>
      <p:sp>
        <p:nvSpPr>
          <p:cNvPr id="3" name="Content Placeholder 2">
            <a:extLst>
              <a:ext uri="{FF2B5EF4-FFF2-40B4-BE49-F238E27FC236}">
                <a16:creationId xmlns:a16="http://schemas.microsoft.com/office/drawing/2014/main" id="{78FE8EAF-E701-C266-9BBE-3D2AB565EA40}"/>
              </a:ext>
            </a:extLst>
          </p:cNvPr>
          <p:cNvSpPr>
            <a:spLocks noGrp="1"/>
          </p:cNvSpPr>
          <p:nvPr>
            <p:ph sz="quarter" idx="10"/>
          </p:nvPr>
        </p:nvSpPr>
        <p:spPr/>
        <p:txBody>
          <a:bodyPr>
            <a:noAutofit/>
          </a:bodyPr>
          <a:lstStyle/>
          <a:p>
            <a:pPr>
              <a:lnSpc>
                <a:spcPct val="115000"/>
              </a:lnSpc>
              <a:spcBef>
                <a:spcPts val="600"/>
              </a:spcBef>
            </a:pPr>
            <a:r>
              <a:rPr lang="en-US" sz="1600" b="1"/>
              <a:t>Containment:</a:t>
            </a:r>
          </a:p>
          <a:p>
            <a:pPr>
              <a:lnSpc>
                <a:spcPct val="115000"/>
              </a:lnSpc>
              <a:spcBef>
                <a:spcPts val="600"/>
              </a:spcBef>
            </a:pPr>
            <a:r>
              <a:rPr lang="en-US" sz="1600"/>
              <a:t>    Stop the app: az webapp stop --name &lt;app&gt; --resource-group &lt;rg&gt;</a:t>
            </a:r>
          </a:p>
          <a:p>
            <a:pPr>
              <a:lnSpc>
                <a:spcPct val="115000"/>
              </a:lnSpc>
              <a:spcBef>
                <a:spcPts val="600"/>
              </a:spcBef>
            </a:pPr>
            <a:r>
              <a:rPr lang="en-US" sz="1600"/>
              <a:t>    Apply IP restrictions to block attacker IP immediately</a:t>
            </a:r>
          </a:p>
          <a:p>
            <a:pPr>
              <a:lnSpc>
                <a:spcPct val="115000"/>
              </a:lnSpc>
              <a:spcBef>
                <a:spcPts val="600"/>
              </a:spcBef>
            </a:pPr>
            <a:r>
              <a:rPr lang="en-US" sz="1600"/>
              <a:t>    Revoke managed identity role assignments to prevent lateral movement</a:t>
            </a:r>
          </a:p>
          <a:p>
            <a:pPr>
              <a:lnSpc>
                <a:spcPct val="115000"/>
              </a:lnSpc>
              <a:spcBef>
                <a:spcPts val="600"/>
              </a:spcBef>
            </a:pPr>
            <a:r>
              <a:rPr lang="en-US" sz="1600"/>
              <a:t>    Revoke deployment credentials (FTP, Kudu)</a:t>
            </a:r>
          </a:p>
          <a:p>
            <a:pPr>
              <a:lnSpc>
                <a:spcPct val="115000"/>
              </a:lnSpc>
              <a:spcBef>
                <a:spcPts val="600"/>
              </a:spcBef>
            </a:pPr>
            <a:r>
              <a:rPr lang="en-US" sz="1600" b="1"/>
              <a:t>Eradication:</a:t>
            </a:r>
          </a:p>
          <a:p>
            <a:pPr>
              <a:lnSpc>
                <a:spcPct val="115000"/>
              </a:lnSpc>
              <a:spcBef>
                <a:spcPts val="600"/>
              </a:spcBef>
            </a:pPr>
            <a:r>
              <a:rPr lang="en-US" sz="1600"/>
              <a:t>    Remove web shells from wwwroot and all file locations</a:t>
            </a:r>
          </a:p>
          <a:p>
            <a:pPr>
              <a:lnSpc>
                <a:spcPct val="115000"/>
              </a:lnSpc>
              <a:spcBef>
                <a:spcPts val="600"/>
              </a:spcBef>
            </a:pPr>
            <a:r>
              <a:rPr lang="en-US" sz="1600"/>
              <a:t>    Rotate all connection strings and app settings</a:t>
            </a:r>
          </a:p>
          <a:p>
            <a:pPr>
              <a:lnSpc>
                <a:spcPct val="115000"/>
              </a:lnSpc>
              <a:spcBef>
                <a:spcPts val="600"/>
              </a:spcBef>
            </a:pPr>
            <a:r>
              <a:rPr lang="en-US" sz="1600"/>
              <a:t>    Rotate managed identity credentials</a:t>
            </a:r>
          </a:p>
          <a:p>
            <a:pPr>
              <a:lnSpc>
                <a:spcPct val="115000"/>
              </a:lnSpc>
              <a:spcBef>
                <a:spcPts val="600"/>
              </a:spcBef>
            </a:pPr>
            <a:r>
              <a:rPr lang="en-US" sz="1600"/>
              <a:t>    Redeploy from known-good deployment package</a:t>
            </a:r>
          </a:p>
        </p:txBody>
      </p:sp>
    </p:spTree>
    <p:extLst>
      <p:ext uri="{BB962C8B-B14F-4D97-AF65-F5344CB8AC3E}">
        <p14:creationId xmlns:p14="http://schemas.microsoft.com/office/powerpoint/2010/main" val="144982790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51CA7-8C4E-C2F9-9001-85EFE68A276D}"/>
              </a:ext>
            </a:extLst>
          </p:cNvPr>
          <p:cNvSpPr>
            <a:spLocks noGrp="1"/>
          </p:cNvSpPr>
          <p:nvPr>
            <p:ph type="title"/>
          </p:nvPr>
        </p:nvSpPr>
        <p:spPr/>
        <p:txBody>
          <a:bodyPr/>
          <a:lstStyle/>
          <a:p>
            <a:r>
              <a:rPr lang="en-US"/>
              <a:t>Incident Response (cont. 2)</a:t>
            </a:r>
          </a:p>
        </p:txBody>
      </p:sp>
      <p:sp>
        <p:nvSpPr>
          <p:cNvPr id="3" name="Content Placeholder 2">
            <a:extLst>
              <a:ext uri="{FF2B5EF4-FFF2-40B4-BE49-F238E27FC236}">
                <a16:creationId xmlns:a16="http://schemas.microsoft.com/office/drawing/2014/main" id="{442BBC07-1F76-88D2-2BF6-2D0D4CA38E7B}"/>
              </a:ext>
            </a:extLst>
          </p:cNvPr>
          <p:cNvSpPr>
            <a:spLocks noGrp="1"/>
          </p:cNvSpPr>
          <p:nvPr>
            <p:ph sz="quarter" idx="10"/>
          </p:nvPr>
        </p:nvSpPr>
        <p:spPr/>
        <p:txBody>
          <a:bodyPr>
            <a:noAutofit/>
          </a:bodyPr>
          <a:lstStyle/>
          <a:p>
            <a:pPr>
              <a:lnSpc>
                <a:spcPct val="115000"/>
              </a:lnSpc>
              <a:spcBef>
                <a:spcPts val="600"/>
              </a:spcBef>
            </a:pPr>
            <a:r>
              <a:rPr lang="en-US" sz="1600"/>
              <a:t>    Assign new managed identity if existing one was compromised</a:t>
            </a:r>
          </a:p>
          <a:p>
            <a:pPr>
              <a:lnSpc>
                <a:spcPct val="115000"/>
              </a:lnSpc>
              <a:spcBef>
                <a:spcPts val="600"/>
              </a:spcBef>
            </a:pPr>
            <a:r>
              <a:rPr lang="en-US" sz="1600" b="1"/>
              <a:t>Hardening:</a:t>
            </a:r>
          </a:p>
          <a:p>
            <a:pPr>
              <a:lnSpc>
                <a:spcPct val="115000"/>
              </a:lnSpc>
              <a:spcBef>
                <a:spcPts val="600"/>
              </a:spcBef>
            </a:pPr>
            <a:r>
              <a:rPr lang="en-US" sz="1600"/>
              <a:t>    Input validation and parameterized queries in application code</a:t>
            </a:r>
          </a:p>
          <a:p>
            <a:pPr>
              <a:lnSpc>
                <a:spcPct val="115000"/>
              </a:lnSpc>
              <a:spcBef>
                <a:spcPts val="600"/>
              </a:spcBef>
            </a:pPr>
            <a:r>
              <a:rPr lang="en-US" sz="1600"/>
              <a:t>    WAF (Web Application Firewall) in front of all public apps</a:t>
            </a:r>
          </a:p>
          <a:p>
            <a:pPr>
              <a:lnSpc>
                <a:spcPct val="115000"/>
              </a:lnSpc>
              <a:spcBef>
                <a:spcPts val="600"/>
              </a:spcBef>
            </a:pPr>
            <a:r>
              <a:rPr lang="en-US" sz="1600"/>
              <a:t>    Private endpoints for App Service</a:t>
            </a:r>
          </a:p>
          <a:p>
            <a:pPr>
              <a:lnSpc>
                <a:spcPct val="115000"/>
              </a:lnSpc>
              <a:spcBef>
                <a:spcPts val="600"/>
              </a:spcBef>
            </a:pPr>
            <a:r>
              <a:rPr lang="en-US" sz="1600"/>
              <a:t>    Disable FTP; restrict Kudu access to VNet</a:t>
            </a:r>
          </a:p>
          <a:p>
            <a:pPr>
              <a:lnSpc>
                <a:spcPct val="115000"/>
              </a:lnSpc>
              <a:spcBef>
                <a:spcPts val="600"/>
              </a:spcBef>
            </a:pPr>
            <a:r>
              <a:rPr lang="en-US" sz="1600"/>
              <a:t>    Managed identity with least-privilege RBAC</a:t>
            </a:r>
          </a:p>
        </p:txBody>
      </p:sp>
    </p:spTree>
    <p:extLst>
      <p:ext uri="{BB962C8B-B14F-4D97-AF65-F5344CB8AC3E}">
        <p14:creationId xmlns:p14="http://schemas.microsoft.com/office/powerpoint/2010/main" val="367898579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616AA-A36B-FB3E-0970-AA0983AD8282}"/>
              </a:ext>
            </a:extLst>
          </p:cNvPr>
          <p:cNvSpPr>
            <a:spLocks noGrp="1"/>
          </p:cNvSpPr>
          <p:nvPr>
            <p:ph type="title"/>
          </p:nvPr>
        </p:nvSpPr>
        <p:spPr/>
        <p:txBody>
          <a:bodyPr/>
          <a:lstStyle/>
          <a:p>
            <a:r>
              <a:rPr lang="en-US"/>
              <a:t>Key Takeaways and References</a:t>
            </a:r>
          </a:p>
        </p:txBody>
      </p:sp>
      <p:graphicFrame>
        <p:nvGraphicFramePr>
          <p:cNvPr id="4" name="Content Placeholder 3">
            <a:extLst>
              <a:ext uri="{FF2B5EF4-FFF2-40B4-BE49-F238E27FC236}">
                <a16:creationId xmlns:a16="http://schemas.microsoft.com/office/drawing/2014/main" id="{E5AAF8B3-9F58-F170-075F-6AB8D8CAA802}"/>
              </a:ext>
            </a:extLst>
          </p:cNvPr>
          <p:cNvGraphicFramePr>
            <a:graphicFrameLocks noGrp="1"/>
          </p:cNvGraphicFramePr>
          <p:nvPr>
            <p:ph sz="quarter" idx="10"/>
            <p:extLst>
              <p:ext uri="{D42A27DB-BD31-4B8C-83A1-F6EECF244321}">
                <p14:modId xmlns:p14="http://schemas.microsoft.com/office/powerpoint/2010/main" val="2102116304"/>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784767568"/>
                    </a:ext>
                  </a:extLst>
                </a:gridCol>
                <a:gridCol w="5715000">
                  <a:extLst>
                    <a:ext uri="{9D8B030D-6E8A-4147-A177-3AD203B41FA5}">
                      <a16:colId xmlns:a16="http://schemas.microsoft.com/office/drawing/2014/main" val="1299844057"/>
                    </a:ext>
                  </a:extLst>
                </a:gridCol>
              </a:tblGrid>
              <a:tr h="814917">
                <a:tc>
                  <a:txBody>
                    <a:bodyPr/>
                    <a:lstStyle/>
                    <a:p>
                      <a:r>
                        <a:rPr lang="en-US" sz="1400" b="1"/>
                        <a:t>Resource</a:t>
                      </a:r>
                    </a:p>
                  </a:txBody>
                  <a:tcPr/>
                </a:tc>
                <a:tc>
                  <a:txBody>
                    <a:bodyPr/>
                    <a:lstStyle/>
                    <a:p>
                      <a:r>
                        <a:rPr lang="en-US" sz="1400" b="1"/>
                        <a:t>Link</a:t>
                      </a:r>
                    </a:p>
                  </a:txBody>
                  <a:tcPr/>
                </a:tc>
                <a:extLst>
                  <a:ext uri="{0D108BD9-81ED-4DB2-BD59-A6C34878D82A}">
                    <a16:rowId xmlns:a16="http://schemas.microsoft.com/office/drawing/2014/main" val="2632427704"/>
                  </a:ext>
                </a:extLst>
              </a:tr>
              <a:tr h="814917">
                <a:tc>
                  <a:txBody>
                    <a:bodyPr/>
                    <a:lstStyle/>
                    <a:p>
                      <a:r>
                        <a:rPr lang="en-US" sz="1400"/>
                        <a:t>App Service Security</a:t>
                      </a:r>
                    </a:p>
                  </a:txBody>
                  <a:tcPr/>
                </a:tc>
                <a:tc>
                  <a:txBody>
                    <a:bodyPr/>
                    <a:lstStyle/>
                    <a:p>
                      <a:r>
                        <a:rPr lang="en-US" sz="1400"/>
                        <a:t>learn.microsoft.com/azure/app-service/overview-security</a:t>
                      </a:r>
                    </a:p>
                  </a:txBody>
                  <a:tcPr/>
                </a:tc>
                <a:extLst>
                  <a:ext uri="{0D108BD9-81ED-4DB2-BD59-A6C34878D82A}">
                    <a16:rowId xmlns:a16="http://schemas.microsoft.com/office/drawing/2014/main" val="427965772"/>
                  </a:ext>
                </a:extLst>
              </a:tr>
              <a:tr h="814917">
                <a:tc>
                  <a:txBody>
                    <a:bodyPr/>
                    <a:lstStyle/>
                    <a:p>
                      <a:r>
                        <a:rPr lang="en-US" sz="1400"/>
                        <a:t>Defender for App Service</a:t>
                      </a:r>
                    </a:p>
                  </a:txBody>
                  <a:tcPr/>
                </a:tc>
                <a:tc>
                  <a:txBody>
                    <a:bodyPr/>
                    <a:lstStyle/>
                    <a:p>
                      <a:r>
                        <a:rPr lang="en-US" sz="1400"/>
                        <a:t>learn.microsoft.com/azure/defender-for-cloud/defender-for-app-service-introduction</a:t>
                      </a:r>
                    </a:p>
                  </a:txBody>
                  <a:tcPr/>
                </a:tc>
                <a:extLst>
                  <a:ext uri="{0D108BD9-81ED-4DB2-BD59-A6C34878D82A}">
                    <a16:rowId xmlns:a16="http://schemas.microsoft.com/office/drawing/2014/main" val="2368932493"/>
                  </a:ext>
                </a:extLst>
              </a:tr>
              <a:tr h="814917">
                <a:tc>
                  <a:txBody>
                    <a:bodyPr/>
                    <a:lstStyle/>
                    <a:p>
                      <a:r>
                        <a:rPr lang="en-US" sz="1400"/>
                        <a:t>App Service Diagnostics</a:t>
                      </a:r>
                    </a:p>
                  </a:txBody>
                  <a:tcPr/>
                </a:tc>
                <a:tc>
                  <a:txBody>
                    <a:bodyPr/>
                    <a:lstStyle/>
                    <a:p>
                      <a:r>
                        <a:rPr lang="en-US" sz="1400"/>
                        <a:t>learn.microsoft.com/azure/app-service/troubleshoot-diagnostic-logs</a:t>
                      </a:r>
                    </a:p>
                  </a:txBody>
                  <a:tcPr/>
                </a:tc>
                <a:extLst>
                  <a:ext uri="{0D108BD9-81ED-4DB2-BD59-A6C34878D82A}">
                    <a16:rowId xmlns:a16="http://schemas.microsoft.com/office/drawing/2014/main" val="1895134588"/>
                  </a:ext>
                </a:extLst>
              </a:tr>
              <a:tr h="814917">
                <a:tc>
                  <a:txBody>
                    <a:bodyPr/>
                    <a:lstStyle/>
                    <a:p>
                      <a:r>
                        <a:rPr lang="en-US" sz="1400"/>
                        <a:t>AppServiceHTTPLogs Schema</a:t>
                      </a:r>
                    </a:p>
                  </a:txBody>
                  <a:tcPr/>
                </a:tc>
                <a:tc>
                  <a:txBody>
                    <a:bodyPr/>
                    <a:lstStyle/>
                    <a:p>
                      <a:r>
                        <a:rPr lang="en-US" sz="1400"/>
                        <a:t>learn.microsoft.com/azure/azure-monitor/reference/tables/appservicehttplogs</a:t>
                      </a:r>
                    </a:p>
                  </a:txBody>
                  <a:tcPr/>
                </a:tc>
                <a:extLst>
                  <a:ext uri="{0D108BD9-81ED-4DB2-BD59-A6C34878D82A}">
                    <a16:rowId xmlns:a16="http://schemas.microsoft.com/office/drawing/2014/main" val="3378130622"/>
                  </a:ext>
                </a:extLst>
              </a:tr>
              <a:tr h="814917">
                <a:tc>
                  <a:txBody>
                    <a:bodyPr/>
                    <a:lstStyle/>
                    <a:p>
                      <a:r>
                        <a:rPr lang="en-US" sz="1400"/>
                        <a:t>Web Application Firewall</a:t>
                      </a:r>
                    </a:p>
                  </a:txBody>
                  <a:tcPr/>
                </a:tc>
                <a:tc>
                  <a:txBody>
                    <a:bodyPr/>
                    <a:lstStyle/>
                    <a:p>
                      <a:r>
                        <a:rPr lang="en-US" sz="1400"/>
                        <a:t>learn.microsoft.com/azure/web-application-firewall/overview</a:t>
                      </a:r>
                    </a:p>
                  </a:txBody>
                  <a:tcPr/>
                </a:tc>
                <a:extLst>
                  <a:ext uri="{0D108BD9-81ED-4DB2-BD59-A6C34878D82A}">
                    <a16:rowId xmlns:a16="http://schemas.microsoft.com/office/drawing/2014/main" val="3608372041"/>
                  </a:ext>
                </a:extLst>
              </a:tr>
            </a:tbl>
          </a:graphicData>
        </a:graphic>
      </p:graphicFrame>
    </p:spTree>
    <p:extLst>
      <p:ext uri="{BB962C8B-B14F-4D97-AF65-F5344CB8AC3E}">
        <p14:creationId xmlns:p14="http://schemas.microsoft.com/office/powerpoint/2010/main" val="139769925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1010A-5F94-FA84-EC42-FB92D1F60D7A}"/>
              </a:ext>
            </a:extLst>
          </p:cNvPr>
          <p:cNvSpPr>
            <a:spLocks noGrp="1"/>
          </p:cNvSpPr>
          <p:nvPr>
            <p:ph type="title"/>
          </p:nvPr>
        </p:nvSpPr>
        <p:spPr/>
        <p:txBody>
          <a:bodyPr/>
          <a:lstStyle/>
          <a:p>
            <a:r>
              <a:rPr lang="en-US"/>
              <a:t>Key Takeaways and References (cont.)</a:t>
            </a:r>
          </a:p>
        </p:txBody>
      </p:sp>
      <p:sp>
        <p:nvSpPr>
          <p:cNvPr id="3" name="Content Placeholder 2">
            <a:extLst>
              <a:ext uri="{FF2B5EF4-FFF2-40B4-BE49-F238E27FC236}">
                <a16:creationId xmlns:a16="http://schemas.microsoft.com/office/drawing/2014/main" id="{49D74D49-E83C-EE08-1C32-9FD1A18ED4DC}"/>
              </a:ext>
            </a:extLst>
          </p:cNvPr>
          <p:cNvSpPr>
            <a:spLocks noGrp="1"/>
          </p:cNvSpPr>
          <p:nvPr>
            <p:ph sz="quarter" idx="10"/>
          </p:nvPr>
        </p:nvSpPr>
        <p:spPr/>
        <p:txBody>
          <a:bodyPr>
            <a:noAutofit/>
          </a:bodyPr>
          <a:lstStyle/>
          <a:p>
            <a:pPr>
              <a:lnSpc>
                <a:spcPct val="115000"/>
              </a:lnSpc>
              <a:spcBef>
                <a:spcPts val="600"/>
              </a:spcBef>
            </a:pPr>
            <a:r>
              <a:rPr lang="en-US" sz="1600"/>
              <a:t>Web Apps have the richest logging of any Azure service - enable all diagnostic categories</a:t>
            </a:r>
          </a:p>
          <a:p>
            <a:pPr>
              <a:lnSpc>
                <a:spcPct val="115000"/>
              </a:lnSpc>
              <a:spcBef>
                <a:spcPts val="600"/>
              </a:spcBef>
            </a:pPr>
            <a:r>
              <a:rPr lang="en-US" sz="1600"/>
              <a:t>Command injection patterns in HTTP logs combined with 500 errors indicate active exploitation</a:t>
            </a:r>
          </a:p>
          <a:p>
            <a:pPr>
              <a:lnSpc>
                <a:spcPct val="115000"/>
              </a:lnSpc>
              <a:spcBef>
                <a:spcPts val="600"/>
              </a:spcBef>
            </a:pPr>
            <a:r>
              <a:rPr lang="en-US" sz="1600"/>
              <a:t>Managed identity token theft from Web Apps follows the same pattern as Container Apps and Logic Apps</a:t>
            </a:r>
          </a:p>
          <a:p>
            <a:pPr>
              <a:lnSpc>
                <a:spcPct val="115000"/>
              </a:lnSpc>
              <a:spcBef>
                <a:spcPts val="600"/>
              </a:spcBef>
            </a:pPr>
            <a:r>
              <a:rPr lang="en-US" sz="1600"/>
              <a:t>Web shells in FileAuditLogs confirm persistent access</a:t>
            </a:r>
          </a:p>
          <a:p>
            <a:pPr>
              <a:lnSpc>
                <a:spcPct val="115000"/>
              </a:lnSpc>
              <a:spcBef>
                <a:spcPts val="600"/>
              </a:spcBef>
            </a:pPr>
            <a:r>
              <a:rPr lang="en-US" sz="1600"/>
              <a:t>WAF is the most effective control for preventing initial RCE</a:t>
            </a:r>
          </a:p>
          <a:p>
            <a:pPr>
              <a:lnSpc>
                <a:spcPct val="115000"/>
              </a:lnSpc>
              <a:spcBef>
                <a:spcPts val="600"/>
              </a:spcBef>
            </a:pPr>
            <a:r>
              <a:rPr lang="en-US" sz="1600" b="1"/>
              <a:t>References:</a:t>
            </a:r>
          </a:p>
        </p:txBody>
      </p:sp>
    </p:spTree>
    <p:extLst>
      <p:ext uri="{BB962C8B-B14F-4D97-AF65-F5344CB8AC3E}">
        <p14:creationId xmlns:p14="http://schemas.microsoft.com/office/powerpoint/2010/main" val="4211492270"/>
      </p:ext>
    </p:extLst>
  </p:cSld>
  <p:clrMapOvr>
    <a:masterClrMapping/>
  </p:clrMapOvr>
  <p:transition>
    <p:fade/>
  </p:transition>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 Security brand template.potx" id="{C2238F5F-88FF-42D2-B2B7-0AA68068F996}" vid="{6D1610A7-A963-40D5-9923-AA1928F2C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0</TotalTime>
  <Words>3421</Words>
  <Application>Microsoft Office PowerPoint</Application>
  <PresentationFormat>Widescreen</PresentationFormat>
  <Paragraphs>278</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Consolas</vt:lpstr>
      <vt:lpstr>Segoe UI</vt:lpstr>
      <vt:lpstr>Segoe UI Semibold</vt:lpstr>
      <vt:lpstr>Wingdings</vt:lpstr>
      <vt:lpstr>Microsoft Security template</vt:lpstr>
      <vt:lpstr>Azure Web Apps Abuse</vt:lpstr>
      <vt:lpstr>Agenda</vt:lpstr>
      <vt:lpstr>Agenda (cont. 2)</vt:lpstr>
      <vt:lpstr>Objective and MITRE Mapping</vt:lpstr>
      <vt:lpstr>Objective and MITRE Mapping (cont.)</vt:lpstr>
      <vt:lpstr>Web App Attack Surface</vt:lpstr>
      <vt:lpstr>Web App Attack Surface (cont.)</vt:lpstr>
      <vt:lpstr>Critical Environment Variables</vt:lpstr>
      <vt:lpstr>Critical Environment Variables (cont.)</vt:lpstr>
      <vt:lpstr>Managed Identity Token Theft</vt:lpstr>
      <vt:lpstr>Managed Identity Token Theft (cont. 2)</vt:lpstr>
      <vt:lpstr>Log Tables for Web App Detection</vt:lpstr>
      <vt:lpstr>Log Tables for Web App Detection (cont.)</vt:lpstr>
      <vt:lpstr>KQL — Detect Command Injection (RCE)</vt:lpstr>
      <vt:lpstr>KQL — Detect Command Injection (RCE) (cont.)</vt:lpstr>
      <vt:lpstr>KQL — Console Output and HTTP Correlation</vt:lpstr>
      <vt:lpstr>KQL — File Changes and FTP/Kudu Access</vt:lpstr>
      <vt:lpstr>Defender for App Service</vt:lpstr>
      <vt:lpstr>Defender for App Service (cont.)</vt:lpstr>
      <vt:lpstr>Incident Response</vt:lpstr>
      <vt:lpstr>Incident Response (cont. 2)</vt:lpstr>
      <vt:lpstr>Key Takeaways and References</vt:lpstr>
      <vt:lpstr>Key Takeaways and References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Hall</dc:creator>
  <cp:lastModifiedBy>Jacob Hall</cp:lastModifiedBy>
  <cp:revision>1</cp:revision>
  <dcterms:created xsi:type="dcterms:W3CDTF">2026-04-22T00:03:53Z</dcterms:created>
  <dcterms:modified xsi:type="dcterms:W3CDTF">2026-04-22T00:04:00Z</dcterms:modified>
</cp:coreProperties>
</file>