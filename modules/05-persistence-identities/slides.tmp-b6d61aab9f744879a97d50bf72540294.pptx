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8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2CBC9A-9839-4079-ACB6-E1779FE7EE34}"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614E5-55C3-4525-AA75-F72855632348}" type="slidenum">
              <a:rPr lang="en-US" smtClean="0"/>
              <a:t>‹#›</a:t>
            </a:fld>
            <a:endParaRPr lang="en-US"/>
          </a:p>
        </p:txBody>
      </p:sp>
    </p:spTree>
    <p:extLst>
      <p:ext uri="{BB962C8B-B14F-4D97-AF65-F5344CB8AC3E}">
        <p14:creationId xmlns:p14="http://schemas.microsoft.com/office/powerpoint/2010/main" val="1965856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Module 05. This module covers how attackers establish persistent access in Azure by manipulating service principals, federated identity credentials, and managed identities. These persistence mechanisms survive password resets, Multi-Factor Authentication (MFA) changes, and session revocations. The detection surface spans AuditLogs for identity operations and AADServicePrincipalSignInLogs for service principal authentication events.</a:t>
            </a:r>
          </a:p>
        </p:txBody>
      </p:sp>
      <p:sp>
        <p:nvSpPr>
          <p:cNvPr id="4" name="Slide Number Placeholder 3"/>
          <p:cNvSpPr>
            <a:spLocks noGrp="1"/>
          </p:cNvSpPr>
          <p:nvPr>
            <p:ph type="sldNum" sz="quarter" idx="5"/>
          </p:nvPr>
        </p:nvSpPr>
        <p:spPr/>
        <p:txBody>
          <a:bodyPr/>
          <a:lstStyle/>
          <a:p>
            <a:fld id="{BA1614E5-55C3-4525-AA75-F72855632348}" type="slidenum">
              <a:rPr lang="en-US" smtClean="0"/>
              <a:t>1</a:t>
            </a:fld>
            <a:endParaRPr lang="en-US"/>
          </a:p>
        </p:txBody>
      </p:sp>
    </p:spTree>
    <p:extLst>
      <p:ext uri="{BB962C8B-B14F-4D97-AF65-F5344CB8AC3E}">
        <p14:creationId xmlns:p14="http://schemas.microsoft.com/office/powerpoint/2010/main" val="386421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module follows three attack techniques that represent the most common persistence mechanisms in Azure. Service principal credential addition lets attackers add secrets or certificates to existing apps. Backdoor SP creation creates an entirely new service principal disguised as a legitimate app. Managed identity token theft exploits the IDENTITY_ENDPOINT on compromised resources. Each technique has specific detection patterns in AuditLogs and AADServicePrincipalSignInLogs.</a:t>
            </a:r>
          </a:p>
        </p:txBody>
      </p:sp>
      <p:sp>
        <p:nvSpPr>
          <p:cNvPr id="4" name="Slide Number Placeholder 3"/>
          <p:cNvSpPr>
            <a:spLocks noGrp="1"/>
          </p:cNvSpPr>
          <p:nvPr>
            <p:ph type="sldNum" sz="quarter" idx="5"/>
          </p:nvPr>
        </p:nvSpPr>
        <p:spPr/>
        <p:txBody>
          <a:bodyPr/>
          <a:lstStyle/>
          <a:p>
            <a:fld id="{BA1614E5-55C3-4525-AA75-F72855632348}" type="slidenum">
              <a:rPr lang="en-US" smtClean="0"/>
              <a:t>2</a:t>
            </a:fld>
            <a:endParaRPr lang="en-US"/>
          </a:p>
        </p:txBody>
      </p:sp>
    </p:spTree>
    <p:extLst>
      <p:ext uri="{BB962C8B-B14F-4D97-AF65-F5344CB8AC3E}">
        <p14:creationId xmlns:p14="http://schemas.microsoft.com/office/powerpoint/2010/main" val="802822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This module follows three attack techniques that represent the most common persistence mechanisms in Azure. Service principal credential addition lets attackers add secrets or certificates to existing apps. Backdoor SP creation creates an entirely new service principal disguised as a legitimate app. Managed identity token theft exploits the IDENTITY_ENDPOINT on compromised resources. Each technique has specific detection patterns in AuditLogs and AADServicePrincipalSignInLogs.</a:t>
            </a:r>
          </a:p>
        </p:txBody>
      </p:sp>
      <p:sp>
        <p:nvSpPr>
          <p:cNvPr id="4" name="Slide Number Placeholder 3"/>
          <p:cNvSpPr>
            <a:spLocks noGrp="1"/>
          </p:cNvSpPr>
          <p:nvPr>
            <p:ph type="sldNum" sz="quarter" idx="5"/>
          </p:nvPr>
        </p:nvSpPr>
        <p:spPr/>
        <p:txBody>
          <a:bodyPr/>
          <a:lstStyle/>
          <a:p>
            <a:fld id="{BA1614E5-55C3-4525-AA75-F72855632348}" type="slidenum">
              <a:rPr lang="en-US" smtClean="0"/>
              <a:t>3</a:t>
            </a:fld>
            <a:endParaRPr lang="en-US"/>
          </a:p>
        </p:txBody>
      </p:sp>
    </p:spTree>
    <p:extLst>
      <p:ext uri="{BB962C8B-B14F-4D97-AF65-F5344CB8AC3E}">
        <p14:creationId xmlns:p14="http://schemas.microsoft.com/office/powerpoint/2010/main" val="1706114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T1098.001 is the core technique - adding additional credentials (secrets or certificates) to an existing service principal. T1136.003 covers creating an entirely new SP. T1078.004 covers the attacker authenticating as the backdoored SP. T1199 covers federated identity credentials, where an external identity provider is trusted to authenticate as the SP - this is the most sophisticated persistence mechanism.</a:t>
            </a:r>
          </a:p>
        </p:txBody>
      </p:sp>
      <p:sp>
        <p:nvSpPr>
          <p:cNvPr id="4" name="Slide Number Placeholder 3"/>
          <p:cNvSpPr>
            <a:spLocks noGrp="1"/>
          </p:cNvSpPr>
          <p:nvPr>
            <p:ph type="sldNum" sz="quarter" idx="5"/>
          </p:nvPr>
        </p:nvSpPr>
        <p:spPr/>
        <p:txBody>
          <a:bodyPr/>
          <a:lstStyle/>
          <a:p>
            <a:fld id="{BA1614E5-55C3-4525-AA75-F72855632348}" type="slidenum">
              <a:rPr lang="en-US" smtClean="0"/>
              <a:t>4</a:t>
            </a:fld>
            <a:endParaRPr lang="en-US"/>
          </a:p>
        </p:txBody>
      </p:sp>
    </p:spTree>
    <p:extLst>
      <p:ext uri="{BB962C8B-B14F-4D97-AF65-F5344CB8AC3E}">
        <p14:creationId xmlns:p14="http://schemas.microsoft.com/office/powerpoint/2010/main" val="2131060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T1098.001 is the core technique - adding additional credentials (secrets or certificates) to an existing service principal. T1136.003 covers creating an entirely new SP. T1078.004 covers the attacker authenticating as the backdoored SP. T1199 covers federated identity credentials, where an external identity provider is trusted to authenticate as the SP - this is the most sophisticated persistence mechanism.</a:t>
            </a:r>
          </a:p>
        </p:txBody>
      </p:sp>
      <p:sp>
        <p:nvSpPr>
          <p:cNvPr id="4" name="Slide Number Placeholder 3"/>
          <p:cNvSpPr>
            <a:spLocks noGrp="1"/>
          </p:cNvSpPr>
          <p:nvPr>
            <p:ph type="sldNum" sz="quarter" idx="5"/>
          </p:nvPr>
        </p:nvSpPr>
        <p:spPr/>
        <p:txBody>
          <a:bodyPr/>
          <a:lstStyle/>
          <a:p>
            <a:fld id="{BA1614E5-55C3-4525-AA75-F72855632348}" type="slidenum">
              <a:rPr lang="en-US" smtClean="0"/>
              <a:t>5</a:t>
            </a:fld>
            <a:endParaRPr lang="en-US"/>
          </a:p>
        </p:txBody>
      </p:sp>
    </p:spTree>
    <p:extLst>
      <p:ext uri="{BB962C8B-B14F-4D97-AF65-F5344CB8AC3E}">
        <p14:creationId xmlns:p14="http://schemas.microsoft.com/office/powerpoint/2010/main" val="927939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comparison highlights why identity persistence is so dangerous. A user's password reset doesn't affect any service principal credentials. An attacker who adds a client secret to an app registration has persistent access that's completely independent of the compromised user. Federated identity credentials are even harder to detect - they allow external identity providers to authenticate as the SP, leaving no credential artifact to find. Managed identity token theft exploits the local HTTP endpoint available on Azure resources to get tokens without any credential material.</a:t>
            </a:r>
          </a:p>
        </p:txBody>
      </p:sp>
      <p:sp>
        <p:nvSpPr>
          <p:cNvPr id="4" name="Slide Number Placeholder 3"/>
          <p:cNvSpPr>
            <a:spLocks noGrp="1"/>
          </p:cNvSpPr>
          <p:nvPr>
            <p:ph type="sldNum" sz="quarter" idx="5"/>
          </p:nvPr>
        </p:nvSpPr>
        <p:spPr/>
        <p:txBody>
          <a:bodyPr/>
          <a:lstStyle/>
          <a:p>
            <a:fld id="{BA1614E5-55C3-4525-AA75-F72855632348}" type="slidenum">
              <a:rPr lang="en-US" smtClean="0"/>
              <a:t>6</a:t>
            </a:fld>
            <a:endParaRPr lang="en-US"/>
          </a:p>
        </p:txBody>
      </p:sp>
    </p:spTree>
    <p:extLst>
      <p:ext uri="{BB962C8B-B14F-4D97-AF65-F5344CB8AC3E}">
        <p14:creationId xmlns:p14="http://schemas.microsoft.com/office/powerpoint/2010/main" val="2827022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PFX certificates are commonly stored on deployment servers, CI/CD agents, or in user profile directories. An attacker who finds a .pfx file can immediately authenticate as whatever service principal it belongs to. The client secret addition path is more common - an attacker with sufficient Entra ID permissions adds a new secret to an existing high-privilege app. The secret can be set to expire in years, providing long-term persistence. Both attacks generate events in AuditLogs that we can detect.</a:t>
            </a:r>
          </a:p>
        </p:txBody>
      </p:sp>
      <p:sp>
        <p:nvSpPr>
          <p:cNvPr id="4" name="Slide Number Placeholder 3"/>
          <p:cNvSpPr>
            <a:spLocks noGrp="1"/>
          </p:cNvSpPr>
          <p:nvPr>
            <p:ph type="sldNum" sz="quarter" idx="5"/>
          </p:nvPr>
        </p:nvSpPr>
        <p:spPr/>
        <p:txBody>
          <a:bodyPr/>
          <a:lstStyle/>
          <a:p>
            <a:fld id="{BA1614E5-55C3-4525-AA75-F72855632348}" type="slidenum">
              <a:rPr lang="en-US" smtClean="0"/>
              <a:t>7</a:t>
            </a:fld>
            <a:endParaRPr lang="en-US"/>
          </a:p>
        </p:txBody>
      </p:sp>
    </p:spTree>
    <p:extLst>
      <p:ext uri="{BB962C8B-B14F-4D97-AF65-F5344CB8AC3E}">
        <p14:creationId xmlns:p14="http://schemas.microsoft.com/office/powerpoint/2010/main" val="640217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PFX certificates are commonly stored on deployment servers, CI/CD agents, or in user profile directories. An attacker who finds a .pfx file can immediately authenticate as whatever service principal it belongs to. The client secret addition path is more common - an attacker with sufficient Entra ID permissions adds a new secret to an existing high-privilege app. The secret can be set to expire in years, providing long-term persistence. Both attacks generate events in AuditLogs that we can detect.</a:t>
            </a:r>
          </a:p>
        </p:txBody>
      </p:sp>
      <p:sp>
        <p:nvSpPr>
          <p:cNvPr id="4" name="Slide Number Placeholder 3"/>
          <p:cNvSpPr>
            <a:spLocks noGrp="1"/>
          </p:cNvSpPr>
          <p:nvPr>
            <p:ph type="sldNum" sz="quarter" idx="5"/>
          </p:nvPr>
        </p:nvSpPr>
        <p:spPr/>
        <p:txBody>
          <a:bodyPr/>
          <a:lstStyle/>
          <a:p>
            <a:fld id="{BA1614E5-55C3-4525-AA75-F72855632348}" type="slidenum">
              <a:rPr lang="en-US" smtClean="0"/>
              <a:t>8</a:t>
            </a:fld>
            <a:endParaRPr lang="en-US"/>
          </a:p>
        </p:txBody>
      </p:sp>
    </p:spTree>
    <p:extLst>
      <p:ext uri="{BB962C8B-B14F-4D97-AF65-F5344CB8AC3E}">
        <p14:creationId xmlns:p14="http://schemas.microsoft.com/office/powerpoint/2010/main" val="2600430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most complete persistence mechanism - the attacker creates an entirely new identity in your tenant. They'll give it a name that looks legitimate: "Azure Monitoring Agent", "Backup Service Account", or something that blends in. Then they add credentials and assign RBAC roles. The sequence of events in AuditLogs tells the story: app creation, SP creation, credential addition, role assignment. If all four happen from the same actor within a short window, it's almost certainly an attacker establishing persistence. In the lab, you'll trace this exact pattern.</a:t>
            </a:r>
          </a:p>
        </p:txBody>
      </p:sp>
      <p:sp>
        <p:nvSpPr>
          <p:cNvPr id="4" name="Slide Number Placeholder 3"/>
          <p:cNvSpPr>
            <a:spLocks noGrp="1"/>
          </p:cNvSpPr>
          <p:nvPr>
            <p:ph type="sldNum" sz="quarter" idx="5"/>
          </p:nvPr>
        </p:nvSpPr>
        <p:spPr/>
        <p:txBody>
          <a:bodyPr/>
          <a:lstStyle/>
          <a:p>
            <a:fld id="{BA1614E5-55C3-4525-AA75-F72855632348}" type="slidenum">
              <a:rPr lang="en-US" smtClean="0"/>
              <a:t>9</a:t>
            </a:fld>
            <a:endParaRPr lang="en-US"/>
          </a:p>
        </p:txBody>
      </p:sp>
    </p:spTree>
    <p:extLst>
      <p:ext uri="{BB962C8B-B14F-4D97-AF65-F5344CB8AC3E}">
        <p14:creationId xmlns:p14="http://schemas.microsoft.com/office/powerpoint/2010/main" val="2785946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This is the most complete persistence mechanism - the attacker creates an entirely new identity in your tenant. They'll give it a name that looks legitimate: "Azure Monitoring Agent", "Backup Service Account", or something that blends in. Then they add credentials and assign RBAC roles. The sequence of events in AuditLogs tells the story: app creation, SP creation, credential addition, role assignment. If all four happen from the same actor within a short window, it's almost certainly an attacker establishing persistence. In the lab, you'll trace this exact pattern.</a:t>
            </a:r>
          </a:p>
        </p:txBody>
      </p:sp>
      <p:sp>
        <p:nvSpPr>
          <p:cNvPr id="4" name="Slide Number Placeholder 3"/>
          <p:cNvSpPr>
            <a:spLocks noGrp="1"/>
          </p:cNvSpPr>
          <p:nvPr>
            <p:ph type="sldNum" sz="quarter" idx="5"/>
          </p:nvPr>
        </p:nvSpPr>
        <p:spPr/>
        <p:txBody>
          <a:bodyPr/>
          <a:lstStyle/>
          <a:p>
            <a:fld id="{BA1614E5-55C3-4525-AA75-F72855632348}" type="slidenum">
              <a:rPr lang="en-US" smtClean="0"/>
              <a:t>10</a:t>
            </a:fld>
            <a:endParaRPr lang="en-US"/>
          </a:p>
        </p:txBody>
      </p:sp>
    </p:spTree>
    <p:extLst>
      <p:ext uri="{BB962C8B-B14F-4D97-AF65-F5344CB8AC3E}">
        <p14:creationId xmlns:p14="http://schemas.microsoft.com/office/powerpoint/2010/main" val="2772006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Managed identity token theft requires code execution on the Azure resource - which we covered in Modules 03 (Logic Apps), 07 (Container Apps), and 08 (Web Apps). The IDENTITY_ENDPOINT is an HTTP endpoint that returns tokens without any credential material. The attacker just needs to know the resource URL they want to target. They can request tokens for ARM, Graph, Key Vault, Storage - whatever the managed identity has permissions for. Detection relies on AADManagedIdentitySignInLogs showing sign-ins from unexpected IPs or targeting unexpected resources.</a:t>
            </a:r>
          </a:p>
        </p:txBody>
      </p:sp>
      <p:sp>
        <p:nvSpPr>
          <p:cNvPr id="4" name="Slide Number Placeholder 3"/>
          <p:cNvSpPr>
            <a:spLocks noGrp="1"/>
          </p:cNvSpPr>
          <p:nvPr>
            <p:ph type="sldNum" sz="quarter" idx="5"/>
          </p:nvPr>
        </p:nvSpPr>
        <p:spPr/>
        <p:txBody>
          <a:bodyPr/>
          <a:lstStyle/>
          <a:p>
            <a:fld id="{BA1614E5-55C3-4525-AA75-F72855632348}" type="slidenum">
              <a:rPr lang="en-US" smtClean="0"/>
              <a:t>11</a:t>
            </a:fld>
            <a:endParaRPr lang="en-US"/>
          </a:p>
        </p:txBody>
      </p:sp>
    </p:spTree>
    <p:extLst>
      <p:ext uri="{BB962C8B-B14F-4D97-AF65-F5344CB8AC3E}">
        <p14:creationId xmlns:p14="http://schemas.microsoft.com/office/powerpoint/2010/main" val="36327682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Managed identity token theft requires code execution on the Azure resource - which we covered in Modules 03 (Logic Apps), 07 (Container Apps), and 08 (Web Apps). The IDENTITY_ENDPOINT is an HTTP endpoint that returns tokens without any credential material. The attacker just needs to know the resource URL they want to target. They can request tokens for ARM, Graph, Key Vault, Storage - whatever the managed identity has permissions for. Detection relies on AADManagedIdentitySignInLogs showing sign-ins from unexpected IPs or targeting unexpected resources.</a:t>
            </a:r>
          </a:p>
        </p:txBody>
      </p:sp>
      <p:sp>
        <p:nvSpPr>
          <p:cNvPr id="4" name="Slide Number Placeholder 3"/>
          <p:cNvSpPr>
            <a:spLocks noGrp="1"/>
          </p:cNvSpPr>
          <p:nvPr>
            <p:ph type="sldNum" sz="quarter" idx="5"/>
          </p:nvPr>
        </p:nvSpPr>
        <p:spPr/>
        <p:txBody>
          <a:bodyPr/>
          <a:lstStyle/>
          <a:p>
            <a:fld id="{BA1614E5-55C3-4525-AA75-F72855632348}" type="slidenum">
              <a:rPr lang="en-US" smtClean="0"/>
              <a:t>12</a:t>
            </a:fld>
            <a:endParaRPr lang="en-US"/>
          </a:p>
        </p:txBody>
      </p:sp>
    </p:spTree>
    <p:extLst>
      <p:ext uri="{BB962C8B-B14F-4D97-AF65-F5344CB8AC3E}">
        <p14:creationId xmlns:p14="http://schemas.microsoft.com/office/powerpoint/2010/main" val="19465398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AADServicePrincipalSignInLogs is the primary table for detecting backdoor SP usage. ClientCredentialType tells you whether a certificate or secret was used. ServicePrincipalCredentialThumbprint is critical - if you find a .pfx file during forensics, you can search for this thumbprint to find all sign-ins using that certificate. FederatedCredentialId identifies federated identity credential usage. IPAddress is the attacker's infrastructure. Correlate the ServicePrincipalId with AuditLogs to find when the SP was created and by whom.</a:t>
            </a:r>
          </a:p>
        </p:txBody>
      </p:sp>
      <p:sp>
        <p:nvSpPr>
          <p:cNvPr id="4" name="Slide Number Placeholder 3"/>
          <p:cNvSpPr>
            <a:spLocks noGrp="1"/>
          </p:cNvSpPr>
          <p:nvPr>
            <p:ph type="sldNum" sz="quarter" idx="5"/>
          </p:nvPr>
        </p:nvSpPr>
        <p:spPr/>
        <p:txBody>
          <a:bodyPr/>
          <a:lstStyle/>
          <a:p>
            <a:fld id="{BA1614E5-55C3-4525-AA75-F72855632348}" type="slidenum">
              <a:rPr lang="en-US" smtClean="0"/>
              <a:t>13</a:t>
            </a:fld>
            <a:endParaRPr lang="en-US"/>
          </a:p>
        </p:txBody>
      </p:sp>
    </p:spTree>
    <p:extLst>
      <p:ext uri="{BB962C8B-B14F-4D97-AF65-F5344CB8AC3E}">
        <p14:creationId xmlns:p14="http://schemas.microsoft.com/office/powerpoint/2010/main" val="3297376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catches credential additions to service principals. The Actor field shows who performed the action - if it's a user account rather than a CI/CD pipeline, investigate immediately. The SPName shows which service principal received the new credential. Correlate the SPId with AADServicePrincipalSignInLogs to see if the new credential has been used for sign-ins. This is one of the highest-value persistence detection queries because credential addition is a required step in every SP backdoor attack.</a:t>
            </a:r>
          </a:p>
        </p:txBody>
      </p:sp>
      <p:sp>
        <p:nvSpPr>
          <p:cNvPr id="4" name="Slide Number Placeholder 3"/>
          <p:cNvSpPr>
            <a:spLocks noGrp="1"/>
          </p:cNvSpPr>
          <p:nvPr>
            <p:ph type="sldNum" sz="quarter" idx="5"/>
          </p:nvPr>
        </p:nvSpPr>
        <p:spPr/>
        <p:txBody>
          <a:bodyPr/>
          <a:lstStyle/>
          <a:p>
            <a:fld id="{BA1614E5-55C3-4525-AA75-F72855632348}" type="slidenum">
              <a:rPr lang="en-US" smtClean="0"/>
              <a:t>14</a:t>
            </a:fld>
            <a:endParaRPr lang="en-US"/>
          </a:p>
        </p:txBody>
      </p:sp>
    </p:spTree>
    <p:extLst>
      <p:ext uri="{BB962C8B-B14F-4D97-AF65-F5344CB8AC3E}">
        <p14:creationId xmlns:p14="http://schemas.microsoft.com/office/powerpoint/2010/main" val="15513783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catches credential additions to service principals. The Actor field shows who performed the action - if it's a user account rather than a CI/CD pipeline, investigate immediately. The SPName shows which service principal received the new credential. Correlate the SPId with AADServicePrincipalSignInLogs to see if the new credential has been used for sign-ins. This is one of the highest-value persistence detection queries because credential addition is a required step in every SP backdoor attack.</a:t>
            </a:r>
          </a:p>
        </p:txBody>
      </p:sp>
      <p:sp>
        <p:nvSpPr>
          <p:cNvPr id="4" name="Slide Number Placeholder 3"/>
          <p:cNvSpPr>
            <a:spLocks noGrp="1"/>
          </p:cNvSpPr>
          <p:nvPr>
            <p:ph type="sldNum" sz="quarter" idx="5"/>
          </p:nvPr>
        </p:nvSpPr>
        <p:spPr/>
        <p:txBody>
          <a:bodyPr/>
          <a:lstStyle/>
          <a:p>
            <a:fld id="{BA1614E5-55C3-4525-AA75-F72855632348}" type="slidenum">
              <a:rPr lang="en-US" smtClean="0"/>
              <a:t>15</a:t>
            </a:fld>
            <a:endParaRPr lang="en-US"/>
          </a:p>
        </p:txBody>
      </p:sp>
    </p:spTree>
    <p:extLst>
      <p:ext uri="{BB962C8B-B14F-4D97-AF65-F5344CB8AC3E}">
        <p14:creationId xmlns:p14="http://schemas.microsoft.com/office/powerpoint/2010/main" val="3916408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query catches new app registrations and service principal creations. The second query shows the first successful sign-in for each SP. Correlate these to find newly created SPs that have already been used for authentication. If a new SP was created by a user account and then signed in from a different IP, that's a strong indicator of a backdoor. The CorrelationId in AuditLogs can link the creation event to subsequent credential additions in the same session.</a:t>
            </a:r>
          </a:p>
        </p:txBody>
      </p:sp>
      <p:sp>
        <p:nvSpPr>
          <p:cNvPr id="4" name="Slide Number Placeholder 3"/>
          <p:cNvSpPr>
            <a:spLocks noGrp="1"/>
          </p:cNvSpPr>
          <p:nvPr>
            <p:ph type="sldNum" sz="quarter" idx="5"/>
          </p:nvPr>
        </p:nvSpPr>
        <p:spPr/>
        <p:txBody>
          <a:bodyPr/>
          <a:lstStyle/>
          <a:p>
            <a:fld id="{BA1614E5-55C3-4525-AA75-F72855632348}" type="slidenum">
              <a:rPr lang="en-US" smtClean="0"/>
              <a:t>16</a:t>
            </a:fld>
            <a:endParaRPr lang="en-US"/>
          </a:p>
        </p:txBody>
      </p:sp>
    </p:spTree>
    <p:extLst>
      <p:ext uri="{BB962C8B-B14F-4D97-AF65-F5344CB8AC3E}">
        <p14:creationId xmlns:p14="http://schemas.microsoft.com/office/powerpoint/2010/main" val="3887574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Certificate-based SP sign-ins are legitimate for automation, but they're also the primary mechanism for PFX-based attacks. This query shows all certificate-authenticated SP sign-ins with their thumbprints and source IPs. Compare the ServicePrincipalCredentialThumbprint with any certificates found during forensics. Look for sign-ins from IPs outside your corporate or CI/CD infrastructure. In the lab, students will trace a PFX certificate from discovery on a compromised host to the corresponding sign-in events.</a:t>
            </a:r>
          </a:p>
        </p:txBody>
      </p:sp>
      <p:sp>
        <p:nvSpPr>
          <p:cNvPr id="4" name="Slide Number Placeholder 3"/>
          <p:cNvSpPr>
            <a:spLocks noGrp="1"/>
          </p:cNvSpPr>
          <p:nvPr>
            <p:ph type="sldNum" sz="quarter" idx="5"/>
          </p:nvPr>
        </p:nvSpPr>
        <p:spPr/>
        <p:txBody>
          <a:bodyPr/>
          <a:lstStyle/>
          <a:p>
            <a:fld id="{BA1614E5-55C3-4525-AA75-F72855632348}" type="slidenum">
              <a:rPr lang="en-US" smtClean="0"/>
              <a:t>17</a:t>
            </a:fld>
            <a:endParaRPr lang="en-US"/>
          </a:p>
        </p:txBody>
      </p:sp>
    </p:spTree>
    <p:extLst>
      <p:ext uri="{BB962C8B-B14F-4D97-AF65-F5344CB8AC3E}">
        <p14:creationId xmlns:p14="http://schemas.microsoft.com/office/powerpoint/2010/main" val="17003986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coverage map shows how each attack phase maps to a specific detection query and table. The complete attack chain generates events across three tables: AuditLogs for identity operations, AzureActivity for RBAC changes, and AADServicePrincipalSignInLogs for authentication. An analytics rule that correlates new credential addition in AuditLogs with first sign-in in AADServicePrincipalSignInLogs within a 24-hour window is a high-fidelity detection for SP backdoors.</a:t>
            </a:r>
          </a:p>
        </p:txBody>
      </p:sp>
      <p:sp>
        <p:nvSpPr>
          <p:cNvPr id="4" name="Slide Number Placeholder 3"/>
          <p:cNvSpPr>
            <a:spLocks noGrp="1"/>
          </p:cNvSpPr>
          <p:nvPr>
            <p:ph type="sldNum" sz="quarter" idx="5"/>
          </p:nvPr>
        </p:nvSpPr>
        <p:spPr/>
        <p:txBody>
          <a:bodyPr/>
          <a:lstStyle/>
          <a:p>
            <a:fld id="{BA1614E5-55C3-4525-AA75-F72855632348}" type="slidenum">
              <a:rPr lang="en-US" smtClean="0"/>
              <a:t>18</a:t>
            </a:fld>
            <a:endParaRPr lang="en-US"/>
          </a:p>
        </p:txBody>
      </p:sp>
    </p:spTree>
    <p:extLst>
      <p:ext uri="{BB962C8B-B14F-4D97-AF65-F5344CB8AC3E}">
        <p14:creationId xmlns:p14="http://schemas.microsoft.com/office/powerpoint/2010/main" val="41921917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delete the compromised SP - disable it first so you can investigate its activity. Deleting removes the audit trail. Remove the attacker's credential (secret or certificate) specifically, leaving legitimate credentials intact if the SP serves a real purpose. Check for federated identity credentials - these are harder to spot and allow external identity providers to authenticate as the SP. After containment, audit all app registrations tenant-wide for unexpected credentials.</a:t>
            </a:r>
          </a:p>
        </p:txBody>
      </p:sp>
      <p:sp>
        <p:nvSpPr>
          <p:cNvPr id="4" name="Slide Number Placeholder 3"/>
          <p:cNvSpPr>
            <a:spLocks noGrp="1"/>
          </p:cNvSpPr>
          <p:nvPr>
            <p:ph type="sldNum" sz="quarter" idx="5"/>
          </p:nvPr>
        </p:nvSpPr>
        <p:spPr/>
        <p:txBody>
          <a:bodyPr/>
          <a:lstStyle/>
          <a:p>
            <a:fld id="{BA1614E5-55C3-4525-AA75-F72855632348}" type="slidenum">
              <a:rPr lang="en-US" smtClean="0"/>
              <a:t>19</a:t>
            </a:fld>
            <a:endParaRPr lang="en-US"/>
          </a:p>
        </p:txBody>
      </p:sp>
    </p:spTree>
    <p:extLst>
      <p:ext uri="{BB962C8B-B14F-4D97-AF65-F5344CB8AC3E}">
        <p14:creationId xmlns:p14="http://schemas.microsoft.com/office/powerpoint/2010/main" val="131622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Do NOT delete the compromised SP - disable it first so you can investigate its activity. Deleting removes the audit trail. Remove the attacker's credential (secret or certificate) specifically, leaving legitimate credentials intact if the SP serves a real purpose. Check for federated identity credentials - these are harder to spot and allow external identity providers to authenticate as the SP. After containment, audit all app registrations tenant-wide for unexpected credentials.</a:t>
            </a:r>
          </a:p>
        </p:txBody>
      </p:sp>
      <p:sp>
        <p:nvSpPr>
          <p:cNvPr id="4" name="Slide Number Placeholder 3"/>
          <p:cNvSpPr>
            <a:spLocks noGrp="1"/>
          </p:cNvSpPr>
          <p:nvPr>
            <p:ph type="sldNum" sz="quarter" idx="5"/>
          </p:nvPr>
        </p:nvSpPr>
        <p:spPr/>
        <p:txBody>
          <a:bodyPr/>
          <a:lstStyle/>
          <a:p>
            <a:fld id="{BA1614E5-55C3-4525-AA75-F72855632348}" type="slidenum">
              <a:rPr lang="en-US" smtClean="0"/>
              <a:t>20</a:t>
            </a:fld>
            <a:endParaRPr lang="en-US"/>
          </a:p>
        </p:txBody>
      </p:sp>
    </p:spTree>
    <p:extLst>
      <p:ext uri="{BB962C8B-B14F-4D97-AF65-F5344CB8AC3E}">
        <p14:creationId xmlns:p14="http://schemas.microsoft.com/office/powerpoint/2010/main" val="18878476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most impactful control is restricting app registration creation to administrators only. By default, all users can create app registrations - this is the most common misconfiguration. Use Entra ID Settings to disable "Users can register applications". For legitimate automation, prefer managed identities over service principals - they eliminate credential management entirely. Conditional Access for workload identities is a newer capability that lets you apply IP restrictions and risk-based controls to SP sign-ins.</a:t>
            </a:r>
          </a:p>
        </p:txBody>
      </p:sp>
      <p:sp>
        <p:nvSpPr>
          <p:cNvPr id="4" name="Slide Number Placeholder 3"/>
          <p:cNvSpPr>
            <a:spLocks noGrp="1"/>
          </p:cNvSpPr>
          <p:nvPr>
            <p:ph type="sldNum" sz="quarter" idx="5"/>
          </p:nvPr>
        </p:nvSpPr>
        <p:spPr/>
        <p:txBody>
          <a:bodyPr/>
          <a:lstStyle/>
          <a:p>
            <a:fld id="{BA1614E5-55C3-4525-AA75-F72855632348}" type="slidenum">
              <a:rPr lang="en-US" smtClean="0"/>
              <a:t>21</a:t>
            </a:fld>
            <a:endParaRPr lang="en-US"/>
          </a:p>
        </p:txBody>
      </p:sp>
    </p:spTree>
    <p:extLst>
      <p:ext uri="{BB962C8B-B14F-4D97-AF65-F5344CB8AC3E}">
        <p14:creationId xmlns:p14="http://schemas.microsoft.com/office/powerpoint/2010/main" val="36025238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Module 05 establishes the persistence detection skills needed for the remaining modules. Service principal and managed identity abuse appear in Modules 06 (Key Vault), 07 (Container Apps), and 08 (Web Apps) as lateral movement mechanisms. Encourage students to audit their app registrations and review credential expiration dates. Module 06 moves to Key Vault - where stolen identities are used to extract secrets.</a:t>
            </a:r>
          </a:p>
        </p:txBody>
      </p:sp>
      <p:sp>
        <p:nvSpPr>
          <p:cNvPr id="4" name="Slide Number Placeholder 3"/>
          <p:cNvSpPr>
            <a:spLocks noGrp="1"/>
          </p:cNvSpPr>
          <p:nvPr>
            <p:ph type="sldNum" sz="quarter" idx="5"/>
          </p:nvPr>
        </p:nvSpPr>
        <p:spPr/>
        <p:txBody>
          <a:bodyPr/>
          <a:lstStyle/>
          <a:p>
            <a:fld id="{BA1614E5-55C3-4525-AA75-F72855632348}" type="slidenum">
              <a:rPr lang="en-US" smtClean="0"/>
              <a:t>22</a:t>
            </a:fld>
            <a:endParaRPr lang="en-US"/>
          </a:p>
        </p:txBody>
      </p:sp>
    </p:spTree>
    <p:extLst>
      <p:ext uri="{BB962C8B-B14F-4D97-AF65-F5344CB8AC3E}">
        <p14:creationId xmlns:p14="http://schemas.microsoft.com/office/powerpoint/2010/main" val="31817507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Module 05 establishes the persistence detection skills needed for the remaining modules. Service principal and managed identity abuse appear in Modules 06 (Key Vault), 07 (Container Apps), and 08 (Web Apps) as lateral movement mechanisms. Encourage students to audit their app registrations and review credential expiration dates. Module 06 moves to Key Vault - where stolen identities are used to extract secrets.</a:t>
            </a:r>
          </a:p>
        </p:txBody>
      </p:sp>
      <p:sp>
        <p:nvSpPr>
          <p:cNvPr id="4" name="Slide Number Placeholder 3"/>
          <p:cNvSpPr>
            <a:spLocks noGrp="1"/>
          </p:cNvSpPr>
          <p:nvPr>
            <p:ph type="sldNum" sz="quarter" idx="5"/>
          </p:nvPr>
        </p:nvSpPr>
        <p:spPr/>
        <p:txBody>
          <a:bodyPr/>
          <a:lstStyle/>
          <a:p>
            <a:fld id="{BA1614E5-55C3-4525-AA75-F72855632348}" type="slidenum">
              <a:rPr lang="en-US" smtClean="0"/>
              <a:t>23</a:t>
            </a:fld>
            <a:endParaRPr lang="en-US"/>
          </a:p>
        </p:txBody>
      </p:sp>
    </p:spTree>
    <p:extLst>
      <p:ext uri="{BB962C8B-B14F-4D97-AF65-F5344CB8AC3E}">
        <p14:creationId xmlns:p14="http://schemas.microsoft.com/office/powerpoint/2010/main" val="27028306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3.jpe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1.xml"/><Relationship Id="rId5" Type="http://schemas.openxmlformats.org/officeDocument/2006/relationships/image" Target="../media/image27.jpeg"/><Relationship Id="rId4" Type="http://schemas.openxmlformats.org/officeDocument/2006/relationships/image" Target="../media/image26.jpe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 Title">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9" name="Picture 8" descr="Icon&#10;&#10;Description automatically generated">
            <a:extLst>
              <a:ext uri="{FF2B5EF4-FFF2-40B4-BE49-F238E27FC236}">
                <a16:creationId xmlns:a16="http://schemas.microsoft.com/office/drawing/2014/main" id="{CB6D3FA3-C210-4270-964A-C6A0069D59E2}"/>
              </a:ext>
            </a:extLst>
          </p:cNvPr>
          <p:cNvPicPr>
            <a:picLocks noChangeAspect="1"/>
          </p:cNvPicPr>
          <p:nvPr/>
        </p:nvPicPr>
        <p:blipFill>
          <a:blip r:embed="rId3"/>
          <a:stretch>
            <a:fillRect/>
          </a:stretch>
        </p:blipFill>
        <p:spPr bwMode="invGray">
          <a:xfrm>
            <a:off x="4671100" y="0"/>
            <a:ext cx="7520900" cy="6858000"/>
          </a:xfrm>
          <a:prstGeom prst="rect">
            <a:avLst/>
          </a:prstGeom>
        </p:spPr>
      </p:pic>
    </p:spTree>
    <p:extLst>
      <p:ext uri="{BB962C8B-B14F-4D97-AF65-F5344CB8AC3E}">
        <p14:creationId xmlns:p14="http://schemas.microsoft.com/office/powerpoint/2010/main" val="30326754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mprehensiveness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10" name="Graphic 9">
            <a:extLst>
              <a:ext uri="{FF2B5EF4-FFF2-40B4-BE49-F238E27FC236}">
                <a16:creationId xmlns:a16="http://schemas.microsoft.com/office/drawing/2014/main" id="{4586D2A5-469B-42D5-B926-C4EE6716E87F}"/>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21476273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I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6" name="Graphic 5">
            <a:extLst>
              <a:ext uri="{FF2B5EF4-FFF2-40B4-BE49-F238E27FC236}">
                <a16:creationId xmlns:a16="http://schemas.microsoft.com/office/drawing/2014/main" id="{F7A52431-DCFD-473D-980B-E667BAC2F19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11882728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icity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3" name="Graphic 2">
            <a:extLst>
              <a:ext uri="{FF2B5EF4-FFF2-40B4-BE49-F238E27FC236}">
                <a16:creationId xmlns:a16="http://schemas.microsoft.com/office/drawing/2014/main" id="{AAD66E76-E933-412A-9841-907EA784333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6731000" y="0"/>
            <a:ext cx="5461000" cy="6858000"/>
          </a:xfrm>
          <a:prstGeom prst="rect">
            <a:avLst/>
          </a:prstGeom>
        </p:spPr>
      </p:pic>
    </p:spTree>
    <p:extLst>
      <p:ext uri="{BB962C8B-B14F-4D97-AF65-F5344CB8AC3E}">
        <p14:creationId xmlns:p14="http://schemas.microsoft.com/office/powerpoint/2010/main" val="7503247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urity 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2240"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224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10" name="Graphic 9">
            <a:extLst>
              <a:ext uri="{FF2B5EF4-FFF2-40B4-BE49-F238E27FC236}">
                <a16:creationId xmlns:a16="http://schemas.microsoft.com/office/drawing/2014/main" id="{0D5D4CBA-07EB-4CCF-BEB7-6F3185DCC670}"/>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11580222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9" name="Graphic 18">
            <a:extLst>
              <a:ext uri="{FF2B5EF4-FFF2-40B4-BE49-F238E27FC236}">
                <a16:creationId xmlns:a16="http://schemas.microsoft.com/office/drawing/2014/main" id="{3FBDEDB6-A84F-40BC-B54B-238AED6B04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invGray">
          <a:xfrm>
            <a:off x="4393915" y="0"/>
            <a:ext cx="7798085" cy="6858000"/>
          </a:xfrm>
          <a:prstGeom prst="rect">
            <a:avLst/>
          </a:prstGeom>
        </p:spPr>
      </p:pic>
      <p:sp>
        <p:nvSpPr>
          <p:cNvPr id="25" name="Freeform: Shape 24">
            <a:extLst>
              <a:ext uri="{FF2B5EF4-FFF2-40B4-BE49-F238E27FC236}">
                <a16:creationId xmlns:a16="http://schemas.microsoft.com/office/drawing/2014/main" id="{72B44542-6FEA-4633-9FA4-2E7E2381276D}"/>
              </a:ext>
            </a:extLst>
          </p:cNvPr>
          <p:cNvSpPr/>
          <p:nvPr/>
        </p:nvSpPr>
        <p:spPr bwMode="auto">
          <a:xfrm rot="17674506">
            <a:off x="10794396" y="4611776"/>
            <a:ext cx="635802" cy="2665253"/>
          </a:xfrm>
          <a:custGeom>
            <a:avLst/>
            <a:gdLst>
              <a:gd name="connsiteX0" fmla="*/ 610820 w 635802"/>
              <a:gd name="connsiteY0" fmla="*/ 194160 h 2665253"/>
              <a:gd name="connsiteX1" fmla="*/ 635802 w 635802"/>
              <a:gd name="connsiteY1" fmla="*/ 317901 h 2665253"/>
              <a:gd name="connsiteX2" fmla="*/ 635802 w 635802"/>
              <a:gd name="connsiteY2" fmla="*/ 2374494 h 2665253"/>
              <a:gd name="connsiteX3" fmla="*/ 0 w 635802"/>
              <a:gd name="connsiteY3" fmla="*/ 2665253 h 2665253"/>
              <a:gd name="connsiteX4" fmla="*/ 0 w 635802"/>
              <a:gd name="connsiteY4" fmla="*/ 317901 h 2665253"/>
              <a:gd name="connsiteX5" fmla="*/ 317901 w 635802"/>
              <a:gd name="connsiteY5" fmla="*/ 0 h 2665253"/>
              <a:gd name="connsiteX6" fmla="*/ 610820 w 635802"/>
              <a:gd name="connsiteY6" fmla="*/ 194160 h 266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802" h="2665253">
                <a:moveTo>
                  <a:pt x="610820" y="194160"/>
                </a:moveTo>
                <a:cubicBezTo>
                  <a:pt x="626906" y="232193"/>
                  <a:pt x="635802" y="274008"/>
                  <a:pt x="635802" y="317901"/>
                </a:cubicBezTo>
                <a:lnTo>
                  <a:pt x="635802" y="2374494"/>
                </a:lnTo>
                <a:lnTo>
                  <a:pt x="0" y="2665253"/>
                </a:lnTo>
                <a:lnTo>
                  <a:pt x="0" y="317901"/>
                </a:lnTo>
                <a:cubicBezTo>
                  <a:pt x="-1" y="142329"/>
                  <a:pt x="142328" y="0"/>
                  <a:pt x="317901" y="0"/>
                </a:cubicBezTo>
                <a:cubicBezTo>
                  <a:pt x="449580" y="0"/>
                  <a:pt x="562559" y="80060"/>
                  <a:pt x="610820" y="194160"/>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 name="Freeform: Shape 20">
            <a:extLst>
              <a:ext uri="{FF2B5EF4-FFF2-40B4-BE49-F238E27FC236}">
                <a16:creationId xmlns:a16="http://schemas.microsoft.com/office/drawing/2014/main" id="{F3335884-C023-4224-A943-917B878BC8D4}"/>
              </a:ext>
            </a:extLst>
          </p:cNvPr>
          <p:cNvSpPr/>
          <p:nvPr/>
        </p:nvSpPr>
        <p:spPr bwMode="auto">
          <a:xfrm>
            <a:off x="4410930" y="0"/>
            <a:ext cx="3165243" cy="1270495"/>
          </a:xfrm>
          <a:custGeom>
            <a:avLst/>
            <a:gdLst>
              <a:gd name="connsiteX0" fmla="*/ 0 w 3165243"/>
              <a:gd name="connsiteY0" fmla="*/ 0 h 1270495"/>
              <a:gd name="connsiteX1" fmla="*/ 1528791 w 3165243"/>
              <a:gd name="connsiteY1" fmla="*/ 0 h 1270495"/>
              <a:gd name="connsiteX2" fmla="*/ 2979476 w 3165243"/>
              <a:gd name="connsiteY2" fmla="*/ 663413 h 1270495"/>
              <a:gd name="connsiteX3" fmla="*/ 3136370 w 3165243"/>
              <a:gd name="connsiteY3" fmla="*/ 1084728 h 1270495"/>
              <a:gd name="connsiteX4" fmla="*/ 2715055 w 3165243"/>
              <a:gd name="connsiteY4" fmla="*/ 1241622 h 1270495"/>
              <a:gd name="connsiteX5" fmla="*/ 0 w 3165243"/>
              <a:gd name="connsiteY5" fmla="*/ 0 h 1270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5243" h="1270495">
                <a:moveTo>
                  <a:pt x="0" y="0"/>
                </a:moveTo>
                <a:lnTo>
                  <a:pt x="1528791" y="0"/>
                </a:lnTo>
                <a:lnTo>
                  <a:pt x="2979476" y="663413"/>
                </a:lnTo>
                <a:cubicBezTo>
                  <a:pt x="3139144" y="736431"/>
                  <a:pt x="3209388" y="925060"/>
                  <a:pt x="3136370" y="1084728"/>
                </a:cubicBezTo>
                <a:cubicBezTo>
                  <a:pt x="3063352" y="1244396"/>
                  <a:pt x="2874723" y="1314640"/>
                  <a:pt x="2715055" y="1241622"/>
                </a:cubicBezTo>
                <a:lnTo>
                  <a:pt x="0" y="0"/>
                </a:ln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6243408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dentity and Access Management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6" name="Graphic 5">
            <a:extLst>
              <a:ext uri="{FF2B5EF4-FFF2-40B4-BE49-F238E27FC236}">
                <a16:creationId xmlns:a16="http://schemas.microsoft.com/office/drawing/2014/main" id="{E8C58369-026C-4974-B869-BE8D4ADCB870}"/>
              </a:ext>
              <a:ext uri="{C183D7F6-B498-43B3-948B-1728B52AA6E4}">
                <adec:decorative xmlns:adec="http://schemas.microsoft.com/office/drawing/2017/decorative" val="1"/>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75" r="-18"/>
          <a:stretch/>
        </p:blipFill>
        <p:spPr bwMode="invGray">
          <a:xfrm>
            <a:off x="7076792" y="0"/>
            <a:ext cx="5115208" cy="6858000"/>
          </a:xfrm>
          <a:prstGeom prst="rect">
            <a:avLst/>
          </a:prstGeom>
        </p:spPr>
      </p:pic>
    </p:spTree>
    <p:extLst>
      <p:ext uri="{BB962C8B-B14F-4D97-AF65-F5344CB8AC3E}">
        <p14:creationId xmlns:p14="http://schemas.microsoft.com/office/powerpoint/2010/main" val="9411110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 Title square photo placehol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861522-4B83-496F-B783-60079A7F201B}"/>
              </a:ext>
            </a:extLst>
          </p:cNvPr>
          <p:cNvSpPr/>
          <p:nvPr/>
        </p:nvSpPr>
        <p:spPr bwMode="auto">
          <a:xfrm>
            <a:off x="5334000" y="0"/>
            <a:ext cx="6858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3" name="Picture 12">
            <a:extLst>
              <a:ext uri="{FF2B5EF4-FFF2-40B4-BE49-F238E27FC236}">
                <a16:creationId xmlns:a16="http://schemas.microsoft.com/office/drawing/2014/main" id="{ED2EF16D-D401-4DD1-BD2B-1417889AD2A5}"/>
              </a:ext>
            </a:extLst>
          </p:cNvPr>
          <p:cNvPicPr>
            <a:picLocks noChangeAspect="1"/>
          </p:cNvPicPr>
          <p:nvPr/>
        </p:nvPicPr>
        <p:blipFill>
          <a:blip r:embed="rId2"/>
          <a:stretch>
            <a:fillRect/>
          </a:stretch>
        </p:blipFill>
        <p:spPr>
          <a:xfrm>
            <a:off x="582043" y="585788"/>
            <a:ext cx="2308795" cy="294139"/>
          </a:xfrm>
          <a:prstGeom prst="rect">
            <a:avLst/>
          </a:prstGeom>
        </p:spPr>
      </p:pic>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1F9ED9A-FBBB-45FF-A5CF-ED4786662DCE}"/>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0354897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quare photo placeholder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8" name="Group 7">
            <a:extLst>
              <a:ext uri="{FF2B5EF4-FFF2-40B4-BE49-F238E27FC236}">
                <a16:creationId xmlns:a16="http://schemas.microsoft.com/office/drawing/2014/main" id="{64913CEA-C43B-4E3B-AE2A-5F44288BCBBB}"/>
              </a:ext>
            </a:extLst>
          </p:cNvPr>
          <p:cNvGrpSpPr/>
          <p:nvPr/>
        </p:nvGrpSpPr>
        <p:grpSpPr bwMode="black">
          <a:xfrm>
            <a:off x="582043" y="585788"/>
            <a:ext cx="2308795" cy="294139"/>
            <a:chOff x="582043" y="585788"/>
            <a:chExt cx="2308795" cy="294139"/>
          </a:xfrm>
        </p:grpSpPr>
        <p:pic>
          <p:nvPicPr>
            <p:cNvPr id="9" name="Picture 8">
              <a:extLst>
                <a:ext uri="{FF2B5EF4-FFF2-40B4-BE49-F238E27FC236}">
                  <a16:creationId xmlns:a16="http://schemas.microsoft.com/office/drawing/2014/main" id="{323B6B2C-935A-48E1-9234-20A9CF488160}"/>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10" name="Picture 9">
              <a:extLst>
                <a:ext uri="{FF2B5EF4-FFF2-40B4-BE49-F238E27FC236}">
                  <a16:creationId xmlns:a16="http://schemas.microsoft.com/office/drawing/2014/main" id="{BB5C68CB-B9DE-4230-A702-903A205A042A}"/>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1" name="Rectangle 10">
            <a:extLst>
              <a:ext uri="{FF2B5EF4-FFF2-40B4-BE49-F238E27FC236}">
                <a16:creationId xmlns:a16="http://schemas.microsoft.com/office/drawing/2014/main" id="{7F05E9DA-E8D1-4172-820D-CEE3065C0EFC}"/>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2A3946FB-3CEF-4A23-BE32-5CA90CBB4988}"/>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6358535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quare photo placeholder Yellow">
    <p:bg>
      <p:bgPr>
        <a:solidFill>
          <a:srgbClr val="FFB9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Picture 2">
            <a:extLst>
              <a:ext uri="{FF2B5EF4-FFF2-40B4-BE49-F238E27FC236}">
                <a16:creationId xmlns:a16="http://schemas.microsoft.com/office/drawing/2014/main" id="{2B7938B8-F298-4772-A6EC-8F59C02C0B8A}"/>
              </a:ext>
            </a:extLst>
          </p:cNvPr>
          <p:cNvPicPr>
            <a:picLocks noChangeAspect="1"/>
          </p:cNvPicPr>
          <p:nvPr/>
        </p:nvPicPr>
        <p:blipFill>
          <a:blip r:embed="rId2"/>
          <a:stretch>
            <a:fillRect/>
          </a:stretch>
        </p:blipFill>
        <p:spPr>
          <a:xfrm>
            <a:off x="581337" y="585788"/>
            <a:ext cx="2308796" cy="294587"/>
          </a:xfrm>
          <a:prstGeom prst="rect">
            <a:avLst/>
          </a:prstGeom>
        </p:spPr>
      </p:pic>
      <p:sp>
        <p:nvSpPr>
          <p:cNvPr id="7" name="Rectangle 6">
            <a:extLst>
              <a:ext uri="{FF2B5EF4-FFF2-40B4-BE49-F238E27FC236}">
                <a16:creationId xmlns:a16="http://schemas.microsoft.com/office/drawing/2014/main" id="{C9B633B0-40F9-4729-84DB-771120F5D70D}"/>
              </a:ext>
            </a:extLst>
          </p:cNvPr>
          <p:cNvSpPr/>
          <p:nvPr/>
        </p:nvSpPr>
        <p:spPr bwMode="auto">
          <a:xfrm>
            <a:off x="5334000" y="0"/>
            <a:ext cx="6858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E0F96359-EC4C-4CE6-BA65-F486272055DA}"/>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02290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quare photo placeholder Green">
    <p:bg>
      <p:bgPr>
        <a:solidFill>
          <a:srgbClr val="107C1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434577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quare Photo placeholder Dk Blu">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7846944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quare photo placeholder Dk Green">
    <p:bg>
      <p:bgPr>
        <a:solidFill>
          <a:srgbClr val="054B1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7297237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1421193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5215637" cy="553998"/>
          </a:xfrm>
        </p:spPr>
        <p:txBody>
          <a:bodyPr/>
          <a:lstStyle>
            <a:lvl1pPr>
              <a:defRPr/>
            </a:lvl1pPr>
          </a:lstStyle>
          <a:p>
            <a:r>
              <a:rPr lang="en-US"/>
              <a:t>Agenda</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0614E108-2258-4959-A182-798030A0C286}"/>
              </a:ext>
            </a:extLst>
          </p:cNvPr>
          <p:cNvSpPr/>
          <p:nvPr/>
        </p:nvSpPr>
        <p:spPr bwMode="auto">
          <a:xfrm>
            <a:off x="6395722" y="0"/>
            <a:ext cx="5796278"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32" name="Group 31">
            <a:extLst>
              <a:ext uri="{FF2B5EF4-FFF2-40B4-BE49-F238E27FC236}">
                <a16:creationId xmlns:a16="http://schemas.microsoft.com/office/drawing/2014/main" id="{22E07E8F-16B4-4F77-8278-6A843F1B9F57}"/>
              </a:ext>
            </a:extLst>
          </p:cNvPr>
          <p:cNvGrpSpPr/>
          <p:nvPr/>
        </p:nvGrpSpPr>
        <p:grpSpPr>
          <a:xfrm rot="16200000">
            <a:off x="7643952" y="2603639"/>
            <a:ext cx="5424211" cy="3084509"/>
            <a:chOff x="6395721" y="4420906"/>
            <a:chExt cx="3250001" cy="1848132"/>
          </a:xfrm>
        </p:grpSpPr>
        <p:sp>
          <p:nvSpPr>
            <p:cNvPr id="27" name="Rectangle: Top Corners Rounded 26">
              <a:extLst>
                <a:ext uri="{FF2B5EF4-FFF2-40B4-BE49-F238E27FC236}">
                  <a16:creationId xmlns:a16="http://schemas.microsoft.com/office/drawing/2014/main" id="{B26B5DC7-3928-4E30-95C7-101CC42758F9}"/>
                </a:ext>
              </a:extLst>
            </p:cNvPr>
            <p:cNvSpPr/>
            <p:nvPr userDrawn="1"/>
          </p:nvSpPr>
          <p:spPr bwMode="auto">
            <a:xfrm rot="5400000">
              <a:off x="6879140" y="3937487"/>
              <a:ext cx="501648" cy="1468485"/>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 name="Oval 24">
              <a:extLst>
                <a:ext uri="{FF2B5EF4-FFF2-40B4-BE49-F238E27FC236}">
                  <a16:creationId xmlns:a16="http://schemas.microsoft.com/office/drawing/2014/main" id="{6F2E0A55-6A95-45A9-9988-FD4377975EAD}"/>
                </a:ext>
              </a:extLst>
            </p:cNvPr>
            <p:cNvSpPr/>
            <p:nvPr userDrawn="1"/>
          </p:nvSpPr>
          <p:spPr bwMode="auto">
            <a:xfrm>
              <a:off x="7407431" y="4471065"/>
              <a:ext cx="401326" cy="401326"/>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8" name="Rectangle: Top Corners Rounded 27">
              <a:extLst>
                <a:ext uri="{FF2B5EF4-FFF2-40B4-BE49-F238E27FC236}">
                  <a16:creationId xmlns:a16="http://schemas.microsoft.com/office/drawing/2014/main" id="{EA3F14D9-33C3-411A-8D84-8E8E15E9381B}"/>
                </a:ext>
              </a:extLst>
            </p:cNvPr>
            <p:cNvSpPr/>
            <p:nvPr userDrawn="1"/>
          </p:nvSpPr>
          <p:spPr bwMode="auto">
            <a:xfrm rot="5400000">
              <a:off x="7246261" y="4243608"/>
              <a:ext cx="501648" cy="2202728"/>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Oval 28">
              <a:extLst>
                <a:ext uri="{FF2B5EF4-FFF2-40B4-BE49-F238E27FC236}">
                  <a16:creationId xmlns:a16="http://schemas.microsoft.com/office/drawing/2014/main" id="{4A285CB0-5ABD-4C59-98FE-F25F8026D321}"/>
                </a:ext>
              </a:extLst>
            </p:cNvPr>
            <p:cNvSpPr/>
            <p:nvPr userDrawn="1"/>
          </p:nvSpPr>
          <p:spPr bwMode="auto">
            <a:xfrm>
              <a:off x="8141673" y="5144307"/>
              <a:ext cx="401326" cy="401326"/>
            </a:xfrm>
            <a:prstGeom prst="ellipse">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 name="Rectangle: Top Corners Rounded 29">
              <a:extLst>
                <a:ext uri="{FF2B5EF4-FFF2-40B4-BE49-F238E27FC236}">
                  <a16:creationId xmlns:a16="http://schemas.microsoft.com/office/drawing/2014/main" id="{6EC31BC0-C04D-4163-9ECB-371CBCE34ADB}"/>
                </a:ext>
              </a:extLst>
            </p:cNvPr>
            <p:cNvSpPr/>
            <p:nvPr userDrawn="1"/>
          </p:nvSpPr>
          <p:spPr bwMode="auto">
            <a:xfrm rot="5400000">
              <a:off x="7769898" y="4393213"/>
              <a:ext cx="501648" cy="3250001"/>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 name="Oval 30">
              <a:extLst>
                <a:ext uri="{FF2B5EF4-FFF2-40B4-BE49-F238E27FC236}">
                  <a16:creationId xmlns:a16="http://schemas.microsoft.com/office/drawing/2014/main" id="{E691BBA6-17F1-4715-BBD9-9570E0AF6EBF}"/>
                </a:ext>
              </a:extLst>
            </p:cNvPr>
            <p:cNvSpPr/>
            <p:nvPr userDrawn="1"/>
          </p:nvSpPr>
          <p:spPr bwMode="auto">
            <a:xfrm>
              <a:off x="9188946" y="5817549"/>
              <a:ext cx="401326" cy="401326"/>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spTree>
    <p:extLst>
      <p:ext uri="{BB962C8B-B14F-4D97-AF65-F5344CB8AC3E}">
        <p14:creationId xmlns:p14="http://schemas.microsoft.com/office/powerpoint/2010/main" val="342314575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B3FA96-19FC-48A6-A985-267EB2138E23}"/>
              </a:ext>
            </a:extLst>
          </p:cNvPr>
          <p:cNvSpPr/>
          <p:nvPr/>
        </p:nvSpPr>
        <p:spPr bwMode="auto">
          <a:xfrm>
            <a:off x="0" y="0"/>
            <a:ext cx="12192000" cy="120898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bg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CCCF4131-8CCF-4171-B985-EAF865CC55EF}"/>
              </a:ext>
            </a:extLst>
          </p:cNvPr>
          <p:cNvGrpSpPr/>
          <p:nvPr/>
        </p:nvGrpSpPr>
        <p:grpSpPr>
          <a:xfrm>
            <a:off x="10798157" y="457199"/>
            <a:ext cx="1100156" cy="564349"/>
            <a:chOff x="9946913" y="171645"/>
            <a:chExt cx="1656824" cy="849904"/>
          </a:xfrm>
        </p:grpSpPr>
        <p:sp>
          <p:nvSpPr>
            <p:cNvPr id="6" name="Graphic 4">
              <a:extLst>
                <a:ext uri="{FF2B5EF4-FFF2-40B4-BE49-F238E27FC236}">
                  <a16:creationId xmlns:a16="http://schemas.microsoft.com/office/drawing/2014/main" id="{494D7464-294F-4164-ACF7-0EDEA0812105}"/>
                </a:ext>
              </a:extLst>
            </p:cNvPr>
            <p:cNvSpPr/>
            <p:nvPr/>
          </p:nvSpPr>
          <p:spPr>
            <a:xfrm>
              <a:off x="994691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5" name="Graphic 4">
              <a:extLst>
                <a:ext uri="{FF2B5EF4-FFF2-40B4-BE49-F238E27FC236}">
                  <a16:creationId xmlns:a16="http://schemas.microsoft.com/office/drawing/2014/main" id="{8773D37F-9426-48AF-9E30-19EA4A3E4F07}"/>
                </a:ext>
              </a:extLst>
            </p:cNvPr>
            <p:cNvSpPr/>
            <p:nvPr userDrawn="1"/>
          </p:nvSpPr>
          <p:spPr>
            <a:xfrm>
              <a:off x="10689786" y="171645"/>
              <a:ext cx="521445"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6" name="Graphic 4">
              <a:extLst>
                <a:ext uri="{FF2B5EF4-FFF2-40B4-BE49-F238E27FC236}">
                  <a16:creationId xmlns:a16="http://schemas.microsoft.com/office/drawing/2014/main" id="{26D5F151-C3B9-4DC3-A552-E8B16BA82E44}"/>
                </a:ext>
              </a:extLst>
            </p:cNvPr>
            <p:cNvSpPr/>
            <p:nvPr userDrawn="1"/>
          </p:nvSpPr>
          <p:spPr>
            <a:xfrm>
              <a:off x="1108229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46080076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6267267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475413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5270980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130186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72919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173789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6852769"/>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802633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485186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417593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193663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08654761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9449830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7860123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6257627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48377205"/>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13668492"/>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12823899"/>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8998106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84899259"/>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1863076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4293893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6082615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1778123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9941116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3520549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2834543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72616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265926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9835857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010725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4238588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0633414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73180029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343249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17611919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61066115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8353268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9395545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yellow">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5384"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6" name="Picture 5">
            <a:extLst>
              <a:ext uri="{FF2B5EF4-FFF2-40B4-BE49-F238E27FC236}">
                <a16:creationId xmlns:a16="http://schemas.microsoft.com/office/drawing/2014/main" id="{DD6A131B-0EEE-4C13-90D1-99AA5B3DC4ED}"/>
              </a:ext>
              <a:ext uri="{C183D7F6-B498-43B3-948B-1728B52AA6E4}">
                <adec:decorative xmlns:adec="http://schemas.microsoft.com/office/drawing/2017/decorative" val="1"/>
              </a:ext>
            </a:extLst>
          </p:cNvPr>
          <p:cNvPicPr>
            <a:picLocks noChangeAspect="1"/>
          </p:cNvPicPr>
          <p:nvPr/>
        </p:nvPicPr>
        <p:blipFill>
          <a:blip r:embed="rId2"/>
          <a:srcRect/>
          <a:stretch/>
        </p:blipFill>
        <p:spPr>
          <a:xfrm>
            <a:off x="584200" y="1201415"/>
            <a:ext cx="2062492" cy="1842493"/>
          </a:xfrm>
          <a:prstGeom prst="rect">
            <a:avLst/>
          </a:prstGeom>
        </p:spPr>
      </p:pic>
    </p:spTree>
    <p:extLst>
      <p:ext uri="{BB962C8B-B14F-4D97-AF65-F5344CB8AC3E}">
        <p14:creationId xmlns:p14="http://schemas.microsoft.com/office/powerpoint/2010/main" val="39182745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gree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16313330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emo slid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9432834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emo slid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926720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emo slid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7592899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Demo slide Dk 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4590865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2_Demo slide Dk Green">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0081101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ection Titl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9753584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Section Title 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4417892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2_Section Title blue">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7376576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ection Titl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3621532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ection Titl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8513656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Section Title Dk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358149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Section Title Dk Green">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1447689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title - Threat dete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1B2F99-8E84-6040-8D67-9859BF2580C4}"/>
              </a:ext>
            </a:extLst>
          </p:cNvPr>
          <p:cNvSpPr/>
          <p:nvPr/>
        </p:nvSpPr>
        <p:spPr bwMode="auto">
          <a:xfrm>
            <a:off x="5270500" y="0"/>
            <a:ext cx="6921500"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5" name="Picture 4">
            <a:extLst>
              <a:ext uri="{FF2B5EF4-FFF2-40B4-BE49-F238E27FC236}">
                <a16:creationId xmlns:a16="http://schemas.microsoft.com/office/drawing/2014/main" id="{57AA630A-F1CE-3240-9874-C76F0B95FC3C}"/>
              </a:ext>
            </a:extLst>
          </p:cNvPr>
          <p:cNvPicPr>
            <a:picLocks noChangeAspect="1"/>
          </p:cNvPicPr>
          <p:nvPr/>
        </p:nvPicPr>
        <p:blipFill>
          <a:blip r:embed="rId2"/>
          <a:stretch>
            <a:fillRect/>
          </a:stretch>
        </p:blipFill>
        <p:spPr>
          <a:xfrm>
            <a:off x="6197533" y="1064712"/>
            <a:ext cx="5024048" cy="4379659"/>
          </a:xfrm>
          <a:prstGeom prst="rect">
            <a:avLst/>
          </a:prstGeom>
        </p:spPr>
      </p:pic>
    </p:spTree>
    <p:extLst>
      <p:ext uri="{BB962C8B-B14F-4D97-AF65-F5344CB8AC3E}">
        <p14:creationId xmlns:p14="http://schemas.microsoft.com/office/powerpoint/2010/main" val="40294109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title - Comprehensive secur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85634B7-7348-3D4C-884C-574DBB5ACD92}"/>
              </a:ext>
            </a:extLst>
          </p:cNvPr>
          <p:cNvSpPr/>
          <p:nvPr/>
        </p:nvSpPr>
        <p:spPr bwMode="auto">
          <a:xfrm>
            <a:off x="5270500" y="0"/>
            <a:ext cx="6921500" cy="6858000"/>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44097A09-7943-5649-B860-0C242F6430E1}"/>
              </a:ext>
            </a:extLst>
          </p:cNvPr>
          <p:cNvPicPr>
            <a:picLocks noChangeAspect="1"/>
          </p:cNvPicPr>
          <p:nvPr/>
        </p:nvPicPr>
        <p:blipFill rotWithShape="1">
          <a:blip r:embed="rId2"/>
          <a:srcRect l="12404" r="9346"/>
          <a:stretch/>
        </p:blipFill>
        <p:spPr>
          <a:xfrm>
            <a:off x="5270501" y="1315232"/>
            <a:ext cx="6921500" cy="4238669"/>
          </a:xfrm>
          <a:prstGeom prst="rect">
            <a:avLst/>
          </a:prstGeom>
        </p:spPr>
      </p:pic>
    </p:spTree>
    <p:extLst>
      <p:ext uri="{BB962C8B-B14F-4D97-AF65-F5344CB8AC3E}">
        <p14:creationId xmlns:p14="http://schemas.microsoft.com/office/powerpoint/2010/main" val="27938918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title - End-to-end security visibilit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E5BB7F-3132-5D4C-AB53-07BD308F7C71}"/>
              </a:ext>
            </a:extLst>
          </p:cNvPr>
          <p:cNvSpPr/>
          <p:nvPr/>
        </p:nvSpPr>
        <p:spPr bwMode="auto">
          <a:xfrm>
            <a:off x="5270500" y="0"/>
            <a:ext cx="6921500" cy="6858000"/>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8" name="Picture 7">
            <a:extLst>
              <a:ext uri="{FF2B5EF4-FFF2-40B4-BE49-F238E27FC236}">
                <a16:creationId xmlns:a16="http://schemas.microsoft.com/office/drawing/2014/main" id="{1AC60BDD-CABB-8B4F-BFDB-1AAA8A20164C}"/>
              </a:ext>
            </a:extLst>
          </p:cNvPr>
          <p:cNvPicPr>
            <a:picLocks noChangeAspect="1"/>
          </p:cNvPicPr>
          <p:nvPr/>
        </p:nvPicPr>
        <p:blipFill rotWithShape="1">
          <a:blip r:embed="rId2"/>
          <a:srcRect l="8828" r="8209"/>
          <a:stretch/>
        </p:blipFill>
        <p:spPr>
          <a:xfrm>
            <a:off x="5270500" y="2322164"/>
            <a:ext cx="6921500" cy="2294285"/>
          </a:xfrm>
          <a:prstGeom prst="rect">
            <a:avLst/>
          </a:prstGeom>
        </p:spPr>
      </p:pic>
    </p:spTree>
    <p:extLst>
      <p:ext uri="{BB962C8B-B14F-4D97-AF65-F5344CB8AC3E}">
        <p14:creationId xmlns:p14="http://schemas.microsoft.com/office/powerpoint/2010/main" val="11205651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title - Risk manag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D46BD20-84B7-474B-8759-CD81E4655A25}"/>
              </a:ext>
            </a:extLst>
          </p:cNvPr>
          <p:cNvSpPr/>
          <p:nvPr/>
        </p:nvSpPr>
        <p:spPr bwMode="auto">
          <a:xfrm>
            <a:off x="5270500" y="0"/>
            <a:ext cx="6921500" cy="6858000"/>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10" name="Picture 9">
            <a:extLst>
              <a:ext uri="{FF2B5EF4-FFF2-40B4-BE49-F238E27FC236}">
                <a16:creationId xmlns:a16="http://schemas.microsoft.com/office/drawing/2014/main" id="{B1DAC3B3-181F-5149-B531-D73282A25D15}"/>
              </a:ext>
            </a:extLst>
          </p:cNvPr>
          <p:cNvPicPr>
            <a:picLocks noChangeAspect="1"/>
          </p:cNvPicPr>
          <p:nvPr/>
        </p:nvPicPr>
        <p:blipFill rotWithShape="1">
          <a:blip r:embed="rId2"/>
          <a:srcRect l="7666" t="4539" r="7270" b="6936"/>
          <a:stretch/>
        </p:blipFill>
        <p:spPr>
          <a:xfrm>
            <a:off x="5270499" y="-1"/>
            <a:ext cx="6921501" cy="6858001"/>
          </a:xfrm>
          <a:prstGeom prst="rect">
            <a:avLst/>
          </a:prstGeom>
        </p:spPr>
      </p:pic>
    </p:spTree>
    <p:extLst>
      <p:ext uri="{BB962C8B-B14F-4D97-AF65-F5344CB8AC3E}">
        <p14:creationId xmlns:p14="http://schemas.microsoft.com/office/powerpoint/2010/main" val="10935667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title - Secure ident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C11EAE-3A22-E84A-8BC8-11A0D824AB2E}"/>
              </a:ext>
            </a:extLst>
          </p:cNvPr>
          <p:cNvSpPr/>
          <p:nvPr/>
        </p:nvSpPr>
        <p:spPr bwMode="auto">
          <a:xfrm>
            <a:off x="5270500" y="0"/>
            <a:ext cx="69215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F1130DED-49F2-7F4A-A1D8-D5BEF2F4F110}"/>
              </a:ext>
            </a:extLst>
          </p:cNvPr>
          <p:cNvPicPr>
            <a:picLocks noChangeAspect="1"/>
          </p:cNvPicPr>
          <p:nvPr/>
        </p:nvPicPr>
        <p:blipFill>
          <a:blip r:embed="rId2"/>
          <a:stretch>
            <a:fillRect/>
          </a:stretch>
        </p:blipFill>
        <p:spPr>
          <a:xfrm>
            <a:off x="5692066" y="901699"/>
            <a:ext cx="6245934" cy="4735013"/>
          </a:xfrm>
          <a:prstGeom prst="rect">
            <a:avLst/>
          </a:prstGeom>
        </p:spPr>
      </p:pic>
    </p:spTree>
    <p:extLst>
      <p:ext uri="{BB962C8B-B14F-4D97-AF65-F5344CB8AC3E}">
        <p14:creationId xmlns:p14="http://schemas.microsoft.com/office/powerpoint/2010/main" val="15868152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title - Risk mitiga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0D265D-AA9F-1B4D-9271-7954CC4C5428}"/>
              </a:ext>
            </a:extLst>
          </p:cNvPr>
          <p:cNvSpPr/>
          <p:nvPr/>
        </p:nvSpPr>
        <p:spPr bwMode="auto">
          <a:xfrm>
            <a:off x="5270500" y="0"/>
            <a:ext cx="6921500" cy="6858000"/>
          </a:xfrm>
          <a:prstGeom prst="rect">
            <a:avLst/>
          </a:prstGeom>
          <a:solidFill>
            <a:srgbClr val="054B1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7" name="Graphic 6">
            <a:extLst>
              <a:ext uri="{FF2B5EF4-FFF2-40B4-BE49-F238E27FC236}">
                <a16:creationId xmlns:a16="http://schemas.microsoft.com/office/drawing/2014/main" id="{B55BBCEC-22DB-8F44-AC0C-CED390E2A83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25916641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163253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Blank 2">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744072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hank you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Thank you</a:t>
            </a:r>
          </a:p>
        </p:txBody>
      </p:sp>
    </p:spTree>
    <p:extLst>
      <p:ext uri="{BB962C8B-B14F-4D97-AF65-F5344CB8AC3E}">
        <p14:creationId xmlns:p14="http://schemas.microsoft.com/office/powerpoint/2010/main" val="30242777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hank you phot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5" y="3035808"/>
            <a:ext cx="3948683"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Thank you</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C1D8EF4-A5A1-4D2B-9918-9B027853453F}"/>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9800124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2DB3C5CC-AE72-496D-8E0F-9DEC4A52D5F7}"/>
              </a:ext>
            </a:extLst>
          </p:cNvPr>
          <p:cNvPicPr>
            <a:picLocks noChangeAspect="1"/>
          </p:cNvPicPr>
          <p:nvPr/>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318930089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62576988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83"/>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44168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DDC83-483C-F9D3-D768-9A301798EEB6}"/>
              </a:ext>
            </a:extLst>
          </p:cNvPr>
          <p:cNvSpPr>
            <a:spLocks noGrp="1"/>
          </p:cNvSpPr>
          <p:nvPr>
            <p:ph type="title"/>
          </p:nvPr>
        </p:nvSpPr>
        <p:spPr>
          <a:xfrm>
            <a:off x="584200" y="2425780"/>
            <a:ext cx="6492240" cy="1107996"/>
          </a:xfrm>
        </p:spPr>
        <p:txBody>
          <a:bodyPr/>
          <a:lstStyle/>
          <a:p>
            <a:r>
              <a:rPr lang="en-US"/>
              <a:t>Persistence via Managed Identities and Service Principals</a:t>
            </a:r>
          </a:p>
        </p:txBody>
      </p:sp>
      <p:sp>
        <p:nvSpPr>
          <p:cNvPr id="3" name="Text Placeholder 2">
            <a:extLst>
              <a:ext uri="{FF2B5EF4-FFF2-40B4-BE49-F238E27FC236}">
                <a16:creationId xmlns:a16="http://schemas.microsoft.com/office/drawing/2014/main" id="{8FE2316D-6337-7856-5A54-3A4DC06F6CAA}"/>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042611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A3067-BAFD-0833-3173-B6C2F01810A1}"/>
              </a:ext>
            </a:extLst>
          </p:cNvPr>
          <p:cNvSpPr>
            <a:spLocks noGrp="1"/>
          </p:cNvSpPr>
          <p:nvPr>
            <p:ph type="title"/>
          </p:nvPr>
        </p:nvSpPr>
        <p:spPr/>
        <p:txBody>
          <a:bodyPr/>
          <a:lstStyle/>
          <a:p>
            <a:r>
              <a:rPr lang="en-US"/>
              <a:t>Agenda</a:t>
            </a:r>
          </a:p>
        </p:txBody>
      </p:sp>
      <p:sp>
        <p:nvSpPr>
          <p:cNvPr id="3" name="Text Placeholder 2">
            <a:extLst>
              <a:ext uri="{FF2B5EF4-FFF2-40B4-BE49-F238E27FC236}">
                <a16:creationId xmlns:a16="http://schemas.microsoft.com/office/drawing/2014/main" id="{77F3B5A4-C6A1-7C60-1BE4-F7D6D027A34F}"/>
              </a:ext>
            </a:extLst>
          </p:cNvPr>
          <p:cNvSpPr>
            <a:spLocks noGrp="1"/>
          </p:cNvSpPr>
          <p:nvPr>
            <p:ph type="body" sz="quarter" idx="10"/>
          </p:nvPr>
        </p:nvSpPr>
        <p:spPr/>
        <p:txBody>
          <a:bodyPr>
            <a:noAutofit/>
          </a:bodyPr>
          <a:lstStyle/>
          <a:p>
            <a:pPr>
              <a:lnSpc>
                <a:spcPct val="115000"/>
              </a:lnSpc>
              <a:spcBef>
                <a:spcPts val="600"/>
              </a:spcBef>
            </a:pPr>
            <a:r>
              <a:rPr lang="en-US" sz="2000"/>
              <a:t>Module Objective and MITRE ATT&amp;CK Mapping</a:t>
            </a:r>
          </a:p>
          <a:p>
            <a:pPr>
              <a:lnSpc>
                <a:spcPct val="115000"/>
              </a:lnSpc>
              <a:spcBef>
                <a:spcPts val="600"/>
              </a:spcBef>
            </a:pPr>
            <a:r>
              <a:rPr lang="en-US" sz="2000"/>
              <a:t>Three Persistence Techniques Overview</a:t>
            </a:r>
          </a:p>
          <a:p>
            <a:pPr>
              <a:lnSpc>
                <a:spcPct val="115000"/>
              </a:lnSpc>
              <a:spcBef>
                <a:spcPts val="600"/>
              </a:spcBef>
            </a:pPr>
            <a:r>
              <a:rPr lang="en-US" sz="2000"/>
              <a:t>Technique 1: Service Principal Credential Backdoor</a:t>
            </a:r>
          </a:p>
          <a:p>
            <a:pPr>
              <a:lnSpc>
                <a:spcPct val="115000"/>
              </a:lnSpc>
              <a:spcBef>
                <a:spcPts val="600"/>
              </a:spcBef>
            </a:pPr>
            <a:r>
              <a:rPr lang="en-US" sz="2000"/>
              <a:t>Technique 2: Backdoor SP Creation</a:t>
            </a:r>
          </a:p>
          <a:p>
            <a:pPr>
              <a:lnSpc>
                <a:spcPct val="115000"/>
              </a:lnSpc>
              <a:spcBef>
                <a:spcPts val="600"/>
              </a:spcBef>
            </a:pPr>
            <a:r>
              <a:rPr lang="en-US" sz="2000"/>
              <a:t>Technique 3: Managed Identity Token Theft</a:t>
            </a:r>
          </a:p>
          <a:p>
            <a:pPr>
              <a:lnSpc>
                <a:spcPct val="115000"/>
              </a:lnSpc>
              <a:spcBef>
                <a:spcPts val="600"/>
              </a:spcBef>
            </a:pPr>
            <a:r>
              <a:rPr lang="en-US" sz="2000"/>
              <a:t>Detection: AADServicePrincipalSignInLogs Key Fields</a:t>
            </a:r>
          </a:p>
        </p:txBody>
      </p:sp>
    </p:spTree>
    <p:extLst>
      <p:ext uri="{BB962C8B-B14F-4D97-AF65-F5344CB8AC3E}">
        <p14:creationId xmlns:p14="http://schemas.microsoft.com/office/powerpoint/2010/main" val="99508141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4C3C6-E963-C6DC-7BAA-EA3AF9AA2FA2}"/>
              </a:ext>
            </a:extLst>
          </p:cNvPr>
          <p:cNvSpPr>
            <a:spLocks noGrp="1"/>
          </p:cNvSpPr>
          <p:nvPr>
            <p:ph type="title"/>
          </p:nvPr>
        </p:nvSpPr>
        <p:spPr/>
        <p:txBody>
          <a:bodyPr/>
          <a:lstStyle/>
          <a:p>
            <a:r>
              <a:rPr lang="en-US"/>
              <a:t>Agenda (cont. 2)</a:t>
            </a:r>
          </a:p>
        </p:txBody>
      </p:sp>
      <p:sp>
        <p:nvSpPr>
          <p:cNvPr id="3" name="Text Placeholder 2">
            <a:extLst>
              <a:ext uri="{FF2B5EF4-FFF2-40B4-BE49-F238E27FC236}">
                <a16:creationId xmlns:a16="http://schemas.microsoft.com/office/drawing/2014/main" id="{FF45453E-9F21-D09D-858C-4456EE405EED}"/>
              </a:ext>
            </a:extLst>
          </p:cNvPr>
          <p:cNvSpPr>
            <a:spLocks noGrp="1"/>
          </p:cNvSpPr>
          <p:nvPr>
            <p:ph type="body" sz="quarter" idx="10"/>
          </p:nvPr>
        </p:nvSpPr>
        <p:spPr/>
        <p:txBody>
          <a:bodyPr>
            <a:noAutofit/>
          </a:bodyPr>
          <a:lstStyle/>
          <a:p>
            <a:pPr>
              <a:lnSpc>
                <a:spcPct val="115000"/>
              </a:lnSpc>
              <a:spcBef>
                <a:spcPts val="600"/>
              </a:spcBef>
            </a:pPr>
            <a:r>
              <a:rPr lang="en-US" sz="2000"/>
              <a:t>Kusto Query Language (KQL) Detection Queries</a:t>
            </a:r>
          </a:p>
          <a:p>
            <a:pPr>
              <a:lnSpc>
                <a:spcPct val="115000"/>
              </a:lnSpc>
              <a:spcBef>
                <a:spcPts val="600"/>
              </a:spcBef>
            </a:pPr>
            <a:r>
              <a:rPr lang="en-US" sz="2000"/>
              <a:t>Detection Coverage Map</a:t>
            </a:r>
          </a:p>
          <a:p>
            <a:pPr>
              <a:lnSpc>
                <a:spcPct val="115000"/>
              </a:lnSpc>
              <a:spcBef>
                <a:spcPts val="600"/>
              </a:spcBef>
            </a:pPr>
            <a:r>
              <a:rPr lang="en-US" sz="2000"/>
              <a:t>Incident Response</a:t>
            </a:r>
          </a:p>
          <a:p>
            <a:pPr>
              <a:lnSpc>
                <a:spcPct val="115000"/>
              </a:lnSpc>
              <a:spcBef>
                <a:spcPts val="600"/>
              </a:spcBef>
            </a:pPr>
            <a:r>
              <a:rPr lang="en-US" sz="2000"/>
              <a:t>Hardening Controls</a:t>
            </a:r>
          </a:p>
        </p:txBody>
      </p:sp>
    </p:spTree>
    <p:extLst>
      <p:ext uri="{BB962C8B-B14F-4D97-AF65-F5344CB8AC3E}">
        <p14:creationId xmlns:p14="http://schemas.microsoft.com/office/powerpoint/2010/main" val="102122262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2A31B-CB0D-BCDE-F69C-D1C4DA15C354}"/>
              </a:ext>
            </a:extLst>
          </p:cNvPr>
          <p:cNvSpPr>
            <a:spLocks noGrp="1"/>
          </p:cNvSpPr>
          <p:nvPr>
            <p:ph type="title"/>
          </p:nvPr>
        </p:nvSpPr>
        <p:spPr/>
        <p:txBody>
          <a:bodyPr/>
          <a:lstStyle/>
          <a:p>
            <a:r>
              <a:rPr lang="en-US"/>
              <a:t>Objective and MITRE Mapping</a:t>
            </a:r>
          </a:p>
        </p:txBody>
      </p:sp>
      <p:graphicFrame>
        <p:nvGraphicFramePr>
          <p:cNvPr id="4" name="Content Placeholder 3">
            <a:extLst>
              <a:ext uri="{FF2B5EF4-FFF2-40B4-BE49-F238E27FC236}">
                <a16:creationId xmlns:a16="http://schemas.microsoft.com/office/drawing/2014/main" id="{4BB4CF9F-D7CF-7573-0960-FC84EC70D5E9}"/>
              </a:ext>
            </a:extLst>
          </p:cNvPr>
          <p:cNvGraphicFramePr>
            <a:graphicFrameLocks noGrp="1"/>
          </p:cNvGraphicFramePr>
          <p:nvPr>
            <p:ph sz="quarter" idx="10"/>
            <p:extLst>
              <p:ext uri="{D42A27DB-BD31-4B8C-83A1-F6EECF244321}">
                <p14:modId xmlns:p14="http://schemas.microsoft.com/office/powerpoint/2010/main" val="836700791"/>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854870834"/>
                    </a:ext>
                  </a:extLst>
                </a:gridCol>
                <a:gridCol w="3810000">
                  <a:extLst>
                    <a:ext uri="{9D8B030D-6E8A-4147-A177-3AD203B41FA5}">
                      <a16:colId xmlns:a16="http://schemas.microsoft.com/office/drawing/2014/main" val="1311043113"/>
                    </a:ext>
                  </a:extLst>
                </a:gridCol>
                <a:gridCol w="3810000">
                  <a:extLst>
                    <a:ext uri="{9D8B030D-6E8A-4147-A177-3AD203B41FA5}">
                      <a16:colId xmlns:a16="http://schemas.microsoft.com/office/drawing/2014/main" val="2233374141"/>
                    </a:ext>
                  </a:extLst>
                </a:gridCol>
              </a:tblGrid>
              <a:tr h="977900">
                <a:tc>
                  <a:txBody>
                    <a:bodyPr/>
                    <a:lstStyle/>
                    <a:p>
                      <a:r>
                        <a:rPr lang="en-US" sz="1400" b="1"/>
                        <a:t>Technique</a:t>
                      </a:r>
                    </a:p>
                  </a:txBody>
                  <a:tcPr/>
                </a:tc>
                <a:tc>
                  <a:txBody>
                    <a:bodyPr/>
                    <a:lstStyle/>
                    <a:p>
                      <a:r>
                        <a:rPr lang="en-US" sz="1400" b="1"/>
                        <a:t>ID</a:t>
                      </a:r>
                    </a:p>
                  </a:txBody>
                  <a:tcPr/>
                </a:tc>
                <a:tc>
                  <a:txBody>
                    <a:bodyPr/>
                    <a:lstStyle/>
                    <a:p>
                      <a:r>
                        <a:rPr lang="en-US" sz="1400" b="1"/>
                        <a:t>Tactic</a:t>
                      </a:r>
                    </a:p>
                  </a:txBody>
                  <a:tcPr/>
                </a:tc>
                <a:extLst>
                  <a:ext uri="{0D108BD9-81ED-4DB2-BD59-A6C34878D82A}">
                    <a16:rowId xmlns:a16="http://schemas.microsoft.com/office/drawing/2014/main" val="2951278164"/>
                  </a:ext>
                </a:extLst>
              </a:tr>
              <a:tr h="977900">
                <a:tc>
                  <a:txBody>
                    <a:bodyPr/>
                    <a:lstStyle/>
                    <a:p>
                      <a:r>
                        <a:rPr lang="en-US" sz="1400"/>
                        <a:t>Additional Cloud Credentials</a:t>
                      </a:r>
                    </a:p>
                  </a:txBody>
                  <a:tcPr/>
                </a:tc>
                <a:tc>
                  <a:txBody>
                    <a:bodyPr/>
                    <a:lstStyle/>
                    <a:p>
                      <a:r>
                        <a:rPr lang="en-US" sz="1400"/>
                        <a:t>T1098.001</a:t>
                      </a:r>
                    </a:p>
                  </a:txBody>
                  <a:tcPr/>
                </a:tc>
                <a:tc>
                  <a:txBody>
                    <a:bodyPr/>
                    <a:lstStyle/>
                    <a:p>
                      <a:r>
                        <a:rPr lang="en-US" sz="1400"/>
                        <a:t>Persistence</a:t>
                      </a:r>
                    </a:p>
                  </a:txBody>
                  <a:tcPr/>
                </a:tc>
                <a:extLst>
                  <a:ext uri="{0D108BD9-81ED-4DB2-BD59-A6C34878D82A}">
                    <a16:rowId xmlns:a16="http://schemas.microsoft.com/office/drawing/2014/main" val="2748384365"/>
                  </a:ext>
                </a:extLst>
              </a:tr>
              <a:tr h="977900">
                <a:tc>
                  <a:txBody>
                    <a:bodyPr/>
                    <a:lstStyle/>
                    <a:p>
                      <a:r>
                        <a:rPr lang="en-US" sz="1400"/>
                        <a:t>Create Account: Cloud Account</a:t>
                      </a:r>
                    </a:p>
                  </a:txBody>
                  <a:tcPr/>
                </a:tc>
                <a:tc>
                  <a:txBody>
                    <a:bodyPr/>
                    <a:lstStyle/>
                    <a:p>
                      <a:r>
                        <a:rPr lang="en-US" sz="1400"/>
                        <a:t>T1136.003</a:t>
                      </a:r>
                    </a:p>
                  </a:txBody>
                  <a:tcPr/>
                </a:tc>
                <a:tc>
                  <a:txBody>
                    <a:bodyPr/>
                    <a:lstStyle/>
                    <a:p>
                      <a:r>
                        <a:rPr lang="en-US" sz="1400"/>
                        <a:t>Persistence</a:t>
                      </a:r>
                    </a:p>
                  </a:txBody>
                  <a:tcPr/>
                </a:tc>
                <a:extLst>
                  <a:ext uri="{0D108BD9-81ED-4DB2-BD59-A6C34878D82A}">
                    <a16:rowId xmlns:a16="http://schemas.microsoft.com/office/drawing/2014/main" val="3787227423"/>
                  </a:ext>
                </a:extLst>
              </a:tr>
              <a:tr h="977900">
                <a:tc>
                  <a:txBody>
                    <a:bodyPr/>
                    <a:lstStyle/>
                    <a:p>
                      <a:r>
                        <a:rPr lang="en-US" sz="1400"/>
                        <a:t>Valid Accounts: Cloud Accounts</a:t>
                      </a:r>
                    </a:p>
                  </a:txBody>
                  <a:tcPr/>
                </a:tc>
                <a:tc>
                  <a:txBody>
                    <a:bodyPr/>
                    <a:lstStyle/>
                    <a:p>
                      <a:r>
                        <a:rPr lang="en-US" sz="1400"/>
                        <a:t>T1078.004</a:t>
                      </a:r>
                    </a:p>
                  </a:txBody>
                  <a:tcPr/>
                </a:tc>
                <a:tc>
                  <a:txBody>
                    <a:bodyPr/>
                    <a:lstStyle/>
                    <a:p>
                      <a:r>
                        <a:rPr lang="en-US" sz="1400"/>
                        <a:t>Defense Evasion, Persistence</a:t>
                      </a:r>
                    </a:p>
                  </a:txBody>
                  <a:tcPr/>
                </a:tc>
                <a:extLst>
                  <a:ext uri="{0D108BD9-81ED-4DB2-BD59-A6C34878D82A}">
                    <a16:rowId xmlns:a16="http://schemas.microsoft.com/office/drawing/2014/main" val="3185260900"/>
                  </a:ext>
                </a:extLst>
              </a:tr>
              <a:tr h="977900">
                <a:tc>
                  <a:txBody>
                    <a:bodyPr/>
                    <a:lstStyle/>
                    <a:p>
                      <a:r>
                        <a:rPr lang="en-US" sz="1400"/>
                        <a:t>Trusted Relationship</a:t>
                      </a:r>
                    </a:p>
                  </a:txBody>
                  <a:tcPr/>
                </a:tc>
                <a:tc>
                  <a:txBody>
                    <a:bodyPr/>
                    <a:lstStyle/>
                    <a:p>
                      <a:r>
                        <a:rPr lang="en-US" sz="1400"/>
                        <a:t>T1199</a:t>
                      </a:r>
                    </a:p>
                  </a:txBody>
                  <a:tcPr/>
                </a:tc>
                <a:tc>
                  <a:txBody>
                    <a:bodyPr/>
                    <a:lstStyle/>
                    <a:p>
                      <a:r>
                        <a:rPr lang="en-US" sz="1400"/>
                        <a:t>Initial Access</a:t>
                      </a:r>
                    </a:p>
                  </a:txBody>
                  <a:tcPr/>
                </a:tc>
                <a:extLst>
                  <a:ext uri="{0D108BD9-81ED-4DB2-BD59-A6C34878D82A}">
                    <a16:rowId xmlns:a16="http://schemas.microsoft.com/office/drawing/2014/main" val="1827754344"/>
                  </a:ext>
                </a:extLst>
              </a:tr>
            </a:tbl>
          </a:graphicData>
        </a:graphic>
      </p:graphicFrame>
    </p:spTree>
    <p:extLst>
      <p:ext uri="{BB962C8B-B14F-4D97-AF65-F5344CB8AC3E}">
        <p14:creationId xmlns:p14="http://schemas.microsoft.com/office/powerpoint/2010/main" val="360652495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47EFC-7BE7-2C5A-0F35-5C0359F499BE}"/>
              </a:ext>
            </a:extLst>
          </p:cNvPr>
          <p:cNvSpPr>
            <a:spLocks noGrp="1"/>
          </p:cNvSpPr>
          <p:nvPr>
            <p:ph type="title"/>
          </p:nvPr>
        </p:nvSpPr>
        <p:spPr/>
        <p:txBody>
          <a:bodyPr/>
          <a:lstStyle/>
          <a:p>
            <a:r>
              <a:rPr lang="en-US"/>
              <a:t>Objective and MITRE Mapping (cont.)</a:t>
            </a:r>
          </a:p>
        </p:txBody>
      </p:sp>
      <p:sp>
        <p:nvSpPr>
          <p:cNvPr id="3" name="Content Placeholder 2">
            <a:extLst>
              <a:ext uri="{FF2B5EF4-FFF2-40B4-BE49-F238E27FC236}">
                <a16:creationId xmlns:a16="http://schemas.microsoft.com/office/drawing/2014/main" id="{594D5B2E-FCAA-B3C7-DA28-65B542244BFC}"/>
              </a:ext>
            </a:extLst>
          </p:cNvPr>
          <p:cNvSpPr>
            <a:spLocks noGrp="1"/>
          </p:cNvSpPr>
          <p:nvPr>
            <p:ph sz="quarter" idx="10"/>
          </p:nvPr>
        </p:nvSpPr>
        <p:spPr/>
        <p:txBody>
          <a:bodyPr>
            <a:noAutofit/>
          </a:bodyPr>
          <a:lstStyle/>
          <a:p>
            <a:pPr>
              <a:lnSpc>
                <a:spcPct val="115000"/>
              </a:lnSpc>
              <a:spcBef>
                <a:spcPts val="600"/>
              </a:spcBef>
            </a:pPr>
            <a:r>
              <a:rPr lang="en-US" sz="1600"/>
              <a:t>Objective: Hunt for attacker persistence via service principal credentials, federated identity credentials, and managed identity abuse. Detect unauthorized credential additions, first-time SP sign-ins, and managed identity token theft.</a:t>
            </a:r>
          </a:p>
        </p:txBody>
      </p:sp>
    </p:spTree>
    <p:extLst>
      <p:ext uri="{BB962C8B-B14F-4D97-AF65-F5344CB8AC3E}">
        <p14:creationId xmlns:p14="http://schemas.microsoft.com/office/powerpoint/2010/main" val="311153544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8CDF0-FF1B-9E63-0DF7-91003D73BADA}"/>
              </a:ext>
            </a:extLst>
          </p:cNvPr>
          <p:cNvSpPr>
            <a:spLocks noGrp="1"/>
          </p:cNvSpPr>
          <p:nvPr>
            <p:ph type="title"/>
          </p:nvPr>
        </p:nvSpPr>
        <p:spPr/>
        <p:txBody>
          <a:bodyPr/>
          <a:lstStyle/>
          <a:p>
            <a:r>
              <a:rPr lang="en-US"/>
              <a:t>Three Persistence Techniques</a:t>
            </a:r>
          </a:p>
        </p:txBody>
      </p:sp>
      <p:graphicFrame>
        <p:nvGraphicFramePr>
          <p:cNvPr id="5" name="Content Placeholder 4">
            <a:extLst>
              <a:ext uri="{FF2B5EF4-FFF2-40B4-BE49-F238E27FC236}">
                <a16:creationId xmlns:a16="http://schemas.microsoft.com/office/drawing/2014/main" id="{35A06BA5-35AB-F50A-A3CF-0BE158F2F81F}"/>
              </a:ext>
            </a:extLst>
          </p:cNvPr>
          <p:cNvGraphicFramePr>
            <a:graphicFrameLocks noGrp="1"/>
          </p:cNvGraphicFramePr>
          <p:nvPr>
            <p:ph sz="quarter" idx="10"/>
            <p:extLst>
              <p:ext uri="{D42A27DB-BD31-4B8C-83A1-F6EECF244321}">
                <p14:modId xmlns:p14="http://schemas.microsoft.com/office/powerpoint/2010/main" val="415910754"/>
              </p:ext>
            </p:extLst>
          </p:nvPr>
        </p:nvGraphicFramePr>
        <p:xfrm>
          <a:off x="381000" y="1989097"/>
          <a:ext cx="11430000" cy="4513302"/>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146118476"/>
                    </a:ext>
                  </a:extLst>
                </a:gridCol>
                <a:gridCol w="2857500">
                  <a:extLst>
                    <a:ext uri="{9D8B030D-6E8A-4147-A177-3AD203B41FA5}">
                      <a16:colId xmlns:a16="http://schemas.microsoft.com/office/drawing/2014/main" val="971296357"/>
                    </a:ext>
                  </a:extLst>
                </a:gridCol>
                <a:gridCol w="2857500">
                  <a:extLst>
                    <a:ext uri="{9D8B030D-6E8A-4147-A177-3AD203B41FA5}">
                      <a16:colId xmlns:a16="http://schemas.microsoft.com/office/drawing/2014/main" val="3858037633"/>
                    </a:ext>
                  </a:extLst>
                </a:gridCol>
                <a:gridCol w="2857500">
                  <a:extLst>
                    <a:ext uri="{9D8B030D-6E8A-4147-A177-3AD203B41FA5}">
                      <a16:colId xmlns:a16="http://schemas.microsoft.com/office/drawing/2014/main" val="1288588827"/>
                    </a:ext>
                  </a:extLst>
                </a:gridCol>
              </a:tblGrid>
              <a:tr h="1128326">
                <a:tc>
                  <a:txBody>
                    <a:bodyPr/>
                    <a:lstStyle/>
                    <a:p>
                      <a:r>
                        <a:rPr lang="en-US" sz="1400" b="1"/>
                        <a:t>Technique</a:t>
                      </a:r>
                    </a:p>
                  </a:txBody>
                  <a:tcPr/>
                </a:tc>
                <a:tc>
                  <a:txBody>
                    <a:bodyPr/>
                    <a:lstStyle/>
                    <a:p>
                      <a:r>
                        <a:rPr lang="en-US" sz="1400" b="1"/>
                        <a:t>What Attacker Does</a:t>
                      </a:r>
                    </a:p>
                  </a:txBody>
                  <a:tcPr/>
                </a:tc>
                <a:tc>
                  <a:txBody>
                    <a:bodyPr/>
                    <a:lstStyle/>
                    <a:p>
                      <a:r>
                        <a:rPr lang="en-US" sz="1400" b="1"/>
                        <a:t>Survives Password Reset?</a:t>
                      </a:r>
                    </a:p>
                  </a:txBody>
                  <a:tcPr/>
                </a:tc>
                <a:tc>
                  <a:txBody>
                    <a:bodyPr/>
                    <a:lstStyle/>
                    <a:p>
                      <a:r>
                        <a:rPr lang="en-US" sz="1400" b="1"/>
                        <a:t>Detection Table</a:t>
                      </a:r>
                    </a:p>
                  </a:txBody>
                  <a:tcPr/>
                </a:tc>
                <a:extLst>
                  <a:ext uri="{0D108BD9-81ED-4DB2-BD59-A6C34878D82A}">
                    <a16:rowId xmlns:a16="http://schemas.microsoft.com/office/drawing/2014/main" val="1083600544"/>
                  </a:ext>
                </a:extLst>
              </a:tr>
              <a:tr h="1128326">
                <a:tc>
                  <a:txBody>
                    <a:bodyPr/>
                    <a:lstStyle/>
                    <a:p>
                      <a:r>
                        <a:rPr lang="en-US" sz="1400"/>
                        <a:t>SP Credential Addition</a:t>
                      </a:r>
                    </a:p>
                  </a:txBody>
                  <a:tcPr/>
                </a:tc>
                <a:tc>
                  <a:txBody>
                    <a:bodyPr/>
                    <a:lstStyle/>
                    <a:p>
                      <a:r>
                        <a:rPr lang="en-US" sz="1400"/>
                        <a:t>Adds client secret or certificate to existing app</a:t>
                      </a:r>
                    </a:p>
                  </a:txBody>
                  <a:tcPr/>
                </a:tc>
                <a:tc>
                  <a:txBody>
                    <a:bodyPr/>
                    <a:lstStyle/>
                    <a:p>
                      <a:r>
                        <a:rPr lang="en-US" sz="1400"/>
                        <a:t>Yes - SP credentials are independent of user passwords</a:t>
                      </a:r>
                    </a:p>
                  </a:txBody>
                  <a:tcPr/>
                </a:tc>
                <a:tc>
                  <a:txBody>
                    <a:bodyPr/>
                    <a:lstStyle/>
                    <a:p>
                      <a:r>
                        <a:rPr lang="en-US" sz="1400"/>
                        <a:t>AuditLogs</a:t>
                      </a:r>
                    </a:p>
                  </a:txBody>
                  <a:tcPr/>
                </a:tc>
                <a:extLst>
                  <a:ext uri="{0D108BD9-81ED-4DB2-BD59-A6C34878D82A}">
                    <a16:rowId xmlns:a16="http://schemas.microsoft.com/office/drawing/2014/main" val="3128708829"/>
                  </a:ext>
                </a:extLst>
              </a:tr>
              <a:tr h="1128326">
                <a:tc>
                  <a:txBody>
                    <a:bodyPr/>
                    <a:lstStyle/>
                    <a:p>
                      <a:r>
                        <a:rPr lang="en-US" sz="1400"/>
                        <a:t>Backdoor SP Creation</a:t>
                      </a:r>
                    </a:p>
                  </a:txBody>
                  <a:tcPr/>
                </a:tc>
                <a:tc>
                  <a:txBody>
                    <a:bodyPr/>
                    <a:lstStyle/>
                    <a:p>
                      <a:r>
                        <a:rPr lang="en-US" sz="1400"/>
                        <a:t>Creates new app registration disguised as legitimate</a:t>
                      </a:r>
                    </a:p>
                  </a:txBody>
                  <a:tcPr/>
                </a:tc>
                <a:tc>
                  <a:txBody>
                    <a:bodyPr/>
                    <a:lstStyle/>
                    <a:p>
                      <a:r>
                        <a:rPr lang="en-US" sz="1400"/>
                        <a:t>Yes - entirely separate identity</a:t>
                      </a:r>
                    </a:p>
                  </a:txBody>
                  <a:tcPr/>
                </a:tc>
                <a:tc>
                  <a:txBody>
                    <a:bodyPr/>
                    <a:lstStyle/>
                    <a:p>
                      <a:r>
                        <a:rPr lang="en-US" sz="1400"/>
                        <a:t>AuditLogs</a:t>
                      </a:r>
                    </a:p>
                  </a:txBody>
                  <a:tcPr/>
                </a:tc>
                <a:extLst>
                  <a:ext uri="{0D108BD9-81ED-4DB2-BD59-A6C34878D82A}">
                    <a16:rowId xmlns:a16="http://schemas.microsoft.com/office/drawing/2014/main" val="214461355"/>
                  </a:ext>
                </a:extLst>
              </a:tr>
              <a:tr h="1128326">
                <a:tc>
                  <a:txBody>
                    <a:bodyPr/>
                    <a:lstStyle/>
                    <a:p>
                      <a:r>
                        <a:rPr lang="en-US" sz="1400"/>
                        <a:t>Managed Identity Token Theft</a:t>
                      </a:r>
                    </a:p>
                  </a:txBody>
                  <a:tcPr/>
                </a:tc>
                <a:tc>
                  <a:txBody>
                    <a:bodyPr/>
                    <a:lstStyle/>
                    <a:p>
                      <a:r>
                        <a:rPr lang="en-US" sz="1400"/>
                        <a:t>Queries IDENTITY_ENDPOINT on compromised resource</a:t>
                      </a:r>
                    </a:p>
                  </a:txBody>
                  <a:tcPr/>
                </a:tc>
                <a:tc>
                  <a:txBody>
                    <a:bodyPr/>
                    <a:lstStyle/>
                    <a:p>
                      <a:r>
                        <a:rPr lang="en-US" sz="1400"/>
                        <a:t>N/A - uses resource's built-in identity</a:t>
                      </a:r>
                    </a:p>
                  </a:txBody>
                  <a:tcPr/>
                </a:tc>
                <a:tc>
                  <a:txBody>
                    <a:bodyPr/>
                    <a:lstStyle/>
                    <a:p>
                      <a:r>
                        <a:rPr lang="en-US" sz="1400"/>
                        <a:t>AADManagedIdentitySignInLogs</a:t>
                      </a:r>
                    </a:p>
                  </a:txBody>
                  <a:tcPr/>
                </a:tc>
                <a:extLst>
                  <a:ext uri="{0D108BD9-81ED-4DB2-BD59-A6C34878D82A}">
                    <a16:rowId xmlns:a16="http://schemas.microsoft.com/office/drawing/2014/main" val="4035559949"/>
                  </a:ext>
                </a:extLst>
              </a:tr>
            </a:tbl>
          </a:graphicData>
        </a:graphic>
      </p:graphicFrame>
      <p:sp>
        <p:nvSpPr>
          <p:cNvPr id="4" name="TextBox 3">
            <a:extLst>
              <a:ext uri="{FF2B5EF4-FFF2-40B4-BE49-F238E27FC236}">
                <a16:creationId xmlns:a16="http://schemas.microsoft.com/office/drawing/2014/main" id="{70F535A4-BE9B-5531-B97C-BF452A72AB74}"/>
              </a:ext>
            </a:extLst>
          </p:cNvPr>
          <p:cNvSpPr txBox="1"/>
          <p:nvPr/>
        </p:nvSpPr>
        <p:spPr>
          <a:xfrm>
            <a:off x="381000" y="1265198"/>
            <a:ext cx="11430000" cy="1292662"/>
          </a:xfrm>
          <a:prstGeom prst="rect">
            <a:avLst/>
          </a:prstGeom>
          <a:noFill/>
        </p:spPr>
        <p:txBody>
          <a:bodyPr vert="horz" wrap="square" lIns="0" tIns="0" rIns="0" bIns="0" rtlCol="0">
            <a:spAutoFit/>
          </a:bodyPr>
          <a:lstStyle/>
          <a:p>
            <a:pPr algn="l"/>
            <a:r>
              <a:rPr lang="en-US" sz="2800"/>
              <a:t>Key insight: Service principal credentials (secrets and certificates) are independent of user accounts. Resetting a user's password or revoking their sessions does NOT affect SP credentials the attacker has added.</a:t>
            </a:r>
            <a:endParaRPr lang="en-US" sz="2800" dirty="0" err="1"/>
          </a:p>
        </p:txBody>
      </p:sp>
    </p:spTree>
    <p:extLst>
      <p:ext uri="{BB962C8B-B14F-4D97-AF65-F5344CB8AC3E}">
        <p14:creationId xmlns:p14="http://schemas.microsoft.com/office/powerpoint/2010/main" val="151404974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0C744-C928-9FFA-9857-839272A397A2}"/>
              </a:ext>
            </a:extLst>
          </p:cNvPr>
          <p:cNvSpPr>
            <a:spLocks noGrp="1"/>
          </p:cNvSpPr>
          <p:nvPr>
            <p:ph type="title"/>
          </p:nvPr>
        </p:nvSpPr>
        <p:spPr/>
        <p:txBody>
          <a:bodyPr/>
          <a:lstStyle/>
          <a:p>
            <a:r>
              <a:rPr lang="en-US"/>
              <a:t>Technique 1 — SP Credential Backdoor</a:t>
            </a:r>
          </a:p>
        </p:txBody>
      </p:sp>
      <p:sp>
        <p:nvSpPr>
          <p:cNvPr id="3" name="Content Placeholder 2">
            <a:extLst>
              <a:ext uri="{FF2B5EF4-FFF2-40B4-BE49-F238E27FC236}">
                <a16:creationId xmlns:a16="http://schemas.microsoft.com/office/drawing/2014/main" id="{4C74253D-161E-47D4-D76A-A5194C08894C}"/>
              </a:ext>
            </a:extLst>
          </p:cNvPr>
          <p:cNvSpPr>
            <a:spLocks noGrp="1"/>
          </p:cNvSpPr>
          <p:nvPr>
            <p:ph sz="quarter" idx="10"/>
          </p:nvPr>
        </p:nvSpPr>
        <p:spPr/>
        <p:txBody>
          <a:bodyPr>
            <a:noAutofit/>
          </a:bodyPr>
          <a:lstStyle/>
          <a:p>
            <a:pPr>
              <a:lnSpc>
                <a:spcPct val="115000"/>
              </a:lnSpc>
              <a:spcBef>
                <a:spcPts val="600"/>
              </a:spcBef>
            </a:pPr>
            <a:r>
              <a:rPr lang="en-US" sz="2000" b="1"/>
              <a:t>Attack flow for PFX Certificate Discovery:</a:t>
            </a:r>
          </a:p>
          <a:p>
            <a:pPr>
              <a:lnSpc>
                <a:spcPct val="115000"/>
              </a:lnSpc>
              <a:spcBef>
                <a:spcPts val="600"/>
              </a:spcBef>
            </a:pPr>
            <a:r>
              <a:rPr lang="en-US" sz="2000"/>
              <a:t>    Attacker finds a .pfx certificate file on a compromised host</a:t>
            </a:r>
          </a:p>
          <a:p>
            <a:pPr>
              <a:lnSpc>
                <a:spcPct val="115000"/>
              </a:lnSpc>
              <a:spcBef>
                <a:spcPts val="600"/>
              </a:spcBef>
            </a:pPr>
            <a:r>
              <a:rPr lang="en-US" sz="2000"/>
              <a:t>    Extracts the certificate thumbprint</a:t>
            </a:r>
          </a:p>
          <a:p>
            <a:pPr>
              <a:lnSpc>
                <a:spcPct val="115000"/>
              </a:lnSpc>
              <a:spcBef>
                <a:spcPts val="600"/>
              </a:spcBef>
            </a:pPr>
            <a:r>
              <a:rPr lang="en-US" sz="2000"/>
              <a:t>    Uses the certificate to authenticate as the associated service principal</a:t>
            </a:r>
          </a:p>
          <a:p>
            <a:pPr>
              <a:lnSpc>
                <a:spcPct val="115000"/>
              </a:lnSpc>
              <a:spcBef>
                <a:spcPts val="600"/>
              </a:spcBef>
            </a:pPr>
            <a:r>
              <a:rPr lang="en-US" sz="2000"/>
              <a:t>    Enumerates the SP's permissions - may have Contributor, Key Vault access, etc.</a:t>
            </a:r>
          </a:p>
        </p:txBody>
      </p:sp>
    </p:spTree>
    <p:extLst>
      <p:ext uri="{BB962C8B-B14F-4D97-AF65-F5344CB8AC3E}">
        <p14:creationId xmlns:p14="http://schemas.microsoft.com/office/powerpoint/2010/main" val="181960483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534F6-9BE9-0657-28F9-AC5BD14233AB}"/>
              </a:ext>
            </a:extLst>
          </p:cNvPr>
          <p:cNvSpPr>
            <a:spLocks noGrp="1"/>
          </p:cNvSpPr>
          <p:nvPr>
            <p:ph type="title"/>
          </p:nvPr>
        </p:nvSpPr>
        <p:spPr/>
        <p:txBody>
          <a:bodyPr/>
          <a:lstStyle/>
          <a:p>
            <a:r>
              <a:rPr lang="en-US"/>
              <a:t>Technique 1 — SP Credential Backdoor (cont. 2)</a:t>
            </a:r>
          </a:p>
        </p:txBody>
      </p:sp>
      <p:sp>
        <p:nvSpPr>
          <p:cNvPr id="3" name="Content Placeholder 2">
            <a:extLst>
              <a:ext uri="{FF2B5EF4-FFF2-40B4-BE49-F238E27FC236}">
                <a16:creationId xmlns:a16="http://schemas.microsoft.com/office/drawing/2014/main" id="{220DCC5F-86D2-7B79-CCF2-C8A394B697C5}"/>
              </a:ext>
            </a:extLst>
          </p:cNvPr>
          <p:cNvSpPr>
            <a:spLocks noGrp="1"/>
          </p:cNvSpPr>
          <p:nvPr>
            <p:ph sz="quarter" idx="10"/>
          </p:nvPr>
        </p:nvSpPr>
        <p:spPr/>
        <p:txBody>
          <a:bodyPr>
            <a:noAutofit/>
          </a:bodyPr>
          <a:lstStyle/>
          <a:p>
            <a:pPr>
              <a:lnSpc>
                <a:spcPct val="115000"/>
              </a:lnSpc>
              <a:spcBef>
                <a:spcPts val="600"/>
              </a:spcBef>
            </a:pPr>
            <a:r>
              <a:rPr lang="en-US" sz="2000" b="1"/>
              <a:t>Attack flow for Client Secret Addition:</a:t>
            </a:r>
          </a:p>
          <a:p>
            <a:pPr>
              <a:lnSpc>
                <a:spcPct val="115000"/>
              </a:lnSpc>
              <a:spcBef>
                <a:spcPts val="600"/>
              </a:spcBef>
            </a:pPr>
            <a:r>
              <a:rPr lang="en-US" sz="2000"/>
              <a:t>    Attacker with Application Administrator or app Owner role</a:t>
            </a:r>
          </a:p>
          <a:p>
            <a:pPr>
              <a:lnSpc>
                <a:spcPct val="115000"/>
              </a:lnSpc>
              <a:spcBef>
                <a:spcPts val="600"/>
              </a:spcBef>
            </a:pPr>
            <a:r>
              <a:rPr lang="en-US" sz="2000"/>
              <a:t>    Adds a new client secret to an existing app registration</a:t>
            </a:r>
          </a:p>
          <a:p>
            <a:pPr>
              <a:lnSpc>
                <a:spcPct val="115000"/>
              </a:lnSpc>
              <a:spcBef>
                <a:spcPts val="600"/>
              </a:spcBef>
            </a:pPr>
            <a:r>
              <a:rPr lang="en-US" sz="2000"/>
              <a:t>    Authenticates as the SP: Connect-AzAccount -ServicePrincipal -CertificateThumbprint or -Credential</a:t>
            </a:r>
          </a:p>
          <a:p>
            <a:pPr>
              <a:lnSpc>
                <a:spcPct val="115000"/>
              </a:lnSpc>
              <a:spcBef>
                <a:spcPts val="600"/>
              </a:spcBef>
            </a:pPr>
            <a:r>
              <a:rPr lang="en-US" sz="2000"/>
              <a:t>    Maintains access indefinitely until the secret is removed</a:t>
            </a:r>
          </a:p>
          <a:p>
            <a:pPr>
              <a:lnSpc>
                <a:spcPct val="115000"/>
              </a:lnSpc>
              <a:spcBef>
                <a:spcPts val="600"/>
              </a:spcBef>
            </a:pPr>
            <a:r>
              <a:rPr lang="en-US" sz="2000"/>
              <a:t>Detection signal: AuditLogs where OperationName == "Add service principal credentials" or "Update application - Certificates and secrets management"</a:t>
            </a:r>
          </a:p>
        </p:txBody>
      </p:sp>
    </p:spTree>
    <p:extLst>
      <p:ext uri="{BB962C8B-B14F-4D97-AF65-F5344CB8AC3E}">
        <p14:creationId xmlns:p14="http://schemas.microsoft.com/office/powerpoint/2010/main" val="40138576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64EBB-0870-43F6-3422-8418E3AF3EC9}"/>
              </a:ext>
            </a:extLst>
          </p:cNvPr>
          <p:cNvSpPr>
            <a:spLocks noGrp="1"/>
          </p:cNvSpPr>
          <p:nvPr>
            <p:ph type="title"/>
          </p:nvPr>
        </p:nvSpPr>
        <p:spPr/>
        <p:txBody>
          <a:bodyPr/>
          <a:lstStyle/>
          <a:p>
            <a:r>
              <a:rPr lang="en-US"/>
              <a:t>Technique 2 — Creating Backdoor Service Principals</a:t>
            </a:r>
          </a:p>
        </p:txBody>
      </p:sp>
      <p:sp>
        <p:nvSpPr>
          <p:cNvPr id="3" name="Content Placeholder 2">
            <a:extLst>
              <a:ext uri="{FF2B5EF4-FFF2-40B4-BE49-F238E27FC236}">
                <a16:creationId xmlns:a16="http://schemas.microsoft.com/office/drawing/2014/main" id="{BD8E44A4-7B3E-184B-F582-B8A8B162431C}"/>
              </a:ext>
            </a:extLst>
          </p:cNvPr>
          <p:cNvSpPr>
            <a:spLocks noGrp="1"/>
          </p:cNvSpPr>
          <p:nvPr>
            <p:ph sz="quarter" idx="10"/>
          </p:nvPr>
        </p:nvSpPr>
        <p:spPr/>
        <p:txBody>
          <a:bodyPr>
            <a:noAutofit/>
          </a:bodyPr>
          <a:lstStyle/>
          <a:p>
            <a:pPr>
              <a:lnSpc>
                <a:spcPct val="115000"/>
              </a:lnSpc>
              <a:spcBef>
                <a:spcPts val="600"/>
              </a:spcBef>
            </a:pPr>
            <a:r>
              <a:rPr lang="en-US" sz="1800" b="1"/>
              <a:t>Attack flow:</a:t>
            </a:r>
          </a:p>
          <a:p>
            <a:pPr>
              <a:lnSpc>
                <a:spcPct val="115000"/>
              </a:lnSpc>
              <a:spcBef>
                <a:spcPts val="600"/>
              </a:spcBef>
            </a:pPr>
            <a:r>
              <a:rPr lang="en-US" sz="1800"/>
              <a:t>    Attacker creates a new app registration with a disguised name (e.g., "Azure Monitoring Agent")</a:t>
            </a:r>
          </a:p>
          <a:p>
            <a:pPr>
              <a:lnSpc>
                <a:spcPct val="115000"/>
              </a:lnSpc>
              <a:spcBef>
                <a:spcPts val="600"/>
              </a:spcBef>
            </a:pPr>
            <a:r>
              <a:rPr lang="en-US" sz="1800"/>
              <a:t>    Creates a service principal for the app</a:t>
            </a:r>
          </a:p>
          <a:p>
            <a:pPr>
              <a:lnSpc>
                <a:spcPct val="115000"/>
              </a:lnSpc>
              <a:spcBef>
                <a:spcPts val="600"/>
              </a:spcBef>
            </a:pPr>
            <a:r>
              <a:rPr lang="en-US" sz="1800"/>
              <a:t>    Adds a client secret or certificate</a:t>
            </a:r>
          </a:p>
          <a:p>
            <a:pPr>
              <a:lnSpc>
                <a:spcPct val="115000"/>
              </a:lnSpc>
              <a:spcBef>
                <a:spcPts val="600"/>
              </a:spcBef>
            </a:pPr>
            <a:r>
              <a:rPr lang="en-US" sz="1800"/>
              <a:t>    Assigns RBAC roles: Contributor on target subscription, Key Vault Secrets User, etc.</a:t>
            </a:r>
          </a:p>
          <a:p>
            <a:pPr>
              <a:lnSpc>
                <a:spcPct val="115000"/>
              </a:lnSpc>
              <a:spcBef>
                <a:spcPts val="600"/>
              </a:spcBef>
            </a:pPr>
            <a:r>
              <a:rPr lang="en-US" sz="1800"/>
              <a:t>    Authenticates with the new SP from attacker infrastructure</a:t>
            </a:r>
          </a:p>
        </p:txBody>
      </p:sp>
    </p:spTree>
    <p:extLst>
      <p:ext uri="{BB962C8B-B14F-4D97-AF65-F5344CB8AC3E}">
        <p14:creationId xmlns:p14="http://schemas.microsoft.com/office/powerpoint/2010/main" val="137963328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5016A-E0FA-C9D9-7490-FA4E15BAD9E6}"/>
              </a:ext>
            </a:extLst>
          </p:cNvPr>
          <p:cNvSpPr>
            <a:spLocks noGrp="1"/>
          </p:cNvSpPr>
          <p:nvPr>
            <p:ph type="title"/>
          </p:nvPr>
        </p:nvSpPr>
        <p:spPr>
          <a:xfrm>
            <a:off x="588263" y="457200"/>
            <a:ext cx="11018520" cy="1107996"/>
          </a:xfrm>
        </p:spPr>
        <p:txBody>
          <a:bodyPr/>
          <a:lstStyle/>
          <a:p>
            <a:r>
              <a:rPr lang="en-US"/>
              <a:t>Technique 2 — Creating Backdoor Service Principals (cont. 2)</a:t>
            </a:r>
          </a:p>
        </p:txBody>
      </p:sp>
      <p:sp>
        <p:nvSpPr>
          <p:cNvPr id="3" name="Content Placeholder 2">
            <a:extLst>
              <a:ext uri="{FF2B5EF4-FFF2-40B4-BE49-F238E27FC236}">
                <a16:creationId xmlns:a16="http://schemas.microsoft.com/office/drawing/2014/main" id="{642CD93C-D62D-64BD-EC9C-57CE57D5A960}"/>
              </a:ext>
            </a:extLst>
          </p:cNvPr>
          <p:cNvSpPr>
            <a:spLocks noGrp="1"/>
          </p:cNvSpPr>
          <p:nvPr>
            <p:ph sz="quarter" idx="10"/>
          </p:nvPr>
        </p:nvSpPr>
        <p:spPr>
          <a:xfrm>
            <a:off x="584200" y="1742996"/>
            <a:ext cx="11018838" cy="4526042"/>
          </a:xfrm>
        </p:spPr>
        <p:txBody>
          <a:bodyPr>
            <a:noAutofit/>
          </a:bodyPr>
          <a:lstStyle/>
          <a:p>
            <a:pPr>
              <a:lnSpc>
                <a:spcPct val="115000"/>
              </a:lnSpc>
              <a:spcBef>
                <a:spcPts val="600"/>
              </a:spcBef>
            </a:pPr>
            <a:r>
              <a:rPr lang="en-US" sz="1800" b="1"/>
              <a:t>Why it's effective:</a:t>
            </a:r>
          </a:p>
          <a:p>
            <a:pPr>
              <a:lnSpc>
                <a:spcPct val="115000"/>
              </a:lnSpc>
              <a:spcBef>
                <a:spcPts val="600"/>
              </a:spcBef>
            </a:pPr>
            <a:r>
              <a:rPr lang="en-US" sz="1800"/>
              <a:t>    New SP blends in with legitimate automation identities</a:t>
            </a:r>
          </a:p>
          <a:p>
            <a:pPr>
              <a:lnSpc>
                <a:spcPct val="115000"/>
              </a:lnSpc>
              <a:spcBef>
                <a:spcPts val="600"/>
              </a:spcBef>
            </a:pPr>
            <a:r>
              <a:rPr lang="en-US" sz="1800"/>
              <a:t>    Disguised names make visual review ineffective</a:t>
            </a:r>
          </a:p>
          <a:p>
            <a:pPr>
              <a:lnSpc>
                <a:spcPct val="115000"/>
              </a:lnSpc>
              <a:spcBef>
                <a:spcPts val="600"/>
              </a:spcBef>
            </a:pPr>
            <a:r>
              <a:rPr lang="en-US" sz="1800"/>
              <a:t>    SP has its own independent credential lifecycle</a:t>
            </a:r>
          </a:p>
          <a:p>
            <a:pPr>
              <a:lnSpc>
                <a:spcPct val="115000"/>
              </a:lnSpc>
              <a:spcBef>
                <a:spcPts val="600"/>
              </a:spcBef>
            </a:pPr>
            <a:r>
              <a:rPr lang="en-US" sz="1800"/>
              <a:t>    RBAC assignment grants access to Azure resources</a:t>
            </a:r>
          </a:p>
          <a:p>
            <a:pPr>
              <a:lnSpc>
                <a:spcPct val="115000"/>
              </a:lnSpc>
              <a:spcBef>
                <a:spcPts val="600"/>
              </a:spcBef>
            </a:pPr>
            <a:r>
              <a:rPr lang="en-US" sz="1800"/>
              <a:t>Detection signal: AuditLogs where OperationName == "Add application" or "Add service principal", followed by credential addition and role assignment.</a:t>
            </a:r>
          </a:p>
        </p:txBody>
      </p:sp>
    </p:spTree>
    <p:extLst>
      <p:ext uri="{BB962C8B-B14F-4D97-AF65-F5344CB8AC3E}">
        <p14:creationId xmlns:p14="http://schemas.microsoft.com/office/powerpoint/2010/main" val="8514317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961B2-1663-8FD1-6A43-27D766ABE6B3}"/>
              </a:ext>
            </a:extLst>
          </p:cNvPr>
          <p:cNvSpPr>
            <a:spLocks noGrp="1"/>
          </p:cNvSpPr>
          <p:nvPr>
            <p:ph type="title"/>
          </p:nvPr>
        </p:nvSpPr>
        <p:spPr/>
        <p:txBody>
          <a:bodyPr/>
          <a:lstStyle/>
          <a:p>
            <a:r>
              <a:rPr lang="en-US"/>
              <a:t>Technique 3 — Managed Identity Token Theft</a:t>
            </a:r>
          </a:p>
        </p:txBody>
      </p:sp>
      <p:sp>
        <p:nvSpPr>
          <p:cNvPr id="3" name="Content Placeholder 2">
            <a:extLst>
              <a:ext uri="{FF2B5EF4-FFF2-40B4-BE49-F238E27FC236}">
                <a16:creationId xmlns:a16="http://schemas.microsoft.com/office/drawing/2014/main" id="{C51BD1F2-E303-BBD8-D287-0EAA5B9BF9CF}"/>
              </a:ext>
            </a:extLst>
          </p:cNvPr>
          <p:cNvSpPr>
            <a:spLocks noGrp="1"/>
          </p:cNvSpPr>
          <p:nvPr>
            <p:ph sz="quarter" idx="10"/>
          </p:nvPr>
        </p:nvSpPr>
        <p:spPr/>
        <p:txBody>
          <a:bodyPr>
            <a:noAutofit/>
          </a:bodyPr>
          <a:lstStyle/>
          <a:p>
            <a:pPr>
              <a:lnSpc>
                <a:spcPct val="115000"/>
              </a:lnSpc>
              <a:spcBef>
                <a:spcPts val="600"/>
              </a:spcBef>
            </a:pPr>
            <a:r>
              <a:rPr lang="en-US" sz="2000" b="1"/>
              <a:t>How managed identity tokens work:</a:t>
            </a:r>
          </a:p>
          <a:p>
            <a:pPr>
              <a:lnSpc>
                <a:spcPct val="115000"/>
              </a:lnSpc>
              <a:spcBef>
                <a:spcPts val="600"/>
              </a:spcBef>
            </a:pPr>
            <a:r>
              <a:rPr lang="en-US" sz="2000"/>
              <a:t>    Azure resources with managed identities have a local HTTP endpoint: IDENTITY_ENDPOINT</a:t>
            </a:r>
          </a:p>
          <a:p>
            <a:pPr>
              <a:lnSpc>
                <a:spcPct val="115000"/>
              </a:lnSpc>
              <a:spcBef>
                <a:spcPts val="600"/>
              </a:spcBef>
            </a:pPr>
            <a:r>
              <a:rPr lang="en-US" sz="2000"/>
              <a:t>    Authenticated by the IDENTITY_HEADER environment variable</a:t>
            </a:r>
          </a:p>
          <a:p>
            <a:pPr>
              <a:lnSpc>
                <a:spcPct val="115000"/>
              </a:lnSpc>
              <a:spcBef>
                <a:spcPts val="600"/>
              </a:spcBef>
            </a:pPr>
            <a:r>
              <a:rPr lang="en-US" sz="2000"/>
              <a:t>    Returns access tokens for any Azure resource the MI has permissions for</a:t>
            </a:r>
          </a:p>
        </p:txBody>
      </p:sp>
    </p:spTree>
    <p:extLst>
      <p:ext uri="{BB962C8B-B14F-4D97-AF65-F5344CB8AC3E}">
        <p14:creationId xmlns:p14="http://schemas.microsoft.com/office/powerpoint/2010/main" val="84174937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D2E3F-73B2-D394-3596-94AA4ED111C0}"/>
              </a:ext>
            </a:extLst>
          </p:cNvPr>
          <p:cNvSpPr>
            <a:spLocks noGrp="1"/>
          </p:cNvSpPr>
          <p:nvPr>
            <p:ph type="title"/>
          </p:nvPr>
        </p:nvSpPr>
        <p:spPr/>
        <p:txBody>
          <a:bodyPr/>
          <a:lstStyle/>
          <a:p>
            <a:r>
              <a:rPr lang="en-US"/>
              <a:t>Technique 3 — Managed Identity Token Theft (cont. 2)</a:t>
            </a:r>
          </a:p>
        </p:txBody>
      </p:sp>
      <p:sp>
        <p:nvSpPr>
          <p:cNvPr id="3" name="Content Placeholder 2">
            <a:extLst>
              <a:ext uri="{FF2B5EF4-FFF2-40B4-BE49-F238E27FC236}">
                <a16:creationId xmlns:a16="http://schemas.microsoft.com/office/drawing/2014/main" id="{9C82FE4F-B594-175D-F9EE-8F99C36E0780}"/>
              </a:ext>
            </a:extLst>
          </p:cNvPr>
          <p:cNvSpPr>
            <a:spLocks noGrp="1"/>
          </p:cNvSpPr>
          <p:nvPr>
            <p:ph sz="quarter" idx="10"/>
          </p:nvPr>
        </p:nvSpPr>
        <p:spPr/>
        <p:txBody>
          <a:bodyPr>
            <a:noAutofit/>
          </a:bodyPr>
          <a:lstStyle/>
          <a:p>
            <a:pPr>
              <a:lnSpc>
                <a:spcPct val="115000"/>
              </a:lnSpc>
              <a:spcBef>
                <a:spcPts val="600"/>
              </a:spcBef>
            </a:pPr>
            <a:r>
              <a:rPr lang="en-US" sz="2000" b="1"/>
              <a:t>Attack flow:</a:t>
            </a:r>
          </a:p>
          <a:p>
            <a:pPr>
              <a:lnSpc>
                <a:spcPct val="115000"/>
              </a:lnSpc>
              <a:spcBef>
                <a:spcPts val="600"/>
              </a:spcBef>
            </a:pPr>
            <a:r>
              <a:rPr lang="en-US" sz="2000"/>
              <a:t>    Attacker gains code execution on an Azure resource (VM, App Service, Container App, Logic App)</a:t>
            </a:r>
          </a:p>
          <a:p>
            <a:pPr>
              <a:lnSpc>
                <a:spcPct val="115000"/>
              </a:lnSpc>
              <a:spcBef>
                <a:spcPts val="600"/>
              </a:spcBef>
            </a:pPr>
            <a:r>
              <a:rPr lang="en-US" sz="2000"/>
              <a:t>    Queries the IDENTITY_ENDPOINT for tokens targeting ARM, Graph, Key Vault, Storage</a:t>
            </a:r>
          </a:p>
          <a:p>
            <a:pPr>
              <a:lnSpc>
                <a:spcPct val="115000"/>
              </a:lnSpc>
              <a:spcBef>
                <a:spcPts val="600"/>
              </a:spcBef>
            </a:pPr>
            <a:r>
              <a:rPr lang="en-US" sz="2000"/>
              <a:t>    Uses tokens from attacker infrastructure for lateral movement</a:t>
            </a:r>
          </a:p>
          <a:p>
            <a:pPr>
              <a:lnSpc>
                <a:spcPct val="115000"/>
              </a:lnSpc>
              <a:spcBef>
                <a:spcPts val="600"/>
              </a:spcBef>
            </a:pPr>
            <a:r>
              <a:rPr lang="en-US" sz="2000" b="1"/>
              <a:t>Token request example:</a:t>
            </a:r>
          </a:p>
          <a:p>
            <a:pPr>
              <a:lnSpc>
                <a:spcPct val="115000"/>
              </a:lnSpc>
              <a:spcBef>
                <a:spcPts val="600"/>
              </a:spcBef>
            </a:pPr>
            <a:r>
              <a:rPr lang="en-US" sz="2000"/>
              <a:t>    curl "${IDENTITY_ENDPOINT}?resource=https://management.azure.com/&amp;api-version=2019-08-01" -H "X-IDENTITY-HEADER: ${IDENTITY_HEADER}"</a:t>
            </a:r>
          </a:p>
        </p:txBody>
      </p:sp>
    </p:spTree>
    <p:extLst>
      <p:ext uri="{BB962C8B-B14F-4D97-AF65-F5344CB8AC3E}">
        <p14:creationId xmlns:p14="http://schemas.microsoft.com/office/powerpoint/2010/main" val="82265810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0DCF6-273D-1D48-6A33-8E6BBA92A6CA}"/>
              </a:ext>
            </a:extLst>
          </p:cNvPr>
          <p:cNvSpPr>
            <a:spLocks noGrp="1"/>
          </p:cNvSpPr>
          <p:nvPr>
            <p:ph type="title"/>
          </p:nvPr>
        </p:nvSpPr>
        <p:spPr>
          <a:xfrm>
            <a:off x="588263" y="457200"/>
            <a:ext cx="11018520" cy="1107996"/>
          </a:xfrm>
        </p:spPr>
        <p:txBody>
          <a:bodyPr/>
          <a:lstStyle/>
          <a:p>
            <a:r>
              <a:rPr lang="en-US"/>
              <a:t>Detection — AADServicePrincipalSignInLogs Key Fields</a:t>
            </a:r>
          </a:p>
        </p:txBody>
      </p:sp>
      <p:graphicFrame>
        <p:nvGraphicFramePr>
          <p:cNvPr id="4" name="Content Placeholder 3">
            <a:extLst>
              <a:ext uri="{FF2B5EF4-FFF2-40B4-BE49-F238E27FC236}">
                <a16:creationId xmlns:a16="http://schemas.microsoft.com/office/drawing/2014/main" id="{CDAC5BA8-69CB-31D5-E135-441512C1739B}"/>
              </a:ext>
            </a:extLst>
          </p:cNvPr>
          <p:cNvGraphicFramePr>
            <a:graphicFrameLocks noGrp="1"/>
          </p:cNvGraphicFramePr>
          <p:nvPr>
            <p:ph sz="quarter" idx="10"/>
            <p:extLst>
              <p:ext uri="{D42A27DB-BD31-4B8C-83A1-F6EECF244321}">
                <p14:modId xmlns:p14="http://schemas.microsoft.com/office/powerpoint/2010/main" val="1235716976"/>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35420045"/>
                    </a:ext>
                  </a:extLst>
                </a:gridCol>
                <a:gridCol w="5715000">
                  <a:extLst>
                    <a:ext uri="{9D8B030D-6E8A-4147-A177-3AD203B41FA5}">
                      <a16:colId xmlns:a16="http://schemas.microsoft.com/office/drawing/2014/main" val="2963398318"/>
                    </a:ext>
                  </a:extLst>
                </a:gridCol>
              </a:tblGrid>
              <a:tr h="557389">
                <a:tc>
                  <a:txBody>
                    <a:bodyPr/>
                    <a:lstStyle/>
                    <a:p>
                      <a:r>
                        <a:rPr lang="en-US" sz="1200" b="1"/>
                        <a:t>Field</a:t>
                      </a:r>
                    </a:p>
                  </a:txBody>
                  <a:tcPr/>
                </a:tc>
                <a:tc>
                  <a:txBody>
                    <a:bodyPr/>
                    <a:lstStyle/>
                    <a:p>
                      <a:r>
                        <a:rPr lang="en-US" sz="1200" b="1"/>
                        <a:t>Why It Matters</a:t>
                      </a:r>
                    </a:p>
                  </a:txBody>
                  <a:tcPr/>
                </a:tc>
                <a:extLst>
                  <a:ext uri="{0D108BD9-81ED-4DB2-BD59-A6C34878D82A}">
                    <a16:rowId xmlns:a16="http://schemas.microsoft.com/office/drawing/2014/main" val="2762427578"/>
                  </a:ext>
                </a:extLst>
              </a:tr>
              <a:tr h="557389">
                <a:tc>
                  <a:txBody>
                    <a:bodyPr/>
                    <a:lstStyle/>
                    <a:p>
                      <a:r>
                        <a:rPr lang="en-US" sz="1200"/>
                        <a:t>ServicePrincipalName</a:t>
                      </a:r>
                    </a:p>
                  </a:txBody>
                  <a:tcPr/>
                </a:tc>
                <a:tc>
                  <a:txBody>
                    <a:bodyPr/>
                    <a:lstStyle/>
                    <a:p>
                      <a:r>
                        <a:rPr lang="en-US" sz="1200"/>
                        <a:t>Name of the SP - check for recently created or unfamiliar names</a:t>
                      </a:r>
                    </a:p>
                  </a:txBody>
                  <a:tcPr/>
                </a:tc>
                <a:extLst>
                  <a:ext uri="{0D108BD9-81ED-4DB2-BD59-A6C34878D82A}">
                    <a16:rowId xmlns:a16="http://schemas.microsoft.com/office/drawing/2014/main" val="1696414545"/>
                  </a:ext>
                </a:extLst>
              </a:tr>
              <a:tr h="557389">
                <a:tc>
                  <a:txBody>
                    <a:bodyPr/>
                    <a:lstStyle/>
                    <a:p>
                      <a:r>
                        <a:rPr lang="en-US" sz="1200"/>
                        <a:t>ServicePrincipalId</a:t>
                      </a:r>
                    </a:p>
                  </a:txBody>
                  <a:tcPr/>
                </a:tc>
                <a:tc>
                  <a:txBody>
                    <a:bodyPr/>
                    <a:lstStyle/>
                    <a:p>
                      <a:r>
                        <a:rPr lang="en-US" sz="1200"/>
                        <a:t>Object ID - correlate with AuditLogs for creation events</a:t>
                      </a:r>
                    </a:p>
                  </a:txBody>
                  <a:tcPr/>
                </a:tc>
                <a:extLst>
                  <a:ext uri="{0D108BD9-81ED-4DB2-BD59-A6C34878D82A}">
                    <a16:rowId xmlns:a16="http://schemas.microsoft.com/office/drawing/2014/main" val="2786731680"/>
                  </a:ext>
                </a:extLst>
              </a:tr>
              <a:tr h="557389">
                <a:tc>
                  <a:txBody>
                    <a:bodyPr/>
                    <a:lstStyle/>
                    <a:p>
                      <a:r>
                        <a:rPr lang="en-US" sz="1200"/>
                        <a:t>ClientCredentialType</a:t>
                      </a:r>
                    </a:p>
                  </a:txBody>
                  <a:tcPr/>
                </a:tc>
                <a:tc>
                  <a:txBody>
                    <a:bodyPr/>
                    <a:lstStyle/>
                    <a:p>
                      <a:r>
                        <a:rPr lang="en-US" sz="1200"/>
                        <a:t>"Certificate" or "Secret" - shows which credential type was used</a:t>
                      </a:r>
                    </a:p>
                  </a:txBody>
                  <a:tcPr/>
                </a:tc>
                <a:extLst>
                  <a:ext uri="{0D108BD9-81ED-4DB2-BD59-A6C34878D82A}">
                    <a16:rowId xmlns:a16="http://schemas.microsoft.com/office/drawing/2014/main" val="1739306740"/>
                  </a:ext>
                </a:extLst>
              </a:tr>
              <a:tr h="557389">
                <a:tc>
                  <a:txBody>
                    <a:bodyPr/>
                    <a:lstStyle/>
                    <a:p>
                      <a:r>
                        <a:rPr lang="en-US" sz="1200"/>
                        <a:t>ServicePrincipalCredentialThumbprint</a:t>
                      </a:r>
                    </a:p>
                  </a:txBody>
                  <a:tcPr/>
                </a:tc>
                <a:tc>
                  <a:txBody>
                    <a:bodyPr/>
                    <a:lstStyle/>
                    <a:p>
                      <a:r>
                        <a:rPr lang="en-US" sz="1200"/>
                        <a:t>Certificate thumbprint - matches PFX files found on hosts</a:t>
                      </a:r>
                    </a:p>
                  </a:txBody>
                  <a:tcPr/>
                </a:tc>
                <a:extLst>
                  <a:ext uri="{0D108BD9-81ED-4DB2-BD59-A6C34878D82A}">
                    <a16:rowId xmlns:a16="http://schemas.microsoft.com/office/drawing/2014/main" val="1965687966"/>
                  </a:ext>
                </a:extLst>
              </a:tr>
              <a:tr h="557389">
                <a:tc>
                  <a:txBody>
                    <a:bodyPr/>
                    <a:lstStyle/>
                    <a:p>
                      <a:r>
                        <a:rPr lang="en-US" sz="1200"/>
                        <a:t>FederatedCredentialId</a:t>
                      </a:r>
                    </a:p>
                  </a:txBody>
                  <a:tcPr/>
                </a:tc>
                <a:tc>
                  <a:txBody>
                    <a:bodyPr/>
                    <a:lstStyle/>
                    <a:p>
                      <a:r>
                        <a:rPr lang="en-US" sz="1200"/>
                        <a:t>Present if federated identity credential was used</a:t>
                      </a:r>
                    </a:p>
                  </a:txBody>
                  <a:tcPr/>
                </a:tc>
                <a:extLst>
                  <a:ext uri="{0D108BD9-81ED-4DB2-BD59-A6C34878D82A}">
                    <a16:rowId xmlns:a16="http://schemas.microsoft.com/office/drawing/2014/main" val="3726381577"/>
                  </a:ext>
                </a:extLst>
              </a:tr>
              <a:tr h="557389">
                <a:tc>
                  <a:txBody>
                    <a:bodyPr/>
                    <a:lstStyle/>
                    <a:p>
                      <a:r>
                        <a:rPr lang="en-US" sz="1200"/>
                        <a:t>IPAddress</a:t>
                      </a:r>
                    </a:p>
                  </a:txBody>
                  <a:tcPr/>
                </a:tc>
                <a:tc>
                  <a:txBody>
                    <a:bodyPr/>
                    <a:lstStyle/>
                    <a:p>
                      <a:r>
                        <a:rPr lang="en-US" sz="1200"/>
                        <a:t>Source IP - unexpected IPs indicate attacker-controlled infrastructure</a:t>
                      </a:r>
                    </a:p>
                  </a:txBody>
                  <a:tcPr/>
                </a:tc>
                <a:extLst>
                  <a:ext uri="{0D108BD9-81ED-4DB2-BD59-A6C34878D82A}">
                    <a16:rowId xmlns:a16="http://schemas.microsoft.com/office/drawing/2014/main" val="2979126051"/>
                  </a:ext>
                </a:extLst>
              </a:tr>
              <a:tr h="557389">
                <a:tc>
                  <a:txBody>
                    <a:bodyPr/>
                    <a:lstStyle/>
                    <a:p>
                      <a:r>
                        <a:rPr lang="en-US" sz="1200"/>
                        <a:t>ResourceDisplayName</a:t>
                      </a:r>
                    </a:p>
                  </a:txBody>
                  <a:tcPr/>
                </a:tc>
                <a:tc>
                  <a:txBody>
                    <a:bodyPr/>
                    <a:lstStyle/>
                    <a:p>
                      <a:r>
                        <a:rPr lang="fr-FR" sz="1200"/>
                        <a:t>Target resource - rapid changes indicate reconnaissance</a:t>
                      </a:r>
                      <a:endParaRPr lang="en-US" sz="1200"/>
                    </a:p>
                  </a:txBody>
                  <a:tcPr/>
                </a:tc>
                <a:extLst>
                  <a:ext uri="{0D108BD9-81ED-4DB2-BD59-A6C34878D82A}">
                    <a16:rowId xmlns:a16="http://schemas.microsoft.com/office/drawing/2014/main" val="2458921710"/>
                  </a:ext>
                </a:extLst>
              </a:tr>
              <a:tr h="557389">
                <a:tc>
                  <a:txBody>
                    <a:bodyPr/>
                    <a:lstStyle/>
                    <a:p>
                      <a:r>
                        <a:rPr lang="en-US" sz="1200"/>
                        <a:t>ResultType</a:t>
                      </a:r>
                    </a:p>
                  </a:txBody>
                  <a:tcPr/>
                </a:tc>
                <a:tc>
                  <a:txBody>
                    <a:bodyPr/>
                    <a:lstStyle/>
                    <a:p>
                      <a:r>
                        <a:rPr lang="en-US" sz="1200"/>
                        <a:t>0 = success, other = failure</a:t>
                      </a:r>
                    </a:p>
                  </a:txBody>
                  <a:tcPr/>
                </a:tc>
                <a:extLst>
                  <a:ext uri="{0D108BD9-81ED-4DB2-BD59-A6C34878D82A}">
                    <a16:rowId xmlns:a16="http://schemas.microsoft.com/office/drawing/2014/main" val="2089363345"/>
                  </a:ext>
                </a:extLst>
              </a:tr>
            </a:tbl>
          </a:graphicData>
        </a:graphic>
      </p:graphicFrame>
    </p:spTree>
    <p:extLst>
      <p:ext uri="{BB962C8B-B14F-4D97-AF65-F5344CB8AC3E}">
        <p14:creationId xmlns:p14="http://schemas.microsoft.com/office/powerpoint/2010/main" val="217401174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E1AFC-EDE2-95B1-EB49-B0CA6324651B}"/>
              </a:ext>
            </a:extLst>
          </p:cNvPr>
          <p:cNvSpPr>
            <a:spLocks noGrp="1"/>
          </p:cNvSpPr>
          <p:nvPr>
            <p:ph type="title"/>
          </p:nvPr>
        </p:nvSpPr>
        <p:spPr/>
        <p:txBody>
          <a:bodyPr/>
          <a:lstStyle/>
          <a:p>
            <a:r>
              <a:rPr lang="en-US"/>
              <a:t>KQL — Detect New SP Credentials</a:t>
            </a:r>
          </a:p>
        </p:txBody>
      </p:sp>
      <p:sp>
        <p:nvSpPr>
          <p:cNvPr id="3" name="Content Placeholder 2">
            <a:extLst>
              <a:ext uri="{FF2B5EF4-FFF2-40B4-BE49-F238E27FC236}">
                <a16:creationId xmlns:a16="http://schemas.microsoft.com/office/drawing/2014/main" id="{ED220EED-3F21-D3B8-03DB-74E16B48D0FD}"/>
              </a:ext>
            </a:extLst>
          </p:cNvPr>
          <p:cNvSpPr>
            <a:spLocks noGrp="1"/>
          </p:cNvSpPr>
          <p:nvPr>
            <p:ph sz="quarter" idx="10"/>
          </p:nvPr>
        </p:nvSpPr>
        <p:spPr/>
        <p:txBody>
          <a:bodyPr>
            <a:noAutofit/>
          </a:bodyPr>
          <a:lstStyle/>
          <a:p>
            <a:pPr>
              <a:lnSpc>
                <a:spcPct val="115000"/>
              </a:lnSpc>
              <a:spcBef>
                <a:spcPts val="600"/>
              </a:spcBef>
            </a:pPr>
            <a:r>
              <a:rPr lang="en-US"/>
              <a:t>What to investigate: Who added credentials? To which SP? Is this part of a known deployment process?</a:t>
            </a:r>
          </a:p>
        </p:txBody>
      </p:sp>
    </p:spTree>
    <p:extLst>
      <p:ext uri="{BB962C8B-B14F-4D97-AF65-F5344CB8AC3E}">
        <p14:creationId xmlns:p14="http://schemas.microsoft.com/office/powerpoint/2010/main" val="414929925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5291D-F9DE-E796-0B97-8BED638220EC}"/>
              </a:ext>
            </a:extLst>
          </p:cNvPr>
          <p:cNvSpPr>
            <a:spLocks noGrp="1"/>
          </p:cNvSpPr>
          <p:nvPr>
            <p:ph type="title"/>
          </p:nvPr>
        </p:nvSpPr>
        <p:spPr/>
        <p:txBody>
          <a:bodyPr/>
          <a:lstStyle/>
          <a:p>
            <a:r>
              <a:rPr lang="en-US"/>
              <a:t>KQL — Detect New SP Credentials (cont.)</a:t>
            </a:r>
          </a:p>
        </p:txBody>
      </p:sp>
      <p:sp>
        <p:nvSpPr>
          <p:cNvPr id="3" name="Content Placeholder 2">
            <a:extLst>
              <a:ext uri="{FF2B5EF4-FFF2-40B4-BE49-F238E27FC236}">
                <a16:creationId xmlns:a16="http://schemas.microsoft.com/office/drawing/2014/main" id="{26EE1886-8DC1-AB70-C3FC-B47765278F2D}"/>
              </a:ext>
            </a:extLst>
          </p:cNvPr>
          <p:cNvSpPr>
            <a:spLocks noGrp="1"/>
          </p:cNvSpPr>
          <p:nvPr>
            <p:ph sz="quarter" idx="10"/>
          </p:nvPr>
        </p:nvSpPr>
        <p:spPr/>
        <p:txBody>
          <a:bodyPr>
            <a:noAutofit/>
          </a:bodyPr>
          <a:lstStyle/>
          <a:p>
            <a:pPr>
              <a:lnSpc>
                <a:spcPct val="115000"/>
              </a:lnSpc>
              <a:spcBef>
                <a:spcPts val="600"/>
              </a:spcBef>
            </a:pPr>
            <a:r>
              <a:rPr lang="en-US" sz="1600" b="1"/>
              <a:t>Sample Kusto Query Language (KQL):</a:t>
            </a:r>
          </a:p>
          <a:p>
            <a:pPr>
              <a:lnSpc>
                <a:spcPct val="115000"/>
              </a:lnSpc>
              <a:spcBef>
                <a:spcPts val="600"/>
              </a:spcBef>
            </a:pPr>
            <a:endParaRPr lang="en-US" sz="1600"/>
          </a:p>
          <a:p>
            <a:pPr>
              <a:lnSpc>
                <a:spcPct val="115000"/>
              </a:lnSpc>
              <a:spcBef>
                <a:spcPts val="600"/>
              </a:spcBef>
            </a:pPr>
            <a:r>
              <a:rPr lang="en-US" sz="1600" b="1"/>
              <a:t>Sample Kusto Query Language (KQL):</a:t>
            </a:r>
          </a:p>
        </p:txBody>
      </p:sp>
      <p:sp>
        <p:nvSpPr>
          <p:cNvPr id="4" name="TextBox 3">
            <a:extLst>
              <a:ext uri="{FF2B5EF4-FFF2-40B4-BE49-F238E27FC236}">
                <a16:creationId xmlns:a16="http://schemas.microsoft.com/office/drawing/2014/main" id="{0800B0BA-B344-D34F-ED65-F68DFADD6FEB}"/>
              </a:ext>
            </a:extLst>
          </p:cNvPr>
          <p:cNvSpPr txBox="1"/>
          <p:nvPr/>
        </p:nvSpPr>
        <p:spPr>
          <a:xfrm>
            <a:off x="381000" y="3556000"/>
            <a:ext cx="11430000" cy="2769989"/>
          </a:xfrm>
          <a:prstGeom prst="rect">
            <a:avLst/>
          </a:prstGeom>
          <a:noFill/>
        </p:spPr>
        <p:txBody>
          <a:bodyPr vert="horz" wrap="square" lIns="0" tIns="0" rIns="0" bIns="0" rtlCol="0">
            <a:spAutoFit/>
          </a:bodyPr>
          <a:lstStyle/>
          <a:p>
            <a:pPr algn="l"/>
            <a:r>
              <a:rPr lang="en-US" sz="1200">
                <a:latin typeface="Consolas" panose="020B0609020204030204" pitchFamily="49" charset="0"/>
              </a:rPr>
              <a:t>AuditLogs</a:t>
            </a:r>
          </a:p>
          <a:p>
            <a:pPr algn="l"/>
            <a:r>
              <a:rPr lang="en-US" sz="1200">
                <a:latin typeface="Consolas" panose="020B0609020204030204" pitchFamily="49" charset="0"/>
              </a:rPr>
              <a:t>| where TimeGenerated &gt; ago(7d)</a:t>
            </a:r>
          </a:p>
          <a:p>
            <a:pPr algn="l"/>
            <a:r>
              <a:rPr lang="en-US" sz="1200">
                <a:latin typeface="Consolas" panose="020B0609020204030204" pitchFamily="49" charset="0"/>
              </a:rPr>
              <a:t>| where OperationName has_any (</a:t>
            </a:r>
          </a:p>
          <a:p>
            <a:pPr algn="l"/>
            <a:r>
              <a:rPr lang="en-US" sz="1200">
                <a:latin typeface="Consolas" panose="020B0609020204030204" pitchFamily="49" charset="0"/>
              </a:rPr>
              <a:t>    "Add service principal credentials",</a:t>
            </a:r>
          </a:p>
          <a:p>
            <a:pPr algn="l"/>
            <a:r>
              <a:rPr lang="en-US" sz="1200">
                <a:latin typeface="Consolas" panose="020B0609020204030204" pitchFamily="49" charset="0"/>
              </a:rPr>
              <a:t>    "Update application"</a:t>
            </a:r>
          </a:p>
          <a:p>
            <a:pPr algn="l"/>
            <a:r>
              <a:rPr lang="en-US" sz="1200">
                <a:latin typeface="Consolas" panose="020B0609020204030204" pitchFamily="49" charset="0"/>
              </a:rPr>
              <a:t>  )</a:t>
            </a:r>
          </a:p>
          <a:p>
            <a:pPr algn="l"/>
            <a:r>
              <a:rPr lang="en-US" sz="1200">
                <a:latin typeface="Consolas" panose="020B0609020204030204" pitchFamily="49" charset="0"/>
              </a:rPr>
              <a:t>| extend Actor = tostring(</a:t>
            </a:r>
          </a:p>
          <a:p>
            <a:pPr algn="l"/>
            <a:r>
              <a:rPr lang="en-US" sz="1200">
                <a:latin typeface="Consolas" panose="020B0609020204030204" pitchFamily="49" charset="0"/>
              </a:rPr>
              <a:t>    InitiatedBy.user.userPrincipalName)</a:t>
            </a:r>
          </a:p>
          <a:p>
            <a:pPr algn="l"/>
            <a:r>
              <a:rPr lang="en-US" sz="1200">
                <a:latin typeface="Consolas" panose="020B0609020204030204" pitchFamily="49" charset="0"/>
              </a:rPr>
              <a:t>| extend SPName = tostring(</a:t>
            </a:r>
          </a:p>
          <a:p>
            <a:pPr algn="l"/>
            <a:r>
              <a:rPr lang="en-US" sz="1200">
                <a:latin typeface="Consolas" panose="020B0609020204030204" pitchFamily="49" charset="0"/>
              </a:rPr>
              <a:t>    TargetResources[0].displayName)</a:t>
            </a:r>
          </a:p>
          <a:p>
            <a:pPr algn="l"/>
            <a:r>
              <a:rPr lang="en-US" sz="1200">
                <a:latin typeface="Consolas" panose="020B0609020204030204" pitchFamily="49" charset="0"/>
              </a:rPr>
              <a:t>| extend SPId = tostring(</a:t>
            </a:r>
          </a:p>
          <a:p>
            <a:pPr algn="l"/>
            <a:r>
              <a:rPr lang="en-US" sz="1200">
                <a:latin typeface="Consolas" panose="020B0609020204030204" pitchFamily="49" charset="0"/>
              </a:rPr>
              <a:t>    TargetResources[0].id)</a:t>
            </a:r>
          </a:p>
          <a:p>
            <a:pPr algn="l"/>
            <a:r>
              <a:rPr lang="en-US" sz="1200">
                <a:latin typeface="Consolas" panose="020B0609020204030204" pitchFamily="49" charset="0"/>
              </a:rPr>
              <a:t>| project TimeGenerated, Actor, SPName, SPId,</a:t>
            </a:r>
          </a:p>
          <a:p>
            <a:pPr algn="l"/>
            <a:r>
              <a:rPr lang="en-US" sz="1200">
                <a:latin typeface="Consolas" panose="020B0609020204030204" pitchFamily="49" charset="0"/>
              </a:rPr>
              <a:t>          CorrelationId</a:t>
            </a:r>
          </a:p>
          <a:p>
            <a:pPr algn="l"/>
            <a:r>
              <a:rPr lang="en-US" sz="1200">
                <a:latin typeface="Consolas" panose="020B0609020204030204" pitchFamily="49" charset="0"/>
              </a:rPr>
              <a:t>| order by TimeGenerated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240404739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559B2-96B1-8774-4931-5DF9D8573C5E}"/>
              </a:ext>
            </a:extLst>
          </p:cNvPr>
          <p:cNvSpPr>
            <a:spLocks noGrp="1"/>
          </p:cNvSpPr>
          <p:nvPr>
            <p:ph type="title"/>
          </p:nvPr>
        </p:nvSpPr>
        <p:spPr/>
        <p:txBody>
          <a:bodyPr/>
          <a:lstStyle/>
          <a:p>
            <a:r>
              <a:rPr lang="en-US"/>
              <a:t>KQL — Detect New App Registrations and SP Creation</a:t>
            </a:r>
          </a:p>
        </p:txBody>
      </p:sp>
      <p:sp>
        <p:nvSpPr>
          <p:cNvPr id="3" name="Content Placeholder 2">
            <a:extLst>
              <a:ext uri="{FF2B5EF4-FFF2-40B4-BE49-F238E27FC236}">
                <a16:creationId xmlns:a16="http://schemas.microsoft.com/office/drawing/2014/main" id="{4C624386-9B29-742D-EFF9-D852A5B47BCD}"/>
              </a:ext>
            </a:extLst>
          </p:cNvPr>
          <p:cNvSpPr>
            <a:spLocks noGrp="1"/>
          </p:cNvSpPr>
          <p:nvPr>
            <p:ph sz="quarter" idx="10"/>
          </p:nvPr>
        </p:nvSpPr>
        <p:spPr/>
        <p:txBody>
          <a:bodyPr>
            <a:noAutofit/>
          </a:bodyPr>
          <a:lstStyle/>
          <a:p>
            <a:pPr>
              <a:lnSpc>
                <a:spcPct val="115000"/>
              </a:lnSpc>
              <a:spcBef>
                <a:spcPts val="600"/>
              </a:spcBef>
            </a:pPr>
            <a:r>
              <a:rPr lang="en-US" b="1"/>
              <a:t>Correlate with first sign-in:</a:t>
            </a:r>
          </a:p>
        </p:txBody>
      </p:sp>
      <p:sp>
        <p:nvSpPr>
          <p:cNvPr id="4" name="TextBox 3">
            <a:extLst>
              <a:ext uri="{FF2B5EF4-FFF2-40B4-BE49-F238E27FC236}">
                <a16:creationId xmlns:a16="http://schemas.microsoft.com/office/drawing/2014/main" id="{8F3D0094-49EB-9032-17BB-59565E35A40B}"/>
              </a:ext>
            </a:extLst>
          </p:cNvPr>
          <p:cNvSpPr txBox="1"/>
          <p:nvPr/>
        </p:nvSpPr>
        <p:spPr>
          <a:xfrm>
            <a:off x="381000" y="3429000"/>
            <a:ext cx="11430000" cy="2769989"/>
          </a:xfrm>
          <a:prstGeom prst="rect">
            <a:avLst/>
          </a:prstGeom>
          <a:noFill/>
        </p:spPr>
        <p:txBody>
          <a:bodyPr vert="horz" wrap="square" lIns="0" tIns="0" rIns="0" bIns="0" rtlCol="0">
            <a:spAutoFit/>
          </a:bodyPr>
          <a:lstStyle/>
          <a:p>
            <a:pPr algn="l"/>
            <a:r>
              <a:rPr lang="en-US" sz="1200">
                <a:latin typeface="Consolas" panose="020B0609020204030204" pitchFamily="49" charset="0"/>
              </a:rPr>
              <a:t>AuditLogs</a:t>
            </a:r>
          </a:p>
          <a:p>
            <a:pPr algn="l"/>
            <a:r>
              <a:rPr lang="en-US" sz="1200">
                <a:latin typeface="Consolas" panose="020B0609020204030204" pitchFamily="49" charset="0"/>
              </a:rPr>
              <a:t>| where TimeGenerated &gt; ago(7d)</a:t>
            </a:r>
          </a:p>
          <a:p>
            <a:pPr algn="l"/>
            <a:r>
              <a:rPr lang="en-US" sz="1200">
                <a:latin typeface="Consolas" panose="020B0609020204030204" pitchFamily="49" charset="0"/>
              </a:rPr>
              <a:t>| where OperationName in (</a:t>
            </a:r>
          </a:p>
          <a:p>
            <a:pPr algn="l"/>
            <a:r>
              <a:rPr lang="en-US" sz="1200">
                <a:latin typeface="Consolas" panose="020B0609020204030204" pitchFamily="49" charset="0"/>
              </a:rPr>
              <a:t>    "Add application",</a:t>
            </a:r>
          </a:p>
          <a:p>
            <a:pPr algn="l"/>
            <a:r>
              <a:rPr lang="en-US" sz="1200">
                <a:latin typeface="Consolas" panose="020B0609020204030204" pitchFamily="49" charset="0"/>
              </a:rPr>
              <a:t>    "Add service principal"</a:t>
            </a:r>
          </a:p>
          <a:p>
            <a:pPr algn="l"/>
            <a:r>
              <a:rPr lang="en-US" sz="1200">
                <a:latin typeface="Consolas" panose="020B0609020204030204" pitchFamily="49" charset="0"/>
              </a:rPr>
              <a:t>  )</a:t>
            </a:r>
          </a:p>
          <a:p>
            <a:pPr algn="l"/>
            <a:r>
              <a:rPr lang="en-US" sz="1200">
                <a:latin typeface="Consolas" panose="020B0609020204030204" pitchFamily="49" charset="0"/>
              </a:rPr>
              <a:t>| extend Actor = tostring(</a:t>
            </a:r>
          </a:p>
          <a:p>
            <a:pPr algn="l"/>
            <a:r>
              <a:rPr lang="en-US" sz="1200">
                <a:latin typeface="Consolas" panose="020B0609020204030204" pitchFamily="49" charset="0"/>
              </a:rPr>
              <a:t>    InitiatedBy.user.userPrincipalName)</a:t>
            </a:r>
          </a:p>
          <a:p>
            <a:pPr algn="l"/>
            <a:r>
              <a:rPr lang="en-US" sz="1200">
                <a:latin typeface="Consolas" panose="020B0609020204030204" pitchFamily="49" charset="0"/>
              </a:rPr>
              <a:t>| extend AppName = tostring(</a:t>
            </a:r>
          </a:p>
          <a:p>
            <a:pPr algn="l"/>
            <a:r>
              <a:rPr lang="en-US" sz="1200">
                <a:latin typeface="Consolas" panose="020B0609020204030204" pitchFamily="49" charset="0"/>
              </a:rPr>
              <a:t>    TargetResources[0].displayName)</a:t>
            </a:r>
          </a:p>
          <a:p>
            <a:pPr algn="l"/>
            <a:r>
              <a:rPr lang="en-US" sz="1200">
                <a:latin typeface="Consolas" panose="020B0609020204030204" pitchFamily="49" charset="0"/>
              </a:rPr>
              <a:t>| extend AppId = tostring(</a:t>
            </a:r>
          </a:p>
          <a:p>
            <a:pPr algn="l"/>
            <a:r>
              <a:rPr lang="en-US" sz="1200">
                <a:latin typeface="Consolas" panose="020B0609020204030204" pitchFamily="49" charset="0"/>
              </a:rPr>
              <a:t>    TargetResources[0].id)</a:t>
            </a:r>
          </a:p>
          <a:p>
            <a:pPr algn="l"/>
            <a:r>
              <a:rPr lang="en-US" sz="1200">
                <a:latin typeface="Consolas" panose="020B0609020204030204" pitchFamily="49" charset="0"/>
              </a:rPr>
              <a:t>| project TimeGenerated, Actor, OperationName,</a:t>
            </a:r>
          </a:p>
          <a:p>
            <a:pPr algn="l"/>
            <a:r>
              <a:rPr lang="en-US" sz="1200">
                <a:latin typeface="Consolas" panose="020B0609020204030204" pitchFamily="49" charset="0"/>
              </a:rPr>
              <a:t>          AppName, AppId, CorrelationId</a:t>
            </a:r>
          </a:p>
          <a:p>
            <a:pPr algn="l"/>
            <a:r>
              <a:rPr lang="en-US" sz="1200">
                <a:latin typeface="Consolas" panose="020B0609020204030204" pitchFamily="49" charset="0"/>
              </a:rPr>
              <a:t>| order by TimeGenerated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195050691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E92F6-3E65-FFDD-600F-81DEEB5B72D3}"/>
              </a:ext>
            </a:extLst>
          </p:cNvPr>
          <p:cNvSpPr>
            <a:spLocks noGrp="1"/>
          </p:cNvSpPr>
          <p:nvPr>
            <p:ph type="title"/>
          </p:nvPr>
        </p:nvSpPr>
        <p:spPr/>
        <p:txBody>
          <a:bodyPr/>
          <a:lstStyle/>
          <a:p>
            <a:r>
              <a:rPr lang="en-US"/>
              <a:t>KQL — Detect Certificate-Based SP Sign-Ins</a:t>
            </a:r>
          </a:p>
        </p:txBody>
      </p:sp>
      <p:sp>
        <p:nvSpPr>
          <p:cNvPr id="3" name="Content Placeholder 2">
            <a:extLst>
              <a:ext uri="{FF2B5EF4-FFF2-40B4-BE49-F238E27FC236}">
                <a16:creationId xmlns:a16="http://schemas.microsoft.com/office/drawing/2014/main" id="{3271C746-1966-7C6B-755E-48E8227C2275}"/>
              </a:ext>
            </a:extLst>
          </p:cNvPr>
          <p:cNvSpPr>
            <a:spLocks noGrp="1"/>
          </p:cNvSpPr>
          <p:nvPr>
            <p:ph sz="quarter" idx="10"/>
          </p:nvPr>
        </p:nvSpPr>
        <p:spPr/>
        <p:txBody>
          <a:bodyPr>
            <a:noAutofit/>
          </a:bodyPr>
          <a:lstStyle/>
          <a:p>
            <a:pPr>
              <a:lnSpc>
                <a:spcPct val="115000"/>
              </a:lnSpc>
              <a:spcBef>
                <a:spcPts val="600"/>
              </a:spcBef>
            </a:pPr>
            <a:r>
              <a:rPr lang="en-US" sz="2400" b="1"/>
              <a:t>Why certificate-based sign-ins matter:</a:t>
            </a:r>
          </a:p>
          <a:p>
            <a:pPr>
              <a:lnSpc>
                <a:spcPct val="115000"/>
              </a:lnSpc>
              <a:spcBef>
                <a:spcPts val="600"/>
              </a:spcBef>
            </a:pPr>
            <a:r>
              <a:rPr lang="en-US" sz="2400"/>
              <a:t>    PFX certificates found on compromised hosts are used for SP authentication</a:t>
            </a:r>
          </a:p>
          <a:p>
            <a:pPr>
              <a:lnSpc>
                <a:spcPct val="115000"/>
              </a:lnSpc>
              <a:spcBef>
                <a:spcPts val="600"/>
              </a:spcBef>
            </a:pPr>
            <a:r>
              <a:rPr lang="en-US" sz="2400"/>
              <a:t>    The thumbprint field connects the certificate to the sign-in event</a:t>
            </a:r>
          </a:p>
          <a:p>
            <a:pPr>
              <a:lnSpc>
                <a:spcPct val="115000"/>
              </a:lnSpc>
              <a:spcBef>
                <a:spcPts val="600"/>
              </a:spcBef>
            </a:pPr>
            <a:r>
              <a:rPr lang="en-US" sz="2400"/>
              <a:t>    Unexpected IPs using certificate authentication are high-priority alerts</a:t>
            </a:r>
          </a:p>
        </p:txBody>
      </p:sp>
      <p:sp>
        <p:nvSpPr>
          <p:cNvPr id="4" name="TextBox 3">
            <a:extLst>
              <a:ext uri="{FF2B5EF4-FFF2-40B4-BE49-F238E27FC236}">
                <a16:creationId xmlns:a16="http://schemas.microsoft.com/office/drawing/2014/main" id="{5EE55FCF-F3ED-6EA4-CC33-7AD51F2F3248}"/>
              </a:ext>
            </a:extLst>
          </p:cNvPr>
          <p:cNvSpPr txBox="1"/>
          <p:nvPr/>
        </p:nvSpPr>
        <p:spPr>
          <a:xfrm>
            <a:off x="381000" y="3429000"/>
            <a:ext cx="11430000" cy="1661993"/>
          </a:xfrm>
          <a:prstGeom prst="rect">
            <a:avLst/>
          </a:prstGeom>
          <a:noFill/>
        </p:spPr>
        <p:txBody>
          <a:bodyPr vert="horz" wrap="square" lIns="0" tIns="0" rIns="0" bIns="0" rtlCol="0">
            <a:spAutoFit/>
          </a:bodyPr>
          <a:lstStyle/>
          <a:p>
            <a:pPr algn="l"/>
            <a:r>
              <a:rPr lang="en-US" sz="1200">
                <a:latin typeface="Consolas" panose="020B0609020204030204" pitchFamily="49" charset="0"/>
              </a:rPr>
              <a:t>AADServicePrincipalSignInLogs</a:t>
            </a:r>
          </a:p>
          <a:p>
            <a:pPr algn="l"/>
            <a:r>
              <a:rPr lang="en-US" sz="1200">
                <a:latin typeface="Consolas" panose="020B0609020204030204" pitchFamily="49" charset="0"/>
              </a:rPr>
              <a:t>| where TimeGenerated &gt; ago(7d)</a:t>
            </a:r>
          </a:p>
          <a:p>
            <a:pPr algn="l"/>
            <a:r>
              <a:rPr lang="en-US" sz="1200">
                <a:latin typeface="Consolas" panose="020B0609020204030204" pitchFamily="49" charset="0"/>
              </a:rPr>
              <a:t>| where ResultType == 0</a:t>
            </a:r>
          </a:p>
          <a:p>
            <a:pPr algn="l"/>
            <a:r>
              <a:rPr lang="en-US" sz="1200">
                <a:latin typeface="Consolas" panose="020B0609020204030204" pitchFamily="49" charset="0"/>
              </a:rPr>
              <a:t>| where ClientCredentialType == "Certificate"</a:t>
            </a:r>
          </a:p>
          <a:p>
            <a:pPr algn="l"/>
            <a:r>
              <a:rPr lang="en-US" sz="1200">
                <a:latin typeface="Consolas" panose="020B0609020204030204" pitchFamily="49" charset="0"/>
              </a:rPr>
              <a:t>| project TimeGenerated, ServicePrincipalName,</a:t>
            </a:r>
          </a:p>
          <a:p>
            <a:pPr algn="l"/>
            <a:r>
              <a:rPr lang="en-US" sz="1200">
                <a:latin typeface="Consolas" panose="020B0609020204030204" pitchFamily="49" charset="0"/>
              </a:rPr>
              <a:t>          ServicePrincipalId, IPAddress,</a:t>
            </a:r>
          </a:p>
          <a:p>
            <a:pPr algn="l"/>
            <a:r>
              <a:rPr lang="en-US" sz="1200">
                <a:latin typeface="Consolas" panose="020B0609020204030204" pitchFamily="49" charset="0"/>
              </a:rPr>
              <a:t>          ServicePrincipalCredentialThumbprint,</a:t>
            </a:r>
          </a:p>
          <a:p>
            <a:pPr algn="l"/>
            <a:r>
              <a:rPr lang="en-US" sz="1200">
                <a:latin typeface="Consolas" panose="020B0609020204030204" pitchFamily="49" charset="0"/>
              </a:rPr>
              <a:t>          ResourceDisplayName</a:t>
            </a:r>
          </a:p>
          <a:p>
            <a:pPr algn="l"/>
            <a:r>
              <a:rPr lang="en-US" sz="1200">
                <a:latin typeface="Consolas" panose="020B0609020204030204" pitchFamily="49" charset="0"/>
              </a:rPr>
              <a:t>| order by TimeGenerated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285934406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F54B6-9A89-BE95-97CE-99DA7D6F7AD8}"/>
              </a:ext>
            </a:extLst>
          </p:cNvPr>
          <p:cNvSpPr>
            <a:spLocks noGrp="1"/>
          </p:cNvSpPr>
          <p:nvPr>
            <p:ph type="title"/>
          </p:nvPr>
        </p:nvSpPr>
        <p:spPr/>
        <p:txBody>
          <a:bodyPr/>
          <a:lstStyle/>
          <a:p>
            <a:r>
              <a:rPr lang="en-US"/>
              <a:t>Detection Coverage Map</a:t>
            </a:r>
          </a:p>
        </p:txBody>
      </p:sp>
      <p:graphicFrame>
        <p:nvGraphicFramePr>
          <p:cNvPr id="4" name="Content Placeholder 3">
            <a:extLst>
              <a:ext uri="{FF2B5EF4-FFF2-40B4-BE49-F238E27FC236}">
                <a16:creationId xmlns:a16="http://schemas.microsoft.com/office/drawing/2014/main" id="{83382FCD-807F-E77D-2ED7-432B00437233}"/>
              </a:ext>
            </a:extLst>
          </p:cNvPr>
          <p:cNvGraphicFramePr>
            <a:graphicFrameLocks noGrp="1"/>
          </p:cNvGraphicFramePr>
          <p:nvPr>
            <p:ph sz="quarter" idx="10"/>
            <p:extLst>
              <p:ext uri="{D42A27DB-BD31-4B8C-83A1-F6EECF244321}">
                <p14:modId xmlns:p14="http://schemas.microsoft.com/office/powerpoint/2010/main" val="1754698674"/>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805872148"/>
                    </a:ext>
                  </a:extLst>
                </a:gridCol>
                <a:gridCol w="3810000">
                  <a:extLst>
                    <a:ext uri="{9D8B030D-6E8A-4147-A177-3AD203B41FA5}">
                      <a16:colId xmlns:a16="http://schemas.microsoft.com/office/drawing/2014/main" val="1223413537"/>
                    </a:ext>
                  </a:extLst>
                </a:gridCol>
                <a:gridCol w="3810000">
                  <a:extLst>
                    <a:ext uri="{9D8B030D-6E8A-4147-A177-3AD203B41FA5}">
                      <a16:colId xmlns:a16="http://schemas.microsoft.com/office/drawing/2014/main" val="2996140024"/>
                    </a:ext>
                  </a:extLst>
                </a:gridCol>
              </a:tblGrid>
              <a:tr h="627063">
                <a:tc>
                  <a:txBody>
                    <a:bodyPr/>
                    <a:lstStyle/>
                    <a:p>
                      <a:r>
                        <a:rPr lang="en-US" sz="1200" b="1"/>
                        <a:t>Attack Phase</a:t>
                      </a:r>
                    </a:p>
                  </a:txBody>
                  <a:tcPr/>
                </a:tc>
                <a:tc>
                  <a:txBody>
                    <a:bodyPr/>
                    <a:lstStyle/>
                    <a:p>
                      <a:r>
                        <a:rPr lang="en-US" sz="1200" b="1"/>
                        <a:t>Detection Query</a:t>
                      </a:r>
                    </a:p>
                  </a:txBody>
                  <a:tcPr/>
                </a:tc>
                <a:tc>
                  <a:txBody>
                    <a:bodyPr/>
                    <a:lstStyle/>
                    <a:p>
                      <a:r>
                        <a:rPr lang="en-US" sz="1200" b="1"/>
                        <a:t>Table</a:t>
                      </a:r>
                    </a:p>
                  </a:txBody>
                  <a:tcPr/>
                </a:tc>
                <a:extLst>
                  <a:ext uri="{0D108BD9-81ED-4DB2-BD59-A6C34878D82A}">
                    <a16:rowId xmlns:a16="http://schemas.microsoft.com/office/drawing/2014/main" val="985822962"/>
                  </a:ext>
                </a:extLst>
              </a:tr>
              <a:tr h="627063">
                <a:tc>
                  <a:txBody>
                    <a:bodyPr/>
                    <a:lstStyle/>
                    <a:p>
                      <a:r>
                        <a:rPr lang="en-US" sz="1200"/>
                        <a:t>New app registration</a:t>
                      </a:r>
                    </a:p>
                  </a:txBody>
                  <a:tcPr/>
                </a:tc>
                <a:tc>
                  <a:txBody>
                    <a:bodyPr/>
                    <a:lstStyle/>
                    <a:p>
                      <a:r>
                        <a:rPr lang="en-US" sz="1200"/>
                        <a:t>OperationName == "Add application"</a:t>
                      </a:r>
                    </a:p>
                  </a:txBody>
                  <a:tcPr/>
                </a:tc>
                <a:tc>
                  <a:txBody>
                    <a:bodyPr/>
                    <a:lstStyle/>
                    <a:p>
                      <a:r>
                        <a:rPr lang="en-US" sz="1200"/>
                        <a:t>AuditLogs</a:t>
                      </a:r>
                    </a:p>
                  </a:txBody>
                  <a:tcPr/>
                </a:tc>
                <a:extLst>
                  <a:ext uri="{0D108BD9-81ED-4DB2-BD59-A6C34878D82A}">
                    <a16:rowId xmlns:a16="http://schemas.microsoft.com/office/drawing/2014/main" val="2336549222"/>
                  </a:ext>
                </a:extLst>
              </a:tr>
              <a:tr h="627063">
                <a:tc>
                  <a:txBody>
                    <a:bodyPr/>
                    <a:lstStyle/>
                    <a:p>
                      <a:r>
                        <a:rPr lang="en-US" sz="1200"/>
                        <a:t>New service principal</a:t>
                      </a:r>
                    </a:p>
                  </a:txBody>
                  <a:tcPr/>
                </a:tc>
                <a:tc>
                  <a:txBody>
                    <a:bodyPr/>
                    <a:lstStyle/>
                    <a:p>
                      <a:r>
                        <a:rPr lang="en-US" sz="1200"/>
                        <a:t>OperationName == "Add service principal"</a:t>
                      </a:r>
                    </a:p>
                  </a:txBody>
                  <a:tcPr/>
                </a:tc>
                <a:tc>
                  <a:txBody>
                    <a:bodyPr/>
                    <a:lstStyle/>
                    <a:p>
                      <a:r>
                        <a:rPr lang="en-US" sz="1200"/>
                        <a:t>AuditLogs</a:t>
                      </a:r>
                    </a:p>
                  </a:txBody>
                  <a:tcPr/>
                </a:tc>
                <a:extLst>
                  <a:ext uri="{0D108BD9-81ED-4DB2-BD59-A6C34878D82A}">
                    <a16:rowId xmlns:a16="http://schemas.microsoft.com/office/drawing/2014/main" val="1793528815"/>
                  </a:ext>
                </a:extLst>
              </a:tr>
              <a:tr h="627063">
                <a:tc>
                  <a:txBody>
                    <a:bodyPr/>
                    <a:lstStyle/>
                    <a:p>
                      <a:r>
                        <a:rPr lang="en-US" sz="1200"/>
                        <a:t>Credential addition (secret/cert)</a:t>
                      </a:r>
                    </a:p>
                  </a:txBody>
                  <a:tcPr/>
                </a:tc>
                <a:tc>
                  <a:txBody>
                    <a:bodyPr/>
                    <a:lstStyle/>
                    <a:p>
                      <a:r>
                        <a:rPr lang="en-US" sz="1200"/>
                        <a:t>OperationName has "credentials"</a:t>
                      </a:r>
                    </a:p>
                  </a:txBody>
                  <a:tcPr/>
                </a:tc>
                <a:tc>
                  <a:txBody>
                    <a:bodyPr/>
                    <a:lstStyle/>
                    <a:p>
                      <a:r>
                        <a:rPr lang="en-US" sz="1200"/>
                        <a:t>AuditLogs</a:t>
                      </a:r>
                    </a:p>
                  </a:txBody>
                  <a:tcPr/>
                </a:tc>
                <a:extLst>
                  <a:ext uri="{0D108BD9-81ED-4DB2-BD59-A6C34878D82A}">
                    <a16:rowId xmlns:a16="http://schemas.microsoft.com/office/drawing/2014/main" val="3436012516"/>
                  </a:ext>
                </a:extLst>
              </a:tr>
              <a:tr h="627063">
                <a:tc>
                  <a:txBody>
                    <a:bodyPr/>
                    <a:lstStyle/>
                    <a:p>
                      <a:r>
                        <a:rPr lang="en-US" sz="1200"/>
                        <a:t>Federated identity credential</a:t>
                      </a:r>
                    </a:p>
                  </a:txBody>
                  <a:tcPr/>
                </a:tc>
                <a:tc>
                  <a:txBody>
                    <a:bodyPr/>
                    <a:lstStyle/>
                    <a:p>
                      <a:r>
                        <a:rPr lang="en-US" sz="1200"/>
                        <a:t>OperationName has "federated"</a:t>
                      </a:r>
                    </a:p>
                  </a:txBody>
                  <a:tcPr/>
                </a:tc>
                <a:tc>
                  <a:txBody>
                    <a:bodyPr/>
                    <a:lstStyle/>
                    <a:p>
                      <a:r>
                        <a:rPr lang="en-US" sz="1200"/>
                        <a:t>AuditLogs</a:t>
                      </a:r>
                    </a:p>
                  </a:txBody>
                  <a:tcPr/>
                </a:tc>
                <a:extLst>
                  <a:ext uri="{0D108BD9-81ED-4DB2-BD59-A6C34878D82A}">
                    <a16:rowId xmlns:a16="http://schemas.microsoft.com/office/drawing/2014/main" val="2657801834"/>
                  </a:ext>
                </a:extLst>
              </a:tr>
              <a:tr h="627063">
                <a:tc>
                  <a:txBody>
                    <a:bodyPr/>
                    <a:lstStyle/>
                    <a:p>
                      <a:r>
                        <a:rPr lang="en-US" sz="1200"/>
                        <a:t>RBAC role assignment</a:t>
                      </a:r>
                    </a:p>
                  </a:txBody>
                  <a:tcPr/>
                </a:tc>
                <a:tc>
                  <a:txBody>
                    <a:bodyPr/>
                    <a:lstStyle/>
                    <a:p>
                      <a:r>
                        <a:rPr lang="en-US" sz="1200"/>
                        <a:t>OperationNameValue has "roleAssignments/write"</a:t>
                      </a:r>
                    </a:p>
                  </a:txBody>
                  <a:tcPr/>
                </a:tc>
                <a:tc>
                  <a:txBody>
                    <a:bodyPr/>
                    <a:lstStyle/>
                    <a:p>
                      <a:r>
                        <a:rPr lang="en-US" sz="1200"/>
                        <a:t>AzureActivity</a:t>
                      </a:r>
                    </a:p>
                  </a:txBody>
                  <a:tcPr/>
                </a:tc>
                <a:extLst>
                  <a:ext uri="{0D108BD9-81ED-4DB2-BD59-A6C34878D82A}">
                    <a16:rowId xmlns:a16="http://schemas.microsoft.com/office/drawing/2014/main" val="1035922253"/>
                  </a:ext>
                </a:extLst>
              </a:tr>
              <a:tr h="627063">
                <a:tc>
                  <a:txBody>
                    <a:bodyPr/>
                    <a:lstStyle/>
                    <a:p>
                      <a:r>
                        <a:rPr lang="en-US" sz="1200"/>
                        <a:t>First SP sign-in</a:t>
                      </a:r>
                    </a:p>
                  </a:txBody>
                  <a:tcPr/>
                </a:tc>
                <a:tc>
                  <a:txBody>
                    <a:bodyPr/>
                    <a:lstStyle/>
                    <a:p>
                      <a:r>
                        <a:rPr lang="en-US" sz="1200"/>
                        <a:t>ResultType == 0, new IP</a:t>
                      </a:r>
                    </a:p>
                  </a:txBody>
                  <a:tcPr/>
                </a:tc>
                <a:tc>
                  <a:txBody>
                    <a:bodyPr/>
                    <a:lstStyle/>
                    <a:p>
                      <a:r>
                        <a:rPr lang="en-US" sz="1200"/>
                        <a:t>AADServicePrincipalSignInLogs</a:t>
                      </a:r>
                    </a:p>
                  </a:txBody>
                  <a:tcPr/>
                </a:tc>
                <a:extLst>
                  <a:ext uri="{0D108BD9-81ED-4DB2-BD59-A6C34878D82A}">
                    <a16:rowId xmlns:a16="http://schemas.microsoft.com/office/drawing/2014/main" val="977560015"/>
                  </a:ext>
                </a:extLst>
              </a:tr>
              <a:tr h="627063">
                <a:tc>
                  <a:txBody>
                    <a:bodyPr/>
                    <a:lstStyle/>
                    <a:p>
                      <a:r>
                        <a:rPr lang="en-US" sz="1200"/>
                        <a:t>MI sign-in from unexpected IP</a:t>
                      </a:r>
                    </a:p>
                  </a:txBody>
                  <a:tcPr/>
                </a:tc>
                <a:tc>
                  <a:txBody>
                    <a:bodyPr/>
                    <a:lstStyle/>
                    <a:p>
                      <a:r>
                        <a:rPr lang="en-US" sz="1200"/>
                        <a:t>IPAddress not in expected range</a:t>
                      </a:r>
                    </a:p>
                  </a:txBody>
                  <a:tcPr/>
                </a:tc>
                <a:tc>
                  <a:txBody>
                    <a:bodyPr/>
                    <a:lstStyle/>
                    <a:p>
                      <a:r>
                        <a:rPr lang="en-US" sz="1200"/>
                        <a:t>AADManagedIdentitySignInLogs</a:t>
                      </a:r>
                    </a:p>
                  </a:txBody>
                  <a:tcPr/>
                </a:tc>
                <a:extLst>
                  <a:ext uri="{0D108BD9-81ED-4DB2-BD59-A6C34878D82A}">
                    <a16:rowId xmlns:a16="http://schemas.microsoft.com/office/drawing/2014/main" val="1921782798"/>
                  </a:ext>
                </a:extLst>
              </a:tr>
            </a:tbl>
          </a:graphicData>
        </a:graphic>
      </p:graphicFrame>
    </p:spTree>
    <p:extLst>
      <p:ext uri="{BB962C8B-B14F-4D97-AF65-F5344CB8AC3E}">
        <p14:creationId xmlns:p14="http://schemas.microsoft.com/office/powerpoint/2010/main" val="121549905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D580B-CD32-709C-E26A-4A1FC7850446}"/>
              </a:ext>
            </a:extLst>
          </p:cNvPr>
          <p:cNvSpPr>
            <a:spLocks noGrp="1"/>
          </p:cNvSpPr>
          <p:nvPr>
            <p:ph type="title"/>
          </p:nvPr>
        </p:nvSpPr>
        <p:spPr/>
        <p:txBody>
          <a:bodyPr/>
          <a:lstStyle/>
          <a:p>
            <a:r>
              <a:rPr lang="en-US"/>
              <a:t>Incident Response</a:t>
            </a:r>
          </a:p>
        </p:txBody>
      </p:sp>
      <p:sp>
        <p:nvSpPr>
          <p:cNvPr id="3" name="Content Placeholder 2">
            <a:extLst>
              <a:ext uri="{FF2B5EF4-FFF2-40B4-BE49-F238E27FC236}">
                <a16:creationId xmlns:a16="http://schemas.microsoft.com/office/drawing/2014/main" id="{B399D7AF-8A0F-3E6C-AFF4-55EA3B46E409}"/>
              </a:ext>
            </a:extLst>
          </p:cNvPr>
          <p:cNvSpPr>
            <a:spLocks noGrp="1"/>
          </p:cNvSpPr>
          <p:nvPr>
            <p:ph sz="quarter" idx="10"/>
          </p:nvPr>
        </p:nvSpPr>
        <p:spPr/>
        <p:txBody>
          <a:bodyPr>
            <a:noAutofit/>
          </a:bodyPr>
          <a:lstStyle/>
          <a:p>
            <a:pPr>
              <a:lnSpc>
                <a:spcPct val="115000"/>
              </a:lnSpc>
              <a:spcBef>
                <a:spcPts val="600"/>
              </a:spcBef>
            </a:pPr>
            <a:r>
              <a:rPr lang="en-US" sz="1800" b="1"/>
              <a:t>Immediate containment:</a:t>
            </a:r>
          </a:p>
          <a:p>
            <a:pPr>
              <a:lnSpc>
                <a:spcPct val="115000"/>
              </a:lnSpc>
              <a:spcBef>
                <a:spcPts val="600"/>
              </a:spcBef>
            </a:pPr>
            <a:r>
              <a:rPr lang="en-US" sz="1800"/>
              <a:t>    Remove unauthorized secrets and certificates from the compromised SP</a:t>
            </a:r>
          </a:p>
          <a:p>
            <a:pPr>
              <a:lnSpc>
                <a:spcPct val="115000"/>
              </a:lnSpc>
              <a:spcBef>
                <a:spcPts val="600"/>
              </a:spcBef>
            </a:pPr>
            <a:r>
              <a:rPr lang="en-US" sz="1800"/>
              <a:t>    Disable the compromised SP: Enterprise Applications &gt; Properties &gt; Enabled for sign-in: No</a:t>
            </a:r>
          </a:p>
          <a:p>
            <a:pPr>
              <a:lnSpc>
                <a:spcPct val="115000"/>
              </a:lnSpc>
              <a:spcBef>
                <a:spcPts val="600"/>
              </a:spcBef>
            </a:pPr>
            <a:r>
              <a:rPr lang="en-US" sz="1800"/>
              <a:t>    Rotate surviving credentials on legitimate SPs that share the same resource access</a:t>
            </a:r>
          </a:p>
          <a:p>
            <a:pPr>
              <a:lnSpc>
                <a:spcPct val="115000"/>
              </a:lnSpc>
              <a:spcBef>
                <a:spcPts val="600"/>
              </a:spcBef>
            </a:pPr>
            <a:r>
              <a:rPr lang="en-US" sz="1800"/>
              <a:t>    Revoke excessive app role assignments</a:t>
            </a:r>
          </a:p>
        </p:txBody>
      </p:sp>
    </p:spTree>
    <p:extLst>
      <p:ext uri="{BB962C8B-B14F-4D97-AF65-F5344CB8AC3E}">
        <p14:creationId xmlns:p14="http://schemas.microsoft.com/office/powerpoint/2010/main" val="296398698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3E5D5-A6E6-F3C8-3904-6AFE635C3381}"/>
              </a:ext>
            </a:extLst>
          </p:cNvPr>
          <p:cNvSpPr>
            <a:spLocks noGrp="1"/>
          </p:cNvSpPr>
          <p:nvPr>
            <p:ph type="title"/>
          </p:nvPr>
        </p:nvSpPr>
        <p:spPr/>
        <p:txBody>
          <a:bodyPr/>
          <a:lstStyle/>
          <a:p>
            <a:r>
              <a:rPr lang="en-US"/>
              <a:t>Incident Response (cont. 2)</a:t>
            </a:r>
          </a:p>
        </p:txBody>
      </p:sp>
      <p:sp>
        <p:nvSpPr>
          <p:cNvPr id="3" name="Content Placeholder 2">
            <a:extLst>
              <a:ext uri="{FF2B5EF4-FFF2-40B4-BE49-F238E27FC236}">
                <a16:creationId xmlns:a16="http://schemas.microsoft.com/office/drawing/2014/main" id="{DFF90B75-2D90-4DF1-2CDD-469D0C41746B}"/>
              </a:ext>
            </a:extLst>
          </p:cNvPr>
          <p:cNvSpPr>
            <a:spLocks noGrp="1"/>
          </p:cNvSpPr>
          <p:nvPr>
            <p:ph sz="quarter" idx="10"/>
          </p:nvPr>
        </p:nvSpPr>
        <p:spPr/>
        <p:txBody>
          <a:bodyPr>
            <a:noAutofit/>
          </a:bodyPr>
          <a:lstStyle/>
          <a:p>
            <a:pPr>
              <a:lnSpc>
                <a:spcPct val="115000"/>
              </a:lnSpc>
              <a:spcBef>
                <a:spcPts val="600"/>
              </a:spcBef>
            </a:pPr>
            <a:r>
              <a:rPr lang="en-US" sz="1800" b="1"/>
              <a:t>Investigation:</a:t>
            </a:r>
          </a:p>
          <a:p>
            <a:pPr>
              <a:lnSpc>
                <a:spcPct val="115000"/>
              </a:lnSpc>
              <a:spcBef>
                <a:spcPts val="600"/>
              </a:spcBef>
            </a:pPr>
            <a:r>
              <a:rPr lang="en-US" sz="1800"/>
              <a:t>    Identify all resources accessed by the compromised SP</a:t>
            </a:r>
          </a:p>
          <a:p>
            <a:pPr>
              <a:lnSpc>
                <a:spcPct val="115000"/>
              </a:lnSpc>
              <a:spcBef>
                <a:spcPts val="600"/>
              </a:spcBef>
            </a:pPr>
            <a:r>
              <a:rPr lang="en-US" sz="1800"/>
              <a:t>    Check AADServicePrincipalSignInLogs for all IPs and resources</a:t>
            </a:r>
          </a:p>
          <a:p>
            <a:pPr>
              <a:lnSpc>
                <a:spcPct val="115000"/>
              </a:lnSpc>
              <a:spcBef>
                <a:spcPts val="600"/>
              </a:spcBef>
            </a:pPr>
            <a:r>
              <a:rPr lang="en-US" sz="1800"/>
              <a:t>    Trace the creation event in AuditLogs to identify the initial actor</a:t>
            </a:r>
          </a:p>
          <a:p>
            <a:pPr>
              <a:lnSpc>
                <a:spcPct val="115000"/>
              </a:lnSpc>
              <a:spcBef>
                <a:spcPts val="600"/>
              </a:spcBef>
            </a:pPr>
            <a:r>
              <a:rPr lang="en-US" sz="1800"/>
              <a:t>    Check for additional persistence mechanisms (federated credentials, additional SPs)</a:t>
            </a:r>
          </a:p>
          <a:p>
            <a:pPr>
              <a:lnSpc>
                <a:spcPct val="115000"/>
              </a:lnSpc>
              <a:spcBef>
                <a:spcPts val="600"/>
              </a:spcBef>
            </a:pPr>
            <a:r>
              <a:rPr lang="en-US" sz="1800" b="1"/>
              <a:t>Recovery:</a:t>
            </a:r>
          </a:p>
          <a:p>
            <a:pPr>
              <a:lnSpc>
                <a:spcPct val="115000"/>
              </a:lnSpc>
              <a:spcBef>
                <a:spcPts val="600"/>
              </a:spcBef>
            </a:pPr>
            <a:r>
              <a:rPr lang="en-US" sz="1800"/>
              <a:t>    Re-create legitimate SPs with new credentials if the originals were compromised</a:t>
            </a:r>
          </a:p>
          <a:p>
            <a:pPr>
              <a:lnSpc>
                <a:spcPct val="115000"/>
              </a:lnSpc>
              <a:spcBef>
                <a:spcPts val="600"/>
              </a:spcBef>
            </a:pPr>
            <a:r>
              <a:rPr lang="en-US" sz="1800"/>
              <a:t>    Audit all app registrations for unexpected credentials or federated identity configurations</a:t>
            </a:r>
          </a:p>
        </p:txBody>
      </p:sp>
    </p:spTree>
    <p:extLst>
      <p:ext uri="{BB962C8B-B14F-4D97-AF65-F5344CB8AC3E}">
        <p14:creationId xmlns:p14="http://schemas.microsoft.com/office/powerpoint/2010/main" val="27632303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12E65-AD7C-BB87-7340-42666F1CA286}"/>
              </a:ext>
            </a:extLst>
          </p:cNvPr>
          <p:cNvSpPr>
            <a:spLocks noGrp="1"/>
          </p:cNvSpPr>
          <p:nvPr>
            <p:ph type="title"/>
          </p:nvPr>
        </p:nvSpPr>
        <p:spPr/>
        <p:txBody>
          <a:bodyPr/>
          <a:lstStyle/>
          <a:p>
            <a:r>
              <a:rPr lang="en-US"/>
              <a:t>Hardening Controls</a:t>
            </a:r>
          </a:p>
        </p:txBody>
      </p:sp>
      <p:graphicFrame>
        <p:nvGraphicFramePr>
          <p:cNvPr id="4" name="Content Placeholder 3">
            <a:extLst>
              <a:ext uri="{FF2B5EF4-FFF2-40B4-BE49-F238E27FC236}">
                <a16:creationId xmlns:a16="http://schemas.microsoft.com/office/drawing/2014/main" id="{A6692AAC-C811-6E8C-C083-082065F60574}"/>
              </a:ext>
            </a:extLst>
          </p:cNvPr>
          <p:cNvGraphicFramePr>
            <a:graphicFrameLocks noGrp="1"/>
          </p:cNvGraphicFramePr>
          <p:nvPr>
            <p:ph sz="quarter" idx="10"/>
            <p:extLst>
              <p:ext uri="{D42A27DB-BD31-4B8C-83A1-F6EECF244321}">
                <p14:modId xmlns:p14="http://schemas.microsoft.com/office/powerpoint/2010/main" val="136521095"/>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632121038"/>
                    </a:ext>
                  </a:extLst>
                </a:gridCol>
                <a:gridCol w="5715000">
                  <a:extLst>
                    <a:ext uri="{9D8B030D-6E8A-4147-A177-3AD203B41FA5}">
                      <a16:colId xmlns:a16="http://schemas.microsoft.com/office/drawing/2014/main" val="4096760444"/>
                    </a:ext>
                  </a:extLst>
                </a:gridCol>
              </a:tblGrid>
              <a:tr h="627063">
                <a:tc>
                  <a:txBody>
                    <a:bodyPr/>
                    <a:lstStyle/>
                    <a:p>
                      <a:r>
                        <a:rPr lang="en-US" sz="1200" b="1"/>
                        <a:t>Control</a:t>
                      </a:r>
                    </a:p>
                  </a:txBody>
                  <a:tcPr/>
                </a:tc>
                <a:tc>
                  <a:txBody>
                    <a:bodyPr/>
                    <a:lstStyle/>
                    <a:p>
                      <a:r>
                        <a:rPr lang="en-US" sz="1200" b="1"/>
                        <a:t>What It Prevents</a:t>
                      </a:r>
                    </a:p>
                  </a:txBody>
                  <a:tcPr/>
                </a:tc>
                <a:extLst>
                  <a:ext uri="{0D108BD9-81ED-4DB2-BD59-A6C34878D82A}">
                    <a16:rowId xmlns:a16="http://schemas.microsoft.com/office/drawing/2014/main" val="342130795"/>
                  </a:ext>
                </a:extLst>
              </a:tr>
              <a:tr h="627063">
                <a:tc>
                  <a:txBody>
                    <a:bodyPr/>
                    <a:lstStyle/>
                    <a:p>
                      <a:r>
                        <a:rPr lang="en-US" sz="1200"/>
                        <a:t>Restrict app registration creation</a:t>
                      </a:r>
                    </a:p>
                  </a:txBody>
                  <a:tcPr/>
                </a:tc>
                <a:tc>
                  <a:txBody>
                    <a:bodyPr/>
                    <a:lstStyle/>
                    <a:p>
                      <a:r>
                        <a:rPr lang="en-US" sz="1200"/>
                        <a:t>Prevents users from creating new app registrations (Entra ID Settings)</a:t>
                      </a:r>
                    </a:p>
                  </a:txBody>
                  <a:tcPr/>
                </a:tc>
                <a:extLst>
                  <a:ext uri="{0D108BD9-81ED-4DB2-BD59-A6C34878D82A}">
                    <a16:rowId xmlns:a16="http://schemas.microsoft.com/office/drawing/2014/main" val="2412135904"/>
                  </a:ext>
                </a:extLst>
              </a:tr>
              <a:tr h="627063">
                <a:tc>
                  <a:txBody>
                    <a:bodyPr/>
                    <a:lstStyle/>
                    <a:p>
                      <a:r>
                        <a:rPr lang="en-US" sz="1200"/>
                        <a:t>Require admin consent for credential changes</a:t>
                      </a:r>
                    </a:p>
                  </a:txBody>
                  <a:tcPr/>
                </a:tc>
                <a:tc>
                  <a:txBody>
                    <a:bodyPr/>
                    <a:lstStyle/>
                    <a:p>
                      <a:r>
                        <a:rPr lang="en-US" sz="1200"/>
                        <a:t>Prevents unauthorized secret/cert additions</a:t>
                      </a:r>
                    </a:p>
                  </a:txBody>
                  <a:tcPr/>
                </a:tc>
                <a:extLst>
                  <a:ext uri="{0D108BD9-81ED-4DB2-BD59-A6C34878D82A}">
                    <a16:rowId xmlns:a16="http://schemas.microsoft.com/office/drawing/2014/main" val="1920972867"/>
                  </a:ext>
                </a:extLst>
              </a:tr>
              <a:tr h="627063">
                <a:tc>
                  <a:txBody>
                    <a:bodyPr/>
                    <a:lstStyle/>
                    <a:p>
                      <a:r>
                        <a:rPr lang="en-US" sz="1200"/>
                        <a:t>Monitor AuditLogs for credential operations</a:t>
                      </a:r>
                    </a:p>
                  </a:txBody>
                  <a:tcPr/>
                </a:tc>
                <a:tc>
                  <a:txBody>
                    <a:bodyPr/>
                    <a:lstStyle/>
                    <a:p>
                      <a:r>
                        <a:rPr lang="en-US" sz="1200"/>
                        <a:t>Detects backdoor attempts in near-real-time</a:t>
                      </a:r>
                    </a:p>
                  </a:txBody>
                  <a:tcPr/>
                </a:tc>
                <a:extLst>
                  <a:ext uri="{0D108BD9-81ED-4DB2-BD59-A6C34878D82A}">
                    <a16:rowId xmlns:a16="http://schemas.microsoft.com/office/drawing/2014/main" val="4086320925"/>
                  </a:ext>
                </a:extLst>
              </a:tr>
              <a:tr h="627063">
                <a:tc>
                  <a:txBody>
                    <a:bodyPr/>
                    <a:lstStyle/>
                    <a:p>
                      <a:r>
                        <a:rPr lang="en-US" sz="1200"/>
                        <a:t>Use managed identities over service principals</a:t>
                      </a:r>
                    </a:p>
                  </a:txBody>
                  <a:tcPr/>
                </a:tc>
                <a:tc>
                  <a:txBody>
                    <a:bodyPr/>
                    <a:lstStyle/>
                    <a:p>
                      <a:r>
                        <a:rPr lang="en-US" sz="1200"/>
                        <a:t>Eliminates credential management entirely</a:t>
                      </a:r>
                    </a:p>
                  </a:txBody>
                  <a:tcPr/>
                </a:tc>
                <a:extLst>
                  <a:ext uri="{0D108BD9-81ED-4DB2-BD59-A6C34878D82A}">
                    <a16:rowId xmlns:a16="http://schemas.microsoft.com/office/drawing/2014/main" val="2743606991"/>
                  </a:ext>
                </a:extLst>
              </a:tr>
              <a:tr h="627063">
                <a:tc>
                  <a:txBody>
                    <a:bodyPr/>
                    <a:lstStyle/>
                    <a:p>
                      <a:r>
                        <a:rPr lang="en-US" sz="1200"/>
                        <a:t>Certificate credential rotation automation</a:t>
                      </a:r>
                    </a:p>
                  </a:txBody>
                  <a:tcPr/>
                </a:tc>
                <a:tc>
                  <a:txBody>
                    <a:bodyPr/>
                    <a:lstStyle/>
                    <a:p>
                      <a:r>
                        <a:rPr lang="en-US" sz="1200"/>
                        <a:t>Limits exposure window for compromised certificates</a:t>
                      </a:r>
                    </a:p>
                  </a:txBody>
                  <a:tcPr/>
                </a:tc>
                <a:extLst>
                  <a:ext uri="{0D108BD9-81ED-4DB2-BD59-A6C34878D82A}">
                    <a16:rowId xmlns:a16="http://schemas.microsoft.com/office/drawing/2014/main" val="3584872202"/>
                  </a:ext>
                </a:extLst>
              </a:tr>
              <a:tr h="627063">
                <a:tc>
                  <a:txBody>
                    <a:bodyPr/>
                    <a:lstStyle/>
                    <a:p>
                      <a:r>
                        <a:rPr lang="en-US" sz="1200"/>
                        <a:t>App governance policies</a:t>
                      </a:r>
                    </a:p>
                  </a:txBody>
                  <a:tcPr/>
                </a:tc>
                <a:tc>
                  <a:txBody>
                    <a:bodyPr/>
                    <a:lstStyle/>
                    <a:p>
                      <a:r>
                        <a:rPr lang="en-US" sz="1200"/>
                        <a:t>Automated monitoring of app permissions and activity</a:t>
                      </a:r>
                    </a:p>
                  </a:txBody>
                  <a:tcPr/>
                </a:tc>
                <a:extLst>
                  <a:ext uri="{0D108BD9-81ED-4DB2-BD59-A6C34878D82A}">
                    <a16:rowId xmlns:a16="http://schemas.microsoft.com/office/drawing/2014/main" val="1736152114"/>
                  </a:ext>
                </a:extLst>
              </a:tr>
              <a:tr h="627063">
                <a:tc>
                  <a:txBody>
                    <a:bodyPr/>
                    <a:lstStyle/>
                    <a:p>
                      <a:r>
                        <a:rPr lang="en-US" sz="1200"/>
                        <a:t>Conditional Access for workload identities</a:t>
                      </a:r>
                    </a:p>
                  </a:txBody>
                  <a:tcPr/>
                </a:tc>
                <a:tc>
                  <a:txBody>
                    <a:bodyPr/>
                    <a:lstStyle/>
                    <a:p>
                      <a:r>
                        <a:rPr lang="en-US" sz="1200"/>
                        <a:t>Restricts SP sign-ins by IP, risk level</a:t>
                      </a:r>
                    </a:p>
                  </a:txBody>
                  <a:tcPr/>
                </a:tc>
                <a:extLst>
                  <a:ext uri="{0D108BD9-81ED-4DB2-BD59-A6C34878D82A}">
                    <a16:rowId xmlns:a16="http://schemas.microsoft.com/office/drawing/2014/main" val="982195818"/>
                  </a:ext>
                </a:extLst>
              </a:tr>
            </a:tbl>
          </a:graphicData>
        </a:graphic>
      </p:graphicFrame>
    </p:spTree>
    <p:extLst>
      <p:ext uri="{BB962C8B-B14F-4D97-AF65-F5344CB8AC3E}">
        <p14:creationId xmlns:p14="http://schemas.microsoft.com/office/powerpoint/2010/main" val="55518917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C51B1-EA2B-9DA0-92F0-5316601884D0}"/>
              </a:ext>
            </a:extLst>
          </p:cNvPr>
          <p:cNvSpPr>
            <a:spLocks noGrp="1"/>
          </p:cNvSpPr>
          <p:nvPr>
            <p:ph type="title"/>
          </p:nvPr>
        </p:nvSpPr>
        <p:spPr/>
        <p:txBody>
          <a:bodyPr/>
          <a:lstStyle/>
          <a:p>
            <a:r>
              <a:rPr lang="en-US"/>
              <a:t>Key Takeaways and References</a:t>
            </a:r>
          </a:p>
        </p:txBody>
      </p:sp>
      <p:graphicFrame>
        <p:nvGraphicFramePr>
          <p:cNvPr id="4" name="Content Placeholder 3">
            <a:extLst>
              <a:ext uri="{FF2B5EF4-FFF2-40B4-BE49-F238E27FC236}">
                <a16:creationId xmlns:a16="http://schemas.microsoft.com/office/drawing/2014/main" id="{ECAA3366-26BC-C75E-2B33-DE2996B5E1C0}"/>
              </a:ext>
            </a:extLst>
          </p:cNvPr>
          <p:cNvGraphicFramePr>
            <a:graphicFrameLocks noGrp="1"/>
          </p:cNvGraphicFramePr>
          <p:nvPr>
            <p:ph sz="quarter" idx="10"/>
            <p:extLst>
              <p:ext uri="{D42A27DB-BD31-4B8C-83A1-F6EECF244321}">
                <p14:modId xmlns:p14="http://schemas.microsoft.com/office/powerpoint/2010/main" val="3278191930"/>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3086507442"/>
                    </a:ext>
                  </a:extLst>
                </a:gridCol>
                <a:gridCol w="5715000">
                  <a:extLst>
                    <a:ext uri="{9D8B030D-6E8A-4147-A177-3AD203B41FA5}">
                      <a16:colId xmlns:a16="http://schemas.microsoft.com/office/drawing/2014/main" val="3120885294"/>
                    </a:ext>
                  </a:extLst>
                </a:gridCol>
              </a:tblGrid>
              <a:tr h="977900">
                <a:tc>
                  <a:txBody>
                    <a:bodyPr/>
                    <a:lstStyle/>
                    <a:p>
                      <a:r>
                        <a:rPr lang="en-US" sz="1400" b="1"/>
                        <a:t>Resource</a:t>
                      </a:r>
                    </a:p>
                  </a:txBody>
                  <a:tcPr/>
                </a:tc>
                <a:tc>
                  <a:txBody>
                    <a:bodyPr/>
                    <a:lstStyle/>
                    <a:p>
                      <a:r>
                        <a:rPr lang="en-US" sz="1400" b="1"/>
                        <a:t>Link</a:t>
                      </a:r>
                    </a:p>
                  </a:txBody>
                  <a:tcPr/>
                </a:tc>
                <a:extLst>
                  <a:ext uri="{0D108BD9-81ED-4DB2-BD59-A6C34878D82A}">
                    <a16:rowId xmlns:a16="http://schemas.microsoft.com/office/drawing/2014/main" val="1727276817"/>
                  </a:ext>
                </a:extLst>
              </a:tr>
              <a:tr h="977900">
                <a:tc>
                  <a:txBody>
                    <a:bodyPr/>
                    <a:lstStyle/>
                    <a:p>
                      <a:r>
                        <a:rPr lang="en-US" sz="1400"/>
                        <a:t>App Consent Investigation Playbook</a:t>
                      </a:r>
                    </a:p>
                  </a:txBody>
                  <a:tcPr/>
                </a:tc>
                <a:tc>
                  <a:txBody>
                    <a:bodyPr/>
                    <a:lstStyle/>
                    <a:p>
                      <a:r>
                        <a:rPr lang="en-US" sz="1400"/>
                        <a:t>learn.microsoft.com/security/operations/incident-response-playbook-app-consent</a:t>
                      </a:r>
                    </a:p>
                  </a:txBody>
                  <a:tcPr/>
                </a:tc>
                <a:extLst>
                  <a:ext uri="{0D108BD9-81ED-4DB2-BD59-A6C34878D82A}">
                    <a16:rowId xmlns:a16="http://schemas.microsoft.com/office/drawing/2014/main" val="580503375"/>
                  </a:ext>
                </a:extLst>
              </a:tr>
              <a:tr h="977900">
                <a:tc>
                  <a:txBody>
                    <a:bodyPr/>
                    <a:lstStyle/>
                    <a:p>
                      <a:r>
                        <a:rPr lang="en-US" sz="1400"/>
                        <a:t>Conditional Access for Workload Identities</a:t>
                      </a:r>
                    </a:p>
                  </a:txBody>
                  <a:tcPr/>
                </a:tc>
                <a:tc>
                  <a:txBody>
                    <a:bodyPr/>
                    <a:lstStyle/>
                    <a:p>
                      <a:r>
                        <a:rPr lang="en-US" sz="1400"/>
                        <a:t>learn.microsoft.com/entra/identity/conditional-access/workload-identity</a:t>
                      </a:r>
                    </a:p>
                  </a:txBody>
                  <a:tcPr/>
                </a:tc>
                <a:extLst>
                  <a:ext uri="{0D108BD9-81ED-4DB2-BD59-A6C34878D82A}">
                    <a16:rowId xmlns:a16="http://schemas.microsoft.com/office/drawing/2014/main" val="934019997"/>
                  </a:ext>
                </a:extLst>
              </a:tr>
              <a:tr h="977900">
                <a:tc>
                  <a:txBody>
                    <a:bodyPr/>
                    <a:lstStyle/>
                    <a:p>
                      <a:r>
                        <a:rPr lang="en-US" sz="1400"/>
                        <a:t>AADServicePrincipalSignInLogs Schema</a:t>
                      </a:r>
                    </a:p>
                  </a:txBody>
                  <a:tcPr/>
                </a:tc>
                <a:tc>
                  <a:txBody>
                    <a:bodyPr/>
                    <a:lstStyle/>
                    <a:p>
                      <a:r>
                        <a:rPr lang="en-US" sz="1400"/>
                        <a:t>learn.microsoft.com/azure/azure-monitor/reference/tables/aadserviceprincipalsigninlogs</a:t>
                      </a:r>
                    </a:p>
                  </a:txBody>
                  <a:tcPr/>
                </a:tc>
                <a:extLst>
                  <a:ext uri="{0D108BD9-81ED-4DB2-BD59-A6C34878D82A}">
                    <a16:rowId xmlns:a16="http://schemas.microsoft.com/office/drawing/2014/main" val="2764391112"/>
                  </a:ext>
                </a:extLst>
              </a:tr>
              <a:tr h="977900">
                <a:tc>
                  <a:txBody>
                    <a:bodyPr/>
                    <a:lstStyle/>
                    <a:p>
                      <a:r>
                        <a:rPr lang="en-US" sz="1400"/>
                        <a:t>Securing Service Principals</a:t>
                      </a:r>
                    </a:p>
                  </a:txBody>
                  <a:tcPr/>
                </a:tc>
                <a:tc>
                  <a:txBody>
                    <a:bodyPr/>
                    <a:lstStyle/>
                    <a:p>
                      <a:r>
                        <a:rPr lang="en-US" sz="1400"/>
                        <a:t>learn.microsoft.com/entra/identity/enterprise-apps/service-principal-best-practices</a:t>
                      </a:r>
                    </a:p>
                  </a:txBody>
                  <a:tcPr/>
                </a:tc>
                <a:extLst>
                  <a:ext uri="{0D108BD9-81ED-4DB2-BD59-A6C34878D82A}">
                    <a16:rowId xmlns:a16="http://schemas.microsoft.com/office/drawing/2014/main" val="866149964"/>
                  </a:ext>
                </a:extLst>
              </a:tr>
            </a:tbl>
          </a:graphicData>
        </a:graphic>
      </p:graphicFrame>
    </p:spTree>
    <p:extLst>
      <p:ext uri="{BB962C8B-B14F-4D97-AF65-F5344CB8AC3E}">
        <p14:creationId xmlns:p14="http://schemas.microsoft.com/office/powerpoint/2010/main" val="191206451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0DD53-C161-5F7C-9758-2FF648E3EE04}"/>
              </a:ext>
            </a:extLst>
          </p:cNvPr>
          <p:cNvSpPr>
            <a:spLocks noGrp="1"/>
          </p:cNvSpPr>
          <p:nvPr>
            <p:ph type="title"/>
          </p:nvPr>
        </p:nvSpPr>
        <p:spPr/>
        <p:txBody>
          <a:bodyPr/>
          <a:lstStyle/>
          <a:p>
            <a:r>
              <a:rPr lang="en-US"/>
              <a:t>Key Takeaways and References (cont.)</a:t>
            </a:r>
          </a:p>
        </p:txBody>
      </p:sp>
      <p:sp>
        <p:nvSpPr>
          <p:cNvPr id="3" name="Content Placeholder 2">
            <a:extLst>
              <a:ext uri="{FF2B5EF4-FFF2-40B4-BE49-F238E27FC236}">
                <a16:creationId xmlns:a16="http://schemas.microsoft.com/office/drawing/2014/main" id="{02B0D3DF-5505-8827-363D-4B219E9AEAE4}"/>
              </a:ext>
            </a:extLst>
          </p:cNvPr>
          <p:cNvSpPr>
            <a:spLocks noGrp="1"/>
          </p:cNvSpPr>
          <p:nvPr>
            <p:ph sz="quarter" idx="10"/>
          </p:nvPr>
        </p:nvSpPr>
        <p:spPr/>
        <p:txBody>
          <a:bodyPr>
            <a:noAutofit/>
          </a:bodyPr>
          <a:lstStyle/>
          <a:p>
            <a:pPr>
              <a:lnSpc>
                <a:spcPct val="115000"/>
              </a:lnSpc>
              <a:spcBef>
                <a:spcPts val="600"/>
              </a:spcBef>
            </a:pPr>
            <a:r>
              <a:rPr lang="en-US" sz="1600"/>
              <a:t>SP credentials are independent of user passwords - credential backdoors survive password resets</a:t>
            </a:r>
          </a:p>
          <a:p>
            <a:pPr>
              <a:lnSpc>
                <a:spcPct val="115000"/>
              </a:lnSpc>
              <a:spcBef>
                <a:spcPts val="600"/>
              </a:spcBef>
            </a:pPr>
            <a:r>
              <a:rPr lang="en-US" sz="1600"/>
              <a:t>Three tables cover the full detection surface: AuditLogs, AADServicePrincipalSignInLogs, AzureActivity</a:t>
            </a:r>
          </a:p>
          <a:p>
            <a:pPr>
              <a:lnSpc>
                <a:spcPct val="115000"/>
              </a:lnSpc>
              <a:spcBef>
                <a:spcPts val="600"/>
              </a:spcBef>
            </a:pPr>
            <a:r>
              <a:rPr lang="en-US" sz="1600"/>
              <a:t>Correlate credential creation in AuditLogs with first sign-in in SP logs for high-fidelity detection</a:t>
            </a:r>
          </a:p>
          <a:p>
            <a:pPr>
              <a:lnSpc>
                <a:spcPct val="115000"/>
              </a:lnSpc>
              <a:spcBef>
                <a:spcPts val="600"/>
              </a:spcBef>
            </a:pPr>
            <a:r>
              <a:rPr lang="en-US" sz="1600"/>
              <a:t>Disable compromised SPs (don't delete) to preserve investigation evidence</a:t>
            </a:r>
          </a:p>
          <a:p>
            <a:pPr>
              <a:lnSpc>
                <a:spcPct val="115000"/>
              </a:lnSpc>
              <a:spcBef>
                <a:spcPts val="600"/>
              </a:spcBef>
            </a:pPr>
            <a:r>
              <a:rPr lang="en-US" sz="1600"/>
              <a:t>Restrict app registration creation and use managed identities where possible</a:t>
            </a:r>
          </a:p>
          <a:p>
            <a:pPr>
              <a:lnSpc>
                <a:spcPct val="115000"/>
              </a:lnSpc>
              <a:spcBef>
                <a:spcPts val="600"/>
              </a:spcBef>
            </a:pPr>
            <a:r>
              <a:rPr lang="en-US" sz="1600" b="1"/>
              <a:t>References:</a:t>
            </a:r>
          </a:p>
        </p:txBody>
      </p:sp>
    </p:spTree>
    <p:extLst>
      <p:ext uri="{BB962C8B-B14F-4D97-AF65-F5344CB8AC3E}">
        <p14:creationId xmlns:p14="http://schemas.microsoft.com/office/powerpoint/2010/main" val="2035656591"/>
      </p:ext>
    </p:extLst>
  </p:cSld>
  <p:clrMapOvr>
    <a:masterClrMapping/>
  </p:clrMapOvr>
  <p:transition>
    <p:fade/>
  </p:transition>
</p:sld>
</file>

<file path=ppt/theme/theme1.xml><?xml version="1.0" encoding="utf-8"?>
<a:theme xmlns:a="http://schemas.openxmlformats.org/drawingml/2006/main" name="Microsoft Security template">
  <a:themeElements>
    <a:clrScheme name="Microsoft Security">
      <a:dk1>
        <a:srgbClr val="000000"/>
      </a:dk1>
      <a:lt1>
        <a:srgbClr val="FFFFFF"/>
      </a:lt1>
      <a:dk2>
        <a:srgbClr val="243A5E"/>
      </a:dk2>
      <a:lt2>
        <a:srgbClr val="E6E6E6"/>
      </a:lt2>
      <a:accent1>
        <a:srgbClr val="0078D4"/>
      </a:accent1>
      <a:accent2>
        <a:srgbClr val="FFB900"/>
      </a:accent2>
      <a:accent3>
        <a:srgbClr val="107C10"/>
      </a:accent3>
      <a:accent4>
        <a:srgbClr val="737373"/>
      </a:accent4>
      <a:accent5>
        <a:srgbClr val="9BF00B"/>
      </a:accent5>
      <a:accent6>
        <a:srgbClr val="50E6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 Security brand template.potx" id="{C2238F5F-88FF-42D2-B2B7-0AA68068F996}" vid="{6D1610A7-A963-40D5-9923-AA1928F2CA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Microsoft Security brand template</Template>
  <TotalTime>0</TotalTime>
  <Words>3456</Words>
  <Application>Microsoft Office PowerPoint</Application>
  <PresentationFormat>Widescreen</PresentationFormat>
  <Paragraphs>290</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Consolas</vt:lpstr>
      <vt:lpstr>Segoe UI</vt:lpstr>
      <vt:lpstr>Segoe UI Semibold</vt:lpstr>
      <vt:lpstr>Wingdings</vt:lpstr>
      <vt:lpstr>Microsoft Security template</vt:lpstr>
      <vt:lpstr>Persistence via Managed Identities and Service Principals</vt:lpstr>
      <vt:lpstr>Agenda</vt:lpstr>
      <vt:lpstr>Agenda (cont. 2)</vt:lpstr>
      <vt:lpstr>Objective and MITRE Mapping</vt:lpstr>
      <vt:lpstr>Objective and MITRE Mapping (cont.)</vt:lpstr>
      <vt:lpstr>Three Persistence Techniques</vt:lpstr>
      <vt:lpstr>Technique 1 — SP Credential Backdoor</vt:lpstr>
      <vt:lpstr>Technique 1 — SP Credential Backdoor (cont. 2)</vt:lpstr>
      <vt:lpstr>Technique 2 — Creating Backdoor Service Principals</vt:lpstr>
      <vt:lpstr>Technique 2 — Creating Backdoor Service Principals (cont. 2)</vt:lpstr>
      <vt:lpstr>Technique 3 — Managed Identity Token Theft</vt:lpstr>
      <vt:lpstr>Technique 3 — Managed Identity Token Theft (cont. 2)</vt:lpstr>
      <vt:lpstr>Detection — AADServicePrincipalSignInLogs Key Fields</vt:lpstr>
      <vt:lpstr>KQL — Detect New SP Credentials</vt:lpstr>
      <vt:lpstr>KQL — Detect New SP Credentials (cont.)</vt:lpstr>
      <vt:lpstr>KQL — Detect New App Registrations and SP Creation</vt:lpstr>
      <vt:lpstr>KQL — Detect Certificate-Based SP Sign-Ins</vt:lpstr>
      <vt:lpstr>Detection Coverage Map</vt:lpstr>
      <vt:lpstr>Incident Response</vt:lpstr>
      <vt:lpstr>Incident Response (cont. 2)</vt:lpstr>
      <vt:lpstr>Hardening Controls</vt:lpstr>
      <vt:lpstr>Key Takeaways and References</vt:lpstr>
      <vt:lpstr>Key Takeaways and References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Hall</dc:creator>
  <cp:lastModifiedBy>Jacob Hall</cp:lastModifiedBy>
  <cp:revision>1</cp:revision>
  <dcterms:created xsi:type="dcterms:W3CDTF">2026-04-21T23:59:02Z</dcterms:created>
  <dcterms:modified xsi:type="dcterms:W3CDTF">2026-04-21T23:59:09Z</dcterms:modified>
</cp:coreProperties>
</file>